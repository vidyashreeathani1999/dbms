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14">
  <p:sldMasterIdLst>
    <p:sldMasterId id="2147483763" r:id="rId4"/>
  </p:sldMasterIdLst>
  <p:notesMasterIdLst>
    <p:notesMasterId r:id="rId40"/>
  </p:notesMasterIdLst>
  <p:handoutMasterIdLst>
    <p:handoutMasterId r:id="rId41"/>
  </p:handoutMasterIdLst>
  <p:sldIdLst>
    <p:sldId id="347" r:id="rId5"/>
    <p:sldId id="258" r:id="rId6"/>
    <p:sldId id="356" r:id="rId7"/>
    <p:sldId id="357" r:id="rId8"/>
    <p:sldId id="358" r:id="rId9"/>
    <p:sldId id="359" r:id="rId10"/>
    <p:sldId id="360" r:id="rId11"/>
    <p:sldId id="361" r:id="rId12"/>
    <p:sldId id="362" r:id="rId13"/>
    <p:sldId id="363" r:id="rId14"/>
    <p:sldId id="364" r:id="rId15"/>
    <p:sldId id="365" r:id="rId16"/>
    <p:sldId id="366" r:id="rId17"/>
    <p:sldId id="367" r:id="rId18"/>
    <p:sldId id="368" r:id="rId19"/>
    <p:sldId id="369" r:id="rId20"/>
    <p:sldId id="370" r:id="rId21"/>
    <p:sldId id="371" r:id="rId22"/>
    <p:sldId id="372" r:id="rId23"/>
    <p:sldId id="373" r:id="rId24"/>
    <p:sldId id="374" r:id="rId25"/>
    <p:sldId id="375" r:id="rId26"/>
    <p:sldId id="376" r:id="rId27"/>
    <p:sldId id="377" r:id="rId28"/>
    <p:sldId id="378" r:id="rId29"/>
    <p:sldId id="379" r:id="rId30"/>
    <p:sldId id="380" r:id="rId31"/>
    <p:sldId id="381" r:id="rId32"/>
    <p:sldId id="382" r:id="rId33"/>
    <p:sldId id="384" r:id="rId34"/>
    <p:sldId id="385" r:id="rId35"/>
    <p:sldId id="386" r:id="rId36"/>
    <p:sldId id="355" r:id="rId37"/>
    <p:sldId id="383" r:id="rId38"/>
    <p:sldId id="348"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A276501-C77F-41DE-9E47-4EA44DE6E53A}">
          <p14:sldIdLst>
            <p14:sldId id="347"/>
            <p14:sldId id="258"/>
          </p14:sldIdLst>
        </p14:section>
        <p14:section name="Transport plugin" id="{F6341950-5A7D-43F4-8123-1961FE699D87}">
          <p14:sldIdLst>
            <p14:sldId id="356"/>
            <p14:sldId id="357"/>
            <p14:sldId id="358"/>
            <p14:sldId id="359"/>
            <p14:sldId id="360"/>
            <p14:sldId id="361"/>
            <p14:sldId id="362"/>
            <p14:sldId id="363"/>
            <p14:sldId id="364"/>
            <p14:sldId id="365"/>
          </p14:sldIdLst>
        </p14:section>
        <p14:section name="Retry" id="{692872DB-B692-4873-ACD1-F6D9E6678079}">
          <p14:sldIdLst>
            <p14:sldId id="366"/>
            <p14:sldId id="367"/>
            <p14:sldId id="368"/>
            <p14:sldId id="369"/>
            <p14:sldId id="370"/>
            <p14:sldId id="371"/>
          </p14:sldIdLst>
        </p14:section>
        <p14:section name="Safe ordering" id="{7CB550B1-55BD-444A-9985-C64F0F0E3D24}">
          <p14:sldIdLst>
            <p14:sldId id="372"/>
            <p14:sldId id="373"/>
            <p14:sldId id="374"/>
            <p14:sldId id="375"/>
            <p14:sldId id="376"/>
            <p14:sldId id="377"/>
            <p14:sldId id="378"/>
            <p14:sldId id="379"/>
            <p14:sldId id="380"/>
            <p14:sldId id="381"/>
          </p14:sldIdLst>
        </p14:section>
        <p14:section name="Review" id="{0EA8C8BD-B85D-4B62-9459-AEB5D1506F5C}">
          <p14:sldIdLst>
            <p14:sldId id="382"/>
            <p14:sldId id="384"/>
            <p14:sldId id="385"/>
            <p14:sldId id="386"/>
            <p14:sldId id="355"/>
            <p14:sldId id="383"/>
            <p14:sldId id="348"/>
          </p14:sldIdLst>
        </p14:section>
      </p14:sectionLst>
    </p:ex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 uri="{2D200454-40CA-4A62-9FC3-DE9A4176ACB9}">
      <p15:notesGuideLst xmlns:p15="http://schemas.microsoft.com/office/powerpoint/2012/main">
        <p15:guide id="1" orient="horz">
          <p15:clr>
            <a:srgbClr val="A4A3A4"/>
          </p15:clr>
        </p15:guide>
        <p15:guide id="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24" clrIdx="0"/>
  <p:cmAuthor id="1" name="Guidewire Education" initials="sluersen" lastIdx="2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628C"/>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929" autoAdjust="0"/>
    <p:restoredTop sz="50524" autoAdjust="0"/>
  </p:normalViewPr>
  <p:slideViewPr>
    <p:cSldViewPr showGuides="1">
      <p:cViewPr varScale="1">
        <p:scale>
          <a:sx n="34" d="100"/>
          <a:sy n="34" d="100"/>
        </p:scale>
        <p:origin x="1580" y="52"/>
      </p:cViewPr>
      <p:guideLst>
        <p:guide orient="horz"/>
        <p:guide/>
      </p:guideLst>
    </p:cSldViewPr>
  </p:slideViewPr>
  <p:outlineViewPr>
    <p:cViewPr>
      <p:scale>
        <a:sx n="33" d="100"/>
        <a:sy n="33" d="100"/>
      </p:scale>
      <p:origin x="0" y="25620"/>
    </p:cViewPr>
  </p:outlineViewPr>
  <p:notesTextViewPr>
    <p:cViewPr>
      <p:scale>
        <a:sx n="125" d="100"/>
        <a:sy n="125" d="100"/>
      </p:scale>
      <p:origin x="0" y="0"/>
    </p:cViewPr>
  </p:notesTextViewPr>
  <p:sorterViewPr>
    <p:cViewPr>
      <p:scale>
        <a:sx n="100" d="100"/>
        <a:sy n="100" d="100"/>
      </p:scale>
      <p:origin x="0" y="-14536"/>
    </p:cViewPr>
  </p:sorterViewPr>
  <p:notesViewPr>
    <p:cSldViewPr showGuides="1">
      <p:cViewPr varScale="1">
        <p:scale>
          <a:sx n="98" d="100"/>
          <a:sy n="98" d="100"/>
        </p:scale>
        <p:origin x="-2556" y="-96"/>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12/23/2020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dirty="0"/>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76200" y="304800"/>
            <a:ext cx="7010400" cy="39433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dirty="0"/>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2001-2014. 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dirty="0"/>
          </a:p>
        </p:txBody>
      </p:sp>
    </p:spTree>
    <p:extLst>
      <p:ext uri="{BB962C8B-B14F-4D97-AF65-F5344CB8AC3E}">
        <p14:creationId xmlns:p14="http://schemas.microsoft.com/office/powerpoint/2010/main" val="101168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dirty="0"/>
          </a:p>
        </p:txBody>
      </p:sp>
    </p:spTree>
    <p:extLst>
      <p:ext uri="{BB962C8B-B14F-4D97-AF65-F5344CB8AC3E}">
        <p14:creationId xmlns:p14="http://schemas.microsoft.com/office/powerpoint/2010/main" val="913304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Communication with the external system may use </a:t>
            </a:r>
            <a:r>
              <a:rPr lang="en-US" i="1" dirty="0"/>
              <a:t>any</a:t>
            </a:r>
            <a:r>
              <a:rPr lang="en-US" dirty="0"/>
              <a:t> type of connectivity or transport, including some not normally considered "messaging", such as:</a:t>
            </a:r>
          </a:p>
          <a:p>
            <a:pPr marL="400050" lvl="1" indent="-171450" eaLnBrk="1" hangingPunct="1">
              <a:buFont typeface="Arial" pitchFamily="34" charset="0"/>
              <a:buChar char="•"/>
            </a:pPr>
            <a:r>
              <a:rPr lang="en-US" dirty="0"/>
              <a:t>File-based, shared database</a:t>
            </a:r>
          </a:p>
          <a:p>
            <a:pPr marL="400050" lvl="1" indent="-171450" eaLnBrk="1" hangingPunct="1">
              <a:buFont typeface="Arial" pitchFamily="34" charset="0"/>
              <a:buChar char="•"/>
            </a:pPr>
            <a:r>
              <a:rPr lang="en-US" dirty="0"/>
              <a:t>Raw socket (TCP/IP)</a:t>
            </a:r>
          </a:p>
          <a:p>
            <a:pPr marL="400050" lvl="1" indent="-171450" eaLnBrk="1" hangingPunct="1">
              <a:buFont typeface="Arial" pitchFamily="34" charset="0"/>
              <a:buChar char="•"/>
            </a:pPr>
            <a:r>
              <a:rPr lang="en-US" dirty="0"/>
              <a:t>FTP</a:t>
            </a:r>
          </a:p>
          <a:p>
            <a:pPr marL="400050" lvl="1" indent="-171450" eaLnBrk="1" hangingPunct="1">
              <a:buFont typeface="Arial" pitchFamily="34" charset="0"/>
              <a:buChar char="•"/>
            </a:pPr>
            <a:r>
              <a:rPr lang="en-US" dirty="0"/>
              <a:t>Email</a:t>
            </a:r>
          </a:p>
          <a:p>
            <a:pPr marL="400050" lvl="1" indent="-171450" eaLnBrk="1" hangingPunct="1">
              <a:buFont typeface="Arial" pitchFamily="34" charset="0"/>
              <a:buChar char="•"/>
            </a:pPr>
            <a:r>
              <a:rPr lang="en-US" dirty="0"/>
              <a:t>Synchronous invocations, such as RMI/JRMP, RMI/IIOP, and SOAP.</a:t>
            </a:r>
          </a:p>
          <a:p>
            <a:pPr marL="400050" lvl="1" indent="-171450" eaLnBrk="1" hangingPunct="1">
              <a:buFont typeface="Arial" pitchFamily="34" charset="0"/>
              <a:buChar char="•"/>
            </a:pPr>
            <a:r>
              <a:rPr lang="en-US" dirty="0"/>
              <a:t>Asynchronous, message-based transports, such as JMS, native WebSphere MQ, or SOAP/JMS.</a:t>
            </a:r>
          </a:p>
          <a:p>
            <a:pPr eaLnBrk="1" hangingPunct="1"/>
            <a:r>
              <a:rPr lang="en-US" dirty="0"/>
              <a:t>A message request plugin can optionally implement the InitializablePlugin interface, which adds the setParameters method to the plugin. However, there is rarely a need for this with a Request plugin, as the plugin typically does the same thing in any environment.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dirty="0"/>
          </a:p>
        </p:txBody>
      </p:sp>
    </p:spTree>
    <p:extLst>
      <p:ext uri="{BB962C8B-B14F-4D97-AF65-F5344CB8AC3E}">
        <p14:creationId xmlns:p14="http://schemas.microsoft.com/office/powerpoint/2010/main" val="999118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dirty="0"/>
          </a:p>
        </p:txBody>
      </p:sp>
    </p:spTree>
    <p:extLst>
      <p:ext uri="{BB962C8B-B14F-4D97-AF65-F5344CB8AC3E}">
        <p14:creationId xmlns:p14="http://schemas.microsoft.com/office/powerpoint/2010/main" val="31632168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dirty="0"/>
          </a:p>
        </p:txBody>
      </p:sp>
    </p:spTree>
    <p:extLst>
      <p:ext uri="{BB962C8B-B14F-4D97-AF65-F5344CB8AC3E}">
        <p14:creationId xmlns:p14="http://schemas.microsoft.com/office/powerpoint/2010/main" val="1641178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send method uses Gosu's Java file I/O capabilities to write the payload to a simple flat file. The payload contains information about the evaluations for that vendor.</a:t>
            </a:r>
          </a:p>
          <a:p>
            <a:pPr eaLnBrk="1" hangingPunct="1"/>
            <a:r>
              <a:rPr lang="en-US" baseline="0" dirty="0"/>
              <a:t>See the VendorRecommendationTransport.gs file for more details.</a:t>
            </a:r>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dirty="0"/>
          </a:p>
        </p:txBody>
      </p:sp>
    </p:spTree>
    <p:extLst>
      <p:ext uri="{BB962C8B-B14F-4D97-AF65-F5344CB8AC3E}">
        <p14:creationId xmlns:p14="http://schemas.microsoft.com/office/powerpoint/2010/main" val="10597781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The send method uses a web service collection to send a request for a legal case report to an external system using a web service API. </a:t>
            </a:r>
            <a:r>
              <a:rPr lang="en-US" baseline="0" dirty="0"/>
              <a:t> See the LegalReportTransport.gs file for more details.</a:t>
            </a:r>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dirty="0"/>
          </a:p>
        </p:txBody>
      </p:sp>
    </p:spTree>
    <p:extLst>
      <p:ext uri="{BB962C8B-B14F-4D97-AF65-F5344CB8AC3E}">
        <p14:creationId xmlns:p14="http://schemas.microsoft.com/office/powerpoint/2010/main" val="20668049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dirty="0"/>
          </a:p>
        </p:txBody>
      </p:sp>
    </p:spTree>
    <p:extLst>
      <p:ext uri="{BB962C8B-B14F-4D97-AF65-F5344CB8AC3E}">
        <p14:creationId xmlns:p14="http://schemas.microsoft.com/office/powerpoint/2010/main" val="2170467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dirty="0"/>
          </a:p>
        </p:txBody>
      </p:sp>
    </p:spTree>
    <p:extLst>
      <p:ext uri="{BB962C8B-B14F-4D97-AF65-F5344CB8AC3E}">
        <p14:creationId xmlns:p14="http://schemas.microsoft.com/office/powerpoint/2010/main" val="7305162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dirty="0"/>
          </a:p>
        </p:txBody>
      </p:sp>
    </p:spTree>
    <p:extLst>
      <p:ext uri="{BB962C8B-B14F-4D97-AF65-F5344CB8AC3E}">
        <p14:creationId xmlns:p14="http://schemas.microsoft.com/office/powerpoint/2010/main" val="17893805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If you implement your message request plugin in Java, then you will need to compile the Java class and recopy it into the Guidewire directory structure.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dirty="0"/>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35796299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dirty="0"/>
          </a:p>
        </p:txBody>
      </p:sp>
    </p:spTree>
    <p:extLst>
      <p:ext uri="{BB962C8B-B14F-4D97-AF65-F5344CB8AC3E}">
        <p14:creationId xmlns:p14="http://schemas.microsoft.com/office/powerpoint/2010/main" val="4169572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t>
            </a:r>
            <a:r>
              <a:rPr lang="en-US" baseline="0" dirty="0"/>
              <a:t> exception handled differently than a reported error for a message. There are various types of exceptions such as a </a:t>
            </a:r>
            <a:r>
              <a:rPr lang="en-US" baseline="0" dirty="0" err="1"/>
              <a:t>java.net.ConnectionException</a:t>
            </a:r>
            <a:r>
              <a:rPr lang="en-US" baseline="0" dirty="0"/>
              <a:t> or </a:t>
            </a:r>
            <a:r>
              <a:rPr lang="en-US" baseline="0" dirty="0" err="1"/>
              <a:t>gw.xml.ws.WsiAuthenticationException</a:t>
            </a:r>
            <a:r>
              <a:rPr lang="en-US" baseline="0" dirty="0"/>
              <a:t>. </a:t>
            </a:r>
          </a:p>
          <a:p>
            <a:endParaRPr lang="en-US" baseline="0" dirty="0"/>
          </a:p>
          <a:p>
            <a:r>
              <a:rPr lang="en-US" dirty="0"/>
              <a:t>Sometimes a message transport plugin has a send error and expects it to be temporary. To support this common use case, if the message transport plugin throws an exception from its send method, the Guidewire application will retry to send the message after a specified amount of delay time, and will continue to retry sending the message multiple times.</a:t>
            </a:r>
          </a:p>
          <a:p>
            <a:endParaRPr lang="en-US" baseline="0" dirty="0"/>
          </a:p>
          <a:p>
            <a:r>
              <a:rPr lang="en-US" baseline="0" dirty="0"/>
              <a:t>When there is an exception is thrown in a transport plugin class in a send method, the Guidewire application response is to retry sending the message until reaching the maximum number of retries.  The message's destination configuration defines </a:t>
            </a:r>
            <a:r>
              <a:rPr lang="en-US" dirty="0"/>
              <a:t>the value for</a:t>
            </a:r>
            <a:r>
              <a:rPr lang="en-US" baseline="0" dirty="0"/>
              <a:t> the maximum number of retries</a:t>
            </a:r>
            <a:r>
              <a:rPr lang="en-US" dirty="0"/>
              <a:t>.  When reaching the maximum number of retries, Guidewire suspends the destination.</a:t>
            </a:r>
          </a:p>
          <a:p>
            <a:endParaRPr lang="en-US" dirty="0"/>
          </a:p>
          <a:p>
            <a:r>
              <a:rPr lang="en-US" dirty="0"/>
              <a:t>Destinations have specific parameters that impact how messages are retried.</a:t>
            </a:r>
          </a:p>
          <a:p>
            <a:pPr marL="171450" indent="-171450">
              <a:buFont typeface="Arial" pitchFamily="34" charset="0"/>
              <a:buChar char="•"/>
            </a:pPr>
            <a:r>
              <a:rPr lang="en-US" dirty="0"/>
              <a:t>Initial Retry Interval - The amount of time (in milliseconds) to wait before attempting to resend a message after an exception is thrown.</a:t>
            </a:r>
          </a:p>
          <a:p>
            <a:pPr marL="171450" indent="-171450">
              <a:buFont typeface="Arial" pitchFamily="34" charset="0"/>
              <a:buChar char="•"/>
            </a:pPr>
            <a:r>
              <a:rPr lang="en-US" dirty="0"/>
              <a:t>Max Retries - The number of retries to attempt</a:t>
            </a:r>
          </a:p>
          <a:p>
            <a:pPr marL="171450" indent="-171450">
              <a:buFont typeface="Arial" pitchFamily="34" charset="0"/>
              <a:buChar char="•"/>
            </a:pPr>
            <a:r>
              <a:rPr lang="en-US" dirty="0"/>
              <a:t>Retry </a:t>
            </a:r>
            <a:r>
              <a:rPr lang="en-US" dirty="0" err="1"/>
              <a:t>Backoff</a:t>
            </a:r>
            <a:r>
              <a:rPr lang="en-US" dirty="0"/>
              <a:t> Multiplier - The amount to increase the time between resends, specified as a multiplier of the time previously attempted.</a:t>
            </a:r>
          </a:p>
          <a:p>
            <a:pPr marL="171450" indent="-171450">
              <a:buFont typeface="Arial" pitchFamily="34" charset="0"/>
              <a:buChar char="•"/>
            </a:pPr>
            <a:r>
              <a:rPr lang="en-US" dirty="0"/>
              <a:t>Shutdown Timeout -  The length of time to wait before attempting to shut down the messaging subsystem.</a:t>
            </a:r>
          </a:p>
          <a:p>
            <a:endParaRPr lang="en-US" dirty="0"/>
          </a:p>
          <a:p>
            <a:pPr algn="ctr"/>
            <a:r>
              <a:rPr lang="en-US" dirty="0"/>
              <a:t>(continued)</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dirty="0"/>
          </a:p>
        </p:txBody>
      </p:sp>
    </p:spTree>
    <p:extLst>
      <p:ext uri="{BB962C8B-B14F-4D97-AF65-F5344CB8AC3E}">
        <p14:creationId xmlns:p14="http://schemas.microsoft.com/office/powerpoint/2010/main" val="29439877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message causes the destination to be suspended when:</a:t>
            </a:r>
          </a:p>
          <a:p>
            <a:pPr marL="171450" indent="-171450">
              <a:buFont typeface="Arial" pitchFamily="34" charset="0"/>
              <a:buChar char="•"/>
            </a:pPr>
            <a:r>
              <a:rPr lang="en-US" dirty="0"/>
              <a:t>The beforeSend() or send() method throws an exception, AND</a:t>
            </a:r>
          </a:p>
          <a:p>
            <a:pPr marL="171450" indent="-171450">
              <a:buFont typeface="Arial" pitchFamily="34" charset="0"/>
              <a:buChar char="•"/>
            </a:pPr>
            <a:r>
              <a:rPr lang="en-US" dirty="0"/>
              <a:t>The message has reached the retry limit.</a:t>
            </a:r>
          </a:p>
          <a:p>
            <a:endParaRPr lang="en-US" dirty="0"/>
          </a:p>
          <a:p>
            <a:r>
              <a:rPr lang="en-US" dirty="0"/>
              <a:t>In order for an additional messages to be processed for the messaging destination, you need to skip any messages reporting an error and to resume the suspended destination. An administrator can manually skip a message. It is also possible for custom code to skip messages, for example, from within a batch process.  If a message is safe ordered, the next message for the destination/entity pair will not be sent until the message is either resent and successfully acknowledged or skipped.</a:t>
            </a:r>
          </a:p>
          <a:p>
            <a:endParaRPr lang="en-US" dirty="0"/>
          </a:p>
          <a:p>
            <a:r>
              <a:rPr lang="en-US" dirty="0"/>
              <a:t>Messaging plugins have methods to suspend, resume, and shutdown the system. During the suspend(), shutdown(), and resume() methods of the plugin, the plugin must not call any APIs that suspend or resume messaging destinations. This includes—but is not limited to—</a:t>
            </a:r>
            <a:r>
              <a:rPr lang="en-US" dirty="0" err="1"/>
              <a:t>MessageToolsAPI</a:t>
            </a:r>
            <a:r>
              <a:rPr lang="en-US" dirty="0"/>
              <a:t> web service APIs. Doing so creates circular application logic.</a:t>
            </a:r>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dirty="0"/>
          </a:p>
        </p:txBody>
      </p:sp>
    </p:spTree>
    <p:extLst>
      <p:ext uri="{BB962C8B-B14F-4D97-AF65-F5344CB8AC3E}">
        <p14:creationId xmlns:p14="http://schemas.microsoft.com/office/powerpoint/2010/main" val="21288600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Guidewire application has an Event Messages screen on the Administration tab. The Event Messages screen shown above is present in every Guidewire application. It is used to administer messages.</a:t>
            </a:r>
          </a:p>
          <a:p>
            <a:r>
              <a:rPr lang="en-US" dirty="0"/>
              <a:t>To manually retry or skip a specific message:</a:t>
            </a:r>
          </a:p>
          <a:p>
            <a:pPr marL="171450" indent="-171450">
              <a:buFont typeface="Arial" pitchFamily="34" charset="0"/>
              <a:buChar char="•"/>
            </a:pPr>
            <a:r>
              <a:rPr lang="en-US" dirty="0"/>
              <a:t>From the "Event Messages" screen, click the Destination name.</a:t>
            </a:r>
          </a:p>
          <a:p>
            <a:pPr marL="171450" indent="-171450">
              <a:buFont typeface="Arial" pitchFamily="34" charset="0"/>
              <a:buChar char="•"/>
            </a:pPr>
            <a:r>
              <a:rPr lang="en-US" dirty="0"/>
              <a:t>From the "Destination: &lt;Destination Name&gt;" screen, click the appropriate link.</a:t>
            </a:r>
          </a:p>
          <a:p>
            <a:pPr marL="171450" indent="-171450">
              <a:buFont typeface="Arial" pitchFamily="34" charset="0"/>
              <a:buChar char="•"/>
            </a:pPr>
            <a:r>
              <a:rPr lang="en-US" dirty="0"/>
              <a:t>If the destination has messages associated to non-safe-ordered entities, the screen will have a "Non-safe-ordered messages" link.</a:t>
            </a:r>
          </a:p>
          <a:p>
            <a:pPr marL="171450" indent="-171450">
              <a:buFont typeface="Arial" pitchFamily="34" charset="0"/>
              <a:buChar char="•"/>
            </a:pPr>
            <a:r>
              <a:rPr lang="en-US" dirty="0"/>
              <a:t>If the destination has messages associated to safe-ordered entities, the screen will have a "Safe-ordered messages" link for each safe-ordered entity.</a:t>
            </a:r>
          </a:p>
          <a:p>
            <a:pPr marL="171450" indent="-171450">
              <a:buFont typeface="Arial" pitchFamily="34" charset="0"/>
              <a:buChar char="•"/>
            </a:pPr>
            <a:r>
              <a:rPr lang="en-US" dirty="0"/>
              <a:t>From the next screen, click the appropriate message or messages. Then, click "Retry" or "Skip".</a:t>
            </a:r>
          </a:p>
          <a:p>
            <a:r>
              <a:rPr lang="en-US" dirty="0"/>
              <a:t>When you manually retry a message, Guidewire attempts to resend the message by calling the same methods as the first attempt: the beforeSend() method (if a reply plugin has been implemented) and the send() method. If the issue that caused the original problem has not been rectified, the message will cause another exception, and after the Max Retries has been exceeded, the destination will be suspended again.</a:t>
            </a:r>
          </a:p>
          <a:p>
            <a:r>
              <a:rPr lang="en-US" dirty="0"/>
              <a:t>When you skip a message, the message is moved from the Message table to the MessageHistory table. The status of the message is set to "13" (skipped). Then the next message in its order (if there is one) can be sent. Note that skipping a message implies that the information that it was expected to carry to the external system is lost. When programming for messaging, care should be taken to avoid programming in such a way that large numbers of messages may be inadvertently skipped.</a:t>
            </a:r>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dirty="0"/>
          </a:p>
        </p:txBody>
      </p:sp>
    </p:spTree>
    <p:extLst>
      <p:ext uri="{BB962C8B-B14F-4D97-AF65-F5344CB8AC3E}">
        <p14:creationId xmlns:p14="http://schemas.microsoft.com/office/powerpoint/2010/main" val="40779043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resume(), shutdown(), and suspend() methods are called by the application when the destination is resumed, or suspended, or the server shuts down. Plugins should acquire or release external resources at these times. For example, a plugin may need to create or close JMS or JDBC connections, JMS Sessions, sockets, and so on.</a:t>
            </a:r>
          </a:p>
          <a:p>
            <a:endParaRPr lang="en-US" dirty="0"/>
          </a:p>
          <a:p>
            <a:r>
              <a:rPr lang="en-US" dirty="0"/>
              <a:t>Typically, these methods are empty in a request plugin. In a production environment, they should be implemented for transport and reply plugins.</a:t>
            </a:r>
          </a:p>
          <a:p>
            <a:endParaRPr lang="en-US" dirty="0"/>
          </a:p>
          <a:p>
            <a:r>
              <a:rPr lang="en-US" dirty="0"/>
              <a:t>The plugin should throw a Guidewire </a:t>
            </a:r>
            <a:r>
              <a:rPr lang="en-US" dirty="0" err="1"/>
              <a:t>InitializationException</a:t>
            </a:r>
            <a:r>
              <a:rPr lang="en-US" dirty="0"/>
              <a:t> (</a:t>
            </a:r>
            <a:r>
              <a:rPr lang="en-US" dirty="0" err="1"/>
              <a:t>gw.plugin.messaging.InitializationException</a:t>
            </a:r>
            <a:r>
              <a:rPr lang="en-US" dirty="0"/>
              <a:t>) from resume() if the resources have not initialized successfully. (A manual resume could be attempted later and may be successful.)</a:t>
            </a:r>
          </a:p>
          <a:p>
            <a:endParaRPr lang="en-US" dirty="0"/>
          </a:p>
          <a:p>
            <a:r>
              <a:rPr lang="en-US" dirty="0"/>
              <a:t>The setDestinationID method is not related to how a message is suspended or resumed. It allows your destination to get its own destination ID to store it in a private variable. Your code can use the stored destination ID value for logging messages or send it to integration systems so that they can programmatically suspend/resume the destination if necessary. Keep in mind that the valid range for your destination IDs is 0 through 63, inclusive. Guidewire reserves all other destination IDs for built-in destinations, such as the email transport destination.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dirty="0"/>
          </a:p>
        </p:txBody>
      </p:sp>
    </p:spTree>
    <p:extLst>
      <p:ext uri="{BB962C8B-B14F-4D97-AF65-F5344CB8AC3E}">
        <p14:creationId xmlns:p14="http://schemas.microsoft.com/office/powerpoint/2010/main" val="37486704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 message could be retried automatically during the sending of the message.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During the sending of a message, a message has</a:t>
            </a:r>
            <a:r>
              <a:rPr lang="en-US" baseline="0" dirty="0"/>
              <a:t> a status of "(1) Pending send".  </a:t>
            </a:r>
            <a:r>
              <a:rPr lang="en-US" dirty="0"/>
              <a:t>Guidewire automatically retires sending of a message when an exception is thrown in the beforeSend() or Send() method. The message destination's Max Retries property determines the maximum number of retries. Because the message has not yet been sent, each attempt should use the same SenderRefID.  The message</a:t>
            </a:r>
            <a:r>
              <a:rPr lang="en-US" baseline="0" dirty="0"/>
              <a:t> request</a:t>
            </a:r>
            <a:r>
              <a:rPr lang="en-US" dirty="0"/>
              <a:t>, code should set the SenderRefID only if it is null.) If a given message exceeds the maximum number of retries, the</a:t>
            </a:r>
            <a:r>
              <a:rPr lang="en-US" baseline="0" dirty="0"/>
              <a:t> Guidewire application suspends the</a:t>
            </a:r>
            <a:r>
              <a:rPr lang="en-US" dirty="0"/>
              <a:t> destination.  The</a:t>
            </a:r>
            <a:r>
              <a:rPr lang="en-US" baseline="0" dirty="0"/>
              <a:t> Guidewire application will not send any more messages for a suspended destination.  You must resume the destination to remove the suspension. </a:t>
            </a:r>
            <a:endParaRPr lang="en-US" b="1"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b="1" dirty="0"/>
          </a:p>
          <a:p>
            <a:r>
              <a:rPr lang="en-US" b="1" dirty="0"/>
              <a:t>A message could be retried manually.</a:t>
            </a:r>
          </a:p>
          <a:p>
            <a:r>
              <a:rPr lang="en-US" dirty="0"/>
              <a:t>This occurs when a message requires manual intervention. (This could be necessary for several reasons, such as a message that caused an exception during send() where the situation has now been rectified, or a message whose payload needed to be modified manually, or a message for which the external system never provided a response.)  An admin retries the message manually by selecting the message from one of the Message Administration screens and clicking the Retry button. There is no notion of maximum retries for a message retried manually. A message could be retried automatically after the sending of the message. This is discussed in detail in the "Acknowledging Messages" lesson.</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dirty="0"/>
          </a:p>
        </p:txBody>
      </p:sp>
    </p:spTree>
    <p:extLst>
      <p:ext uri="{BB962C8B-B14F-4D97-AF65-F5344CB8AC3E}">
        <p14:creationId xmlns:p14="http://schemas.microsoft.com/office/powerpoint/2010/main" val="24651795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dirty="0"/>
          </a:p>
        </p:txBody>
      </p:sp>
    </p:spTree>
    <p:extLst>
      <p:ext uri="{BB962C8B-B14F-4D97-AF65-F5344CB8AC3E}">
        <p14:creationId xmlns:p14="http://schemas.microsoft.com/office/powerpoint/2010/main" val="15630006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of the slides in this section pertain exclusively to one product (PolicyCenter, BillingCenter, ClaimCenter, or ContactManager). The instructor may skip over slides that pertain to products that are not relevant to the course.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dirty="0"/>
          </a:p>
        </p:txBody>
      </p:sp>
    </p:spTree>
    <p:extLst>
      <p:ext uri="{BB962C8B-B14F-4D97-AF65-F5344CB8AC3E}">
        <p14:creationId xmlns:p14="http://schemas.microsoft.com/office/powerpoint/2010/main" val="33146646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 ordering allows Guidewire to send messages as soon as possible, and yet prevents errors that might occur if related messages were processed out of order. </a:t>
            </a:r>
          </a:p>
          <a:p>
            <a:endParaRPr lang="en-US" dirty="0"/>
          </a:p>
          <a:p>
            <a:r>
              <a:rPr lang="en-US" dirty="0"/>
              <a:t>Safe ordering is not a simple first-in first-out order (FIFO). Messages are sent based on the order in which they must be received by the external system, which may or may not be identical to the order in which they were created in Event Fired rules.</a:t>
            </a:r>
          </a:p>
          <a:p>
            <a:endParaRPr lang="en-US" dirty="0"/>
          </a:p>
          <a:p>
            <a:r>
              <a:rPr lang="en-US" dirty="0"/>
              <a:t>This feature has large implications for messaging performance. Only one message can be in flight for each entity/destination pair. If the send queue contains 10 messages associated with different claims/accounts/contacts/producers, Guidewire can send all these safe-ordered messages immediately. However, if the send queue contains 10 safe-ordered messages for the same claim/account/contact/producer, Guidewire can send only one. Guidewire must wait for the message acknowledgement, and then at that point can send the next message, but once again can send only one.</a:t>
            </a:r>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dirty="0"/>
          </a:p>
        </p:txBody>
      </p:sp>
    </p:spTree>
    <p:extLst>
      <p:ext uri="{BB962C8B-B14F-4D97-AF65-F5344CB8AC3E}">
        <p14:creationId xmlns:p14="http://schemas.microsoft.com/office/powerpoint/2010/main" val="28497708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The example above represents a single destination with six messages. Two messages apply to regions. Two messages apply to account B. Two messages apply to account D. The time each message was created is also listed, and the messages appear in the order in which they were created.</a:t>
            </a:r>
          </a:p>
          <a:p>
            <a:endParaRPr lang="en-US" dirty="0"/>
          </a:p>
          <a:p>
            <a:r>
              <a:rPr lang="en-US" dirty="0"/>
              <a:t>First, Guidewire sends all the non-safe ordered messages. This is because non-safe ordered messages usually relate to "administrative" data that may be referenced by many other messages. Non-safe ordered messages are sent in the order they are created. (Therefore, the region A message is sent first, as it was created at 10:01. The region C message is sent second.) All non-safe ordered messages are sent immediately. Guidewire does not wait for any acknowledgement from the external system.</a:t>
            </a:r>
          </a:p>
          <a:p>
            <a:endParaRPr lang="en-US" dirty="0"/>
          </a:p>
          <a:p>
            <a:r>
              <a:rPr lang="en-US" dirty="0"/>
              <a:t>Next, Guidewire sends all the safe-ordered messages. As much as possible, safe-ordered messages are sent in the order that they are created. But, Guidewire sends only one message for a given entity/destination pair at a time. So, the send time of later messages for a given entity/destination pair depends upon when acknowledgement is received for earlier messages in that entity/destination pair. (Therefore, the "account B added" message is sent third. The "account B changed" message cannot be sent until the "account B added" message is acknowledged. Assuming there is no immediate acknowledgement of the message, the "account D added" message is sent fourth. The order and timing of the "account B changed" and "account D changed " messages is unknown because the sending of these messages depends upon the acknowledgement of the corresponding "account added" messages.)</a:t>
            </a:r>
          </a:p>
          <a:p>
            <a:pPr algn="ctr"/>
            <a:r>
              <a:rPr lang="en-US" dirty="0"/>
              <a:t>(continued)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dirty="0"/>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18749683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Strict mode</a:t>
            </a:r>
          </a:p>
          <a:p>
            <a:r>
              <a:rPr lang="en-US" dirty="0"/>
              <a:t>Destinations have an option known as "strict mode". By default, it is turned off. Checking the destination's "Strict mode" turns it on.</a:t>
            </a:r>
          </a:p>
          <a:p>
            <a:endParaRPr lang="en-US" dirty="0"/>
          </a:p>
          <a:p>
            <a:r>
              <a:rPr lang="en-US" dirty="0"/>
              <a:t>When a destination is in strict mode:</a:t>
            </a:r>
          </a:p>
          <a:p>
            <a:pPr marL="171450" indent="-171450">
              <a:buFont typeface="Arial" pitchFamily="34" charset="0"/>
              <a:buChar char="•"/>
            </a:pPr>
            <a:r>
              <a:rPr lang="en-US" dirty="0"/>
              <a:t>Non-safe-ordered messages are sent one at a time. The next non-safe ordered message is not sent until the previous non-safe ordered message is acknowledged.</a:t>
            </a:r>
          </a:p>
          <a:p>
            <a:pPr marL="171450" indent="-171450">
              <a:buFont typeface="Arial" pitchFamily="34" charset="0"/>
              <a:buChar char="•"/>
            </a:pPr>
            <a:r>
              <a:rPr lang="en-US" dirty="0"/>
              <a:t>Safe-ordered messages are not sent until all non-safe-ordered messages have been sent and acknowledged.</a:t>
            </a:r>
          </a:p>
          <a:p>
            <a:r>
              <a:rPr lang="en-US" dirty="0"/>
              <a:t>This option is intended solely for destinations that send messages for multiple types of entities, and the order in which those messages are sent affects the external system's ability to understand them. Strict mode should be used cautiously, as it potentially affects the through-put of the destination because a single non-safe-ordered message that does not receive a positive acknowledgement will prevent the destination from sending further messages.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dirty="0"/>
          </a:p>
        </p:txBody>
      </p:sp>
    </p:spTree>
    <p:extLst>
      <p:ext uri="{BB962C8B-B14F-4D97-AF65-F5344CB8AC3E}">
        <p14:creationId xmlns:p14="http://schemas.microsoft.com/office/powerpoint/2010/main" val="18550764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most destinations, the default behavior of Claim-based safe ordering is appropriate. However, some destinations represent integration points to a contact management system such as Guidewire ContactManager. For these integration points, each message may pertain to only one contact, and there are no issues around sending multiple messages for the same claim at the same time provided that each message pertains to a different contact. For these destinations, you can define that safe ordering should be enforced at the Contact level. This means a given claim may have multiple messages in flight, but it will never have more than one message in flight for any given contact.</a:t>
            </a:r>
          </a:p>
          <a:p>
            <a:endParaRPr lang="en-US" dirty="0"/>
          </a:p>
          <a:p>
            <a:r>
              <a:rPr lang="en-US" dirty="0"/>
              <a:t>To configure a destination to do safe ordering at the Contact level, select "Contact" in the Alternative Primary Entity field. Contact is the only alternative primary entity in ClaimCenter.</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dirty="0"/>
          </a:p>
        </p:txBody>
      </p:sp>
    </p:spTree>
    <p:extLst>
      <p:ext uri="{BB962C8B-B14F-4D97-AF65-F5344CB8AC3E}">
        <p14:creationId xmlns:p14="http://schemas.microsoft.com/office/powerpoint/2010/main" val="20288715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most destinations, the default behavior of Account-based safe ordering is appropriate. However, some destinations represent integration points to a contact management system such as Guidewire ContactManager. For these integration points, each message may pertain to only one contact, and there are no issues around sending multiple messages for the same account at the same time provided that each message pertains to a different contact. For these destinations, you can define that safe ordering should be enforced at the Contact level. This means a given account may have multiple messages in flight, but it will never have more than one message in flight for any given contact.</a:t>
            </a:r>
          </a:p>
          <a:p>
            <a:endParaRPr lang="en-US" dirty="0"/>
          </a:p>
          <a:p>
            <a:r>
              <a:rPr lang="en-US" dirty="0"/>
              <a:t>To configure a destination to do safe ordering at the Contact level, select "Contact" in the Alternative Primary Entity field. Contact is the only alternative primary entity in PolicyCenter.</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dirty="0"/>
          </a:p>
        </p:txBody>
      </p:sp>
    </p:spTree>
    <p:extLst>
      <p:ext uri="{BB962C8B-B14F-4D97-AF65-F5344CB8AC3E}">
        <p14:creationId xmlns:p14="http://schemas.microsoft.com/office/powerpoint/2010/main" val="1335705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Unlike ClaimCenter (where most business information is owned uniquely by a claim) or PolicyCenter (where most business information is owned uniquely by an account), BillingCenter does not have a single entity whose instances uniquely own most of the business information. Therefore, BillingCenter does not have a single entity that is the default safe-ordered entity. The default is not to use safe ordering, and safe ordering must be enabled for each destination with the appropriate entity. </a:t>
            </a:r>
          </a:p>
          <a:p>
            <a:pPr eaLnBrk="1" hangingPunct="1"/>
            <a:endParaRPr lang="en-US" dirty="0"/>
          </a:p>
          <a:p>
            <a:pPr eaLnBrk="1" hangingPunct="1"/>
            <a:r>
              <a:rPr lang="en-US" dirty="0"/>
              <a:t>Because safe ordering reduces the likelihood of errors on the external system and can increase performance, the best practice is to enable safe ordering for every destination that can make use of it.</a:t>
            </a:r>
          </a:p>
          <a:p>
            <a:pPr eaLnBrk="1" hangingPunct="1"/>
            <a:endParaRPr lang="en-US" dirty="0"/>
          </a:p>
          <a:p>
            <a:pPr eaLnBrk="1" hangingPunct="1"/>
            <a:r>
              <a:rPr lang="en-US" dirty="0"/>
              <a:t>To configure a destination to do safe ordering, select the appropriate entity type (Account, Contact, PolicyPeriod, or Producer) in the Alternative Primary Entity field.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dirty="0"/>
          </a:p>
        </p:txBody>
      </p:sp>
    </p:spTree>
    <p:extLst>
      <p:ext uri="{BB962C8B-B14F-4D97-AF65-F5344CB8AC3E}">
        <p14:creationId xmlns:p14="http://schemas.microsoft.com/office/powerpoint/2010/main" val="26711334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dirty="0"/>
          </a:p>
        </p:txBody>
      </p:sp>
    </p:spTree>
    <p:extLst>
      <p:ext uri="{BB962C8B-B14F-4D97-AF65-F5344CB8AC3E}">
        <p14:creationId xmlns:p14="http://schemas.microsoft.com/office/powerpoint/2010/main" val="38399978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TrainingApp includes a safe ordering demo. Using this demo, you can select and change either an ABContact or a User. You can send a message with acknowledgement or without acknowledgement. Message activity is printed to the console. Using this demo, you can see that:</a:t>
            </a:r>
          </a:p>
          <a:p>
            <a:pPr marL="171450" indent="-171450">
              <a:buFont typeface="Arial" pitchFamily="34" charset="0"/>
              <a:buChar char="•"/>
            </a:pPr>
            <a:r>
              <a:rPr lang="en-US" dirty="0"/>
              <a:t>If two messages are sent for the same ABContact (a safe-ordering entity), the second message is sent only if the first message is acknowledged.</a:t>
            </a:r>
          </a:p>
          <a:p>
            <a:pPr marL="171450" indent="-171450">
              <a:buFont typeface="Arial" pitchFamily="34" charset="0"/>
              <a:buChar char="•"/>
            </a:pPr>
            <a:r>
              <a:rPr lang="en-US" dirty="0"/>
              <a:t>If two messages are sent for the same User (a non-safe-ordering entity), the second message is always sent, regardless of the acknowledgement of the first message.</a:t>
            </a:r>
          </a:p>
          <a:p>
            <a:r>
              <a:rPr lang="en-US" dirty="0"/>
              <a:t>The demo is located on the Administration tab's "Training: MessagingSafe Ordering" screen. Detailed instructions for how to use the demo are also included. To view the instructions, click the "Display demo instructions" link at the top of the detail view.</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dirty="0"/>
          </a:p>
        </p:txBody>
      </p:sp>
    </p:spTree>
    <p:extLst>
      <p:ext uri="{BB962C8B-B14F-4D97-AF65-F5344CB8AC3E}">
        <p14:creationId xmlns:p14="http://schemas.microsoft.com/office/powerpoint/2010/main" val="18995803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dirty="0"/>
          </a:p>
        </p:txBody>
      </p:sp>
    </p:spTree>
    <p:extLst>
      <p:ext uri="{BB962C8B-B14F-4D97-AF65-F5344CB8AC3E}">
        <p14:creationId xmlns:p14="http://schemas.microsoft.com/office/powerpoint/2010/main" val="19927392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471838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913674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33</a:t>
            </a:fld>
            <a:endParaRPr lang="en-US" dirty="0"/>
          </a:p>
        </p:txBody>
      </p:sp>
    </p:spTree>
    <p:extLst>
      <p:ext uri="{BB962C8B-B14F-4D97-AF65-F5344CB8AC3E}">
        <p14:creationId xmlns:p14="http://schemas.microsoft.com/office/powerpoint/2010/main" val="24522501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a:t>
            </a:r>
          </a:p>
          <a:p>
            <a:r>
              <a:rPr lang="en-US" dirty="0" smtClean="0"/>
              <a:t>1) </a:t>
            </a:r>
            <a:r>
              <a:rPr lang="en-US" dirty="0"/>
              <a:t>The transport plugin is required because it is used to send the message when it is processed from the Message table. Without a transport plugin, messages for a given destination would have no way of being sent to the corresponding external system.</a:t>
            </a:r>
          </a:p>
          <a:p>
            <a:r>
              <a:rPr lang="en-US" dirty="0"/>
              <a:t>2</a:t>
            </a:r>
            <a:r>
              <a:rPr lang="en-US" dirty="0" smtClean="0"/>
              <a:t>) </a:t>
            </a:r>
            <a:r>
              <a:rPr lang="en-US" dirty="0"/>
              <a:t>A destination cannot have two transport plugins, but a transport plugin class can be used by two (or more) similar destinations.</a:t>
            </a:r>
          </a:p>
          <a:p>
            <a:r>
              <a:rPr lang="en-US" dirty="0"/>
              <a:t>3</a:t>
            </a:r>
            <a:r>
              <a:rPr lang="en-US" dirty="0" smtClean="0"/>
              <a:t>) </a:t>
            </a:r>
            <a:r>
              <a:rPr lang="en-US" dirty="0"/>
              <a:t>The message acknowledgement architecture assumes that each message is sent to only one destination. If a given send() method sent a message to multiple destinations, then there could be multiple acknowledgements, errors, or unprocessed messages, and the messaging architecture would not be able to identify the state of the message.</a:t>
            </a:r>
          </a:p>
        </p:txBody>
      </p:sp>
      <p:sp>
        <p:nvSpPr>
          <p:cNvPr id="4" name="Slide Number Placeholder 3"/>
          <p:cNvSpPr>
            <a:spLocks noGrp="1"/>
          </p:cNvSpPr>
          <p:nvPr>
            <p:ph type="sldNum" sz="quarter" idx="10"/>
          </p:nvPr>
        </p:nvSpPr>
        <p:spPr/>
        <p:txBody>
          <a:bodyPr/>
          <a:lstStyle/>
          <a:p>
            <a:fld id="{BC59C1E8-2E88-4BF4-A80C-B8AE78323CDF}" type="slidenum">
              <a:rPr lang="en-US" smtClean="0"/>
              <a:pPr/>
              <a:t>34</a:t>
            </a:fld>
            <a:endParaRPr lang="en-US" dirty="0"/>
          </a:p>
        </p:txBody>
      </p:sp>
    </p:spTree>
    <p:extLst>
      <p:ext uri="{BB962C8B-B14F-4D97-AF65-F5344CB8AC3E}">
        <p14:creationId xmlns:p14="http://schemas.microsoft.com/office/powerpoint/2010/main" val="2641546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694944" y="914400"/>
            <a:ext cx="1109472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694944" y="914400"/>
            <a:ext cx="5449824"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6339840" y="914400"/>
            <a:ext cx="5449824"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6339417" y="1752600"/>
            <a:ext cx="5444067"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692151" y="1752600"/>
            <a:ext cx="5444067"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44806687"/>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692151" y="36576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692151" y="45720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04636995"/>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692151" y="9144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165869696"/>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692149" y="914402"/>
            <a:ext cx="353568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53529206"/>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692151" y="914402"/>
            <a:ext cx="5444067"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32715863"/>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
        <p:nvSpPr>
          <p:cNvPr id="3" name="txt Title Fixed NotesOnly"/>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3" name="txt Topic Content"/>
          <p:cNvSpPr>
            <a:spLocks noGrp="1"/>
          </p:cNvSpPr>
          <p:nvPr>
            <p:ph idx="1" hasCustomPrompt="1"/>
          </p:nvPr>
        </p:nvSpPr>
        <p:spPr>
          <a:xfrm>
            <a:off x="692151" y="914400"/>
            <a:ext cx="11091333"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711200" y="5791200"/>
            <a:ext cx="110744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smtClean="0">
                <a:solidFill>
                  <a:schemeClr val="accent1"/>
                </a:solidFill>
              </a:rPr>
              <a:t>This lesson uses the notes section for </a:t>
            </a:r>
            <a:r>
              <a:rPr lang="en-US" sz="1600" b="0" dirty="0">
                <a:solidFill>
                  <a:schemeClr val="accent1"/>
                </a:solidFill>
              </a:rPr>
              <a:t>additional explanation and </a:t>
            </a:r>
            <a:r>
              <a:rPr lang="en-US" sz="1600" b="0" dirty="0" smtClean="0">
                <a:solidFill>
                  <a:schemeClr val="accent1"/>
                </a:solidFill>
              </a:rPr>
              <a:t>information.</a:t>
            </a:r>
            <a:r>
              <a:rPr lang="en-US" sz="1600" dirty="0" smtClean="0">
                <a:solidFill>
                  <a:schemeClr val="accent1"/>
                </a:solidFill>
              </a:rPr>
              <a:t> </a:t>
            </a:r>
            <a:br>
              <a:rPr lang="en-US" sz="1600" dirty="0" smtClean="0">
                <a:solidFill>
                  <a:schemeClr val="accent1"/>
                </a:solidFill>
              </a:rPr>
            </a:br>
            <a:r>
              <a:rPr lang="en-US" sz="1600" b="0" dirty="0" smtClean="0">
                <a:solidFill>
                  <a:schemeClr val="accent1"/>
                </a:solidFill>
              </a:rPr>
              <a:t>To </a:t>
            </a:r>
            <a:r>
              <a:rPr lang="en-US" sz="1600" b="0" dirty="0">
                <a:solidFill>
                  <a:schemeClr val="accent1"/>
                </a:solidFill>
              </a:rPr>
              <a:t>view the notes in PowerPoint, </a:t>
            </a:r>
            <a:r>
              <a:rPr lang="en-US" sz="1600" b="0" dirty="0" smtClean="0">
                <a:solidFill>
                  <a:schemeClr val="accent1"/>
                </a:solidFill>
              </a:rPr>
              <a:t>select View </a:t>
            </a:r>
            <a:r>
              <a:rPr lang="en-US" sz="1600" b="0" dirty="0" smtClean="0">
                <a:solidFill>
                  <a:schemeClr val="accent1"/>
                </a:solidFill>
                <a:sym typeface="Wingdings" pitchFamily="2" charset="2"/>
              </a:rPr>
              <a:t> Normal </a:t>
            </a:r>
            <a:r>
              <a:rPr lang="en-US" sz="1600" b="0" dirty="0">
                <a:solidFill>
                  <a:schemeClr val="accent1"/>
                </a:solidFill>
                <a:sym typeface="Wingdings" pitchFamily="2" charset="2"/>
              </a:rPr>
              <a:t>or </a:t>
            </a:r>
            <a:r>
              <a:rPr lang="en-US" sz="1600" b="0" dirty="0" smtClean="0">
                <a:solidFill>
                  <a:schemeClr val="accent1"/>
                </a:solidFill>
              </a:rPr>
              <a:t>View </a:t>
            </a:r>
            <a:r>
              <a:rPr lang="en-US" sz="1600" b="0" dirty="0" smtClean="0">
                <a:solidFill>
                  <a:schemeClr val="accent1"/>
                </a:solidFill>
                <a:sym typeface="Wingdings" pitchFamily="2" charset="2"/>
              </a:rPr>
              <a:t> </a:t>
            </a:r>
            <a:r>
              <a:rPr lang="en-US" sz="1600" b="0" dirty="0" smtClean="0">
                <a:solidFill>
                  <a:schemeClr val="accent1"/>
                </a:solidFill>
              </a:rPr>
              <a:t>Notes </a:t>
            </a:r>
            <a:r>
              <a:rPr lang="en-US" sz="1600" b="0" dirty="0">
                <a:solidFill>
                  <a:schemeClr val="accent1"/>
                </a:solidFill>
              </a:rPr>
              <a:t>Page</a:t>
            </a:r>
            <a:r>
              <a:rPr lang="en-US" sz="1600" b="0" dirty="0" smtClean="0">
                <a:solidFill>
                  <a:schemeClr val="accent1"/>
                </a:solidFill>
              </a:rPr>
              <a:t>. </a:t>
            </a:r>
            <a:br>
              <a:rPr lang="en-US" sz="1600" b="0" dirty="0" smtClean="0">
                <a:solidFill>
                  <a:schemeClr val="accent1"/>
                </a:solidFill>
              </a:rPr>
            </a:br>
            <a:r>
              <a:rPr lang="en-US" sz="1600" b="0" dirty="0" smtClean="0">
                <a:solidFill>
                  <a:schemeClr val="accent1"/>
                </a:solidFill>
              </a:rPr>
              <a:t>When printing </a:t>
            </a:r>
            <a:r>
              <a:rPr lang="en-US" sz="1600" dirty="0" smtClean="0">
                <a:solidFill>
                  <a:schemeClr val="accent1"/>
                </a:solidFill>
              </a:rPr>
              <a:t>notes, select Note Pages and</a:t>
            </a:r>
            <a:r>
              <a:rPr lang="en-US" sz="1600" baseline="0" dirty="0" smtClean="0">
                <a:solidFill>
                  <a:schemeClr val="accent1"/>
                </a:solidFill>
              </a:rPr>
              <a:t> </a:t>
            </a:r>
            <a:r>
              <a:rPr lang="en-US" sz="1600" b="0" dirty="0" smtClean="0">
                <a:solidFill>
                  <a:schemeClr val="accent1"/>
                </a:solidFill>
              </a:rPr>
              <a:t>Print </a:t>
            </a:r>
            <a:r>
              <a:rPr lang="en-US" sz="1600" b="0" dirty="0">
                <a:solidFill>
                  <a:schemeClr val="accent1"/>
                </a:solidFill>
              </a:rPr>
              <a:t>hidden slides</a:t>
            </a:r>
            <a:r>
              <a:rPr lang="en-US" sz="1600" b="0" dirty="0" smtClean="0">
                <a:solidFill>
                  <a:schemeClr val="accent1"/>
                </a:solidFill>
              </a:rPr>
              <a:t>.</a:t>
            </a:r>
            <a:endParaRPr lang="en-US" sz="1600" b="0" dirty="0">
              <a:solidFill>
                <a:schemeClr val="accent1"/>
              </a:solidFill>
            </a:endParaRP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694265" y="1344168"/>
            <a:ext cx="1109472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 review</a:t>
            </a: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694265" y="1344168"/>
            <a:ext cx="1109472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
        <p:nvSpPr>
          <p:cNvPr id="3" name="txt Content"/>
          <p:cNvSpPr>
            <a:spLocks noGrp="1"/>
          </p:cNvSpPr>
          <p:nvPr>
            <p:ph idx="1" hasCustomPrompt="1"/>
          </p:nvPr>
        </p:nvSpPr>
        <p:spPr>
          <a:xfrm>
            <a:off x="692151" y="914400"/>
            <a:ext cx="11091333"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2_White Cover + Client Logo_Single">
    <p:spTree>
      <p:nvGrpSpPr>
        <p:cNvPr id="1" name=""/>
        <p:cNvGrpSpPr/>
        <p:nvPr/>
      </p:nvGrpSpPr>
      <p:grpSpPr>
        <a:xfrm>
          <a:off x="0" y="0"/>
          <a:ext cx="0" cy="0"/>
          <a:chOff x="0" y="0"/>
          <a:chExt cx="0" cy="0"/>
        </a:xfrm>
      </p:grpSpPr>
      <p:pic>
        <p:nvPicPr>
          <p:cNvPr id="19" name="Picture 18" descr="A close up of a sign&#10;&#10;Description automatically generated">
            <a:extLst>
              <a:ext uri="{FF2B5EF4-FFF2-40B4-BE49-F238E27FC236}">
                <a16:creationId xmlns:a16="http://schemas.microsoft.com/office/drawing/2014/main" id="{729CBCB3-DFC4-6A43-9125-F8D01C1DBC97}"/>
              </a:ext>
            </a:extLst>
          </p:cNvPr>
          <p:cNvPicPr>
            <a:picLocks noChangeAspect="1"/>
          </p:cNvPicPr>
          <p:nvPr/>
        </p:nvPicPr>
        <p:blipFill>
          <a:blip r:embed="rId2"/>
          <a:stretch>
            <a:fillRect/>
          </a:stretch>
        </p:blipFill>
        <p:spPr>
          <a:xfrm>
            <a:off x="175944" y="106136"/>
            <a:ext cx="4316545" cy="1562623"/>
          </a:xfrm>
          <a:prstGeom prst="rect">
            <a:avLst/>
          </a:prstGeom>
        </p:spPr>
      </p:pic>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4685351" y="408955"/>
            <a:ext cx="3703276" cy="819151"/>
          </a:xfrm>
          <a:noFill/>
        </p:spPr>
        <p:txBody>
          <a:bodyPr anchor="ctr" anchorCtr="0"/>
          <a:lstStyle>
            <a:lvl1pPr algn="ctr">
              <a:defRPr>
                <a:solidFill>
                  <a:schemeClr val="tx2">
                    <a:lumMod val="75000"/>
                    <a:lumOff val="25000"/>
                  </a:schemeClr>
                </a:solidFill>
              </a:defRPr>
            </a:lvl1pPr>
          </a:lstStyle>
          <a:p>
            <a:r>
              <a:rPr lang="en-US" dirty="0"/>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552219" y="2543354"/>
            <a:ext cx="11131783"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dirty="0"/>
              <a:t>Single Line Title Here</a:t>
            </a:r>
          </a:p>
        </p:txBody>
      </p: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552218" y="3269358"/>
            <a:ext cx="11103597" cy="541969"/>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508000" y="6260550"/>
            <a:ext cx="6096000" cy="249655"/>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dirty="0" smtClean="0"/>
              <a:t>\</a:t>
            </a:r>
            <a:endParaRPr lang="en-US" dirty="0"/>
          </a:p>
        </p:txBody>
      </p:sp>
    </p:spTree>
    <p:extLst>
      <p:ext uri="{BB962C8B-B14F-4D97-AF65-F5344CB8AC3E}">
        <p14:creationId xmlns:p14="http://schemas.microsoft.com/office/powerpoint/2010/main" val="17819806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9267837" y="5616679"/>
            <a:ext cx="2416164" cy="819563"/>
          </a:xfrm>
        </p:spPr>
        <p:txBody>
          <a:bodyPr anchor="ctr" anchorCtr="0">
            <a:normAutofit/>
          </a:bodyPr>
          <a:lstStyle>
            <a:lvl1pPr algn="ctr">
              <a:defRPr sz="1600"/>
            </a:lvl1pPr>
          </a:lstStyle>
          <a:p>
            <a:r>
              <a:rPr lang="en-US" dirty="0"/>
              <a:t>Client/Partner Logo Here</a:t>
            </a:r>
          </a:p>
        </p:txBody>
      </p:sp>
      <p:pic>
        <p:nvPicPr>
          <p:cNvPr id="12" name="Picture 11" descr="A close up of a sign&#10;&#10;Description automatically generated">
            <a:extLst>
              <a:ext uri="{FF2B5EF4-FFF2-40B4-BE49-F238E27FC236}">
                <a16:creationId xmlns:a16="http://schemas.microsoft.com/office/drawing/2014/main" id="{1E3CF8DA-271C-CB40-9A53-7C2CBDDD591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92316" y="5486401"/>
            <a:ext cx="3346032" cy="1211287"/>
          </a:xfrm>
          <a:prstGeom prst="rect">
            <a:avLst/>
          </a:prstGeom>
        </p:spPr>
      </p:pic>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522177" y="3606065"/>
            <a:ext cx="10943344" cy="492443"/>
          </a:xfrm>
        </p:spPr>
        <p:txBody>
          <a:bodyPr wrap="square" anchor="ctr" anchorCtr="0">
            <a:spAutoFit/>
          </a:bodyPr>
          <a:lstStyle>
            <a:lvl1pPr algn="l">
              <a:defRPr sz="3200" b="0">
                <a:solidFill>
                  <a:schemeClr val="accent2"/>
                </a:solidFill>
              </a:defRPr>
            </a:lvl1pPr>
          </a:lstStyle>
          <a:p>
            <a:pPr lvl="0"/>
            <a:r>
              <a:rPr lang="en-US" dirty="0"/>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522177" y="4196906"/>
            <a:ext cx="10943344" cy="369332"/>
          </a:xfrm>
        </p:spPr>
        <p:txBody>
          <a:bodyPr wrap="square" anchor="ctr" anchorCtr="0">
            <a:spAutoFit/>
          </a:bodyPr>
          <a:lstStyle>
            <a:lvl1pPr algn="l">
              <a:defRPr sz="2400" b="0">
                <a:solidFill>
                  <a:schemeClr val="accent4"/>
                </a:solidFill>
              </a:defRPr>
            </a:lvl1pPr>
          </a:lstStyle>
          <a:p>
            <a:pPr lvl="0"/>
            <a:r>
              <a:rPr lang="en-US" dirty="0"/>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522178" y="2221185"/>
            <a:ext cx="5426268" cy="1107996"/>
          </a:xfrm>
        </p:spPr>
        <p:txBody>
          <a:bodyPr wrap="square" anchor="t" anchorCtr="0">
            <a:spAutoFit/>
          </a:bodyPr>
          <a:lstStyle>
            <a:lvl1pPr algn="l">
              <a:defRPr sz="8000" b="0" i="0">
                <a:solidFill>
                  <a:schemeClr val="accent2"/>
                </a:solidFill>
                <a:latin typeface="Arial" panose="020B0604020202020204" pitchFamily="34" charset="0"/>
                <a:cs typeface="Arial" panose="020B0604020202020204" pitchFamily="34" charset="0"/>
              </a:defRPr>
            </a:lvl1pPr>
          </a:lstStyle>
          <a:p>
            <a:pPr lvl="0"/>
            <a:r>
              <a:rPr lang="en-US" dirty="0"/>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p:nvCxnSpPr>
        <p:spPr>
          <a:xfrm>
            <a:off x="522177" y="3391088"/>
            <a:ext cx="896112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494230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cSld name="Blank Slide">
    <p:spTree>
      <p:nvGrpSpPr>
        <p:cNvPr id="1" name=""/>
        <p:cNvGrpSpPr/>
        <p:nvPr/>
      </p:nvGrpSpPr>
      <p:grpSpPr>
        <a:xfrm>
          <a:off x="0" y="0"/>
          <a:ext cx="0" cy="0"/>
          <a:chOff x="0" y="0"/>
          <a:chExt cx="0" cy="0"/>
        </a:xfrm>
      </p:grpSpPr>
      <p:sp>
        <p:nvSpPr>
          <p:cNvPr id="7" name="Title Placeholder 6"/>
          <p:cNvSpPr>
            <a:spLocks noGrp="1"/>
          </p:cNvSpPr>
          <p:nvPr>
            <p:ph type="body" sz="quarter" idx="10"/>
          </p:nvPr>
        </p:nvSpPr>
        <p:spPr>
          <a:xfrm>
            <a:off x="938784" y="1133856"/>
            <a:ext cx="10302240" cy="4425696"/>
          </a:xfrm>
          <a:ln>
            <a:noFill/>
          </a:ln>
        </p:spPr>
        <p:txBody>
          <a:bodyPr lIns="91440" tIns="45720" rIns="91440" bIns="45720" anchor="t" anchorCtr="0">
            <a:noAutofit/>
          </a:bodyPr>
          <a:lstStyle>
            <a:lvl1pPr>
              <a:defRPr sz="5867">
                <a:solidFill>
                  <a:srgbClr val="0032A1"/>
                </a:solidFill>
                <a:latin typeface="+mn-lt"/>
              </a:defRPr>
            </a:lvl1pPr>
          </a:lstStyle>
          <a:p>
            <a:pPr lvl="0"/>
            <a:r>
              <a:rPr lang="en-US" smtClean="0"/>
              <a:t>Edit Master text styles</a:t>
            </a:r>
          </a:p>
        </p:txBody>
      </p:sp>
    </p:spTree>
    <p:extLst>
      <p:ext uri="{BB962C8B-B14F-4D97-AF65-F5344CB8AC3E}">
        <p14:creationId xmlns:p14="http://schemas.microsoft.com/office/powerpoint/2010/main" val="124074055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7" name="txt Title"/>
          <p:cNvSpPr>
            <a:spLocks noGrp="1" noChangeArrowheads="1"/>
          </p:cNvSpPr>
          <p:nvPr>
            <p:ph type="title"/>
          </p:nvPr>
        </p:nvSpPr>
        <p:spPr bwMode="auto">
          <a:xfrm>
            <a:off x="658368" y="118873"/>
            <a:ext cx="1109472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title style</a:t>
            </a:r>
          </a:p>
        </p:txBody>
      </p:sp>
      <p:sp>
        <p:nvSpPr>
          <p:cNvPr id="1028" name="txt Content"/>
          <p:cNvSpPr>
            <a:spLocks noGrp="1" noChangeArrowheads="1"/>
          </p:cNvSpPr>
          <p:nvPr>
            <p:ph type="body" idx="1"/>
          </p:nvPr>
        </p:nvSpPr>
        <p:spPr bwMode="auto">
          <a:xfrm>
            <a:off x="694944" y="914400"/>
            <a:ext cx="1109472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5743154" y="6475147"/>
            <a:ext cx="692151"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5" r:id="rId1"/>
    <p:sldLayoutId id="2147483768" r:id="rId2"/>
    <p:sldLayoutId id="2147483771" r:id="rId3"/>
    <p:sldLayoutId id="2147483774" r:id="rId4"/>
    <p:sldLayoutId id="2147483776" r:id="rId5"/>
    <p:sldLayoutId id="2147483777" r:id="rId6"/>
    <p:sldLayoutId id="2147483779" r:id="rId7"/>
    <p:sldLayoutId id="2147483788" r:id="rId8"/>
    <p:sldLayoutId id="2147483793" r:id="rId9"/>
    <p:sldLayoutId id="2147483794" r:id="rId10"/>
    <p:sldLayoutId id="2147483799" r:id="rId11"/>
    <p:sldLayoutId id="2147483800" r:id="rId12"/>
    <p:sldLayoutId id="2147483801" r:id="rId13"/>
    <p:sldLayoutId id="2147483804" r:id="rId14"/>
    <p:sldLayoutId id="2147483805" r:id="rId15"/>
    <p:sldLayoutId id="2147483807" r:id="rId16"/>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30086" b="30086"/>
          <a:stretch>
            <a:fillRect/>
          </a:stretch>
        </p:blipFill>
        <p:spPr>
          <a:xfrm>
            <a:off x="5088272" y="370848"/>
            <a:ext cx="2777457" cy="819151"/>
          </a:xfrm>
        </p:spPr>
      </p:pic>
      <p:sp>
        <p:nvSpPr>
          <p:cNvPr id="3" name="Title 2"/>
          <p:cNvSpPr>
            <a:spLocks noGrp="1"/>
          </p:cNvSpPr>
          <p:nvPr>
            <p:ph type="ctrTitle"/>
          </p:nvPr>
        </p:nvSpPr>
        <p:spPr>
          <a:xfrm>
            <a:off x="762000" y="2667000"/>
            <a:ext cx="8348837" cy="553998"/>
          </a:xfrm>
        </p:spPr>
        <p:txBody>
          <a:bodyPr/>
          <a:lstStyle/>
          <a:p>
            <a:r>
              <a:rPr lang="en-US" dirty="0" smtClean="0">
                <a:solidFill>
                  <a:srgbClr val="04628C"/>
                </a:solidFill>
              </a:rPr>
              <a:t>InsuranceSuite 10 Integration</a:t>
            </a:r>
            <a:endParaRPr lang="en-US" dirty="0">
              <a:solidFill>
                <a:srgbClr val="04628C"/>
              </a:solidFill>
            </a:endParaRPr>
          </a:p>
        </p:txBody>
      </p:sp>
      <p:sp>
        <p:nvSpPr>
          <p:cNvPr id="6" name="Footer Placeholder 5"/>
          <p:cNvSpPr>
            <a:spLocks noGrp="1"/>
          </p:cNvSpPr>
          <p:nvPr>
            <p:ph type="ftr" sz="quarter" idx="3"/>
          </p:nvPr>
        </p:nvSpPr>
        <p:spPr/>
        <p:txBody>
          <a:bodyPr/>
          <a:lstStyle/>
          <a:p>
            <a:r>
              <a:rPr lang="en-US" dirty="0" smtClean="0">
                <a:solidFill>
                  <a:srgbClr val="04628C"/>
                </a:solidFill>
              </a:rPr>
              <a:t>© 2020 Cognizant</a:t>
            </a:r>
            <a:endParaRPr lang="en-US" dirty="0">
              <a:solidFill>
                <a:srgbClr val="04628C"/>
              </a:solidFill>
            </a:endParaRPr>
          </a:p>
        </p:txBody>
      </p:sp>
      <p:sp>
        <p:nvSpPr>
          <p:cNvPr id="2" name="Rectangle 1"/>
          <p:cNvSpPr/>
          <p:nvPr/>
        </p:nvSpPr>
        <p:spPr>
          <a:xfrm>
            <a:off x="4310896" y="3244334"/>
            <a:ext cx="3570208" cy="369332"/>
          </a:xfrm>
          <a:prstGeom prst="rect">
            <a:avLst/>
          </a:prstGeom>
        </p:spPr>
        <p:txBody>
          <a:bodyPr wrap="none">
            <a:spAutoFit/>
          </a:bodyPr>
          <a:lstStyle/>
          <a:p>
            <a:r>
              <a:rPr lang="en-US" dirty="0"/>
              <a:t>InsuranceSuite 10 Fundamentals</a:t>
            </a:r>
          </a:p>
        </p:txBody>
      </p:sp>
      <p:sp>
        <p:nvSpPr>
          <p:cNvPr id="8" name="Title 2"/>
          <p:cNvSpPr txBox="1">
            <a:spLocks/>
          </p:cNvSpPr>
          <p:nvPr/>
        </p:nvSpPr>
        <p:spPr bwMode="white">
          <a:xfrm>
            <a:off x="1143000" y="5139999"/>
            <a:ext cx="8348837" cy="33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spAutoFit/>
          </a:bodyPr>
          <a:lstStyle>
            <a:lvl1pPr algn="l" rtl="0" eaLnBrk="1" fontAlgn="base" hangingPunct="1">
              <a:lnSpc>
                <a:spcPct val="90000"/>
              </a:lnSpc>
              <a:spcBef>
                <a:spcPct val="0"/>
              </a:spcBef>
              <a:spcAft>
                <a:spcPct val="0"/>
              </a:spcAft>
              <a:defRPr sz="4000" b="1" i="0">
                <a:solidFill>
                  <a:schemeClr val="accent2"/>
                </a:solidFill>
                <a:latin typeface="Arial" panose="020B0604020202020204" pitchFamily="34" charset="0"/>
                <a:ea typeface="Arial" pitchFamily="34" charset="0"/>
                <a:cs typeface="Arial" panose="020B0604020202020204"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2400" b="0" kern="0" dirty="0" smtClean="0">
                <a:solidFill>
                  <a:srgbClr val="00B0F0"/>
                </a:solidFill>
              </a:rPr>
              <a:t>SENDING MESSAGES</a:t>
            </a:r>
            <a:endParaRPr lang="en-US" sz="2400" b="0" dirty="0">
              <a:solidFill>
                <a:srgbClr val="00B0F0"/>
              </a:solidFill>
              <a:ea typeface="+mn-ea"/>
            </a:endParaRPr>
          </a:p>
        </p:txBody>
      </p:sp>
    </p:spTree>
    <p:extLst>
      <p:ext uri="{BB962C8B-B14F-4D97-AF65-F5344CB8AC3E}">
        <p14:creationId xmlns:p14="http://schemas.microsoft.com/office/powerpoint/2010/main" val="35155937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Describe the plugins used in sending messages</a:t>
            </a:r>
          </a:p>
          <a:p>
            <a:pPr lvl="1"/>
            <a:r>
              <a:rPr lang="en-US" dirty="0"/>
              <a:t>Set sender reference IDs and late bind messages</a:t>
            </a:r>
          </a:p>
          <a:p>
            <a:pPr lvl="1"/>
            <a:r>
              <a:rPr lang="en-US" dirty="0"/>
              <a:t>Write message request plugins</a:t>
            </a:r>
          </a:p>
          <a:p>
            <a:pPr lvl="1"/>
            <a:r>
              <a:rPr lang="en-US" dirty="0"/>
              <a:t>Write message transport plugins</a:t>
            </a:r>
          </a:p>
          <a:p>
            <a:pPr lvl="1"/>
            <a:r>
              <a:rPr lang="en-US" dirty="0"/>
              <a:t>Describe the functionality of safe ordering</a:t>
            </a:r>
          </a:p>
          <a:p>
            <a:pPr lvl="1"/>
            <a:r>
              <a:rPr lang="en-US" dirty="0"/>
              <a:t>Describe how errors are handled when sending </a:t>
            </a:r>
            <a:r>
              <a:rPr lang="en-US" dirty="0" smtClean="0"/>
              <a:t>messages</a:t>
            </a:r>
            <a:endParaRPr lang="en-US" dirty="0"/>
          </a:p>
        </p:txBody>
      </p:sp>
    </p:spTree>
    <p:extLst>
      <p:ext uri="{BB962C8B-B14F-4D97-AF65-F5344CB8AC3E}">
        <p14:creationId xmlns:p14="http://schemas.microsoft.com/office/powerpoint/2010/main" val="428230578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solidFill>
                  <a:schemeClr val="bg1"/>
                </a:solidFill>
              </a:rPr>
              <a:t>The </a:t>
            </a:r>
            <a:r>
              <a:rPr lang="en-US" dirty="0">
                <a:solidFill>
                  <a:schemeClr val="bg1"/>
                </a:solidFill>
              </a:rPr>
              <a:t>message transport plugin</a:t>
            </a:r>
          </a:p>
          <a:p>
            <a:r>
              <a:rPr lang="en-US" dirty="0"/>
              <a:t>Retry scenarios</a:t>
            </a:r>
          </a:p>
          <a:p>
            <a:r>
              <a:rPr lang="en-US" dirty="0"/>
              <a:t>Safe ordering</a:t>
            </a:r>
          </a:p>
          <a:p>
            <a:endParaRPr lang="en-US" dirty="0"/>
          </a:p>
        </p:txBody>
      </p:sp>
    </p:spTree>
    <p:extLst>
      <p:ext uri="{BB962C8B-B14F-4D97-AF65-F5344CB8AC3E}">
        <p14:creationId xmlns:p14="http://schemas.microsoft.com/office/powerpoint/2010/main" val="283410871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Message transport plugin</a:t>
            </a:r>
          </a:p>
        </p:txBody>
      </p:sp>
      <p:sp>
        <p:nvSpPr>
          <p:cNvPr id="4" name="Content Placeholder 3"/>
          <p:cNvSpPr>
            <a:spLocks noGrp="1"/>
          </p:cNvSpPr>
          <p:nvPr>
            <p:ph idx="1"/>
          </p:nvPr>
        </p:nvSpPr>
        <p:spPr>
          <a:xfrm>
            <a:off x="658368" y="3886200"/>
            <a:ext cx="9685306" cy="2109977"/>
          </a:xfrm>
        </p:spPr>
        <p:txBody>
          <a:bodyPr/>
          <a:lstStyle/>
          <a:p>
            <a:r>
              <a:rPr lang="en-US" sz="2000" dirty="0"/>
              <a:t>The message transport plugin is responsible for sending the message</a:t>
            </a:r>
          </a:p>
          <a:p>
            <a:r>
              <a:rPr lang="en-US" sz="2000" dirty="0"/>
              <a:t>The message transport plugin may also become responsible for:</a:t>
            </a:r>
          </a:p>
          <a:p>
            <a:pPr lvl="1">
              <a:buFont typeface="Arial" panose="020B0604020202020204" pitchFamily="34" charset="0"/>
              <a:buChar char="•"/>
            </a:pPr>
            <a:r>
              <a:rPr lang="en-US" sz="1800" dirty="0"/>
              <a:t>Persisting the </a:t>
            </a:r>
            <a:r>
              <a:rPr lang="en-US" sz="1800" dirty="0" err="1"/>
              <a:t>SenderRefID</a:t>
            </a:r>
            <a:r>
              <a:rPr lang="en-US" sz="1800" dirty="0"/>
              <a:t> in a message if the </a:t>
            </a:r>
            <a:r>
              <a:rPr lang="en-US" sz="1800" dirty="0" err="1"/>
              <a:t>SenderRefID</a:t>
            </a:r>
            <a:r>
              <a:rPr lang="en-US" sz="1800" dirty="0"/>
              <a:t> is provided by an external system</a:t>
            </a:r>
          </a:p>
          <a:p>
            <a:pPr lvl="1">
              <a:buFont typeface="Arial" panose="020B0604020202020204" pitchFamily="34" charset="0"/>
              <a:buChar char="•"/>
            </a:pPr>
            <a:r>
              <a:rPr lang="en-US" sz="1800" dirty="0"/>
              <a:t>Acknowledging in case of synchronous message with an external system</a:t>
            </a:r>
          </a:p>
        </p:txBody>
      </p:sp>
      <p:pic>
        <p:nvPicPr>
          <p:cNvPr id="2" name="Picture 1">
            <a:extLst>
              <a:ext uri="{FF2B5EF4-FFF2-40B4-BE49-F238E27FC236}">
                <a16:creationId xmlns:a16="http://schemas.microsoft.com/office/drawing/2014/main" id="{DFFA038D-B452-4A76-8E23-BF79F730F574}"/>
              </a:ext>
            </a:extLst>
          </p:cNvPr>
          <p:cNvPicPr>
            <a:picLocks noChangeAspect="1"/>
          </p:cNvPicPr>
          <p:nvPr/>
        </p:nvPicPr>
        <p:blipFill>
          <a:blip r:embed="rId3"/>
          <a:stretch>
            <a:fillRect/>
          </a:stretch>
        </p:blipFill>
        <p:spPr>
          <a:xfrm>
            <a:off x="1853184" y="861823"/>
            <a:ext cx="8508430" cy="2855004"/>
          </a:xfrm>
          <a:prstGeom prst="rect">
            <a:avLst/>
          </a:prstGeom>
        </p:spPr>
      </p:pic>
    </p:spTree>
    <p:extLst>
      <p:ext uri="{BB962C8B-B14F-4D97-AF65-F5344CB8AC3E}">
        <p14:creationId xmlns:p14="http://schemas.microsoft.com/office/powerpoint/2010/main" val="184212437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to implement message transport</a:t>
            </a:r>
          </a:p>
        </p:txBody>
      </p:sp>
      <p:sp>
        <p:nvSpPr>
          <p:cNvPr id="3" name="Content Placeholder 2"/>
          <p:cNvSpPr>
            <a:spLocks noGrp="1"/>
          </p:cNvSpPr>
          <p:nvPr>
            <p:ph idx="1"/>
          </p:nvPr>
        </p:nvSpPr>
        <p:spPr/>
        <p:txBody>
          <a:bodyPr/>
          <a:lstStyle/>
          <a:p>
            <a:pPr marL="457200" indent="-457200">
              <a:buFont typeface="+mj-lt"/>
              <a:buAutoNum type="arabicPeriod"/>
            </a:pPr>
            <a:r>
              <a:rPr lang="en-US" dirty="0"/>
              <a:t>Create a message transport plugin class</a:t>
            </a:r>
          </a:p>
          <a:p>
            <a:pPr marL="800100" lvl="1" indent="-457200">
              <a:buFont typeface="+mj-lt"/>
              <a:buAutoNum type="alphaLcParenR"/>
            </a:pPr>
            <a:r>
              <a:rPr lang="en-US" dirty="0"/>
              <a:t>Implement the  </a:t>
            </a:r>
            <a:r>
              <a:rPr lang="en-US" b="1" dirty="0">
                <a:latin typeface="Courier New" pitchFamily="49" charset="0"/>
                <a:cs typeface="Courier New" pitchFamily="49" charset="0"/>
              </a:rPr>
              <a:t>MessageTransport </a:t>
            </a:r>
            <a:r>
              <a:rPr lang="en-US" dirty="0"/>
              <a:t> interface</a:t>
            </a:r>
          </a:p>
          <a:p>
            <a:pPr marL="800100" lvl="1" indent="-457200">
              <a:buFont typeface="+mj-lt"/>
              <a:buAutoNum type="alphaLcParenR"/>
            </a:pPr>
            <a:r>
              <a:rPr lang="en-US" dirty="0"/>
              <a:t>Implement  </a:t>
            </a:r>
            <a:r>
              <a:rPr lang="en-US" b="1" dirty="0">
                <a:latin typeface="Courier New" pitchFamily="49" charset="0"/>
                <a:cs typeface="Courier New" pitchFamily="49" charset="0"/>
              </a:rPr>
              <a:t>send() </a:t>
            </a:r>
            <a:r>
              <a:rPr lang="en-US" dirty="0"/>
              <a:t>as needed</a:t>
            </a:r>
          </a:p>
          <a:p>
            <a:pPr marL="457200" indent="-457200">
              <a:buFont typeface="+mj-lt"/>
              <a:buAutoNum type="arabicPeriod"/>
            </a:pPr>
            <a:r>
              <a:rPr lang="en-US" dirty="0"/>
              <a:t>Create plugin registry</a:t>
            </a:r>
          </a:p>
          <a:p>
            <a:pPr marL="457200" indent="-457200">
              <a:buFont typeface="+mj-lt"/>
              <a:buAutoNum type="arabicPeriod"/>
            </a:pPr>
            <a:r>
              <a:rPr lang="en-US" dirty="0"/>
              <a:t>Configure the plugin</a:t>
            </a:r>
          </a:p>
          <a:p>
            <a:pPr marL="457200" indent="-457200">
              <a:buFont typeface="+mj-lt"/>
              <a:buAutoNum type="arabicPeriod"/>
            </a:pPr>
            <a:r>
              <a:rPr lang="en-US" dirty="0"/>
              <a:t>Configure the destination</a:t>
            </a:r>
          </a:p>
          <a:p>
            <a:pPr marL="457200" indent="-457200">
              <a:buFont typeface="+mj-lt"/>
              <a:buAutoNum type="arabicPeriod"/>
            </a:pPr>
            <a:r>
              <a:rPr lang="en-US" dirty="0"/>
              <a:t>Deploy code changes</a:t>
            </a:r>
          </a:p>
        </p:txBody>
      </p:sp>
    </p:spTree>
    <p:extLst>
      <p:ext uri="{BB962C8B-B14F-4D97-AF65-F5344CB8AC3E}">
        <p14:creationId xmlns:p14="http://schemas.microsoft.com/office/powerpoint/2010/main" val="405544131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 Create a message transport plugin class</a:t>
            </a:r>
          </a:p>
        </p:txBody>
      </p:sp>
      <p:sp>
        <p:nvSpPr>
          <p:cNvPr id="3" name="Content Placeholder 2"/>
          <p:cNvSpPr>
            <a:spLocks noGrp="1"/>
          </p:cNvSpPr>
          <p:nvPr>
            <p:ph idx="1"/>
          </p:nvPr>
        </p:nvSpPr>
        <p:spPr>
          <a:xfrm>
            <a:off x="658368" y="4343401"/>
            <a:ext cx="9703245" cy="2057399"/>
          </a:xfrm>
        </p:spPr>
        <p:txBody>
          <a:bodyPr/>
          <a:lstStyle/>
          <a:p>
            <a:r>
              <a:rPr lang="en-US" dirty="0"/>
              <a:t>Create Gosu plugin class in \</a:t>
            </a:r>
            <a:r>
              <a:rPr lang="en-US" b="1" dirty="0">
                <a:latin typeface="Courier New" pitchFamily="49" charset="0"/>
                <a:cs typeface="Courier New" pitchFamily="49" charset="0"/>
              </a:rPr>
              <a:t>configuration\gsrc\</a:t>
            </a:r>
          </a:p>
          <a:p>
            <a:pPr lvl="1"/>
            <a:r>
              <a:rPr lang="en-US" dirty="0"/>
              <a:t>Use a package naming convention recommendation</a:t>
            </a:r>
          </a:p>
          <a:p>
            <a:pPr lvl="1"/>
            <a:r>
              <a:rPr lang="en-US" b="1" dirty="0">
                <a:latin typeface="Courier New" pitchFamily="49" charset="0"/>
                <a:cs typeface="Courier New" pitchFamily="49" charset="0"/>
              </a:rPr>
              <a:t>&lt;company&gt;.&lt;app_code&gt;.messaging.&lt;functional_area&gt;</a:t>
            </a:r>
          </a:p>
          <a:p>
            <a:r>
              <a:rPr lang="en-US" dirty="0"/>
              <a:t>Implement the </a:t>
            </a:r>
            <a:r>
              <a:rPr lang="en-US" b="1" dirty="0">
                <a:latin typeface="Courier New" pitchFamily="49" charset="0"/>
                <a:cs typeface="Courier New" pitchFamily="49" charset="0"/>
              </a:rPr>
              <a:t>MessageTransport</a:t>
            </a:r>
            <a:r>
              <a:rPr lang="en-US" dirty="0"/>
              <a:t> interface</a:t>
            </a:r>
          </a:p>
          <a:p>
            <a:r>
              <a:rPr lang="en-US" dirty="0"/>
              <a:t>Must override </a:t>
            </a:r>
            <a:r>
              <a:rPr lang="en-US" b="1" dirty="0">
                <a:latin typeface="Courier New" pitchFamily="49" charset="0"/>
                <a:cs typeface="Courier New" pitchFamily="49" charset="0"/>
              </a:rPr>
              <a:t>send()</a:t>
            </a:r>
          </a:p>
          <a:p>
            <a:endParaRPr lang="en-US" dirty="0"/>
          </a:p>
        </p:txBody>
      </p:sp>
      <p:pic>
        <p:nvPicPr>
          <p:cNvPr id="5" name="Picture 4">
            <a:extLst>
              <a:ext uri="{FF2B5EF4-FFF2-40B4-BE49-F238E27FC236}">
                <a16:creationId xmlns:a16="http://schemas.microsoft.com/office/drawing/2014/main" id="{8490AF06-07EE-4949-84E2-7EE009801FB6}"/>
              </a:ext>
            </a:extLst>
          </p:cNvPr>
          <p:cNvPicPr>
            <a:picLocks noChangeAspect="1"/>
          </p:cNvPicPr>
          <p:nvPr/>
        </p:nvPicPr>
        <p:blipFill>
          <a:blip r:embed="rId3"/>
          <a:stretch>
            <a:fillRect/>
          </a:stretch>
        </p:blipFill>
        <p:spPr>
          <a:xfrm>
            <a:off x="2027071" y="857813"/>
            <a:ext cx="8318500" cy="3352800"/>
          </a:xfrm>
          <a:prstGeom prst="rect">
            <a:avLst/>
          </a:prstGeom>
        </p:spPr>
      </p:pic>
    </p:spTree>
    <p:extLst>
      <p:ext uri="{BB962C8B-B14F-4D97-AF65-F5344CB8AC3E}">
        <p14:creationId xmlns:p14="http://schemas.microsoft.com/office/powerpoint/2010/main" val="90374691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Send payload to web service example</a:t>
            </a:r>
          </a:p>
        </p:txBody>
      </p:sp>
      <p:pic>
        <p:nvPicPr>
          <p:cNvPr id="3" name="Picture 2">
            <a:extLst>
              <a:ext uri="{FF2B5EF4-FFF2-40B4-BE49-F238E27FC236}">
                <a16:creationId xmlns:a16="http://schemas.microsoft.com/office/drawing/2014/main" id="{0D6D11B4-B590-46C7-AC5F-7079FBB3B812}"/>
              </a:ext>
            </a:extLst>
          </p:cNvPr>
          <p:cNvPicPr>
            <a:picLocks noChangeAspect="1"/>
          </p:cNvPicPr>
          <p:nvPr/>
        </p:nvPicPr>
        <p:blipFill>
          <a:blip r:embed="rId3"/>
          <a:stretch>
            <a:fillRect/>
          </a:stretch>
        </p:blipFill>
        <p:spPr>
          <a:xfrm>
            <a:off x="2017776" y="861823"/>
            <a:ext cx="8321040" cy="3048000"/>
          </a:xfrm>
          <a:prstGeom prst="rect">
            <a:avLst/>
          </a:prstGeom>
        </p:spPr>
      </p:pic>
      <p:sp>
        <p:nvSpPr>
          <p:cNvPr id="7" name="Content Placeholder 2">
            <a:extLst>
              <a:ext uri="{FF2B5EF4-FFF2-40B4-BE49-F238E27FC236}">
                <a16:creationId xmlns:a16="http://schemas.microsoft.com/office/drawing/2014/main" id="{AB3C0D33-8921-4F0F-A7F9-64F750EDB4CC}"/>
              </a:ext>
            </a:extLst>
          </p:cNvPr>
          <p:cNvSpPr txBox="1">
            <a:spLocks/>
          </p:cNvSpPr>
          <p:nvPr/>
        </p:nvSpPr>
        <p:spPr>
          <a:xfrm>
            <a:off x="658368" y="4207386"/>
            <a:ext cx="9793732" cy="890777"/>
          </a:xfrm>
          <a:prstGeom prst="rect">
            <a:avLst/>
          </a:prstGeom>
        </p:spPr>
        <p:txBody>
          <a:bodyPr/>
          <a:lst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r>
              <a:rPr lang="en-US" kern="0" dirty="0" err="1">
                <a:cs typeface="Courier New" pitchFamily="49" charset="0"/>
              </a:rPr>
              <a:t>BankAccountVerificationTransportPlugin</a:t>
            </a:r>
            <a:endParaRPr lang="en-US" kern="0" dirty="0">
              <a:cs typeface="Courier New" pitchFamily="49" charset="0"/>
            </a:endParaRPr>
          </a:p>
          <a:p>
            <a:pPr lvl="1">
              <a:buFont typeface="Arial" panose="020B0604020202020204" pitchFamily="34" charset="0"/>
              <a:buChar char="•"/>
            </a:pPr>
            <a:r>
              <a:rPr lang="en-US" kern="0" dirty="0">
                <a:cs typeface="Courier New" pitchFamily="49" charset="0"/>
              </a:rPr>
              <a:t>Messages are acknowledged synchronously by </a:t>
            </a:r>
            <a:r>
              <a:rPr lang="en-US" kern="0" dirty="0" err="1">
                <a:cs typeface="Courier New" pitchFamily="49" charset="0"/>
              </a:rPr>
              <a:t>ExternalApp</a:t>
            </a:r>
            <a:endParaRPr lang="en-US" kern="0" dirty="0"/>
          </a:p>
        </p:txBody>
      </p:sp>
    </p:spTree>
    <p:extLst>
      <p:ext uri="{BB962C8B-B14F-4D97-AF65-F5344CB8AC3E}">
        <p14:creationId xmlns:p14="http://schemas.microsoft.com/office/powerpoint/2010/main" val="318415263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Send payload to file example</a:t>
            </a:r>
          </a:p>
        </p:txBody>
      </p:sp>
      <p:pic>
        <p:nvPicPr>
          <p:cNvPr id="3" name="Picture 2">
            <a:extLst>
              <a:ext uri="{FF2B5EF4-FFF2-40B4-BE49-F238E27FC236}">
                <a16:creationId xmlns:a16="http://schemas.microsoft.com/office/drawing/2014/main" id="{680BBE06-0B2E-42E6-8890-EC541BA5ECF5}"/>
              </a:ext>
            </a:extLst>
          </p:cNvPr>
          <p:cNvPicPr>
            <a:picLocks noChangeAspect="1"/>
          </p:cNvPicPr>
          <p:nvPr/>
        </p:nvPicPr>
        <p:blipFill>
          <a:blip r:embed="rId3"/>
          <a:stretch>
            <a:fillRect/>
          </a:stretch>
        </p:blipFill>
        <p:spPr>
          <a:xfrm>
            <a:off x="1676400" y="1066800"/>
            <a:ext cx="8321040" cy="2036682"/>
          </a:xfrm>
          <a:prstGeom prst="rect">
            <a:avLst/>
          </a:prstGeom>
        </p:spPr>
      </p:pic>
      <p:sp>
        <p:nvSpPr>
          <p:cNvPr id="4" name="Content Placeholder 2">
            <a:extLst>
              <a:ext uri="{FF2B5EF4-FFF2-40B4-BE49-F238E27FC236}">
                <a16:creationId xmlns:a16="http://schemas.microsoft.com/office/drawing/2014/main" id="{4DA5E9D0-55BF-48CA-AAF3-D6B8A557546F}"/>
              </a:ext>
            </a:extLst>
          </p:cNvPr>
          <p:cNvSpPr txBox="1">
            <a:spLocks/>
          </p:cNvSpPr>
          <p:nvPr/>
        </p:nvSpPr>
        <p:spPr>
          <a:xfrm>
            <a:off x="658368" y="3641456"/>
            <a:ext cx="9717532" cy="2036682"/>
          </a:xfrm>
          <a:prstGeom prst="rect">
            <a:avLst/>
          </a:prstGeom>
        </p:spPr>
        <p:txBody>
          <a:bodyPr/>
          <a:lst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r>
              <a:rPr lang="en-US" kern="0" dirty="0" err="1">
                <a:cs typeface="Courier New" pitchFamily="49" charset="0"/>
              </a:rPr>
              <a:t>VendorRecommendationTransportPlugin</a:t>
            </a:r>
            <a:endParaRPr lang="en-US" kern="0" dirty="0">
              <a:cs typeface="Courier New" pitchFamily="49" charset="0"/>
            </a:endParaRPr>
          </a:p>
          <a:p>
            <a:pPr lvl="1">
              <a:buFont typeface="Arial" panose="020B0604020202020204" pitchFamily="34" charset="0"/>
              <a:buChar char="•"/>
            </a:pPr>
            <a:r>
              <a:rPr lang="en-US" kern="0" dirty="0">
                <a:cs typeface="Courier New" pitchFamily="49" charset="0"/>
              </a:rPr>
              <a:t>The send method uses </a:t>
            </a:r>
            <a:r>
              <a:rPr lang="en-US" kern="0" dirty="0" err="1">
                <a:cs typeface="Courier New" pitchFamily="49" charset="0"/>
              </a:rPr>
              <a:t>Gosu’s</a:t>
            </a:r>
            <a:r>
              <a:rPr lang="en-US" kern="0" dirty="0">
                <a:cs typeface="Courier New" pitchFamily="49" charset="0"/>
              </a:rPr>
              <a:t> Java file I/O capabilities to write the payload to a simple flat file</a:t>
            </a:r>
          </a:p>
          <a:p>
            <a:pPr lvl="1">
              <a:buFont typeface="Arial" panose="020B0604020202020204" pitchFamily="34" charset="0"/>
              <a:buChar char="•"/>
            </a:pPr>
            <a:r>
              <a:rPr lang="en-US" kern="0" dirty="0">
                <a:cs typeface="Courier New" pitchFamily="49" charset="0"/>
              </a:rPr>
              <a:t>The payload contains information about the evaluations for that vendor</a:t>
            </a:r>
            <a:endParaRPr lang="en-US" kern="0" dirty="0"/>
          </a:p>
        </p:txBody>
      </p:sp>
    </p:spTree>
    <p:extLst>
      <p:ext uri="{BB962C8B-B14F-4D97-AF65-F5344CB8AC3E}">
        <p14:creationId xmlns:p14="http://schemas.microsoft.com/office/powerpoint/2010/main" val="323306111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Create plugin registry</a:t>
            </a:r>
          </a:p>
        </p:txBody>
      </p:sp>
      <p:sp>
        <p:nvSpPr>
          <p:cNvPr id="5" name="Content Placeholder 4"/>
          <p:cNvSpPr>
            <a:spLocks noGrp="1"/>
          </p:cNvSpPr>
          <p:nvPr>
            <p:ph idx="1"/>
          </p:nvPr>
        </p:nvSpPr>
        <p:spPr>
          <a:xfrm>
            <a:off x="658368" y="3633977"/>
            <a:ext cx="9703246" cy="2362200"/>
          </a:xfrm>
        </p:spPr>
        <p:txBody>
          <a:bodyPr/>
          <a:lstStyle/>
          <a:p>
            <a:r>
              <a:rPr lang="en-US" b="1" dirty="0">
                <a:latin typeface="Courier New" pitchFamily="49" charset="0"/>
                <a:cs typeface="Courier New" pitchFamily="49" charset="0"/>
              </a:rPr>
              <a:t>\configuration\config\plugins\registry\</a:t>
            </a:r>
          </a:p>
          <a:p>
            <a:pPr lvl="1"/>
            <a:r>
              <a:rPr lang="en-US" dirty="0"/>
              <a:t>Specify a new request plugin registry entry name</a:t>
            </a:r>
            <a:endParaRPr lang="en-US" dirty="0">
              <a:sym typeface="Wingdings" pitchFamily="2" charset="2"/>
            </a:endParaRPr>
          </a:p>
          <a:p>
            <a:pPr lvl="1"/>
            <a:r>
              <a:rPr lang="en-US" dirty="0">
                <a:sym typeface="Wingdings" pitchFamily="2" charset="2"/>
              </a:rPr>
              <a:t>Specify the interface to be implemented</a:t>
            </a:r>
          </a:p>
          <a:p>
            <a:r>
              <a:rPr lang="en-US" dirty="0"/>
              <a:t>Add the type of plugin to be implemented in the plugin name</a:t>
            </a:r>
          </a:p>
          <a:p>
            <a:pPr lvl="1"/>
            <a:endParaRPr lang="en-US" dirty="0"/>
          </a:p>
        </p:txBody>
      </p:sp>
      <p:pic>
        <p:nvPicPr>
          <p:cNvPr id="3" name="Picture 2">
            <a:extLst>
              <a:ext uri="{FF2B5EF4-FFF2-40B4-BE49-F238E27FC236}">
                <a16:creationId xmlns:a16="http://schemas.microsoft.com/office/drawing/2014/main" id="{1FEC23D7-88EB-4509-AF60-51EA1A49AE1E}"/>
              </a:ext>
            </a:extLst>
          </p:cNvPr>
          <p:cNvPicPr>
            <a:picLocks noChangeAspect="1"/>
          </p:cNvPicPr>
          <p:nvPr/>
        </p:nvPicPr>
        <p:blipFill>
          <a:blip r:embed="rId3"/>
          <a:stretch>
            <a:fillRect/>
          </a:stretch>
        </p:blipFill>
        <p:spPr>
          <a:xfrm>
            <a:off x="1853184" y="1066800"/>
            <a:ext cx="8508430" cy="2023064"/>
          </a:xfrm>
          <a:prstGeom prst="rect">
            <a:avLst/>
          </a:prstGeom>
        </p:spPr>
      </p:pic>
    </p:spTree>
    <p:extLst>
      <p:ext uri="{BB962C8B-B14F-4D97-AF65-F5344CB8AC3E}">
        <p14:creationId xmlns:p14="http://schemas.microsoft.com/office/powerpoint/2010/main" val="2399617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3: Configure the plugin</a:t>
            </a:r>
          </a:p>
        </p:txBody>
      </p:sp>
      <p:sp>
        <p:nvSpPr>
          <p:cNvPr id="6" name="Content Placeholder 5"/>
          <p:cNvSpPr>
            <a:spLocks noGrp="1"/>
          </p:cNvSpPr>
          <p:nvPr>
            <p:ph idx="1"/>
          </p:nvPr>
        </p:nvSpPr>
        <p:spPr>
          <a:xfrm>
            <a:off x="658369" y="3657600"/>
            <a:ext cx="5437632" cy="2514600"/>
          </a:xfrm>
        </p:spPr>
        <p:txBody>
          <a:bodyPr/>
          <a:lstStyle/>
          <a:p>
            <a:r>
              <a:rPr lang="en-US" sz="2000" dirty="0"/>
              <a:t>Add </a:t>
            </a:r>
            <a:r>
              <a:rPr lang="en-US" sz="2000" dirty="0" err="1"/>
              <a:t>Gosu</a:t>
            </a:r>
            <a:r>
              <a:rPr lang="en-US" sz="2000" dirty="0"/>
              <a:t> Plugin</a:t>
            </a:r>
          </a:p>
          <a:p>
            <a:pPr lvl="1">
              <a:buFont typeface="Arial" panose="020B0604020202020204" pitchFamily="34" charset="0"/>
              <a:buChar char="•"/>
            </a:pPr>
            <a:r>
              <a:rPr lang="en-US" sz="1800" dirty="0"/>
              <a:t>Optionally, select Java or OSGi plugin</a:t>
            </a:r>
          </a:p>
          <a:p>
            <a:r>
              <a:rPr lang="en-US" sz="2000" dirty="0"/>
              <a:t>Click the ellipse (...) and select the plugin implementation class in the dialog</a:t>
            </a:r>
          </a:p>
        </p:txBody>
      </p:sp>
      <p:pic>
        <p:nvPicPr>
          <p:cNvPr id="4" name="Picture 3">
            <a:extLst>
              <a:ext uri="{FF2B5EF4-FFF2-40B4-BE49-F238E27FC236}">
                <a16:creationId xmlns:a16="http://schemas.microsoft.com/office/drawing/2014/main" id="{863EEA3F-23FE-498E-BD0A-D8079AF9354B}"/>
              </a:ext>
            </a:extLst>
          </p:cNvPr>
          <p:cNvPicPr>
            <a:picLocks noChangeAspect="1"/>
          </p:cNvPicPr>
          <p:nvPr/>
        </p:nvPicPr>
        <p:blipFill>
          <a:blip r:embed="rId3"/>
          <a:stretch>
            <a:fillRect/>
          </a:stretch>
        </p:blipFill>
        <p:spPr>
          <a:xfrm>
            <a:off x="1371600" y="721895"/>
            <a:ext cx="8318500" cy="2758616"/>
          </a:xfrm>
          <a:prstGeom prst="rect">
            <a:avLst/>
          </a:prstGeom>
        </p:spPr>
      </p:pic>
      <p:pic>
        <p:nvPicPr>
          <p:cNvPr id="5" name="Picture 4">
            <a:extLst>
              <a:ext uri="{FF2B5EF4-FFF2-40B4-BE49-F238E27FC236}">
                <a16:creationId xmlns:a16="http://schemas.microsoft.com/office/drawing/2014/main" id="{C1E048B6-5EF5-494B-B523-3E8D0A7BD7D0}"/>
              </a:ext>
            </a:extLst>
          </p:cNvPr>
          <p:cNvPicPr>
            <a:picLocks noChangeAspect="1"/>
          </p:cNvPicPr>
          <p:nvPr/>
        </p:nvPicPr>
        <p:blipFill>
          <a:blip r:embed="rId4"/>
          <a:stretch>
            <a:fillRect/>
          </a:stretch>
        </p:blipFill>
        <p:spPr>
          <a:xfrm>
            <a:off x="7010400" y="3444416"/>
            <a:ext cx="4419601" cy="2727784"/>
          </a:xfrm>
          <a:prstGeom prst="rect">
            <a:avLst/>
          </a:prstGeom>
        </p:spPr>
      </p:pic>
    </p:spTree>
    <p:extLst>
      <p:ext uri="{BB962C8B-B14F-4D97-AF65-F5344CB8AC3E}">
        <p14:creationId xmlns:p14="http://schemas.microsoft.com/office/powerpoint/2010/main" val="70333330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4: Configure the destination</a:t>
            </a:r>
          </a:p>
        </p:txBody>
      </p:sp>
      <p:sp>
        <p:nvSpPr>
          <p:cNvPr id="3" name="Content Placeholder 2"/>
          <p:cNvSpPr>
            <a:spLocks noGrp="1"/>
          </p:cNvSpPr>
          <p:nvPr>
            <p:ph idx="1"/>
          </p:nvPr>
        </p:nvSpPr>
        <p:spPr>
          <a:xfrm>
            <a:off x="658368" y="4167377"/>
            <a:ext cx="9703245" cy="1828800"/>
          </a:xfrm>
        </p:spPr>
        <p:txBody>
          <a:bodyPr/>
          <a:lstStyle/>
          <a:p>
            <a:r>
              <a:rPr lang="en-US" dirty="0"/>
              <a:t>Navigate to \configuration\config\messaging\messaging-config.xml</a:t>
            </a:r>
          </a:p>
          <a:p>
            <a:r>
              <a:rPr lang="en-US" dirty="0"/>
              <a:t>The destination must point to a plugin registry element that references the appropriate Message Transport plugin</a:t>
            </a:r>
          </a:p>
        </p:txBody>
      </p:sp>
      <p:pic>
        <p:nvPicPr>
          <p:cNvPr id="4" name="Picture 3">
            <a:extLst>
              <a:ext uri="{FF2B5EF4-FFF2-40B4-BE49-F238E27FC236}">
                <a16:creationId xmlns:a16="http://schemas.microsoft.com/office/drawing/2014/main" id="{2D723395-DAEC-4754-A125-88E9A6E9C322}"/>
              </a:ext>
            </a:extLst>
          </p:cNvPr>
          <p:cNvPicPr>
            <a:picLocks noChangeAspect="1"/>
          </p:cNvPicPr>
          <p:nvPr/>
        </p:nvPicPr>
        <p:blipFill>
          <a:blip r:embed="rId3"/>
          <a:stretch>
            <a:fillRect/>
          </a:stretch>
        </p:blipFill>
        <p:spPr>
          <a:xfrm>
            <a:off x="1853185" y="861823"/>
            <a:ext cx="8508429" cy="2757392"/>
          </a:xfrm>
          <a:prstGeom prst="rect">
            <a:avLst/>
          </a:prstGeom>
        </p:spPr>
      </p:pic>
    </p:spTree>
    <p:extLst>
      <p:ext uri="{BB962C8B-B14F-4D97-AF65-F5344CB8AC3E}">
        <p14:creationId xmlns:p14="http://schemas.microsoft.com/office/powerpoint/2010/main" val="243575841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5: Deploy code changes</a:t>
            </a:r>
          </a:p>
        </p:txBody>
      </p:sp>
      <p:sp>
        <p:nvSpPr>
          <p:cNvPr id="6" name="Subtitle 5"/>
          <p:cNvSpPr>
            <a:spLocks noGrp="1"/>
          </p:cNvSpPr>
          <p:nvPr>
            <p:ph type="subTitle" idx="10"/>
          </p:nvPr>
        </p:nvSpPr>
        <p:spPr/>
        <p:txBody>
          <a:bodyPr/>
          <a:lstStyle/>
          <a:p>
            <a:r>
              <a:rPr lang="en-US" b="1" dirty="0"/>
              <a:t>Restart Server</a:t>
            </a:r>
          </a:p>
        </p:txBody>
      </p:sp>
      <p:sp>
        <p:nvSpPr>
          <p:cNvPr id="7" name="Text Placeholder 6"/>
          <p:cNvSpPr>
            <a:spLocks noGrp="1"/>
          </p:cNvSpPr>
          <p:nvPr>
            <p:ph type="body" sz="quarter" idx="11"/>
          </p:nvPr>
        </p:nvSpPr>
        <p:spPr/>
        <p:txBody>
          <a:bodyPr/>
          <a:lstStyle/>
          <a:p>
            <a:r>
              <a:rPr lang="en-US" b="1" dirty="0"/>
              <a:t>Reload Changed Classes</a:t>
            </a:r>
          </a:p>
        </p:txBody>
      </p:sp>
      <p:sp>
        <p:nvSpPr>
          <p:cNvPr id="5" name="Content Placeholder 4"/>
          <p:cNvSpPr>
            <a:spLocks noGrp="1"/>
          </p:cNvSpPr>
          <p:nvPr>
            <p:ph sz="half" idx="2"/>
          </p:nvPr>
        </p:nvSpPr>
        <p:spPr>
          <a:xfrm>
            <a:off x="6278562" y="1371600"/>
            <a:ext cx="5380037" cy="890778"/>
          </a:xfrm>
        </p:spPr>
        <p:txBody>
          <a:bodyPr/>
          <a:lstStyle/>
          <a:p>
            <a:r>
              <a:rPr lang="en-US" dirty="0"/>
              <a:t>Modified transport plugin class</a:t>
            </a:r>
          </a:p>
        </p:txBody>
      </p:sp>
      <p:sp>
        <p:nvSpPr>
          <p:cNvPr id="4" name="Content Placeholder 3"/>
          <p:cNvSpPr>
            <a:spLocks noGrp="1"/>
          </p:cNvSpPr>
          <p:nvPr>
            <p:ph sz="half" idx="1"/>
          </p:nvPr>
        </p:nvSpPr>
        <p:spPr>
          <a:xfrm>
            <a:off x="690311" y="1371600"/>
            <a:ext cx="4567490" cy="1676400"/>
          </a:xfrm>
        </p:spPr>
        <p:txBody>
          <a:bodyPr/>
          <a:lstStyle/>
          <a:p>
            <a:r>
              <a:rPr lang="en-US" dirty="0"/>
              <a:t>New transport plugin class</a:t>
            </a:r>
          </a:p>
          <a:p>
            <a:r>
              <a:rPr lang="en-US" dirty="0"/>
              <a:t>New or modified plugin registry</a:t>
            </a:r>
          </a:p>
          <a:p>
            <a:r>
              <a:rPr lang="en-US" dirty="0"/>
              <a:t>New or modified destination</a:t>
            </a:r>
          </a:p>
        </p:txBody>
      </p:sp>
      <p:pic>
        <p:nvPicPr>
          <p:cNvPr id="3" name="Picture 2">
            <a:extLst>
              <a:ext uri="{FF2B5EF4-FFF2-40B4-BE49-F238E27FC236}">
                <a16:creationId xmlns:a16="http://schemas.microsoft.com/office/drawing/2014/main" id="{2F829695-62DB-4257-8ABE-4715485484C1}"/>
              </a:ext>
            </a:extLst>
          </p:cNvPr>
          <p:cNvPicPr>
            <a:picLocks noChangeAspect="1"/>
          </p:cNvPicPr>
          <p:nvPr/>
        </p:nvPicPr>
        <p:blipFill>
          <a:blip r:embed="rId3"/>
          <a:stretch>
            <a:fillRect/>
          </a:stretch>
        </p:blipFill>
        <p:spPr>
          <a:xfrm>
            <a:off x="1001649" y="3260559"/>
            <a:ext cx="4256152" cy="2819400"/>
          </a:xfrm>
          <a:prstGeom prst="rect">
            <a:avLst/>
          </a:prstGeom>
        </p:spPr>
      </p:pic>
      <p:pic>
        <p:nvPicPr>
          <p:cNvPr id="8" name="Picture 7">
            <a:extLst>
              <a:ext uri="{FF2B5EF4-FFF2-40B4-BE49-F238E27FC236}">
                <a16:creationId xmlns:a16="http://schemas.microsoft.com/office/drawing/2014/main" id="{37B80426-EC35-4963-96CB-12217203082C}"/>
              </a:ext>
            </a:extLst>
          </p:cNvPr>
          <p:cNvPicPr>
            <a:picLocks noChangeAspect="1"/>
          </p:cNvPicPr>
          <p:nvPr/>
        </p:nvPicPr>
        <p:blipFill>
          <a:blip r:embed="rId4"/>
          <a:stretch>
            <a:fillRect/>
          </a:stretch>
        </p:blipFill>
        <p:spPr>
          <a:xfrm>
            <a:off x="6705600" y="2262376"/>
            <a:ext cx="3048000" cy="3833623"/>
          </a:xfrm>
          <a:prstGeom prst="rect">
            <a:avLst/>
          </a:prstGeom>
        </p:spPr>
      </p:pic>
    </p:spTree>
    <p:extLst>
      <p:ext uri="{BB962C8B-B14F-4D97-AF65-F5344CB8AC3E}">
        <p14:creationId xmlns:p14="http://schemas.microsoft.com/office/powerpoint/2010/main" val="330333136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The </a:t>
            </a:r>
            <a:r>
              <a:rPr lang="en-US" dirty="0"/>
              <a:t>message transport plugin</a:t>
            </a:r>
          </a:p>
          <a:p>
            <a:r>
              <a:rPr lang="en-US" dirty="0">
                <a:solidFill>
                  <a:schemeClr val="bg1"/>
                </a:solidFill>
              </a:rPr>
              <a:t>Retry scenarios</a:t>
            </a:r>
          </a:p>
          <a:p>
            <a:r>
              <a:rPr lang="en-US" dirty="0"/>
              <a:t>Safe ordering</a:t>
            </a:r>
          </a:p>
          <a:p>
            <a:endParaRPr lang="en-US" dirty="0"/>
          </a:p>
        </p:txBody>
      </p:sp>
    </p:spTree>
    <p:extLst>
      <p:ext uri="{BB962C8B-B14F-4D97-AF65-F5344CB8AC3E}">
        <p14:creationId xmlns:p14="http://schemas.microsoft.com/office/powerpoint/2010/main" val="22422564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Transport or Request plugin error</a:t>
            </a:r>
          </a:p>
        </p:txBody>
      </p:sp>
      <p:sp>
        <p:nvSpPr>
          <p:cNvPr id="11" name="Content Placeholder 10"/>
          <p:cNvSpPr>
            <a:spLocks noGrp="1"/>
          </p:cNvSpPr>
          <p:nvPr>
            <p:ph idx="1"/>
          </p:nvPr>
        </p:nvSpPr>
        <p:spPr>
          <a:xfrm>
            <a:off x="658368" y="2438401"/>
            <a:ext cx="10924032" cy="3557777"/>
          </a:xfrm>
        </p:spPr>
        <p:txBody>
          <a:bodyPr/>
          <a:lstStyle/>
          <a:p>
            <a:r>
              <a:rPr lang="en-US" dirty="0"/>
              <a:t>When Transport or Request plugins throws an exception, the Guidewire application automatically</a:t>
            </a:r>
          </a:p>
          <a:p>
            <a:pPr lvl="1"/>
            <a:r>
              <a:rPr lang="en-US" dirty="0"/>
              <a:t>Compares message send attempts to Max Retries</a:t>
            </a:r>
          </a:p>
          <a:p>
            <a:pPr lvl="1"/>
            <a:r>
              <a:rPr lang="en-US" dirty="0"/>
              <a:t>Waits the Initial Retry Interval</a:t>
            </a:r>
          </a:p>
          <a:p>
            <a:pPr lvl="1"/>
            <a:r>
              <a:rPr lang="en-US" dirty="0"/>
              <a:t>Retries to send message </a:t>
            </a:r>
          </a:p>
          <a:p>
            <a:pPr lvl="1"/>
            <a:r>
              <a:rPr lang="en-US" dirty="0"/>
              <a:t>Increases the time between resends (Retry Backoff Multiplier)</a:t>
            </a:r>
          </a:p>
          <a:p>
            <a:pPr lvl="1"/>
            <a:r>
              <a:rPr lang="en-US" dirty="0"/>
              <a:t>Continues until reaching Max Retries</a:t>
            </a:r>
          </a:p>
          <a:p>
            <a:r>
              <a:rPr lang="en-US" dirty="0"/>
              <a:t>Parameters defined in message destination</a:t>
            </a:r>
          </a:p>
        </p:txBody>
      </p:sp>
      <p:pic>
        <p:nvPicPr>
          <p:cNvPr id="4" name="Picture 3">
            <a:extLst>
              <a:ext uri="{FF2B5EF4-FFF2-40B4-BE49-F238E27FC236}">
                <a16:creationId xmlns:a16="http://schemas.microsoft.com/office/drawing/2014/main" id="{51CBF01D-0130-4DD8-B9DE-A88B818BBCB8}"/>
              </a:ext>
            </a:extLst>
          </p:cNvPr>
          <p:cNvPicPr>
            <a:picLocks noChangeAspect="1"/>
          </p:cNvPicPr>
          <p:nvPr/>
        </p:nvPicPr>
        <p:blipFill>
          <a:blip r:embed="rId3"/>
          <a:stretch>
            <a:fillRect/>
          </a:stretch>
        </p:blipFill>
        <p:spPr>
          <a:xfrm>
            <a:off x="2017777" y="861824"/>
            <a:ext cx="8276845" cy="1323703"/>
          </a:xfrm>
          <a:prstGeom prst="rect">
            <a:avLst/>
          </a:prstGeom>
        </p:spPr>
      </p:pic>
    </p:spTree>
    <p:extLst>
      <p:ext uri="{BB962C8B-B14F-4D97-AF65-F5344CB8AC3E}">
        <p14:creationId xmlns:p14="http://schemas.microsoft.com/office/powerpoint/2010/main" val="89200085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 Administration</a:t>
            </a:r>
          </a:p>
        </p:txBody>
      </p:sp>
      <p:sp>
        <p:nvSpPr>
          <p:cNvPr id="11" name="Content Placeholder 10"/>
          <p:cNvSpPr>
            <a:spLocks noGrp="1"/>
          </p:cNvSpPr>
          <p:nvPr>
            <p:ph idx="1"/>
          </p:nvPr>
        </p:nvSpPr>
        <p:spPr>
          <a:xfrm>
            <a:off x="658368" y="2681056"/>
            <a:ext cx="11000232" cy="2043344"/>
          </a:xfrm>
        </p:spPr>
        <p:txBody>
          <a:bodyPr>
            <a:normAutofit/>
          </a:bodyPr>
          <a:lstStyle/>
          <a:p>
            <a:r>
              <a:rPr lang="en-US" dirty="0"/>
              <a:t>Guidewire automatically suspends a destination when exceeding Max Retries</a:t>
            </a:r>
          </a:p>
          <a:p>
            <a:pPr lvl="1"/>
            <a:r>
              <a:rPr lang="en-US" dirty="0"/>
              <a:t>No further messages are sent for destination</a:t>
            </a:r>
          </a:p>
          <a:p>
            <a:r>
              <a:rPr lang="en-US" dirty="0"/>
              <a:t>An administrator must manually resume the destination</a:t>
            </a:r>
          </a:p>
          <a:p>
            <a:pPr lvl="1"/>
            <a:r>
              <a:rPr lang="en-US" dirty="0"/>
              <a:t>The message that caused the suspend will be resent, up to the maximum retries if necessary</a:t>
            </a:r>
          </a:p>
        </p:txBody>
      </p:sp>
      <p:pic>
        <p:nvPicPr>
          <p:cNvPr id="4" name="Picture 3">
            <a:extLst>
              <a:ext uri="{FF2B5EF4-FFF2-40B4-BE49-F238E27FC236}">
                <a16:creationId xmlns:a16="http://schemas.microsoft.com/office/drawing/2014/main" id="{16E3672C-8538-4B71-933C-AA9451E7B55F}"/>
              </a:ext>
            </a:extLst>
          </p:cNvPr>
          <p:cNvPicPr>
            <a:picLocks noChangeAspect="1"/>
          </p:cNvPicPr>
          <p:nvPr/>
        </p:nvPicPr>
        <p:blipFill>
          <a:blip r:embed="rId3"/>
          <a:stretch>
            <a:fillRect/>
          </a:stretch>
        </p:blipFill>
        <p:spPr>
          <a:xfrm>
            <a:off x="2043113" y="861824"/>
            <a:ext cx="8318501" cy="1652777"/>
          </a:xfrm>
          <a:prstGeom prst="rect">
            <a:avLst/>
          </a:prstGeom>
        </p:spPr>
      </p:pic>
      <p:pic>
        <p:nvPicPr>
          <p:cNvPr id="5" name="Picture 4">
            <a:extLst>
              <a:ext uri="{FF2B5EF4-FFF2-40B4-BE49-F238E27FC236}">
                <a16:creationId xmlns:a16="http://schemas.microsoft.com/office/drawing/2014/main" id="{307BD814-23AB-4861-B6BA-9B0D3EC8BF04}"/>
              </a:ext>
            </a:extLst>
          </p:cNvPr>
          <p:cNvPicPr>
            <a:picLocks noChangeAspect="1"/>
          </p:cNvPicPr>
          <p:nvPr/>
        </p:nvPicPr>
        <p:blipFill>
          <a:blip r:embed="rId4"/>
          <a:stretch>
            <a:fillRect/>
          </a:stretch>
        </p:blipFill>
        <p:spPr>
          <a:xfrm>
            <a:off x="2017777" y="4914530"/>
            <a:ext cx="8343837" cy="1294785"/>
          </a:xfrm>
          <a:prstGeom prst="rect">
            <a:avLst/>
          </a:prstGeom>
        </p:spPr>
      </p:pic>
    </p:spTree>
    <p:extLst>
      <p:ext uri="{BB962C8B-B14F-4D97-AF65-F5344CB8AC3E}">
        <p14:creationId xmlns:p14="http://schemas.microsoft.com/office/powerpoint/2010/main" val="225783214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Retry and skip messages</a:t>
            </a:r>
          </a:p>
        </p:txBody>
      </p:sp>
      <p:pic>
        <p:nvPicPr>
          <p:cNvPr id="3" name="Picture 2">
            <a:extLst>
              <a:ext uri="{FF2B5EF4-FFF2-40B4-BE49-F238E27FC236}">
                <a16:creationId xmlns:a16="http://schemas.microsoft.com/office/drawing/2014/main" id="{E1389B81-984B-442B-B2FA-08D71333C8CB}"/>
              </a:ext>
            </a:extLst>
          </p:cNvPr>
          <p:cNvPicPr>
            <a:picLocks noChangeAspect="1"/>
          </p:cNvPicPr>
          <p:nvPr/>
        </p:nvPicPr>
        <p:blipFill>
          <a:blip r:embed="rId3"/>
          <a:stretch>
            <a:fillRect/>
          </a:stretch>
        </p:blipFill>
        <p:spPr>
          <a:xfrm>
            <a:off x="1946914" y="834351"/>
            <a:ext cx="8391902" cy="1353381"/>
          </a:xfrm>
          <a:prstGeom prst="rect">
            <a:avLst/>
          </a:prstGeom>
        </p:spPr>
      </p:pic>
      <p:pic>
        <p:nvPicPr>
          <p:cNvPr id="4" name="Picture 3">
            <a:extLst>
              <a:ext uri="{FF2B5EF4-FFF2-40B4-BE49-F238E27FC236}">
                <a16:creationId xmlns:a16="http://schemas.microsoft.com/office/drawing/2014/main" id="{443CD6BE-9EE8-4A45-814D-B61E97341DA7}"/>
              </a:ext>
            </a:extLst>
          </p:cNvPr>
          <p:cNvPicPr>
            <a:picLocks noChangeAspect="1"/>
          </p:cNvPicPr>
          <p:nvPr/>
        </p:nvPicPr>
        <p:blipFill>
          <a:blip r:embed="rId4"/>
          <a:stretch>
            <a:fillRect/>
          </a:stretch>
        </p:blipFill>
        <p:spPr>
          <a:xfrm>
            <a:off x="1946914" y="2667000"/>
            <a:ext cx="8391902" cy="3356650"/>
          </a:xfrm>
          <a:prstGeom prst="rect">
            <a:avLst/>
          </a:prstGeom>
        </p:spPr>
      </p:pic>
    </p:spTree>
    <p:extLst>
      <p:ext uri="{BB962C8B-B14F-4D97-AF65-F5344CB8AC3E}">
        <p14:creationId xmlns:p14="http://schemas.microsoft.com/office/powerpoint/2010/main" val="416844868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Controlling messaging destinations</a:t>
            </a:r>
          </a:p>
        </p:txBody>
      </p:sp>
      <p:sp>
        <p:nvSpPr>
          <p:cNvPr id="3" name="Content Placeholder 2"/>
          <p:cNvSpPr>
            <a:spLocks noGrp="1"/>
          </p:cNvSpPr>
          <p:nvPr>
            <p:ph idx="1"/>
          </p:nvPr>
        </p:nvSpPr>
        <p:spPr>
          <a:xfrm>
            <a:off x="6705600" y="914400"/>
            <a:ext cx="5047488" cy="5486400"/>
          </a:xfrm>
        </p:spPr>
        <p:txBody>
          <a:bodyPr/>
          <a:lstStyle/>
          <a:p>
            <a:r>
              <a:rPr lang="en-US" sz="2000" dirty="0"/>
              <a:t>Implement control methods and property for messaging plugins:</a:t>
            </a:r>
          </a:p>
          <a:p>
            <a:r>
              <a:rPr lang="en-US" sz="2000" dirty="0"/>
              <a:t>suspend</a:t>
            </a:r>
          </a:p>
          <a:p>
            <a:pPr lvl="1"/>
            <a:r>
              <a:rPr lang="en-US" sz="1800" dirty="0"/>
              <a:t>When messaging destination is suspended</a:t>
            </a:r>
          </a:p>
          <a:p>
            <a:r>
              <a:rPr lang="en-US" sz="2000" dirty="0"/>
              <a:t>resume</a:t>
            </a:r>
          </a:p>
          <a:p>
            <a:pPr lvl="1"/>
            <a:r>
              <a:rPr lang="en-US" sz="1800" dirty="0"/>
              <a:t>When messaging </a:t>
            </a:r>
            <a:br>
              <a:rPr lang="en-US" sz="1800" dirty="0"/>
            </a:br>
            <a:r>
              <a:rPr lang="en-US" sz="1800" dirty="0"/>
              <a:t>destination resumes</a:t>
            </a:r>
          </a:p>
          <a:p>
            <a:r>
              <a:rPr lang="en-US" sz="2000" dirty="0"/>
              <a:t>shutdown</a:t>
            </a:r>
          </a:p>
          <a:p>
            <a:pPr lvl="1"/>
            <a:r>
              <a:rPr lang="en-US" sz="1800" dirty="0"/>
              <a:t>When application </a:t>
            </a:r>
            <a:br>
              <a:rPr lang="en-US" sz="1800" dirty="0"/>
            </a:br>
            <a:r>
              <a:rPr lang="en-US" sz="1800" dirty="0"/>
              <a:t>server shuts down</a:t>
            </a:r>
          </a:p>
          <a:p>
            <a:r>
              <a:rPr lang="en-US" sz="2000" dirty="0"/>
              <a:t>set </a:t>
            </a:r>
            <a:r>
              <a:rPr lang="en-US" sz="2000" dirty="0" err="1"/>
              <a:t>DestinationID</a:t>
            </a:r>
            <a:endParaRPr lang="en-US" sz="2000" dirty="0"/>
          </a:p>
          <a:p>
            <a:pPr lvl="1"/>
            <a:r>
              <a:rPr lang="en-US" sz="1800" dirty="0"/>
              <a:t>When messaging plugin instance is initialized</a:t>
            </a:r>
          </a:p>
        </p:txBody>
      </p:sp>
      <p:pic>
        <p:nvPicPr>
          <p:cNvPr id="4" name="Picture 3">
            <a:extLst>
              <a:ext uri="{FF2B5EF4-FFF2-40B4-BE49-F238E27FC236}">
                <a16:creationId xmlns:a16="http://schemas.microsoft.com/office/drawing/2014/main" id="{A29B027A-2167-420F-8164-150FC184F6A7}"/>
              </a:ext>
            </a:extLst>
          </p:cNvPr>
          <p:cNvPicPr>
            <a:picLocks noChangeAspect="1"/>
          </p:cNvPicPr>
          <p:nvPr/>
        </p:nvPicPr>
        <p:blipFill>
          <a:blip r:embed="rId3"/>
          <a:stretch>
            <a:fillRect/>
          </a:stretch>
        </p:blipFill>
        <p:spPr>
          <a:xfrm>
            <a:off x="658368" y="861824"/>
            <a:ext cx="5513833" cy="5486400"/>
          </a:xfrm>
          <a:prstGeom prst="rect">
            <a:avLst/>
          </a:prstGeom>
        </p:spPr>
      </p:pic>
    </p:spTree>
    <p:extLst>
      <p:ext uri="{BB962C8B-B14F-4D97-AF65-F5344CB8AC3E}">
        <p14:creationId xmlns:p14="http://schemas.microsoft.com/office/powerpoint/2010/main" val="86081107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Contrasting retry scenarios</a:t>
            </a:r>
          </a:p>
        </p:txBody>
      </p:sp>
      <p:pic>
        <p:nvPicPr>
          <p:cNvPr id="4" name="Picture 3">
            <a:extLst>
              <a:ext uri="{FF2B5EF4-FFF2-40B4-BE49-F238E27FC236}">
                <a16:creationId xmlns:a16="http://schemas.microsoft.com/office/drawing/2014/main" id="{69BB76C8-DECA-41D0-A1E8-9E26F796AC62}"/>
              </a:ext>
            </a:extLst>
          </p:cNvPr>
          <p:cNvPicPr>
            <a:picLocks noChangeAspect="1"/>
          </p:cNvPicPr>
          <p:nvPr/>
        </p:nvPicPr>
        <p:blipFill>
          <a:blip r:embed="rId3"/>
          <a:stretch>
            <a:fillRect/>
          </a:stretch>
        </p:blipFill>
        <p:spPr>
          <a:xfrm>
            <a:off x="2017777" y="861824"/>
            <a:ext cx="8343837" cy="5538977"/>
          </a:xfrm>
          <a:prstGeom prst="rect">
            <a:avLst/>
          </a:prstGeom>
        </p:spPr>
      </p:pic>
    </p:spTree>
    <p:extLst>
      <p:ext uri="{BB962C8B-B14F-4D97-AF65-F5344CB8AC3E}">
        <p14:creationId xmlns:p14="http://schemas.microsoft.com/office/powerpoint/2010/main" val="12037951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The </a:t>
            </a:r>
            <a:r>
              <a:rPr lang="en-US" dirty="0"/>
              <a:t>message transport plugin</a:t>
            </a:r>
          </a:p>
          <a:p>
            <a:r>
              <a:rPr lang="en-US" dirty="0"/>
              <a:t>Retry scenarios</a:t>
            </a:r>
          </a:p>
          <a:p>
            <a:r>
              <a:rPr lang="en-US" dirty="0">
                <a:solidFill>
                  <a:schemeClr val="bg1"/>
                </a:solidFill>
              </a:rPr>
              <a:t>Safe ordering</a:t>
            </a:r>
          </a:p>
          <a:p>
            <a:pPr marL="0" indent="0">
              <a:buNone/>
            </a:pPr>
            <a:endParaRPr lang="en-US" dirty="0"/>
          </a:p>
        </p:txBody>
      </p:sp>
    </p:spTree>
    <p:extLst>
      <p:ext uri="{BB962C8B-B14F-4D97-AF65-F5344CB8AC3E}">
        <p14:creationId xmlns:p14="http://schemas.microsoft.com/office/powerpoint/2010/main" val="155498867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8368" y="3886200"/>
            <a:ext cx="11094720" cy="2514600"/>
          </a:xfrm>
        </p:spPr>
        <p:txBody>
          <a:bodyPr/>
          <a:lstStyle/>
          <a:p>
            <a:r>
              <a:rPr lang="en-US" dirty="0"/>
              <a:t>Some destinations create multiple messages for a single entity or a single set of related entities</a:t>
            </a:r>
          </a:p>
          <a:p>
            <a:pPr lvl="1"/>
            <a:r>
              <a:rPr lang="en-US" dirty="0"/>
              <a:t>Typically, they should not be sent at the same time</a:t>
            </a:r>
          </a:p>
          <a:p>
            <a:pPr lvl="1"/>
            <a:r>
              <a:rPr lang="en-US" dirty="0"/>
              <a:t>"Later" messages reference work done in "earlier" messages</a:t>
            </a:r>
          </a:p>
          <a:p>
            <a:r>
              <a:rPr lang="en-US" dirty="0"/>
              <a:t>If an earlier message gets lost or arrives late, a later message will not make sense</a:t>
            </a:r>
          </a:p>
          <a:p>
            <a:endParaRPr lang="en-US" dirty="0"/>
          </a:p>
          <a:p>
            <a:endParaRPr lang="en-US" dirty="0"/>
          </a:p>
        </p:txBody>
      </p:sp>
      <p:sp>
        <p:nvSpPr>
          <p:cNvPr id="2" name="Title 1"/>
          <p:cNvSpPr>
            <a:spLocks noGrp="1"/>
          </p:cNvSpPr>
          <p:nvPr>
            <p:ph type="title"/>
          </p:nvPr>
        </p:nvSpPr>
        <p:spPr/>
        <p:txBody>
          <a:bodyPr/>
          <a:lstStyle/>
          <a:p>
            <a:r>
              <a:rPr lang="en-US" dirty="0"/>
              <a:t>Sending simultaneous related messages</a:t>
            </a:r>
          </a:p>
        </p:txBody>
      </p:sp>
      <p:pic>
        <p:nvPicPr>
          <p:cNvPr id="4" name="Picture 3">
            <a:extLst>
              <a:ext uri="{FF2B5EF4-FFF2-40B4-BE49-F238E27FC236}">
                <a16:creationId xmlns:a16="http://schemas.microsoft.com/office/drawing/2014/main" id="{7DD86BA9-5E46-47A1-B7D8-7ADF82C09927}"/>
              </a:ext>
            </a:extLst>
          </p:cNvPr>
          <p:cNvPicPr>
            <a:picLocks noChangeAspect="1"/>
          </p:cNvPicPr>
          <p:nvPr/>
        </p:nvPicPr>
        <p:blipFill>
          <a:blip r:embed="rId3"/>
          <a:stretch>
            <a:fillRect/>
          </a:stretch>
        </p:blipFill>
        <p:spPr>
          <a:xfrm>
            <a:off x="2017777" y="861824"/>
            <a:ext cx="8343837" cy="2567177"/>
          </a:xfrm>
          <a:prstGeom prst="rect">
            <a:avLst/>
          </a:prstGeom>
        </p:spPr>
      </p:pic>
    </p:spTree>
    <p:extLst>
      <p:ext uri="{BB962C8B-B14F-4D97-AF65-F5344CB8AC3E}">
        <p14:creationId xmlns:p14="http://schemas.microsoft.com/office/powerpoint/2010/main" val="7910834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 ordering</a:t>
            </a:r>
          </a:p>
        </p:txBody>
      </p:sp>
      <p:sp>
        <p:nvSpPr>
          <p:cNvPr id="3" name="Content Placeholder 2"/>
          <p:cNvSpPr>
            <a:spLocks noGrp="1"/>
          </p:cNvSpPr>
          <p:nvPr>
            <p:ph idx="1"/>
          </p:nvPr>
        </p:nvSpPr>
        <p:spPr>
          <a:xfrm>
            <a:off x="658368" y="3886200"/>
            <a:ext cx="11094720" cy="2514600"/>
          </a:xfrm>
        </p:spPr>
        <p:txBody>
          <a:bodyPr/>
          <a:lstStyle/>
          <a:p>
            <a:r>
              <a:rPr lang="en-US" dirty="0"/>
              <a:t>Guidewire has a built-in mechanism called safe ordering</a:t>
            </a:r>
          </a:p>
          <a:p>
            <a:pPr lvl="1"/>
            <a:r>
              <a:rPr lang="en-US" dirty="0"/>
              <a:t>Its primary purpose is to ensure that the external system gets related messages one at a time</a:t>
            </a:r>
          </a:p>
          <a:p>
            <a:r>
              <a:rPr lang="en-US" dirty="0"/>
              <a:t>When safe ordering is enforced:</a:t>
            </a:r>
          </a:p>
          <a:p>
            <a:pPr lvl="1"/>
            <a:r>
              <a:rPr lang="en-US" dirty="0"/>
              <a:t>For a given destination/entity pair, only one message is sent</a:t>
            </a:r>
          </a:p>
          <a:p>
            <a:pPr lvl="1"/>
            <a:r>
              <a:rPr lang="en-US" dirty="0"/>
              <a:t>The external system must acknowledge the first message before the next message is sent</a:t>
            </a:r>
          </a:p>
          <a:p>
            <a:endParaRPr lang="en-US" dirty="0"/>
          </a:p>
        </p:txBody>
      </p:sp>
      <p:pic>
        <p:nvPicPr>
          <p:cNvPr id="4" name="Picture 3">
            <a:extLst>
              <a:ext uri="{FF2B5EF4-FFF2-40B4-BE49-F238E27FC236}">
                <a16:creationId xmlns:a16="http://schemas.microsoft.com/office/drawing/2014/main" id="{5F8F9F83-71EE-49BA-B1F6-CB9F187A0228}"/>
              </a:ext>
            </a:extLst>
          </p:cNvPr>
          <p:cNvPicPr>
            <a:picLocks noChangeAspect="1"/>
          </p:cNvPicPr>
          <p:nvPr/>
        </p:nvPicPr>
        <p:blipFill>
          <a:blip r:embed="rId3"/>
          <a:stretch>
            <a:fillRect/>
          </a:stretch>
        </p:blipFill>
        <p:spPr>
          <a:xfrm>
            <a:off x="2038492" y="581866"/>
            <a:ext cx="8300325" cy="2847135"/>
          </a:xfrm>
          <a:prstGeom prst="rect">
            <a:avLst/>
          </a:prstGeom>
        </p:spPr>
      </p:pic>
    </p:spTree>
    <p:extLst>
      <p:ext uri="{BB962C8B-B14F-4D97-AF65-F5344CB8AC3E}">
        <p14:creationId xmlns:p14="http://schemas.microsoft.com/office/powerpoint/2010/main" val="124106800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Default ordering and sending behavior</a:t>
            </a:r>
          </a:p>
        </p:txBody>
      </p:sp>
      <p:sp>
        <p:nvSpPr>
          <p:cNvPr id="4" name="Content Placeholder 3"/>
          <p:cNvSpPr>
            <a:spLocks noGrp="1"/>
          </p:cNvSpPr>
          <p:nvPr>
            <p:ph sz="half" idx="1"/>
          </p:nvPr>
        </p:nvSpPr>
        <p:spPr>
          <a:xfrm>
            <a:off x="658368" y="914402"/>
            <a:ext cx="4980432" cy="5475289"/>
          </a:xfrm>
        </p:spPr>
        <p:txBody>
          <a:bodyPr/>
          <a:lstStyle/>
          <a:p>
            <a:r>
              <a:rPr lang="en-US" b="1" dirty="0">
                <a:solidFill>
                  <a:schemeClr val="accent5"/>
                </a:solidFill>
              </a:rPr>
              <a:t>Non-safe ordering messages sent…</a:t>
            </a:r>
          </a:p>
          <a:p>
            <a:pPr lvl="1"/>
            <a:r>
              <a:rPr lang="en-US" dirty="0"/>
              <a:t>Before safe-ordering message</a:t>
            </a:r>
          </a:p>
          <a:p>
            <a:pPr lvl="1"/>
            <a:r>
              <a:rPr lang="en-US" dirty="0"/>
              <a:t>In message creation order</a:t>
            </a:r>
          </a:p>
          <a:p>
            <a:pPr lvl="1"/>
            <a:r>
              <a:rPr lang="en-US" dirty="0"/>
              <a:t>Immediately</a:t>
            </a:r>
            <a:br>
              <a:rPr lang="en-US" dirty="0"/>
            </a:br>
            <a:r>
              <a:rPr lang="en-US" dirty="0"/>
              <a:t/>
            </a:r>
            <a:br>
              <a:rPr lang="en-US" dirty="0"/>
            </a:br>
            <a:endParaRPr lang="en-US" dirty="0"/>
          </a:p>
          <a:p>
            <a:r>
              <a:rPr lang="en-US" b="1" dirty="0">
                <a:solidFill>
                  <a:schemeClr val="accent1"/>
                </a:solidFill>
              </a:rPr>
              <a:t>Safe-ordering messages sent…</a:t>
            </a:r>
          </a:p>
          <a:p>
            <a:pPr lvl="1"/>
            <a:r>
              <a:rPr lang="en-US" dirty="0"/>
              <a:t>After non-safe messages</a:t>
            </a:r>
          </a:p>
          <a:p>
            <a:pPr lvl="1"/>
            <a:r>
              <a:rPr lang="en-US" dirty="0"/>
              <a:t>In message creation order</a:t>
            </a:r>
          </a:p>
          <a:p>
            <a:pPr lvl="1"/>
            <a:r>
              <a:rPr lang="en-US" dirty="0"/>
              <a:t>Per entity instance, only one message at a time</a:t>
            </a:r>
          </a:p>
          <a:p>
            <a:endParaRPr lang="en-US" dirty="0"/>
          </a:p>
        </p:txBody>
      </p:sp>
      <p:pic>
        <p:nvPicPr>
          <p:cNvPr id="3" name="Picture 2">
            <a:extLst>
              <a:ext uri="{FF2B5EF4-FFF2-40B4-BE49-F238E27FC236}">
                <a16:creationId xmlns:a16="http://schemas.microsoft.com/office/drawing/2014/main" id="{91E7E976-245E-41AF-A010-D983911A6C4D}"/>
              </a:ext>
            </a:extLst>
          </p:cNvPr>
          <p:cNvPicPr>
            <a:picLocks noChangeAspect="1"/>
          </p:cNvPicPr>
          <p:nvPr/>
        </p:nvPicPr>
        <p:blipFill>
          <a:blip r:embed="rId3"/>
          <a:stretch>
            <a:fillRect/>
          </a:stretch>
        </p:blipFill>
        <p:spPr>
          <a:xfrm>
            <a:off x="6934200" y="861824"/>
            <a:ext cx="4242817" cy="5527867"/>
          </a:xfrm>
          <a:prstGeom prst="rect">
            <a:avLst/>
          </a:prstGeom>
        </p:spPr>
      </p:pic>
    </p:spTree>
    <p:extLst>
      <p:ext uri="{BB962C8B-B14F-4D97-AF65-F5344CB8AC3E}">
        <p14:creationId xmlns:p14="http://schemas.microsoft.com/office/powerpoint/2010/main" val="1350830150"/>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457127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 ordering in ClaimCenter</a:t>
            </a:r>
          </a:p>
        </p:txBody>
      </p:sp>
      <p:sp>
        <p:nvSpPr>
          <p:cNvPr id="3" name="Content Placeholder 2"/>
          <p:cNvSpPr>
            <a:spLocks noGrp="1"/>
          </p:cNvSpPr>
          <p:nvPr>
            <p:ph sz="half" idx="1"/>
          </p:nvPr>
        </p:nvSpPr>
        <p:spPr>
          <a:xfrm>
            <a:off x="658368" y="914403"/>
            <a:ext cx="9705785" cy="1981198"/>
          </a:xfrm>
        </p:spPr>
        <p:txBody>
          <a:bodyPr/>
          <a:lstStyle/>
          <a:p>
            <a:r>
              <a:rPr lang="en-US" dirty="0"/>
              <a:t>Safe ordering applies only to messages related directly or indirectly to instances of </a:t>
            </a:r>
            <a:r>
              <a:rPr lang="en-US" b="1" dirty="0"/>
              <a:t>Claim</a:t>
            </a:r>
          </a:p>
          <a:p>
            <a:r>
              <a:rPr lang="en-US" dirty="0"/>
              <a:t>Alternative Primary Entity can be configured in a destination to safe order for the </a:t>
            </a:r>
            <a:r>
              <a:rPr lang="en-US" b="1" dirty="0"/>
              <a:t>Contact</a:t>
            </a:r>
            <a:r>
              <a:rPr lang="en-US" dirty="0"/>
              <a:t> entity</a:t>
            </a:r>
          </a:p>
        </p:txBody>
      </p:sp>
      <p:pic>
        <p:nvPicPr>
          <p:cNvPr id="5" name="Picture 4"/>
          <p:cNvPicPr>
            <a:picLocks noChangeAspect="1"/>
          </p:cNvPicPr>
          <p:nvPr/>
        </p:nvPicPr>
        <p:blipFill>
          <a:blip r:embed="rId3"/>
          <a:stretch>
            <a:fillRect/>
          </a:stretch>
        </p:blipFill>
        <p:spPr>
          <a:xfrm>
            <a:off x="658368" y="3200400"/>
            <a:ext cx="11094720" cy="2190750"/>
          </a:xfrm>
          <a:prstGeom prst="rect">
            <a:avLst/>
          </a:prstGeom>
        </p:spPr>
      </p:pic>
    </p:spTree>
    <p:extLst>
      <p:ext uri="{BB962C8B-B14F-4D97-AF65-F5344CB8AC3E}">
        <p14:creationId xmlns:p14="http://schemas.microsoft.com/office/powerpoint/2010/main" val="395568817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 ordering in PolicyCenter</a:t>
            </a:r>
          </a:p>
        </p:txBody>
      </p:sp>
      <p:sp>
        <p:nvSpPr>
          <p:cNvPr id="3" name="Content Placeholder 2"/>
          <p:cNvSpPr>
            <a:spLocks noGrp="1"/>
          </p:cNvSpPr>
          <p:nvPr>
            <p:ph sz="half" idx="1"/>
          </p:nvPr>
        </p:nvSpPr>
        <p:spPr>
          <a:xfrm>
            <a:off x="658368" y="914403"/>
            <a:ext cx="11094720" cy="1828798"/>
          </a:xfrm>
        </p:spPr>
        <p:txBody>
          <a:bodyPr/>
          <a:lstStyle/>
          <a:p>
            <a:r>
              <a:rPr lang="en-US" dirty="0"/>
              <a:t>Safe ordering applies only to messages related directly or indirectly to instances of </a:t>
            </a:r>
            <a:r>
              <a:rPr lang="en-US" b="1" dirty="0"/>
              <a:t>Account</a:t>
            </a:r>
          </a:p>
          <a:p>
            <a:r>
              <a:rPr lang="en-US" dirty="0"/>
              <a:t>Alternative Primary Entity can be configured in a destination to safe order for the </a:t>
            </a:r>
            <a:r>
              <a:rPr lang="en-US" b="1" dirty="0"/>
              <a:t>Contact</a:t>
            </a:r>
            <a:r>
              <a:rPr lang="en-US" dirty="0"/>
              <a:t> entity</a:t>
            </a:r>
          </a:p>
        </p:txBody>
      </p:sp>
      <p:pic>
        <p:nvPicPr>
          <p:cNvPr id="5" name="Picture 4"/>
          <p:cNvPicPr>
            <a:picLocks noChangeAspect="1"/>
          </p:cNvPicPr>
          <p:nvPr/>
        </p:nvPicPr>
        <p:blipFill>
          <a:blip r:embed="rId3"/>
          <a:stretch>
            <a:fillRect/>
          </a:stretch>
        </p:blipFill>
        <p:spPr>
          <a:xfrm>
            <a:off x="658368" y="3429000"/>
            <a:ext cx="11094720" cy="2190750"/>
          </a:xfrm>
          <a:prstGeom prst="rect">
            <a:avLst/>
          </a:prstGeom>
        </p:spPr>
      </p:pic>
    </p:spTree>
    <p:extLst>
      <p:ext uri="{BB962C8B-B14F-4D97-AF65-F5344CB8AC3E}">
        <p14:creationId xmlns:p14="http://schemas.microsoft.com/office/powerpoint/2010/main" val="378171110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 ordering in BillingCenter</a:t>
            </a:r>
          </a:p>
        </p:txBody>
      </p:sp>
      <p:sp>
        <p:nvSpPr>
          <p:cNvPr id="3" name="Content Placeholder 2"/>
          <p:cNvSpPr>
            <a:spLocks noGrp="1"/>
          </p:cNvSpPr>
          <p:nvPr>
            <p:ph sz="half" idx="1"/>
          </p:nvPr>
        </p:nvSpPr>
        <p:spPr>
          <a:xfrm>
            <a:off x="658368" y="914402"/>
            <a:ext cx="11094719" cy="2514599"/>
          </a:xfrm>
        </p:spPr>
        <p:txBody>
          <a:bodyPr>
            <a:normAutofit lnSpcReduction="10000"/>
          </a:bodyPr>
          <a:lstStyle/>
          <a:p>
            <a:r>
              <a:rPr lang="en-US" dirty="0"/>
              <a:t>Safe ordering is not used for any primary entity messages</a:t>
            </a:r>
          </a:p>
          <a:p>
            <a:r>
              <a:rPr lang="en-US" dirty="0"/>
              <a:t>For any destination, you can enable safe ordering for one of the supported primary entity types:</a:t>
            </a:r>
          </a:p>
          <a:p>
            <a:pPr lvl="1"/>
            <a:r>
              <a:rPr lang="en-US" dirty="0"/>
              <a:t>Account</a:t>
            </a:r>
          </a:p>
          <a:p>
            <a:pPr lvl="1"/>
            <a:r>
              <a:rPr lang="en-US" dirty="0"/>
              <a:t>Contact</a:t>
            </a:r>
          </a:p>
          <a:p>
            <a:pPr lvl="1"/>
            <a:r>
              <a:rPr lang="en-US" dirty="0"/>
              <a:t>PolicyPeriod</a:t>
            </a:r>
          </a:p>
          <a:p>
            <a:pPr lvl="1"/>
            <a:r>
              <a:rPr lang="en-US" dirty="0"/>
              <a:t>Producer</a:t>
            </a:r>
          </a:p>
          <a:p>
            <a:endParaRPr lang="en-US" dirty="0"/>
          </a:p>
        </p:txBody>
      </p:sp>
      <p:pic>
        <p:nvPicPr>
          <p:cNvPr id="5" name="Picture 4"/>
          <p:cNvPicPr>
            <a:picLocks noChangeAspect="1"/>
          </p:cNvPicPr>
          <p:nvPr/>
        </p:nvPicPr>
        <p:blipFill>
          <a:blip r:embed="rId3"/>
          <a:stretch>
            <a:fillRect/>
          </a:stretch>
        </p:blipFill>
        <p:spPr>
          <a:xfrm>
            <a:off x="658367" y="3810000"/>
            <a:ext cx="11094720" cy="2190750"/>
          </a:xfrm>
          <a:prstGeom prst="rect">
            <a:avLst/>
          </a:prstGeom>
        </p:spPr>
      </p:pic>
    </p:spTree>
    <p:extLst>
      <p:ext uri="{BB962C8B-B14F-4D97-AF65-F5344CB8AC3E}">
        <p14:creationId xmlns:p14="http://schemas.microsoft.com/office/powerpoint/2010/main" val="810279251"/>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 ordering in ContactManager</a:t>
            </a:r>
          </a:p>
        </p:txBody>
      </p:sp>
      <p:sp>
        <p:nvSpPr>
          <p:cNvPr id="3" name="Content Placeholder 2"/>
          <p:cNvSpPr>
            <a:spLocks noGrp="1"/>
          </p:cNvSpPr>
          <p:nvPr>
            <p:ph sz="half" idx="1"/>
          </p:nvPr>
        </p:nvSpPr>
        <p:spPr/>
        <p:txBody>
          <a:bodyPr/>
          <a:lstStyle/>
          <a:p>
            <a:r>
              <a:rPr lang="en-US" dirty="0"/>
              <a:t>In ContactManager (and TrainingApp), messages are safe ordered based on ABContact</a:t>
            </a:r>
          </a:p>
          <a:p>
            <a:pPr lvl="1"/>
            <a:r>
              <a:rPr lang="en-US" dirty="0"/>
              <a:t>This is true for every destination</a:t>
            </a:r>
          </a:p>
          <a:p>
            <a:pPr lvl="1"/>
            <a:r>
              <a:rPr lang="en-US" dirty="0"/>
              <a:t>There are no alternative primary entity types</a:t>
            </a:r>
          </a:p>
          <a:p>
            <a:endParaRPr lang="en-US" dirty="0"/>
          </a:p>
        </p:txBody>
      </p:sp>
      <p:pic>
        <p:nvPicPr>
          <p:cNvPr id="4" name="Picture 3">
            <a:extLst>
              <a:ext uri="{FF2B5EF4-FFF2-40B4-BE49-F238E27FC236}">
                <a16:creationId xmlns:a16="http://schemas.microsoft.com/office/drawing/2014/main" id="{E5A37D38-4E03-4AFB-A257-B0FCA108A038}"/>
              </a:ext>
            </a:extLst>
          </p:cNvPr>
          <p:cNvPicPr>
            <a:picLocks noChangeAspect="1"/>
          </p:cNvPicPr>
          <p:nvPr/>
        </p:nvPicPr>
        <p:blipFill>
          <a:blip r:embed="rId3"/>
          <a:stretch>
            <a:fillRect/>
          </a:stretch>
        </p:blipFill>
        <p:spPr>
          <a:xfrm>
            <a:off x="6705600" y="856645"/>
            <a:ext cx="4419600" cy="5533046"/>
          </a:xfrm>
          <a:prstGeom prst="rect">
            <a:avLst/>
          </a:prstGeom>
        </p:spPr>
      </p:pic>
    </p:spTree>
    <p:extLst>
      <p:ext uri="{BB962C8B-B14F-4D97-AF65-F5344CB8AC3E}">
        <p14:creationId xmlns:p14="http://schemas.microsoft.com/office/powerpoint/2010/main" val="132656430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 ordering demo in TrainingApp</a:t>
            </a:r>
          </a:p>
        </p:txBody>
      </p:sp>
      <p:sp>
        <p:nvSpPr>
          <p:cNvPr id="3" name="Content Placeholder 2"/>
          <p:cNvSpPr>
            <a:spLocks noGrp="1"/>
          </p:cNvSpPr>
          <p:nvPr>
            <p:ph idx="1"/>
          </p:nvPr>
        </p:nvSpPr>
        <p:spPr>
          <a:xfrm>
            <a:off x="658368" y="914400"/>
            <a:ext cx="9703245" cy="533400"/>
          </a:xfrm>
        </p:spPr>
        <p:txBody>
          <a:bodyPr/>
          <a:lstStyle/>
          <a:p>
            <a:r>
              <a:rPr lang="en-US" dirty="0"/>
              <a:t>Administration </a:t>
            </a:r>
            <a:r>
              <a:rPr lang="en-US" dirty="0">
                <a:sym typeface="Wingdings" pitchFamily="2" charset="2"/>
              </a:rPr>
              <a:t> Training: Messaging  Safe Ordering</a:t>
            </a:r>
            <a:endParaRPr lang="en-US" dirty="0"/>
          </a:p>
        </p:txBody>
      </p:sp>
      <p:pic>
        <p:nvPicPr>
          <p:cNvPr id="4" name="Picture 3">
            <a:extLst>
              <a:ext uri="{FF2B5EF4-FFF2-40B4-BE49-F238E27FC236}">
                <a16:creationId xmlns:a16="http://schemas.microsoft.com/office/drawing/2014/main" id="{B6F1DEEA-919C-4B9F-921E-8B5E15105801}"/>
              </a:ext>
            </a:extLst>
          </p:cNvPr>
          <p:cNvPicPr>
            <a:picLocks noChangeAspect="1"/>
          </p:cNvPicPr>
          <p:nvPr/>
        </p:nvPicPr>
        <p:blipFill>
          <a:blip r:embed="rId3"/>
          <a:stretch>
            <a:fillRect/>
          </a:stretch>
        </p:blipFill>
        <p:spPr>
          <a:xfrm>
            <a:off x="1999297" y="1500375"/>
            <a:ext cx="8340229" cy="4443225"/>
          </a:xfrm>
          <a:prstGeom prst="rect">
            <a:avLst/>
          </a:prstGeom>
        </p:spPr>
      </p:pic>
    </p:spTree>
    <p:extLst>
      <p:ext uri="{BB962C8B-B14F-4D97-AF65-F5344CB8AC3E}">
        <p14:creationId xmlns:p14="http://schemas.microsoft.com/office/powerpoint/2010/main" val="270032748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Describe the plugins used in sending messages</a:t>
            </a:r>
          </a:p>
          <a:p>
            <a:pPr lvl="1"/>
            <a:r>
              <a:rPr lang="en-US" dirty="0" smtClean="0"/>
              <a:t>Write </a:t>
            </a:r>
            <a:r>
              <a:rPr lang="en-US" dirty="0"/>
              <a:t>message transport plugins</a:t>
            </a:r>
          </a:p>
          <a:p>
            <a:pPr lvl="1"/>
            <a:r>
              <a:rPr lang="en-US" dirty="0"/>
              <a:t>Describe the functionality of safe ordering</a:t>
            </a:r>
          </a:p>
          <a:p>
            <a:pPr lvl="1"/>
            <a:r>
              <a:rPr lang="en-US" dirty="0"/>
              <a:t>Describe how errors are handled when sending messages</a:t>
            </a:r>
          </a:p>
        </p:txBody>
      </p:sp>
    </p:spTree>
    <p:extLst>
      <p:ext uri="{BB962C8B-B14F-4D97-AF65-F5344CB8AC3E}">
        <p14:creationId xmlns:p14="http://schemas.microsoft.com/office/powerpoint/2010/main" val="83236829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smtClean="0"/>
              <a:t>DEMO</a:t>
            </a:r>
            <a:endParaRPr lang="en-US" sz="4000" kern="0" dirty="0"/>
          </a:p>
        </p:txBody>
      </p:sp>
    </p:spTree>
    <p:extLst>
      <p:ext uri="{BB962C8B-B14F-4D97-AF65-F5344CB8AC3E}">
        <p14:creationId xmlns:p14="http://schemas.microsoft.com/office/powerpoint/2010/main" val="227825587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0" indent="0">
              <a:buNone/>
            </a:pPr>
            <a:r>
              <a:rPr lang="en-US" sz="2000" dirty="0">
                <a:solidFill>
                  <a:schemeClr val="bg1"/>
                </a:solidFill>
              </a:rPr>
              <a:t>This demonstration will examine the following messaging components for bank account verification.</a:t>
            </a:r>
          </a:p>
          <a:p>
            <a:r>
              <a:rPr lang="en-US" sz="2000" dirty="0" smtClean="0">
                <a:solidFill>
                  <a:schemeClr val="bg1"/>
                </a:solidFill>
              </a:rPr>
              <a:t>configuration </a:t>
            </a:r>
            <a:r>
              <a:rPr lang="en-US" sz="2000" dirty="0">
                <a:solidFill>
                  <a:schemeClr val="bg1"/>
                </a:solidFill>
              </a:rPr>
              <a:t>of bank account verification transport plugin.</a:t>
            </a:r>
          </a:p>
          <a:p>
            <a:r>
              <a:rPr lang="en-US" sz="2000" dirty="0">
                <a:solidFill>
                  <a:schemeClr val="bg1"/>
                </a:solidFill>
              </a:rPr>
              <a:t>Triggering a message in the UI</a:t>
            </a:r>
          </a:p>
          <a:p>
            <a:r>
              <a:rPr lang="en-US" sz="2000" dirty="0">
                <a:solidFill>
                  <a:schemeClr val="bg1"/>
                </a:solidFill>
              </a:rPr>
              <a:t>Perform send, error , Recovery</a:t>
            </a:r>
          </a:p>
          <a:p>
            <a:r>
              <a:rPr lang="en-US" sz="2000" dirty="0">
                <a:solidFill>
                  <a:schemeClr val="bg1"/>
                </a:solidFill>
              </a:rPr>
              <a:t> </a:t>
            </a:r>
          </a:p>
          <a:p>
            <a:r>
              <a:rPr lang="en-US" sz="2000" dirty="0">
                <a:solidFill>
                  <a:schemeClr val="bg1"/>
                </a:solidFill>
              </a:rPr>
              <a:t>Requires:</a:t>
            </a:r>
          </a:p>
          <a:p>
            <a:r>
              <a:rPr lang="en-US" sz="2000" dirty="0">
                <a:solidFill>
                  <a:schemeClr val="bg1"/>
                </a:solidFill>
              </a:rPr>
              <a:t>-Training </a:t>
            </a:r>
            <a:r>
              <a:rPr lang="en-US" sz="2000" dirty="0" smtClean="0">
                <a:solidFill>
                  <a:schemeClr val="bg1"/>
                </a:solidFill>
              </a:rPr>
              <a:t>App, External </a:t>
            </a:r>
            <a:r>
              <a:rPr lang="en-US" sz="2000" dirty="0">
                <a:solidFill>
                  <a:schemeClr val="bg1"/>
                </a:solidFill>
              </a:rPr>
              <a:t>App</a:t>
            </a:r>
          </a:p>
          <a:p>
            <a:r>
              <a:rPr lang="en-US" sz="2000" dirty="0">
                <a:solidFill>
                  <a:schemeClr val="bg1"/>
                </a:solidFill>
              </a:rPr>
              <a:t>-</a:t>
            </a:r>
            <a:r>
              <a:rPr lang="en-US" sz="2000">
                <a:solidFill>
                  <a:schemeClr val="bg1"/>
                </a:solidFill>
              </a:rPr>
              <a:t>GW </a:t>
            </a:r>
            <a:r>
              <a:rPr lang="en-US" sz="2000" smtClean="0">
                <a:solidFill>
                  <a:schemeClr val="bg1"/>
                </a:solidFill>
              </a:rPr>
              <a:t>studio &amp; Supported </a:t>
            </a:r>
            <a:r>
              <a:rPr lang="en-US" sz="2000" dirty="0">
                <a:solidFill>
                  <a:schemeClr val="bg1"/>
                </a:solidFill>
              </a:rPr>
              <a:t>Web Browser</a:t>
            </a:r>
          </a:p>
        </p:txBody>
      </p:sp>
    </p:spTree>
    <p:extLst>
      <p:ext uri="{BB962C8B-B14F-4D97-AF65-F5344CB8AC3E}">
        <p14:creationId xmlns:p14="http://schemas.microsoft.com/office/powerpoint/2010/main" val="159057934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smtClean="0"/>
              <a:t>LAB</a:t>
            </a:r>
            <a:endParaRPr lang="en-US" sz="4000" kern="0" dirty="0"/>
          </a:p>
        </p:txBody>
      </p:sp>
    </p:spTree>
    <p:extLst>
      <p:ext uri="{BB962C8B-B14F-4D97-AF65-F5344CB8AC3E}">
        <p14:creationId xmlns:p14="http://schemas.microsoft.com/office/powerpoint/2010/main" val="192239161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r>
              <a:rPr lang="en-US" sz="2400" dirty="0">
                <a:solidFill>
                  <a:schemeClr val="bg1"/>
                </a:solidFill>
              </a:rPr>
              <a:t>Complete the exercises listed in  </a:t>
            </a:r>
            <a:r>
              <a:rPr lang="en-US" sz="2400" dirty="0" smtClean="0">
                <a:solidFill>
                  <a:schemeClr val="bg1"/>
                </a:solidFill>
              </a:rPr>
              <a:t>“Sending Messages” </a:t>
            </a:r>
            <a:r>
              <a:rPr lang="en-US" sz="2400" dirty="0">
                <a:solidFill>
                  <a:schemeClr val="bg1"/>
                </a:solidFill>
              </a:rPr>
              <a:t>chapter in the “InsuranceSuite 10 Integration: Kickstart “ work book</a:t>
            </a:r>
          </a:p>
        </p:txBody>
      </p:sp>
    </p:spTree>
    <p:extLst>
      <p:ext uri="{BB962C8B-B14F-4D97-AF65-F5344CB8AC3E}">
        <p14:creationId xmlns:p14="http://schemas.microsoft.com/office/powerpoint/2010/main" val="267306402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Every </a:t>
            </a:r>
            <a:r>
              <a:rPr lang="en-US" dirty="0"/>
              <a:t>destination can optionally have a request plugin, but it must have a transport plugin. Why is the transport plugin required?</a:t>
            </a:r>
          </a:p>
          <a:p>
            <a:r>
              <a:rPr lang="en-US" dirty="0"/>
              <a:t>Can one destination have two transport plugins? Can one transport plugin be used by two destinations?</a:t>
            </a:r>
          </a:p>
          <a:p>
            <a:r>
              <a:rPr lang="en-US" dirty="0"/>
              <a:t>Why should the send() method never send a message to multiple external systems?</a:t>
            </a:r>
          </a:p>
          <a:p>
            <a:endParaRPr lang="en-US" dirty="0"/>
          </a:p>
        </p:txBody>
      </p:sp>
    </p:spTree>
    <p:extLst>
      <p:ext uri="{BB962C8B-B14F-4D97-AF65-F5344CB8AC3E}">
        <p14:creationId xmlns:p14="http://schemas.microsoft.com/office/powerpoint/2010/main" val="349971500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9474" b="19474"/>
          <a:stretch>
            <a:fillRect/>
          </a:stretch>
        </p:blipFill>
        <p:spPr/>
      </p:pic>
      <p:sp>
        <p:nvSpPr>
          <p:cNvPr id="3" name="Text Placeholder 2"/>
          <p:cNvSpPr>
            <a:spLocks noGrp="1"/>
          </p:cNvSpPr>
          <p:nvPr>
            <p:ph type="body" sz="quarter" idx="11"/>
          </p:nvPr>
        </p:nvSpPr>
        <p:spPr/>
        <p:txBody>
          <a:bodyPr/>
          <a:lstStyle/>
          <a:p>
            <a:endParaRPr lang="en-US" dirty="0"/>
          </a:p>
        </p:txBody>
      </p:sp>
      <p:sp>
        <p:nvSpPr>
          <p:cNvPr id="4" name="Text Placeholder 3"/>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2819420817"/>
      </p:ext>
    </p:extLst>
  </p:cSld>
  <p:clrMapOvr>
    <a:masterClrMapping/>
  </p:clrMapOvr>
  <p:timing>
    <p:tnLst>
      <p:par>
        <p:cTn id="1" dur="indefinite" restart="never" nodeType="tmRoot"/>
      </p:par>
    </p:tnLst>
  </p:timing>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CB57B5F54F4DA48B31C4943C8567926" ma:contentTypeVersion="3" ma:contentTypeDescription="Create a new document." ma:contentTypeScope="" ma:versionID="5eaa3ee1509582f4e02561b7145d904d">
  <xsd:schema xmlns:xsd="http://www.w3.org/2001/XMLSchema" xmlns:xs="http://www.w3.org/2001/XMLSchema" xmlns:p="http://schemas.microsoft.com/office/2006/metadata/properties" xmlns:ns2="e38a8859-07ab-46c5-a44f-5c9b86e92d7c" targetNamespace="http://schemas.microsoft.com/office/2006/metadata/properties" ma:root="true" ma:fieldsID="4d2d3dc816ad86660348993a9b5cdcc4" ns2:_="">
    <xsd:import namespace="e38a8859-07ab-46c5-a44f-5c9b86e92d7c"/>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a8859-07ab-46c5-a44f-5c9b86e92d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D75D66F-AF89-4D34-91C6-7D82954E09CB}">
  <ds:schemaRefs>
    <ds:schemaRef ds:uri="http://schemas.microsoft.com/sharepoint/v3/contenttype/forms"/>
  </ds:schemaRefs>
</ds:datastoreItem>
</file>

<file path=customXml/itemProps2.xml><?xml version="1.0" encoding="utf-8"?>
<ds:datastoreItem xmlns:ds="http://schemas.openxmlformats.org/officeDocument/2006/customXml" ds:itemID="{7DBD99BB-AD70-40B2-B7C3-06AA5DA52EA7}"/>
</file>

<file path=customXml/itemProps3.xml><?xml version="1.0" encoding="utf-8"?>
<ds:datastoreItem xmlns:ds="http://schemas.openxmlformats.org/officeDocument/2006/customXml" ds:itemID="{3FF265FF-48DC-4BE4-B9FE-5DB5E0AF1172}">
  <ds:schemaRefs>
    <ds:schemaRef ds:uri="http://schemas.microsoft.com/office/2006/metadata/properties"/>
    <ds:schemaRef ds:uri="http://schemas.microsoft.com/office/2006/documentManagement/types"/>
    <ds:schemaRef ds:uri="http://schemas.openxmlformats.org/package/2006/metadata/core-properties"/>
    <ds:schemaRef ds:uri="http://www.w3.org/XML/1998/namespace"/>
    <ds:schemaRef ds:uri="http://purl.org/dc/elements/1.1/"/>
    <ds:schemaRef ds:uri="http://purl.org/dc/dcmitype/"/>
    <ds:schemaRef ds:uri="http://schemas.microsoft.com/office/infopath/2007/PartnerControls"/>
    <ds:schemaRef ds:uri="ec2ac320-4691-4145-9221-fe31435db753"/>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7772</TotalTime>
  <Words>3842</Words>
  <Application>Microsoft Office PowerPoint</Application>
  <PresentationFormat>Widescreen</PresentationFormat>
  <Paragraphs>268</Paragraphs>
  <Slides>35</Slides>
  <Notes>32</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Calibri</vt:lpstr>
      <vt:lpstr>Courier New</vt:lpstr>
      <vt:lpstr>Times New Roman</vt:lpstr>
      <vt:lpstr>Wingdings</vt:lpstr>
      <vt:lpstr>Wingdings 2</vt:lpstr>
      <vt:lpstr>Wingdings 3</vt:lpstr>
      <vt:lpstr>Emerald_Template</vt:lpstr>
      <vt:lpstr>InsuranceSuite 10 Integration</vt:lpstr>
      <vt:lpstr>PowerPoint Presentation</vt:lpstr>
      <vt:lpstr>PowerPoint Presentation</vt:lpstr>
      <vt:lpstr>Message transport plugin</vt:lpstr>
      <vt:lpstr>Steps to implement message transport</vt:lpstr>
      <vt:lpstr>Step 1: Create a message transport plugin class</vt:lpstr>
      <vt:lpstr>Send payload to web service example</vt:lpstr>
      <vt:lpstr>Send payload to file example</vt:lpstr>
      <vt:lpstr>Step 2: Create plugin registry</vt:lpstr>
      <vt:lpstr>Step 3: Configure the plugin</vt:lpstr>
      <vt:lpstr>Step 4: Configure the destination</vt:lpstr>
      <vt:lpstr>Step 5: Deploy code changes</vt:lpstr>
      <vt:lpstr>PowerPoint Presentation</vt:lpstr>
      <vt:lpstr>Transport or Request plugin error</vt:lpstr>
      <vt:lpstr>Error Administration</vt:lpstr>
      <vt:lpstr>Retry and skip messages</vt:lpstr>
      <vt:lpstr>Controlling messaging destinations</vt:lpstr>
      <vt:lpstr>Contrasting retry scenarios</vt:lpstr>
      <vt:lpstr>PowerPoint Presentation</vt:lpstr>
      <vt:lpstr>Sending simultaneous related messages</vt:lpstr>
      <vt:lpstr>Safe ordering</vt:lpstr>
      <vt:lpstr>Default ordering and sending behavior</vt:lpstr>
      <vt:lpstr>PowerPoint Presentation</vt:lpstr>
      <vt:lpstr>Safe ordering in ClaimCenter</vt:lpstr>
      <vt:lpstr>Safe ordering in PolicyCenter</vt:lpstr>
      <vt:lpstr>Safe ordering in BillingCenter</vt:lpstr>
      <vt:lpstr>Safe ordering in ContactManager</vt:lpstr>
      <vt:lpstr>Safe ordering demo in TrainingApp</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Gosu Bundles</dc:title>
  <dc:subject>Guidewire 8.0 Application Integration Gosu Bundles</dc:subject>
  <dc:creator>Seth Luersen</dc:creator>
  <cp:keywords>Emerald; Integration; 8.0.1</cp:keywords>
  <cp:lastModifiedBy>Neyyadiyilsahadevan, Anoop (Cognizant)</cp:lastModifiedBy>
  <cp:revision>391</cp:revision>
  <dcterms:created xsi:type="dcterms:W3CDTF">2013-08-19T16:16:51Z</dcterms:created>
  <dcterms:modified xsi:type="dcterms:W3CDTF">2020-12-23T06:10:04Z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0x0101008CB57B5F54F4DA48B31C4943C8567926</vt:lpwstr>
  </property>
</Properties>
</file>