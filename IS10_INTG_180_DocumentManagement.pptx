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73"/>
  </p:notesMasterIdLst>
  <p:handoutMasterIdLst>
    <p:handoutMasterId r:id="rId74"/>
  </p:handoutMasterIdLst>
  <p:sldIdLst>
    <p:sldId id="397" r:id="rId5"/>
    <p:sldId id="395" r:id="rId6"/>
    <p:sldId id="359" r:id="rId7"/>
    <p:sldId id="365" r:id="rId8"/>
    <p:sldId id="334" r:id="rId9"/>
    <p:sldId id="364" r:id="rId10"/>
    <p:sldId id="338" r:id="rId11"/>
    <p:sldId id="324" r:id="rId12"/>
    <p:sldId id="310" r:id="rId13"/>
    <p:sldId id="323" r:id="rId14"/>
    <p:sldId id="329" r:id="rId15"/>
    <p:sldId id="326" r:id="rId16"/>
    <p:sldId id="327" r:id="rId17"/>
    <p:sldId id="328" r:id="rId18"/>
    <p:sldId id="346" r:id="rId19"/>
    <p:sldId id="347" r:id="rId20"/>
    <p:sldId id="348" r:id="rId21"/>
    <p:sldId id="358" r:id="rId22"/>
    <p:sldId id="331" r:id="rId23"/>
    <p:sldId id="330" r:id="rId24"/>
    <p:sldId id="332" r:id="rId25"/>
    <p:sldId id="313" r:id="rId26"/>
    <p:sldId id="336" r:id="rId27"/>
    <p:sldId id="343" r:id="rId28"/>
    <p:sldId id="345" r:id="rId29"/>
    <p:sldId id="344" r:id="rId30"/>
    <p:sldId id="357" r:id="rId31"/>
    <p:sldId id="350" r:id="rId32"/>
    <p:sldId id="290" r:id="rId33"/>
    <p:sldId id="366" r:id="rId34"/>
    <p:sldId id="371" r:id="rId35"/>
    <p:sldId id="367" r:id="rId36"/>
    <p:sldId id="368" r:id="rId37"/>
    <p:sldId id="369" r:id="rId38"/>
    <p:sldId id="295" r:id="rId39"/>
    <p:sldId id="370" r:id="rId40"/>
    <p:sldId id="304" r:id="rId41"/>
    <p:sldId id="299" r:id="rId42"/>
    <p:sldId id="351" r:id="rId43"/>
    <p:sldId id="300" r:id="rId44"/>
    <p:sldId id="372" r:id="rId45"/>
    <p:sldId id="373" r:id="rId46"/>
    <p:sldId id="374" r:id="rId47"/>
    <p:sldId id="356" r:id="rId48"/>
    <p:sldId id="375" r:id="rId49"/>
    <p:sldId id="376" r:id="rId50"/>
    <p:sldId id="377"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2" r:id="rId66"/>
    <p:sldId id="410" r:id="rId67"/>
    <p:sldId id="399" r:id="rId68"/>
    <p:sldId id="409" r:id="rId69"/>
    <p:sldId id="408" r:id="rId70"/>
    <p:sldId id="393" r:id="rId71"/>
    <p:sldId id="407"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33AA87-6FCD-45A5-8AE7-A43CA01EEE49}">
          <p14:sldIdLst>
            <p14:sldId id="397"/>
            <p14:sldId id="395"/>
          </p14:sldIdLst>
        </p14:section>
        <p14:section name="Basics" id="{0CA6634F-C6FD-4BBA-B04E-9ED03905FDE5}">
          <p14:sldIdLst>
            <p14:sldId id="359"/>
            <p14:sldId id="365"/>
            <p14:sldId id="334"/>
            <p14:sldId id="364"/>
            <p14:sldId id="338"/>
            <p14:sldId id="324"/>
            <p14:sldId id="310"/>
            <p14:sldId id="323"/>
            <p14:sldId id="329"/>
            <p14:sldId id="326"/>
            <p14:sldId id="327"/>
            <p14:sldId id="328"/>
            <p14:sldId id="346"/>
            <p14:sldId id="347"/>
            <p14:sldId id="348"/>
          </p14:sldIdLst>
        </p14:section>
        <p14:section name="Document Management System" id="{76D8BFBB-0254-4AD4-A4B8-1E961B1FA4B6}">
          <p14:sldIdLst>
            <p14:sldId id="358"/>
            <p14:sldId id="331"/>
            <p14:sldId id="330"/>
            <p14:sldId id="332"/>
            <p14:sldId id="313"/>
            <p14:sldId id="336"/>
            <p14:sldId id="343"/>
            <p14:sldId id="345"/>
            <p14:sldId id="344"/>
          </p14:sldIdLst>
        </p14:section>
        <p14:section name="IDocumentContentSource" id="{EB954EBD-50BA-4BD3-9C91-EA0769D278A0}">
          <p14:sldIdLst>
            <p14:sldId id="357"/>
            <p14:sldId id="350"/>
            <p14:sldId id="290"/>
            <p14:sldId id="366"/>
            <p14:sldId id="371"/>
            <p14:sldId id="367"/>
            <p14:sldId id="368"/>
            <p14:sldId id="369"/>
            <p14:sldId id="295"/>
            <p14:sldId id="370"/>
            <p14:sldId id="304"/>
          </p14:sldIdLst>
        </p14:section>
        <p14:section name="IDcoumentMetadataSource" id="{31A58EF6-4CD0-4F87-9324-EBBC2EC2A1A0}">
          <p14:sldIdLst>
            <p14:sldId id="299"/>
            <p14:sldId id="351"/>
            <p14:sldId id="300"/>
            <p14:sldId id="372"/>
            <p14:sldId id="373"/>
            <p14:sldId id="374"/>
          </p14:sldIdLst>
        </p14:section>
        <p14:section name="DMS Integrations" id="{E07F408D-28D8-45EC-8CC8-D838AD2D5414}">
          <p14:sldIdLst>
            <p14:sldId id="356"/>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410"/>
            <p14:sldId id="399"/>
            <p14:sldId id="409"/>
            <p14:sldId id="408"/>
            <p14:sldId id="393"/>
            <p14:sldId id="407"/>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A1D5D-73E1-4382-8C4A-5CFBF3410977}" v="5" dt="2020-11-30T11:30:07.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64267" autoAdjust="0"/>
  </p:normalViewPr>
  <p:slideViewPr>
    <p:cSldViewPr showGuides="1">
      <p:cViewPr varScale="1">
        <p:scale>
          <a:sx n="44" d="100"/>
          <a:sy n="44" d="100"/>
        </p:scale>
        <p:origin x="1488" y="36"/>
      </p:cViewPr>
      <p:guideLst>
        <p:guide orient="horz"/>
        <p:guide/>
      </p:guideLst>
    </p:cSldViewPr>
  </p:slideViewPr>
  <p:notesTextViewPr>
    <p:cViewPr>
      <p:scale>
        <a:sx n="200" d="100"/>
        <a:sy n="200" d="100"/>
      </p:scale>
      <p:origin x="0" y="0"/>
    </p:cViewPr>
  </p:notesTextViewPr>
  <p:sorterViewPr>
    <p:cViewPr>
      <p:scale>
        <a:sx n="100" d="100"/>
        <a:sy n="100" d="100"/>
      </p:scale>
      <p:origin x="0" y="5208"/>
    </p:cViewPr>
  </p:sorterViewPr>
  <p:notesViewPr>
    <p:cSldViewPr showGuides="1">
      <p:cViewPr>
        <p:scale>
          <a:sx n="125" d="100"/>
          <a:sy n="125" d="100"/>
        </p:scale>
        <p:origin x="-2928" y="30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an, Arjun (Cognizant)" userId="S::577716@cognizant.com::e251632c-acd1-4f7e-b8e1-5b95e911a0b8" providerId="AD" clId="Web-{117A1D5D-73E1-4382-8C4A-5CFBF3410977}"/>
    <pc:docChg chg="modSld">
      <pc:chgData name="Sriraman, Arjun (Cognizant)" userId="S::577716@cognizant.com::e251632c-acd1-4f7e-b8e1-5b95e911a0b8" providerId="AD" clId="Web-{117A1D5D-73E1-4382-8C4A-5CFBF3410977}" dt="2020-11-30T11:30:07.882" v="4" actId="20577"/>
      <pc:docMkLst>
        <pc:docMk/>
      </pc:docMkLst>
      <pc:sldChg chg="modSp">
        <pc:chgData name="Sriraman, Arjun (Cognizant)" userId="S::577716@cognizant.com::e251632c-acd1-4f7e-b8e1-5b95e911a0b8" providerId="AD" clId="Web-{117A1D5D-73E1-4382-8C4A-5CFBF3410977}" dt="2020-11-30T11:30:07.882" v="4" actId="20577"/>
        <pc:sldMkLst>
          <pc:docMk/>
          <pc:sldMk cId="1007810466" sldId="408"/>
        </pc:sldMkLst>
        <pc:spChg chg="mod">
          <ac:chgData name="Sriraman, Arjun (Cognizant)" userId="S::577716@cognizant.com::e251632c-acd1-4f7e-b8e1-5b95e911a0b8" providerId="AD" clId="Web-{117A1D5D-73E1-4382-8C4A-5CFBF3410977}" dt="2020-11-30T11:30:07.882" v="4" actId="20577"/>
          <ac:spMkLst>
            <pc:docMk/>
            <pc:sldMk cId="1007810466" sldId="408"/>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12/23/2020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546683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2444226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Document content can be anything that represents incoming or outgoing documents</a:t>
            </a:r>
            <a:r>
              <a:rPr lang="en-US" baseline="0" dirty="0"/>
              <a:t> such as </a:t>
            </a:r>
            <a:r>
              <a:rPr lang="en-US" dirty="0"/>
              <a:t>a fax image, a Microsoft Word file, a photograph, or a PDF file. A document content source is code that stores and retrieves the document content.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2622740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Document content can be anything that represents incoming or outgoing documents such as a fax image, a Microsoft Word file, a photograph, or a PDF file.</a:t>
            </a:r>
          </a:p>
          <a:p>
            <a:endParaRPr lang="en-US" dirty="0"/>
          </a:p>
          <a:p>
            <a:r>
              <a:rPr lang="en-US" dirty="0"/>
              <a:t>Multipurpose Internet Mail Extensions(MIME) is an internet standard that </a:t>
            </a:r>
            <a:r>
              <a:rPr lang="en-US" dirty="0" err="1"/>
              <a:t>extendds</a:t>
            </a:r>
            <a:r>
              <a:rPr lang="en-US" dirty="0"/>
              <a:t> the format of email to support :</a:t>
            </a:r>
          </a:p>
          <a:p>
            <a:pPr marL="171450" indent="-171450">
              <a:buFont typeface="Arial" panose="020B0604020202020204" pitchFamily="34" charset="0"/>
              <a:buChar char="•"/>
            </a:pPr>
            <a:r>
              <a:rPr lang="en-US" dirty="0"/>
              <a:t>Text in character sets other than ASCII</a:t>
            </a:r>
          </a:p>
          <a:p>
            <a:pPr marL="171450" indent="-171450">
              <a:buFont typeface="Arial" panose="020B0604020202020204" pitchFamily="34" charset="0"/>
              <a:buChar char="•"/>
            </a:pPr>
            <a:r>
              <a:rPr lang="en-US" dirty="0"/>
              <a:t>Non-text attachments:</a:t>
            </a:r>
          </a:p>
          <a:p>
            <a:pPr marL="228600" lvl="1" indent="0">
              <a:buFont typeface="Arial" panose="020B0604020202020204" pitchFamily="34" charset="0"/>
              <a:buNone/>
            </a:pPr>
            <a:r>
              <a:rPr lang="en-US" dirty="0" err="1"/>
              <a:t>audio,video,images,application</a:t>
            </a:r>
            <a:r>
              <a:rPr lang="en-US" dirty="0"/>
              <a:t> programs etc.</a:t>
            </a:r>
          </a:p>
          <a:p>
            <a:pPr marL="171450" indent="-171450">
              <a:buFont typeface="Arial" panose="020B0604020202020204" pitchFamily="34" charset="0"/>
              <a:buChar char="•"/>
            </a:pPr>
            <a:r>
              <a:rPr lang="en-US" dirty="0"/>
              <a:t>Message bodies with multiple parts</a:t>
            </a:r>
          </a:p>
          <a:p>
            <a:pPr marL="171450" indent="-171450">
              <a:buFont typeface="Arial" panose="020B0604020202020204" pitchFamily="34" charset="0"/>
              <a:buChar char="•"/>
            </a:pPr>
            <a:r>
              <a:rPr lang="en-US" dirty="0"/>
              <a:t>Header information in non-ASCII character sets</a:t>
            </a:r>
          </a:p>
          <a:p>
            <a:endParaRPr lang="en-US" dirty="0"/>
          </a:p>
          <a:p>
            <a:r>
              <a:rPr lang="en-US" dirty="0"/>
              <a:t>Although MIME was designed mainly for SMTP, the content types defined by MIME standards are also of importance in communication protocols outside of email, such as HTTP for the World Wide Wed. Servers insert the MIME header at the beginning of any Web transmission. Clients use this content type or media type header to select as appropriate "player" application for the type of data the header indicates. Some of these players are built into the Web client or browser (for example, almost all browsers come with GIF and JPEG image players as well as the ability to handle HTML files)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2249438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BillingCenter, ClaimCenter,</a:t>
            </a:r>
            <a:r>
              <a:rPr lang="en-US" baseline="0" dirty="0"/>
              <a:t> and PolicyCenter, there are menu actions that allow users to create, link, attach, indicate, or upload a document.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2884939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document template is a Guidewire template used to generate commonly needed documents. Document templates often include information drawn from the primary business object (claim, policy, account, or producer) and its related records.</a:t>
            </a:r>
          </a:p>
          <a:p>
            <a:endParaRPr lang="en-US" dirty="0"/>
          </a:p>
          <a:p>
            <a:r>
              <a:rPr lang="en-US" dirty="0"/>
              <a:t>A document template can retrieve any information available to the primary business object. In this regard, a document template differs in the various Guidewire applications.</a:t>
            </a:r>
          </a:p>
          <a:p>
            <a:endParaRPr lang="en-US" dirty="0"/>
          </a:p>
          <a:p>
            <a:r>
              <a:rPr lang="en-US" dirty="0"/>
              <a:t>In ClaimCenter, a document template contains information about the claim such as the claim file number.</a:t>
            </a:r>
          </a:p>
          <a:p>
            <a:endParaRPr lang="en-US" dirty="0"/>
          </a:p>
          <a:p>
            <a:r>
              <a:rPr lang="en-US" dirty="0"/>
              <a:t>In PolicyCenter, a document template contains information about the policy such as the deductible for a given coverage.</a:t>
            </a:r>
          </a:p>
          <a:p>
            <a:endParaRPr lang="en-US" dirty="0"/>
          </a:p>
          <a:p>
            <a:r>
              <a:rPr lang="en-US" dirty="0"/>
              <a:t>In BillingCenter, a document template contains information about the account such as the amount due for a policy.</a:t>
            </a:r>
          </a:p>
          <a:p>
            <a:endParaRPr lang="en-US" dirty="0"/>
          </a:p>
          <a:p>
            <a:r>
              <a:rPr lang="en-US" dirty="0"/>
              <a:t>A digital document that results from the document production is often a draft document.  The user producing the document often need the opportunity to review, edit, amend, and then finalize the document before it is sent to the relevant party. </a:t>
            </a:r>
          </a:p>
          <a:p>
            <a:endParaRPr lang="en-US" dirty="0"/>
          </a:p>
          <a:p>
            <a:r>
              <a:rPr lang="en-US" dirty="0"/>
              <a:t>Document metadata is stored apart from the document itself.</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819990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There are five systems</a:t>
            </a:r>
            <a:r>
              <a:rPr lang="en-US" baseline="0" dirty="0"/>
              <a:t> </a:t>
            </a:r>
            <a:r>
              <a:rPr lang="en-US" dirty="0"/>
              <a:t>where information about documents can exist:</a:t>
            </a:r>
          </a:p>
          <a:p>
            <a:pPr marL="228600" indent="-228600">
              <a:buFont typeface="+mj-lt"/>
              <a:buAutoNum type="arabicPeriod"/>
            </a:pPr>
            <a:r>
              <a:rPr lang="en-US" dirty="0"/>
              <a:t>The user system</a:t>
            </a:r>
          </a:p>
          <a:p>
            <a:pPr marL="228600" indent="-228600">
              <a:buFont typeface="+mj-lt"/>
              <a:buAutoNum type="arabicPeriod"/>
            </a:pPr>
            <a:r>
              <a:rPr lang="en-US" dirty="0"/>
              <a:t>The Guidewire application</a:t>
            </a:r>
          </a:p>
          <a:p>
            <a:pPr marL="228600" indent="-228600">
              <a:buFont typeface="+mj-lt"/>
              <a:buAutoNum type="arabicPeriod"/>
            </a:pPr>
            <a:r>
              <a:rPr lang="en-US" dirty="0"/>
              <a:t>A document production system, which stores templates used to generate documents</a:t>
            </a:r>
          </a:p>
          <a:p>
            <a:pPr marL="228600" indent="-228600">
              <a:buFont typeface="+mj-lt"/>
              <a:buAutoNum type="arabicPeriod"/>
            </a:pPr>
            <a:r>
              <a:rPr lang="en-US" dirty="0"/>
              <a:t>A document storage system, which stores digital documents</a:t>
            </a:r>
          </a:p>
          <a:p>
            <a:pPr marL="228600" indent="-228600">
              <a:buFont typeface="+mj-lt"/>
              <a:buAutoNum type="arabicPeriod"/>
            </a:pPr>
            <a:r>
              <a:rPr lang="en-US" dirty="0"/>
              <a:t>A physical location, which stores physical documents (used in ClaimCenter only)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1672916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664578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Document</a:t>
            </a:r>
            <a:r>
              <a:rPr lang="en-US" baseline="0" dirty="0"/>
              <a:t> metadata consists of the type of document, the security permissions for the document, and many other properties and attributes that describe the document.  Other properties include, but are not limited to the date created, data modified, the authors, the editors, content tags, document categories, document title, and comments.  For some types of photograph and digital image documents, other properties may include the device taking the picture as well as global position system (GPS) coordinates for where the picture was taken.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Various digital document</a:t>
            </a:r>
            <a:r>
              <a:rPr lang="en-US" baseline="0" dirty="0"/>
              <a:t> production configurations are possible.</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Client-side document production consists of the c</a:t>
            </a:r>
            <a:r>
              <a:rPr lang="en-US" dirty="0"/>
              <a:t>reation of documents on the user</a:t>
            </a:r>
            <a:r>
              <a:rPr lang="en-US" baseline="0" dirty="0"/>
              <a:t> system </a:t>
            </a:r>
            <a:r>
              <a:rPr lang="en-US" dirty="0"/>
              <a:t>using local application such as Microsoft Word or</a:t>
            </a:r>
            <a:r>
              <a:rPr lang="en-US" baseline="0" dirty="0"/>
              <a:t> Adobe Acrobat. Server-side document production consists of an application server creating n</a:t>
            </a:r>
            <a:r>
              <a:rPr lang="en-US" dirty="0"/>
              <a:t>ew documents from a server</a:t>
            </a:r>
            <a:r>
              <a:rPr lang="en-US" baseline="0" dirty="0"/>
              <a:t> </a:t>
            </a:r>
            <a:r>
              <a:rPr lang="en-US" dirty="0"/>
              <a:t>document</a:t>
            </a:r>
            <a:r>
              <a:rPr lang="en-US" baseline="0" dirty="0"/>
              <a:t> t</a:t>
            </a:r>
            <a:r>
              <a:rPr lang="en-US" dirty="0"/>
              <a:t>emplate.  A server document template can be a physical</a:t>
            </a:r>
            <a:r>
              <a:rPr lang="en-US" baseline="0" dirty="0"/>
              <a:t> file or can be an application library that logically represent a document template. </a:t>
            </a:r>
            <a:endParaRPr lang="en-US" dirty="0"/>
          </a:p>
          <a:p>
            <a:endParaRPr lang="en-US" dirty="0"/>
          </a:p>
          <a:p>
            <a:r>
              <a:rPr lang="en-US" dirty="0"/>
              <a:t>In some cases, document templates are stored on a separate document in the production system. When a document needs to be produced, the business object data values</a:t>
            </a:r>
            <a:r>
              <a:rPr lang="en-US" baseline="0" dirty="0"/>
              <a:t> </a:t>
            </a:r>
            <a:r>
              <a:rPr lang="en-US" dirty="0"/>
              <a:t>and a</a:t>
            </a:r>
            <a:r>
              <a:rPr lang="en-US" baseline="0" dirty="0"/>
              <a:t> document </a:t>
            </a:r>
            <a:r>
              <a:rPr lang="en-US" dirty="0"/>
              <a:t>template identifier</a:t>
            </a:r>
            <a:r>
              <a:rPr lang="en-US" baseline="0" dirty="0"/>
              <a:t> (name, ID, or </a:t>
            </a:r>
            <a:r>
              <a:rPr lang="en-US" baseline="0" dirty="0" err="1"/>
              <a:t>GUID</a:t>
            </a:r>
            <a:r>
              <a:rPr lang="en-US" baseline="0" dirty="0"/>
              <a:t>) </a:t>
            </a:r>
            <a:r>
              <a:rPr lang="en-US" dirty="0"/>
              <a:t>are passed to the document production system. The document production system process the</a:t>
            </a:r>
            <a:r>
              <a:rPr lang="en-US" baseline="0" dirty="0"/>
              <a:t> object data using the document template </a:t>
            </a:r>
            <a:r>
              <a:rPr lang="en-US" dirty="0"/>
              <a:t>and create</a:t>
            </a:r>
            <a:r>
              <a:rPr lang="en-US" baseline="0" dirty="0"/>
              <a:t> a document. The document is available to the user system.</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some cases, document templates are stored on the application server that hosts the Guidewire application. The Guidewire application merges the document itself and makes the resulting draft available to the user system. This approach may be less typical for documents authored in a Microsoft product like Word and may be more typical for open-source formats such as PDF.</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some cases, document production takes places on the user system. In this case, the template and the field values are passed to the user system.  The user system's local copy of the application merges the information and creates the document draft.</a:t>
            </a:r>
          </a:p>
          <a:p>
            <a:endParaRPr lang="en-US" dirty="0"/>
          </a:p>
          <a:p>
            <a:r>
              <a:rPr lang="en-US" dirty="0"/>
              <a:t>The three approaches are not mutually exclusive. It is possible for some documents to be produced on a document production system, some to be produced by the Guidewire application server, and some to be produced on the user system. In these circumstances, it is often the type of document that determines where the document is created. For example, in ClaimCenter, a reservation of rights letter may exist in a legacy content management system and be produced on a separate machine whereas a basic, contact the claimant letter is drafted on the user system.</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938796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745201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1379059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187405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the default configuration, asynchronous document storage is enabled. For maximum user interface responsiveness with an external document storage system, choose asynchronous document storage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1873771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Guidewire defines two plugins to support DMS integration:</a:t>
            </a:r>
            <a:r>
              <a:rPr lang="en-US" baseline="0" dirty="0"/>
              <a:t> IDocumentContentSource and IDocumentMetadataSource plugins.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3513178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Depending on how a DMS functions, if  the DMS supports versioning, the PublicID property does not change for each new version, but the</a:t>
            </a:r>
            <a:r>
              <a:rPr lang="en-US" sz="1200" b="0" i="0" kern="1200" dirty="0">
                <a:solidFill>
                  <a:schemeClr val="tx1"/>
                </a:solidFill>
                <a:effectLst/>
                <a:latin typeface="Arial" pitchFamily="34" charset="0"/>
                <a:ea typeface="+mn-ea"/>
                <a:cs typeface="Arial" pitchFamily="34" charset="0"/>
              </a:rPr>
              <a:t> </a:t>
            </a:r>
            <a:r>
              <a:rPr lang="en-US" sz="1200" b="0" i="0" kern="1200" dirty="0" err="1">
                <a:solidFill>
                  <a:schemeClr val="tx1"/>
                </a:solidFill>
                <a:effectLst/>
                <a:latin typeface="Arial" pitchFamily="34" charset="0"/>
                <a:ea typeface="+mn-ea"/>
                <a:cs typeface="Arial" pitchFamily="34" charset="0"/>
              </a:rPr>
              <a:t>DocUID</a:t>
            </a:r>
            <a:r>
              <a:rPr lang="en-US" sz="1200" b="0" i="0" kern="1200" dirty="0">
                <a:solidFill>
                  <a:schemeClr val="tx1"/>
                </a:solidFill>
                <a:effectLst/>
                <a:latin typeface="Arial" pitchFamily="34" charset="0"/>
                <a:ea typeface="+mn-ea"/>
                <a:cs typeface="Arial" pitchFamily="34" charset="0"/>
              </a:rPr>
              <a:t> property might change.</a:t>
            </a:r>
          </a:p>
          <a:p>
            <a:endParaRPr lang="en-US" dirty="0"/>
          </a:p>
          <a:p>
            <a:r>
              <a:rPr lang="en-US" dirty="0"/>
              <a:t>You can extend the base Document entity to contain version related properties or other properties if it makes sense for your DMS.</a:t>
            </a:r>
          </a:p>
          <a:p>
            <a:endParaRPr lang="en-US" dirty="0"/>
          </a:p>
          <a:p>
            <a:r>
              <a:rPr lang="en-US" dirty="0"/>
              <a:t>Never use the Id property to identify a document. Never get or set this property for document management.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10021545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Whichever approach to handling document metadata you choose (internal or external), be aware that you must continue that approach permanently. Note objects and other similar text blocks reference a document within text as a specially-formatted hyperlink within the text itself. The format of this hyperlink within text blocks is slightly different based on whether the Guidewire application</a:t>
            </a:r>
            <a:r>
              <a:rPr lang="en-US" baseline="0" dirty="0"/>
              <a:t> </a:t>
            </a:r>
            <a:r>
              <a:rPr lang="en-US" dirty="0"/>
              <a:t>or a remote system handles the document metadata. If this quality changes from internal to external, or from external to internal, those document hyperlinks fail.</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996788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aseline="0" dirty="0"/>
              <a:t>In the slide example, the configuration for document management uses the built-in document content source plugin implementation. The document metadata source plugin remains disabled.</a:t>
            </a:r>
          </a:p>
          <a:p>
            <a:endParaRPr lang="en-US" baseline="0" dirty="0"/>
          </a:p>
          <a:p>
            <a:r>
              <a:rPr lang="en-US" baseline="0" dirty="0"/>
              <a:t>1) Document metadata is stored in Guidewire internal database.</a:t>
            </a:r>
          </a:p>
          <a:p>
            <a:r>
              <a:rPr lang="en-US" baseline="0" dirty="0"/>
              <a:t>2) Document contents are stored in Guidewire server file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3) Integration glue code manages how the Guidewire application and external systems communicate for document management.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4) Optionally, the external system can use web services to link documents to business objects (entities).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the slide example, the configuration for document management uses a custom document content source plugin implementation. The document metadata source plugin remains disabled.</a:t>
            </a:r>
          </a:p>
          <a:p>
            <a:endParaRPr lang="en-US" dirty="0"/>
          </a:p>
          <a:p>
            <a:r>
              <a:rPr lang="en-US" dirty="0"/>
              <a:t>1) The document content</a:t>
            </a:r>
            <a:r>
              <a:rPr lang="en-US" baseline="0" dirty="0"/>
              <a:t> source plugin is enabled. The document content source plugin manages how document contents get added, retrieved, and updated.</a:t>
            </a:r>
          </a:p>
          <a:p>
            <a:r>
              <a:rPr lang="en-US" baseline="0" dirty="0"/>
              <a:t>2) Document content is sent and retrieved from the DMS.  The DMS stores document contents.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3) Integration code manages how the Guidewire application and the DMS work together (integration glue code).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4) Optionally, the external DMS can use web services to link documents to business objects (entities).</a:t>
            </a:r>
          </a:p>
          <a:p>
            <a:r>
              <a:rPr lang="en-US" baseline="0" dirty="0"/>
              <a:t>5) The DMS can retrieve a user system document content from a http URL request.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the slide example, the configuration for document management uses a custom document content source plugin implementation and a custom document metadata source plugin.</a:t>
            </a:r>
          </a:p>
          <a:p>
            <a:endParaRPr lang="en-US" dirty="0"/>
          </a:p>
          <a:p>
            <a:r>
              <a:rPr lang="en-US" dirty="0"/>
              <a:t>1) The document metadata</a:t>
            </a:r>
            <a:r>
              <a:rPr lang="en-US" baseline="0" dirty="0"/>
              <a:t> source plugin is enabled and manages the </a:t>
            </a:r>
            <a:r>
              <a:rPr lang="en-US" dirty="0"/>
              <a:t>document metadata.</a:t>
            </a:r>
            <a:endParaRPr lang="en-US" baseline="0" dirty="0"/>
          </a:p>
          <a:p>
            <a:r>
              <a:rPr lang="en-US" baseline="0" dirty="0"/>
              <a:t>2) The document metadata is sent to external system. The DMS stores metadata.</a:t>
            </a:r>
          </a:p>
          <a:p>
            <a:r>
              <a:rPr lang="en-US" baseline="0" dirty="0"/>
              <a:t>3) The DMS returns metadata including the document unique identifiers (</a:t>
            </a:r>
            <a:r>
              <a:rPr lang="en-US" baseline="0" dirty="0" err="1"/>
              <a:t>docUIDs</a:t>
            </a:r>
            <a:r>
              <a:rPr lang="en-US" baseline="0" dirty="0"/>
              <a:t>).</a:t>
            </a:r>
          </a:p>
          <a:p>
            <a:r>
              <a:rPr lang="en-US" baseline="0" dirty="0"/>
              <a:t>4) The d</a:t>
            </a:r>
            <a:r>
              <a:rPr lang="en-US" dirty="0"/>
              <a:t>ocument content</a:t>
            </a:r>
            <a:r>
              <a:rPr lang="en-US" baseline="0" dirty="0"/>
              <a:t> source plugin is enabled and manages the </a:t>
            </a:r>
            <a:r>
              <a:rPr lang="en-US" dirty="0"/>
              <a:t>document contents.</a:t>
            </a:r>
          </a:p>
          <a:p>
            <a:r>
              <a:rPr lang="en-US" baseline="0" dirty="0"/>
              <a:t>5) The document content is sent and retrieved from the DMS. The DMS stores document contents.</a:t>
            </a:r>
          </a:p>
          <a:p>
            <a:r>
              <a:rPr lang="en-US" baseline="0" dirty="0"/>
              <a:t>6) The d</a:t>
            </a:r>
            <a:r>
              <a:rPr lang="en-US" dirty="0"/>
              <a:t>ocument content</a:t>
            </a:r>
            <a:r>
              <a:rPr lang="en-US" baseline="0" dirty="0"/>
              <a:t> source plugin optionally manages document metadata. </a:t>
            </a:r>
          </a:p>
          <a:p>
            <a:r>
              <a:rPr lang="en-US" baseline="0" dirty="0"/>
              <a:t>7) The d</a:t>
            </a:r>
            <a:r>
              <a:rPr lang="en-US" dirty="0"/>
              <a:t>ocument content</a:t>
            </a:r>
            <a:r>
              <a:rPr lang="en-US" baseline="0" dirty="0"/>
              <a:t> source plugin optionally sets metadata for add and update operations to the DMS.</a:t>
            </a:r>
          </a:p>
          <a:p>
            <a:r>
              <a:rPr lang="en-US" baseline="0" dirty="0"/>
              <a:t>8) The integration code that manages how the DMS works with the Guidewire application (integration glue code).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9) Optionally, the external DMS can use web services to link documents to business objects (entities).</a:t>
            </a:r>
          </a:p>
          <a:p>
            <a:r>
              <a:rPr lang="en-US" baseline="0" dirty="0"/>
              <a:t>10) The DMS can retrieve a user system document content from a http URL request.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226250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significant concern for the content source plugin is the upload size of document content – this content will usually need to be read from the input stream into memory in some fashion, which can potentially cause the JVM to run out of memory.</a:t>
            </a:r>
          </a:p>
          <a:p>
            <a:endParaRPr lang="en-US" dirty="0"/>
          </a:p>
          <a:p>
            <a:r>
              <a:rPr lang="en-US" dirty="0"/>
              <a:t>In config.xml, you can set a parameter to control file upload size:</a:t>
            </a:r>
          </a:p>
          <a:p>
            <a:endParaRPr lang="en-US" dirty="0"/>
          </a:p>
          <a:p>
            <a:r>
              <a:rPr lang="en-US" dirty="0">
                <a:latin typeface="Courier New" pitchFamily="49" charset="0"/>
                <a:cs typeface="Courier New" pitchFamily="49" charset="0"/>
              </a:rPr>
              <a:t>&lt;!– The maximum allowable file size (in megabytes) which may be uploaded. Any attempt to upload a file larger than this will fail.       Since the uploaded document must be handled on the server, this parameter protects the server from possible memory consumption problems. --&gt;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param</a:t>
            </a:r>
            <a:r>
              <a:rPr lang="en-US" dirty="0">
                <a:latin typeface="Courier New" pitchFamily="49" charset="0"/>
                <a:cs typeface="Courier New" pitchFamily="49" charset="0"/>
              </a:rPr>
              <a:t> name="</a:t>
            </a:r>
            <a:r>
              <a:rPr lang="en-US" dirty="0" err="1">
                <a:latin typeface="Courier New" pitchFamily="49" charset="0"/>
                <a:cs typeface="Courier New" pitchFamily="49" charset="0"/>
              </a:rPr>
              <a:t>MaximumFileUploadSize</a:t>
            </a:r>
            <a:r>
              <a:rPr lang="en-US" dirty="0">
                <a:latin typeface="Courier New" pitchFamily="49" charset="0"/>
                <a:cs typeface="Courier New" pitchFamily="49" charset="0"/>
              </a:rPr>
              <a:t>" value="25"/&gt;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346822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Common document object metadata properties that are set : </a:t>
            </a:r>
          </a:p>
          <a:p>
            <a:pPr marL="171450" indent="-171450">
              <a:buFont typeface="Arial" panose="020B0604020202020204" pitchFamily="34" charset="0"/>
              <a:buChar char="•"/>
            </a:pPr>
            <a:r>
              <a:rPr lang="en-US" dirty="0" err="1"/>
              <a:t>DateModified</a:t>
            </a:r>
            <a:endParaRPr lang="en-US" dirty="0"/>
          </a:p>
          <a:p>
            <a:pPr marL="171450" indent="-171450">
              <a:buFont typeface="Arial" panose="020B0604020202020204" pitchFamily="34" charset="0"/>
              <a:buChar char="•"/>
            </a:pPr>
            <a:r>
              <a:rPr lang="en-US" dirty="0"/>
              <a:t>DMS, true if there is content stored</a:t>
            </a:r>
          </a:p>
          <a:p>
            <a:pPr marL="171450" indent="-171450">
              <a:buFont typeface="Arial" panose="020B0604020202020204" pitchFamily="34" charset="0"/>
              <a:buChar char="•"/>
            </a:pPr>
            <a:r>
              <a:rPr lang="en-US" dirty="0" err="1"/>
              <a:t>DocUID</a:t>
            </a:r>
            <a:endParaRPr lang="en-US" dirty="0"/>
          </a:p>
          <a:p>
            <a:pPr marL="171450" indent="-171450">
              <a:buFont typeface="Arial" panose="020B0604020202020204" pitchFamily="34" charset="0"/>
              <a:buChar char="•"/>
            </a:pPr>
            <a:r>
              <a:rPr lang="en-US" dirty="0" err="1"/>
              <a:t>PublicID</a:t>
            </a:r>
            <a:r>
              <a:rPr lang="en-US" dirty="0"/>
              <a:t> if content </a:t>
            </a:r>
            <a:r>
              <a:rPr lang="en-US" dirty="0" err="1"/>
              <a:t>os</a:t>
            </a:r>
            <a:r>
              <a:rPr lang="en-US" dirty="0"/>
              <a:t> identified differently than metadata</a:t>
            </a:r>
          </a:p>
          <a:p>
            <a:pPr marL="171450" indent="-171450">
              <a:buFont typeface="Arial" panose="020B0604020202020204" pitchFamily="34" charset="0"/>
              <a:buChar char="•"/>
            </a:pPr>
            <a:r>
              <a:rPr lang="en-US" dirty="0" err="1"/>
              <a:t>persistenceRequired</a:t>
            </a:r>
            <a:r>
              <a:rPr lang="en-US" dirty="0"/>
              <a:t> is true</a:t>
            </a:r>
          </a:p>
          <a:p>
            <a:endParaRPr lang="en-US" dirty="0"/>
          </a:p>
          <a:p>
            <a:r>
              <a:rPr lang="en-US" dirty="0"/>
              <a:t>The </a:t>
            </a:r>
            <a:r>
              <a:rPr lang="en-US" dirty="0" err="1"/>
              <a:t>IDocumentContentSource</a:t>
            </a:r>
            <a:r>
              <a:rPr lang="en-US" dirty="0"/>
              <a:t> implementation may use any fields it wishes to determine where to store the content. It should set the </a:t>
            </a:r>
            <a:r>
              <a:rPr lang="en-US" dirty="0" err="1"/>
              <a:t>DocUID</a:t>
            </a:r>
            <a:r>
              <a:rPr lang="en-US" dirty="0"/>
              <a:t> field, </a:t>
            </a:r>
            <a:r>
              <a:rPr lang="en-US" dirty="0" err="1"/>
              <a:t>PublicID</a:t>
            </a:r>
            <a:r>
              <a:rPr lang="en-US" dirty="0"/>
              <a:t> field, or whatever field(s) are being used to uniquely identify the content corresponding to the Document entity.</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2187206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algn="ctr"/>
            <a:r>
              <a:rPr lang="en-US" dirty="0"/>
              <a:t>(continued)</a:t>
            </a:r>
          </a:p>
          <a:p>
            <a:endParaRPr lang="en-US" dirty="0"/>
          </a:p>
          <a:p>
            <a:r>
              <a:rPr lang="en-US" dirty="0"/>
              <a:t>The application may call the </a:t>
            </a:r>
            <a:r>
              <a:rPr lang="en-US" dirty="0" err="1"/>
              <a:t>addDocument</a:t>
            </a:r>
            <a:r>
              <a:rPr lang="en-US" dirty="0"/>
              <a:t> method with a null </a:t>
            </a:r>
            <a:r>
              <a:rPr lang="en-US" dirty="0" err="1"/>
              <a:t>InputStream</a:t>
            </a:r>
            <a:r>
              <a:rPr lang="en-US" dirty="0"/>
              <a:t>. This can occur as a result of the following scenarios :</a:t>
            </a:r>
          </a:p>
          <a:p>
            <a:r>
              <a:rPr lang="en-US" dirty="0"/>
              <a:t>1) The user creates a Document entity with some content and clicks Update in the application interface.</a:t>
            </a:r>
          </a:p>
          <a:p>
            <a:r>
              <a:rPr lang="en-US" dirty="0"/>
              <a:t>2) The document fails validation for some reason. Guidewire has already read the </a:t>
            </a:r>
            <a:r>
              <a:rPr lang="en-US" dirty="0" err="1"/>
              <a:t>InputStream</a:t>
            </a:r>
            <a:r>
              <a:rPr lang="en-US" dirty="0"/>
              <a:t> and uploaded the document.</a:t>
            </a:r>
          </a:p>
          <a:p>
            <a:r>
              <a:rPr lang="en-US" dirty="0"/>
              <a:t>3) The user fixes the problem and clicks Update again. Any changes made to the document metadata during the previous call to </a:t>
            </a:r>
            <a:r>
              <a:rPr lang="en-US" dirty="0" err="1"/>
              <a:t>addDocument</a:t>
            </a:r>
            <a:r>
              <a:rPr lang="en-US" dirty="0"/>
              <a:t> method call have been lost. Guidewire calls the </a:t>
            </a:r>
            <a:r>
              <a:rPr lang="en-US" dirty="0" err="1"/>
              <a:t>addDocument</a:t>
            </a:r>
            <a:r>
              <a:rPr lang="en-US" dirty="0"/>
              <a:t> method again so that the </a:t>
            </a:r>
            <a:r>
              <a:rPr lang="en-US" dirty="0" err="1"/>
              <a:t>IDoucmentContentSource</a:t>
            </a:r>
            <a:r>
              <a:rPr lang="en-US" dirty="0"/>
              <a:t> plugin has a chance to set any fields such as the </a:t>
            </a:r>
            <a:r>
              <a:rPr lang="en-US" dirty="0" err="1"/>
              <a:t>DocUID</a:t>
            </a:r>
            <a:r>
              <a:rPr lang="en-US" dirty="0"/>
              <a:t> before the metadata is persisted.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3970719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To update the contents of an existing document in the DMS system, call the </a:t>
            </a:r>
            <a:r>
              <a:rPr lang="en-US" dirty="0" err="1"/>
              <a:t>updateDocument</a:t>
            </a:r>
            <a:r>
              <a:rPr lang="en-US" dirty="0"/>
              <a:t> method. This is separate from the </a:t>
            </a:r>
            <a:r>
              <a:rPr lang="en-US" dirty="0" err="1"/>
              <a:t>addDocument</a:t>
            </a:r>
            <a:r>
              <a:rPr lang="en-US" dirty="0"/>
              <a:t> method because the semantics are different, especially regarding name and other unique fields. Whether or not the metadata is stored, the DMS system should update any appropriate data, </a:t>
            </a:r>
            <a:r>
              <a:rPr lang="en-US" dirty="0" err="1"/>
              <a:t>includig</a:t>
            </a:r>
            <a:r>
              <a:rPr lang="en-US" dirty="0"/>
              <a:t> </a:t>
            </a:r>
            <a:r>
              <a:rPr lang="en-US" dirty="0" err="1"/>
              <a:t>versio</a:t>
            </a:r>
            <a:r>
              <a:rPr lang="en-US" dirty="0"/>
              <a:t> information (if any) and date modified. The </a:t>
            </a:r>
            <a:r>
              <a:rPr lang="en-US" dirty="0" err="1"/>
              <a:t>InputStream</a:t>
            </a:r>
            <a:r>
              <a:rPr lang="en-US" dirty="0"/>
              <a:t> will contain the new contents to be stored in the DMS. The same identifying fields which are set by the </a:t>
            </a:r>
            <a:r>
              <a:rPr lang="en-US" dirty="0" err="1"/>
              <a:t>addDocument</a:t>
            </a:r>
            <a:r>
              <a:rPr lang="en-US" dirty="0"/>
              <a:t> method should be used to determine which content to </a:t>
            </a:r>
            <a:r>
              <a:rPr lang="en-US" dirty="0" err="1"/>
              <a:t>update.Any</a:t>
            </a:r>
            <a:r>
              <a:rPr lang="en-US" dirty="0"/>
              <a:t> version is completely </a:t>
            </a:r>
            <a:r>
              <a:rPr lang="en-US" dirty="0" err="1"/>
              <a:t>upto</a:t>
            </a:r>
            <a:r>
              <a:rPr lang="en-US" dirty="0"/>
              <a:t> the implementation. No version information will be set on the Document entity by Guidewire, but the </a:t>
            </a:r>
            <a:r>
              <a:rPr lang="en-US" dirty="0" err="1"/>
              <a:t>IDocumentContentSource</a:t>
            </a:r>
            <a:r>
              <a:rPr lang="en-US" dirty="0"/>
              <a:t> implementation may set version-related fields on the Document entity with the expectation that changes to the Document entity will then be persisted by the application.</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21120798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3759814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To retrieve the contents of a document, call the </a:t>
            </a:r>
            <a:r>
              <a:rPr lang="en-US" dirty="0" err="1"/>
              <a:t>getDocumentContentsInfo</a:t>
            </a:r>
            <a:r>
              <a:rPr lang="en-US" dirty="0"/>
              <a:t> method. The Document entity itself should not be modified as any changes made are not guaranteed to be persisted. The </a:t>
            </a:r>
            <a:r>
              <a:rPr lang="en-US" dirty="0" err="1"/>
              <a:t>boolean</a:t>
            </a:r>
            <a:r>
              <a:rPr lang="en-US" dirty="0"/>
              <a:t> </a:t>
            </a:r>
            <a:r>
              <a:rPr lang="en-US" dirty="0" err="1"/>
              <a:t>arguement</a:t>
            </a:r>
            <a:r>
              <a:rPr lang="en-US" dirty="0"/>
              <a:t> to include contents should be true if the caller wants the </a:t>
            </a:r>
            <a:r>
              <a:rPr lang="en-US" dirty="0" err="1"/>
              <a:t>DocumentContentsInfo</a:t>
            </a:r>
            <a:r>
              <a:rPr lang="en-US" dirty="0"/>
              <a:t> object to include an </a:t>
            </a:r>
            <a:r>
              <a:rPr lang="en-US" dirty="0" err="1"/>
              <a:t>InputStream</a:t>
            </a:r>
            <a:r>
              <a:rPr lang="en-US" dirty="0"/>
              <a:t> with the contents of the document. If it is false, then the </a:t>
            </a:r>
            <a:r>
              <a:rPr lang="en-US" dirty="0" err="1"/>
              <a:t>InputStream</a:t>
            </a:r>
            <a:r>
              <a:rPr lang="en-US" dirty="0"/>
              <a:t> in the returned </a:t>
            </a:r>
            <a:r>
              <a:rPr lang="en-US" dirty="0" err="1"/>
              <a:t>DocumentContentsInfo</a:t>
            </a:r>
            <a:r>
              <a:rPr lang="en-US" dirty="0"/>
              <a:t> object will be null. The </a:t>
            </a:r>
            <a:r>
              <a:rPr lang="en-US" dirty="0" err="1"/>
              <a:t>boolean</a:t>
            </a:r>
            <a:r>
              <a:rPr lang="en-US" dirty="0"/>
              <a:t> should be false in situations where only the metadata is required. The </a:t>
            </a:r>
            <a:r>
              <a:rPr lang="en-US" dirty="0" err="1"/>
              <a:t>getDocumentContentsInfo</a:t>
            </a:r>
            <a:r>
              <a:rPr lang="en-US" dirty="0"/>
              <a:t> method returns a </a:t>
            </a:r>
            <a:r>
              <a:rPr lang="en-US" dirty="0" err="1"/>
              <a:t>DocumentContentsInfo</a:t>
            </a:r>
            <a:r>
              <a:rPr lang="en-US" dirty="0"/>
              <a:t> object. The application calls some methods in a </a:t>
            </a:r>
            <a:r>
              <a:rPr lang="en-US" dirty="0" err="1"/>
              <a:t>IDocumentContentSource</a:t>
            </a:r>
            <a:r>
              <a:rPr lang="en-US" dirty="0"/>
              <a:t> plugin twice for each document :</a:t>
            </a:r>
            <a:r>
              <a:rPr lang="en-US" dirty="0" err="1"/>
              <a:t>isDocument</a:t>
            </a:r>
            <a:r>
              <a:rPr lang="en-US" dirty="0"/>
              <a:t> and </a:t>
            </a:r>
            <a:r>
              <a:rPr lang="en-US" dirty="0" err="1"/>
              <a:t>getDocumentContentsInfo</a:t>
            </a:r>
            <a:r>
              <a:rPr lang="en-US" dirty="0"/>
              <a:t>. Your plugin implementation must support this design.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25271109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algn="ctr"/>
            <a:r>
              <a:rPr lang="en-US" dirty="0"/>
              <a:t>(continued)</a:t>
            </a:r>
          </a:p>
          <a:p>
            <a:endParaRPr lang="en-US" dirty="0"/>
          </a:p>
          <a:p>
            <a:r>
              <a:rPr lang="en-US" dirty="0"/>
              <a:t>Content Response Types</a:t>
            </a:r>
          </a:p>
          <a:p>
            <a:r>
              <a:rPr lang="en-US" dirty="0"/>
              <a:t>Use DOCUMENT_CONTENTS when the DMS system returns the pure contents of the document. DOCUMENT_CONTENTS is supported in all situations and is the only valid type of response when Gosu creates a document. DOCUMENT_CONTENTS is compatible with the Edit/Upload buttons in the base Documents page.</a:t>
            </a:r>
          </a:p>
          <a:p>
            <a:endParaRPr lang="en-US" dirty="0"/>
          </a:p>
          <a:p>
            <a:pPr marL="171450" indent="-171450">
              <a:buFont typeface="Arial" panose="020B0604020202020204" pitchFamily="34" charset="0"/>
              <a:buChar char="•"/>
            </a:pPr>
            <a:r>
              <a:rPr lang="en-US" dirty="0" err="1"/>
              <a:t>inputStream</a:t>
            </a:r>
            <a:r>
              <a:rPr lang="en-US" dirty="0"/>
              <a:t> - Must contain the contents of the document.</a:t>
            </a:r>
          </a:p>
          <a:p>
            <a:pPr marL="171450" indent="-171450">
              <a:buFont typeface="Arial" panose="020B0604020202020204" pitchFamily="34" charset="0"/>
              <a:buChar char="•"/>
            </a:pPr>
            <a:r>
              <a:rPr lang="en-US" dirty="0" err="1"/>
              <a:t>responseMimeType</a:t>
            </a:r>
            <a:r>
              <a:rPr lang="en-US" dirty="0"/>
              <a:t> - Should contain the mime type of the document</a:t>
            </a:r>
          </a:p>
          <a:p>
            <a:pPr marL="171450" indent="-171450">
              <a:buFont typeface="Arial" panose="020B0604020202020204" pitchFamily="34" charset="0"/>
              <a:buChar char="•"/>
            </a:pPr>
            <a:r>
              <a:rPr lang="en-US" dirty="0" err="1"/>
              <a:t>targetHiddenFrame</a:t>
            </a:r>
            <a:r>
              <a:rPr lang="en-US" dirty="0"/>
              <a:t> - Not relevant for this content type, may be ignored. Opens content in a hidden frame if true for other content types.</a:t>
            </a:r>
          </a:p>
          <a:p>
            <a:endParaRPr lang="en-US" dirty="0"/>
          </a:p>
          <a:p>
            <a:r>
              <a:rPr lang="en-US" dirty="0"/>
              <a:t>Use the URL type when the DMS </a:t>
            </a:r>
            <a:r>
              <a:rPr lang="en-US" dirty="0" err="1"/>
              <a:t>intergration</a:t>
            </a:r>
            <a:r>
              <a:rPr lang="en-US" dirty="0"/>
              <a:t> code will return a URL which, when accessed, will somehow display the document contents. It may be a URL to the contents directly, or to a web page which uses a script or a web control to display the document contents. Use the URL type for when the client, based on physical location, need to be redirected to a local cache of document contents.</a:t>
            </a:r>
          </a:p>
          <a:p>
            <a:pPr marL="171450" indent="-171450">
              <a:buFont typeface="Arial" panose="020B0604020202020204" pitchFamily="34" charset="0"/>
              <a:buChar char="•"/>
            </a:pPr>
            <a:r>
              <a:rPr lang="en-US" dirty="0" err="1"/>
              <a:t>inputStream</a:t>
            </a:r>
            <a:r>
              <a:rPr lang="en-US" dirty="0"/>
              <a:t> - Must contain the URL</a:t>
            </a:r>
          </a:p>
          <a:p>
            <a:pPr marL="171450" indent="-171450">
              <a:buFont typeface="Arial" panose="020B0604020202020204" pitchFamily="34" charset="0"/>
              <a:buChar char="•"/>
            </a:pPr>
            <a:r>
              <a:rPr lang="en-US" dirty="0" err="1"/>
              <a:t>responseMimeType</a:t>
            </a:r>
            <a:r>
              <a:rPr lang="en-US" dirty="0"/>
              <a:t> - Not applicable, may be ignored</a:t>
            </a:r>
          </a:p>
          <a:p>
            <a:pPr marL="171450" indent="-171450">
              <a:buFont typeface="Arial" panose="020B0604020202020204" pitchFamily="34" charset="0"/>
              <a:buChar char="•"/>
            </a:pPr>
            <a:r>
              <a:rPr lang="en-US" dirty="0" err="1"/>
              <a:t>iargetHiddenFrame</a:t>
            </a:r>
            <a:r>
              <a:rPr lang="en-US" dirty="0"/>
              <a:t> - Must be true or false depending on </a:t>
            </a:r>
            <a:r>
              <a:rPr lang="en-US" dirty="0" err="1"/>
              <a:t>wheather</a:t>
            </a:r>
            <a:r>
              <a:rPr lang="en-US" dirty="0"/>
              <a:t> the URL returned should be opened in a new window or in a hidden frame.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314351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err="1"/>
              <a:t>isDocument</a:t>
            </a:r>
            <a:r>
              <a:rPr lang="en-US" b="1" dirty="0"/>
              <a:t> method</a:t>
            </a:r>
          </a:p>
          <a:p>
            <a:r>
              <a:rPr lang="en-US" dirty="0"/>
              <a:t>Used to determine whether the DMS system contains content corresponding to the </a:t>
            </a:r>
            <a:r>
              <a:rPr lang="en-US" dirty="0" err="1"/>
              <a:t>DocUID</a:t>
            </a:r>
            <a:r>
              <a:rPr lang="en-US" dirty="0"/>
              <a:t> or customer-specific fields(s) identifying the content. The </a:t>
            </a:r>
            <a:r>
              <a:rPr lang="en-US" dirty="0" err="1"/>
              <a:t>isDocument</a:t>
            </a:r>
            <a:r>
              <a:rPr lang="en-US" dirty="0"/>
              <a:t> method implementation returns true when the backing DMS system already contains content corresponding to the appropriate fields on the Document entity, otherwise the method returns false. The application calls some methods in a </a:t>
            </a:r>
            <a:r>
              <a:rPr lang="en-US" dirty="0" err="1"/>
              <a:t>IDocumentContentSource</a:t>
            </a:r>
            <a:r>
              <a:rPr lang="en-US" dirty="0"/>
              <a:t> plugin twice for each document : </a:t>
            </a:r>
            <a:r>
              <a:rPr lang="en-US" dirty="0" err="1"/>
              <a:t>isDocument</a:t>
            </a:r>
            <a:r>
              <a:rPr lang="en-US" dirty="0"/>
              <a:t> and </a:t>
            </a:r>
            <a:r>
              <a:rPr lang="en-US" dirty="0" err="1"/>
              <a:t>getDocumentContentsInfo</a:t>
            </a:r>
            <a:r>
              <a:rPr lang="en-US" dirty="0"/>
              <a:t>. Your plugin implementation must support this design.</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22556731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ClaimCenter,</a:t>
            </a:r>
            <a:r>
              <a:rPr lang="en-US" baseline="0" dirty="0"/>
              <a:t> see </a:t>
            </a:r>
            <a:r>
              <a:rPr lang="en-US" dirty="0"/>
              <a:t>the getSubDirForDocument() method</a:t>
            </a:r>
            <a:r>
              <a:rPr lang="en-US" baseline="0" dirty="0"/>
              <a:t> for how the files are created and stored in sub-directories.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1401419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2262507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6754175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Usually called to populate a list of documents, such as the documents list view panel, the </a:t>
            </a:r>
            <a:r>
              <a:rPr lang="en-US" dirty="0" err="1"/>
              <a:t>searchDocuments</a:t>
            </a:r>
            <a:r>
              <a:rPr lang="en-US" dirty="0"/>
              <a:t>() method retrieves the set of documents which match the given search criteria.  The </a:t>
            </a:r>
            <a:r>
              <a:rPr lang="en-US" dirty="0" err="1"/>
              <a:t>DocumentSearchCriteria</a:t>
            </a:r>
            <a:r>
              <a:rPr lang="en-US" dirty="0"/>
              <a:t> values indicate the set of documents that should be returned.  The </a:t>
            </a:r>
            <a:r>
              <a:rPr lang="en-US" dirty="0" err="1"/>
              <a:t>RemotableSearchResultSpec</a:t>
            </a:r>
            <a:r>
              <a:rPr lang="en-US" dirty="0"/>
              <a:t> is an object which contains sorting and paging information for the search so that the results can be manipulated by the list view.  The </a:t>
            </a:r>
            <a:r>
              <a:rPr lang="en-US" dirty="0" err="1"/>
              <a:t>DocumentSearchResult</a:t>
            </a:r>
            <a:r>
              <a:rPr lang="en-US" dirty="0"/>
              <a:t> object encapsulates a set of Document objects containing information about the documents matching the search criteria.  Since the results will be displayed in a list, the Document objects returned need not be fully populated.  The objects must have all properties set which will be used in the lists and any properties which would be required to retrieve the contents or a detail view of the document.</a:t>
            </a:r>
          </a:p>
          <a:p>
            <a:pPr marL="171450" indent="-171450">
              <a:buFont typeface="Arial" panose="020B0604020202020204" pitchFamily="34" charset="0"/>
              <a:buChar char="•"/>
            </a:pPr>
            <a:r>
              <a:rPr lang="en-US" dirty="0" err="1"/>
              <a:t>getnumResultsOnly</a:t>
            </a:r>
            <a:r>
              <a:rPr lang="en-US" dirty="0"/>
              <a:t> – Boolean</a:t>
            </a:r>
            <a:r>
              <a:rPr lang="en-US" baseline="0" dirty="0"/>
              <a:t> that specifies whether to return only number of results</a:t>
            </a:r>
          </a:p>
          <a:p>
            <a:pPr marL="171450" indent="-171450">
              <a:buFont typeface="Arial" panose="020B0604020202020204" pitchFamily="34" charset="0"/>
              <a:buChar char="•"/>
            </a:pPr>
            <a:r>
              <a:rPr lang="en-US" baseline="0" dirty="0" err="1"/>
              <a:t>SortColumns</a:t>
            </a:r>
            <a:r>
              <a:rPr lang="en-US" baseline="0" dirty="0"/>
              <a:t> – An array of </a:t>
            </a:r>
            <a:r>
              <a:rPr lang="en-US" baseline="0" dirty="0" err="1"/>
              <a:t>RemotableSortColumn</a:t>
            </a:r>
            <a:r>
              <a:rPr lang="en-US" baseline="0" dirty="0"/>
              <a:t> objects that define sort order</a:t>
            </a:r>
          </a:p>
          <a:p>
            <a:pPr marL="171450" indent="-171450">
              <a:buFont typeface="Arial" panose="020B0604020202020204" pitchFamily="34" charset="0"/>
              <a:buChar char="•"/>
            </a:pPr>
            <a:r>
              <a:rPr lang="en-US" baseline="0" dirty="0" err="1"/>
              <a:t>StartRow</a:t>
            </a:r>
            <a:r>
              <a:rPr lang="en-US" baseline="0" dirty="0"/>
              <a:t> – Start row as </a:t>
            </a:r>
            <a:r>
              <a:rPr lang="en-US" baseline="0" dirty="0" err="1"/>
              <a:t>int</a:t>
            </a:r>
            <a:r>
              <a:rPr lang="en-US" baseline="0" dirty="0"/>
              <a:t> value</a:t>
            </a:r>
          </a:p>
          <a:p>
            <a:pPr marL="171450" indent="-171450">
              <a:buFont typeface="Arial" panose="020B0604020202020204" pitchFamily="34" charset="0"/>
              <a:buChar char="•"/>
            </a:pPr>
            <a:r>
              <a:rPr lang="en-US" baseline="0" dirty="0" err="1"/>
              <a:t>MaxResults</a:t>
            </a:r>
            <a:r>
              <a:rPr lang="en-US" baseline="0" dirty="0"/>
              <a:t> – Max results to return as </a:t>
            </a:r>
            <a:r>
              <a:rPr lang="en-US" baseline="0" dirty="0" err="1"/>
              <a:t>int</a:t>
            </a:r>
            <a:r>
              <a:rPr lang="en-US" baseline="0" dirty="0"/>
              <a:t> value</a:t>
            </a:r>
          </a:p>
          <a:p>
            <a:pPr marL="171450" indent="-171450">
              <a:buFont typeface="Arial" panose="020B0604020202020204" pitchFamily="34" charset="0"/>
              <a:buChar char="•"/>
            </a:pPr>
            <a:r>
              <a:rPr lang="en-US" baseline="0" dirty="0" err="1"/>
              <a:t>IncludeTotal</a:t>
            </a:r>
            <a:r>
              <a:rPr lang="en-US" baseline="0" dirty="0"/>
              <a:t> – Boolean that specifies whether to return number of search results in </a:t>
            </a:r>
            <a:r>
              <a:rPr lang="en-US" baseline="0" dirty="0" err="1"/>
              <a:t>TotalResults</a:t>
            </a:r>
            <a:r>
              <a:rPr lang="en-US" baseline="0" dirty="0"/>
              <a:t> property</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18258179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To display the complete metadata for a document, call the </a:t>
            </a:r>
            <a:r>
              <a:rPr lang="en-US" dirty="0" err="1"/>
              <a:t>retrieveDocument</a:t>
            </a:r>
            <a:r>
              <a:rPr lang="en-US" dirty="0"/>
              <a:t>() method.  The </a:t>
            </a:r>
            <a:r>
              <a:rPr lang="en-US" dirty="0" err="1"/>
              <a:t>retrieveDocument</a:t>
            </a:r>
            <a:r>
              <a:rPr lang="en-US" dirty="0"/>
              <a:t>() method retrieves the complete metadata for a single document. The returned document should be completely populated.  The </a:t>
            </a:r>
            <a:r>
              <a:rPr lang="en-US" dirty="0" err="1"/>
              <a:t>docUID</a:t>
            </a:r>
            <a:r>
              <a:rPr lang="en-US" dirty="0"/>
              <a:t> value of the Document entity being retrieved is a unique and is set as the value of the Document entity’s </a:t>
            </a:r>
            <a:r>
              <a:rPr lang="en-US" dirty="0" err="1"/>
              <a:t>docUID</a:t>
            </a:r>
            <a:r>
              <a:rPr lang="en-US" dirty="0"/>
              <a:t> property.  It uniquely identifies the document on the external DMS to return the appropriate metadata.</a:t>
            </a:r>
          </a:p>
          <a:p>
            <a:r>
              <a:rPr lang="en-US" dirty="0"/>
              <a:t>The internal properties</a:t>
            </a:r>
            <a:r>
              <a:rPr lang="en-US" baseline="0" dirty="0"/>
              <a:t> of the document object must be initialized by calling the following methods</a:t>
            </a:r>
          </a:p>
          <a:p>
            <a:pPr marL="171450" indent="-171450">
              <a:buFont typeface="Arial" panose="020B0604020202020204" pitchFamily="34" charset="0"/>
              <a:buChar char="•"/>
            </a:pPr>
            <a:r>
              <a:rPr lang="en-US" dirty="0" err="1"/>
              <a:t>DocumentdUtilBase.InitOriginalValues</a:t>
            </a:r>
            <a:r>
              <a:rPr lang="en-US" baseline="0" dirty="0"/>
              <a:t> – Doc object is argument</a:t>
            </a:r>
          </a:p>
          <a:p>
            <a:pPr marL="171450" indent="-171450">
              <a:buFont typeface="Arial" panose="020B0604020202020204" pitchFamily="34" charset="0"/>
              <a:buChar char="•"/>
            </a:pPr>
            <a:r>
              <a:rPr lang="en-US" baseline="0" dirty="0"/>
              <a:t>The Document object’s  </a:t>
            </a:r>
            <a:r>
              <a:rPr lang="en-US" baseline="0" dirty="0" err="1"/>
              <a:t>setRetrievedfromIDMS</a:t>
            </a:r>
            <a:r>
              <a:rPr lang="en-US" baseline="0" dirty="0"/>
              <a:t> method – no arguments and does the following</a:t>
            </a:r>
          </a:p>
          <a:p>
            <a:pPr marL="400050" lvl="1" indent="-171450">
              <a:buFont typeface="Arial" panose="020B0604020202020204" pitchFamily="34" charset="0"/>
              <a:buChar char="•"/>
            </a:pPr>
            <a:r>
              <a:rPr lang="en-US" baseline="0" dirty="0"/>
              <a:t>Mark doc as initialized</a:t>
            </a:r>
          </a:p>
          <a:p>
            <a:pPr marL="400050" lvl="1" indent="-171450">
              <a:buFont typeface="Arial" panose="020B0604020202020204" pitchFamily="34" charset="0"/>
              <a:buChar char="•"/>
            </a:pPr>
            <a:r>
              <a:rPr lang="en-US" baseline="0" dirty="0"/>
              <a:t>Sets </a:t>
            </a:r>
            <a:r>
              <a:rPr lang="en-US" baseline="0" dirty="0" err="1"/>
              <a:t>doc.PersistenceRequired</a:t>
            </a:r>
            <a:r>
              <a:rPr lang="en-US" baseline="0" dirty="0"/>
              <a:t> to false and as coming from </a:t>
            </a:r>
            <a:r>
              <a:rPr lang="en-US" baseline="0" dirty="0" err="1"/>
              <a:t>IDocumentMetadataSourcePlugin</a:t>
            </a:r>
            <a:endParaRPr lang="en-US" baseline="0" dirty="0"/>
          </a:p>
          <a:p>
            <a:pPr marL="400050" lvl="1" indent="-171450">
              <a:buFont typeface="Arial" panose="020B0604020202020204" pitchFamily="34" charset="0"/>
              <a:buChar char="•"/>
            </a:pPr>
            <a:r>
              <a:rPr lang="en-US" baseline="0" dirty="0"/>
              <a:t>Initializes doc entity’s internal flag indicating it need not be persisted</a:t>
            </a:r>
          </a:p>
          <a:p>
            <a:pPr marL="171450" indent="-171450">
              <a:buFont typeface="Arial" panose="020B0604020202020204" pitchFamily="34" charset="0"/>
              <a:buChar char="•"/>
            </a:pPr>
            <a:endParaRPr lang="en-US" dirty="0"/>
          </a:p>
          <a:p>
            <a:endParaRPr lang="en-US" dirty="0"/>
          </a:p>
          <a:p>
            <a:r>
              <a:rPr lang="en-US" dirty="0"/>
              <a:t>To persist either a new Document’s metadata or changes made to the metadata for an existing Document, call the </a:t>
            </a:r>
            <a:r>
              <a:rPr lang="en-US" dirty="0" err="1"/>
              <a:t>saveDocument</a:t>
            </a:r>
            <a:r>
              <a:rPr lang="en-US" dirty="0"/>
              <a:t>() method after the IDocumentContentSource interface has persisted the document contents.  This is not necessary, however, if the IDocumentContentSource interface handles metadata persistence itself and returns true.  The </a:t>
            </a:r>
            <a:r>
              <a:rPr lang="en-US" dirty="0" err="1"/>
              <a:t>saveDocument</a:t>
            </a:r>
            <a:r>
              <a:rPr lang="en-US" dirty="0"/>
              <a:t>() method is also called in the case of saving metadata changes to an inferred document (null document reference).  The Document parameter represents the new set of metadata to be saved to the backing DMS system. </a:t>
            </a:r>
          </a:p>
          <a:p>
            <a:endParaRPr lang="en-US" dirty="0"/>
          </a:p>
          <a:p>
            <a:r>
              <a:rPr lang="en-US" dirty="0"/>
              <a:t>When the user indicates that a Document should be permanently removed from the Guidewire application, call the removeDocument()  method. If the document metadata stored in the DMS is referenced from multiple objects (like Claims) in the Guidewire application, it is up to the DMS system to do whatever reference counting or other mechanism is required to remove the Document from one context but not another.  The Document parameter represents the document to be removed.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862102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16673074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t>
            </a:r>
            <a:r>
              <a:rPr lang="en-US" dirty="0" err="1"/>
              <a:t>ClaimCenter</a:t>
            </a:r>
            <a:r>
              <a:rPr lang="en-US" dirty="0"/>
              <a:t>,</a:t>
            </a:r>
            <a:r>
              <a:rPr lang="en-US" baseline="0" dirty="0"/>
              <a:t> see </a:t>
            </a:r>
            <a:r>
              <a:rPr lang="en-US" dirty="0"/>
              <a:t>the </a:t>
            </a:r>
            <a:r>
              <a:rPr lang="en-US" dirty="0" err="1"/>
              <a:t>getSubDirForDocument</a:t>
            </a:r>
            <a:r>
              <a:rPr lang="en-US" dirty="0"/>
              <a:t>() method</a:t>
            </a:r>
            <a:r>
              <a:rPr lang="en-US" baseline="0" dirty="0"/>
              <a:t> in AsyncDocumentContentSource class for how the files are created and stored in sub-directories.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dirty="0"/>
          </a:p>
        </p:txBody>
      </p:sp>
    </p:spTree>
    <p:extLst>
      <p:ext uri="{BB962C8B-B14F-4D97-AF65-F5344CB8AC3E}">
        <p14:creationId xmlns:p14="http://schemas.microsoft.com/office/powerpoint/2010/main" val="5766694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t>
            </a:r>
            <a:r>
              <a:rPr lang="en-US" dirty="0" err="1"/>
              <a:t>ClaimCenter</a:t>
            </a:r>
            <a:r>
              <a:rPr lang="en-US" dirty="0"/>
              <a:t>,</a:t>
            </a:r>
            <a:r>
              <a:rPr lang="en-US" baseline="0" dirty="0"/>
              <a:t> see </a:t>
            </a:r>
            <a:r>
              <a:rPr lang="en-US" dirty="0"/>
              <a:t>the </a:t>
            </a:r>
            <a:r>
              <a:rPr lang="en-US" dirty="0" err="1"/>
              <a:t>getSubDirForDocument</a:t>
            </a:r>
            <a:r>
              <a:rPr lang="en-US" dirty="0"/>
              <a:t>() method</a:t>
            </a:r>
            <a:r>
              <a:rPr lang="en-US" baseline="0" dirty="0"/>
              <a:t> in AsyncDocumentContentSource class for how the files are created and stored in sub-directories.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dirty="0"/>
          </a:p>
        </p:txBody>
      </p:sp>
    </p:spTree>
    <p:extLst>
      <p:ext uri="{BB962C8B-B14F-4D97-AF65-F5344CB8AC3E}">
        <p14:creationId xmlns:p14="http://schemas.microsoft.com/office/powerpoint/2010/main" val="29836561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dirty="0"/>
          </a:p>
        </p:txBody>
      </p:sp>
    </p:spTree>
    <p:extLst>
      <p:ext uri="{BB962C8B-B14F-4D97-AF65-F5344CB8AC3E}">
        <p14:creationId xmlns:p14="http://schemas.microsoft.com/office/powerpoint/2010/main" val="6119411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set of lifecycle calls is:</a:t>
            </a:r>
          </a:p>
          <a:p>
            <a:pPr marL="171450" indent="-171450">
              <a:buFont typeface="Arial" pitchFamily="34" charset="0"/>
              <a:buChar char="•"/>
            </a:pPr>
            <a:r>
              <a:rPr lang="en-US" sz="1100" dirty="0"/>
              <a:t>New document with content.</a:t>
            </a:r>
            <a:r>
              <a:rPr lang="en-US" sz="1100" baseline="0" dirty="0"/>
              <a:t> Can be a </a:t>
            </a:r>
            <a:r>
              <a:rPr lang="en-US" sz="1100" dirty="0"/>
              <a:t>template or locate file reference.</a:t>
            </a:r>
            <a:r>
              <a:rPr lang="en-US" sz="1100" baseline="0" dirty="0"/>
              <a:t> C</a:t>
            </a:r>
            <a:r>
              <a:rPr lang="en-US" sz="1100" dirty="0"/>
              <a:t>alls addDocument() with a non-null input stream.</a:t>
            </a:r>
          </a:p>
          <a:p>
            <a:pPr marL="171450" indent="-171450">
              <a:buFont typeface="Arial" pitchFamily="34" charset="0"/>
              <a:buChar char="•"/>
            </a:pPr>
            <a:r>
              <a:rPr lang="en-US" sz="1100" dirty="0"/>
              <a:t>New document with content fails validation after content is uploaded.</a:t>
            </a:r>
            <a:r>
              <a:rPr lang="en-US" sz="1100" baseline="0" dirty="0"/>
              <a:t> U</a:t>
            </a:r>
            <a:r>
              <a:rPr lang="en-US" sz="1100" dirty="0"/>
              <a:t>ser resubmits. Calls addDocument()  with null input stream*.</a:t>
            </a:r>
          </a:p>
          <a:p>
            <a:pPr marL="171450" indent="-171450">
              <a:buFont typeface="Arial" pitchFamily="34" charset="0"/>
              <a:buChar char="•"/>
            </a:pPr>
            <a:r>
              <a:rPr lang="en-US" sz="1100" dirty="0"/>
              <a:t>New document with no content.</a:t>
            </a:r>
            <a:r>
              <a:rPr lang="en-US" sz="1100" baseline="0" dirty="0"/>
              <a:t>  The document is </a:t>
            </a:r>
            <a:r>
              <a:rPr lang="en-US" sz="1100" dirty="0"/>
              <a:t>inferred or is indicated.</a:t>
            </a:r>
            <a:r>
              <a:rPr lang="en-US" sz="1100" baseline="0" dirty="0"/>
              <a:t> C</a:t>
            </a:r>
            <a:r>
              <a:rPr lang="en-US" sz="1100" dirty="0"/>
              <a:t>alls </a:t>
            </a:r>
            <a:r>
              <a:rPr lang="en-US" sz="1100" dirty="0" err="1"/>
              <a:t>saveDocument</a:t>
            </a:r>
            <a:r>
              <a:rPr lang="en-US" sz="1100" dirty="0"/>
              <a:t>().</a:t>
            </a:r>
          </a:p>
          <a:p>
            <a:pPr marL="171450" indent="-171450">
              <a:buFont typeface="Arial" pitchFamily="34" charset="0"/>
              <a:buChar char="•"/>
            </a:pPr>
            <a:r>
              <a:rPr lang="en-US" sz="1100" dirty="0"/>
              <a:t>Edit document with content from a user interface.</a:t>
            </a:r>
            <a:r>
              <a:rPr lang="en-US" sz="1100" baseline="0" dirty="0"/>
              <a:t> U</a:t>
            </a:r>
            <a:r>
              <a:rPr lang="en-US" sz="1100" dirty="0"/>
              <a:t>ser can change content only. Calls updateDocument with </a:t>
            </a:r>
            <a:r>
              <a:rPr lang="en-US" sz="1100" dirty="0" err="1"/>
              <a:t>InputStream</a:t>
            </a:r>
            <a:r>
              <a:rPr lang="en-US" sz="1100" dirty="0"/>
              <a:t>.</a:t>
            </a:r>
          </a:p>
          <a:p>
            <a:pPr marL="171450" indent="-171450">
              <a:buFont typeface="Arial" pitchFamily="34" charset="0"/>
              <a:buChar char="•"/>
            </a:pPr>
            <a:r>
              <a:rPr lang="en-US" sz="1100" dirty="0"/>
              <a:t>Edit document  with content from a user interface.</a:t>
            </a:r>
            <a:r>
              <a:rPr lang="en-US" sz="1100" baseline="0" dirty="0"/>
              <a:t> </a:t>
            </a:r>
            <a:r>
              <a:rPr lang="en-US" sz="1100" dirty="0"/>
              <a:t>Edits metadata only. </a:t>
            </a:r>
            <a:r>
              <a:rPr lang="en-US" sz="1100" baseline="0" dirty="0"/>
              <a:t>C</a:t>
            </a:r>
            <a:r>
              <a:rPr lang="en-US" sz="1100" dirty="0"/>
              <a:t>alls </a:t>
            </a:r>
            <a:r>
              <a:rPr lang="en-US" sz="1100" dirty="0" err="1"/>
              <a:t>saveDocument</a:t>
            </a:r>
            <a:r>
              <a:rPr lang="en-US" sz="1100" dirty="0"/>
              <a:t>().</a:t>
            </a:r>
          </a:p>
          <a:p>
            <a:pPr marL="171450" indent="-171450">
              <a:buFont typeface="Arial" pitchFamily="34" charset="0"/>
              <a:buChar char="•"/>
            </a:pPr>
            <a:r>
              <a:rPr lang="en-US" sz="1100" dirty="0"/>
              <a:t>Edit document with content from a user interface.</a:t>
            </a:r>
            <a:r>
              <a:rPr lang="en-US" sz="1100" baseline="0" dirty="0"/>
              <a:t> C</a:t>
            </a:r>
            <a:r>
              <a:rPr lang="en-US" sz="1100" dirty="0"/>
              <a:t>hange (swap) content only. Calls addDocument() with input stream.</a:t>
            </a:r>
          </a:p>
          <a:p>
            <a:pPr marL="171450" indent="-171450">
              <a:buFont typeface="Arial" pitchFamily="34" charset="0"/>
              <a:buChar char="•"/>
            </a:pPr>
            <a:r>
              <a:rPr lang="en-US" sz="1100" dirty="0"/>
              <a:t>Edit document with content</a:t>
            </a:r>
            <a:r>
              <a:rPr lang="en-US" sz="1100" baseline="0" dirty="0"/>
              <a:t> </a:t>
            </a:r>
            <a:r>
              <a:rPr lang="en-US" sz="1100" dirty="0"/>
              <a:t>from a user interface.</a:t>
            </a:r>
            <a:r>
              <a:rPr lang="en-US" sz="1100" baseline="0" dirty="0"/>
              <a:t> C</a:t>
            </a:r>
            <a:r>
              <a:rPr lang="en-US" sz="1100" dirty="0"/>
              <a:t>hange content and metadata.</a:t>
            </a:r>
            <a:r>
              <a:rPr lang="en-US" sz="1100" baseline="0" dirty="0"/>
              <a:t> </a:t>
            </a:r>
            <a:r>
              <a:rPr lang="en-US" sz="1100" dirty="0"/>
              <a:t>Calls addDocument() with input stream. Unless a retry of failed update, then no stream*.</a:t>
            </a:r>
          </a:p>
          <a:p>
            <a:pPr marL="171450" indent="-171450">
              <a:buFont typeface="Arial" pitchFamily="34" charset="0"/>
              <a:buChar char="•"/>
            </a:pPr>
            <a:r>
              <a:rPr lang="en-US" sz="1100" dirty="0"/>
              <a:t>Edit document with no content from a user interface. Edits only metadata.</a:t>
            </a:r>
            <a:r>
              <a:rPr lang="en-US" sz="1100" baseline="0" dirty="0"/>
              <a:t> C</a:t>
            </a:r>
            <a:r>
              <a:rPr lang="en-US" sz="1100" dirty="0"/>
              <a:t>alls </a:t>
            </a:r>
            <a:r>
              <a:rPr lang="en-US" sz="1100" dirty="0" err="1"/>
              <a:t>saveDocument</a:t>
            </a:r>
            <a:r>
              <a:rPr lang="en-US" sz="1100" dirty="0"/>
              <a:t>().</a:t>
            </a:r>
          </a:p>
          <a:p>
            <a:pPr marL="171450" indent="-171450">
              <a:buFont typeface="Arial" pitchFamily="34" charset="0"/>
              <a:buChar char="•"/>
            </a:pPr>
            <a:r>
              <a:rPr lang="en-US" sz="1100" dirty="0"/>
              <a:t>The rather unexpected addDocument () calls made from the document detail view panel when "swapping" content illustrates the use case for when </a:t>
            </a:r>
            <a:r>
              <a:rPr lang="en-US" sz="1100" baseline="0" dirty="0"/>
              <a:t>the </a:t>
            </a:r>
            <a:r>
              <a:rPr lang="en-US" sz="1100" dirty="0"/>
              <a:t>new content does not yet exist on the DMS. An upload of edited content from the user interface might require the DMS to save the document, notate a version change of the edited content, and replace the bytes.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a:t>* There</a:t>
            </a:r>
            <a:r>
              <a:rPr lang="en-US" baseline="0" dirty="0"/>
              <a:t> can be a </a:t>
            </a:r>
            <a:r>
              <a:rPr lang="en-US" dirty="0"/>
              <a:t>null input stream due to the content having already been uploaded. When this occurs, the addDocument() and updateDocument() methods need to make any required metadata changes and not attempt to modify or remove any existing content.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dirty="0"/>
          </a:p>
        </p:txBody>
      </p:sp>
    </p:spTree>
    <p:extLst>
      <p:ext uri="{BB962C8B-B14F-4D97-AF65-F5344CB8AC3E}">
        <p14:creationId xmlns:p14="http://schemas.microsoft.com/office/powerpoint/2010/main" val="39556758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dirty="0"/>
          </a:p>
        </p:txBody>
      </p:sp>
    </p:spTree>
    <p:extLst>
      <p:ext uri="{BB962C8B-B14F-4D97-AF65-F5344CB8AC3E}">
        <p14:creationId xmlns:p14="http://schemas.microsoft.com/office/powerpoint/2010/main" val="14677742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dirty="0"/>
          </a:p>
        </p:txBody>
      </p:sp>
    </p:spTree>
    <p:extLst>
      <p:ext uri="{BB962C8B-B14F-4D97-AF65-F5344CB8AC3E}">
        <p14:creationId xmlns:p14="http://schemas.microsoft.com/office/powerpoint/2010/main" val="17109956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dirty="0"/>
          </a:p>
        </p:txBody>
      </p:sp>
    </p:spTree>
    <p:extLst>
      <p:ext uri="{BB962C8B-B14F-4D97-AF65-F5344CB8AC3E}">
        <p14:creationId xmlns:p14="http://schemas.microsoft.com/office/powerpoint/2010/main" val="28200512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dirty="0"/>
          </a:p>
        </p:txBody>
      </p:sp>
    </p:spTree>
    <p:extLst>
      <p:ext uri="{BB962C8B-B14F-4D97-AF65-F5344CB8AC3E}">
        <p14:creationId xmlns:p14="http://schemas.microsoft.com/office/powerpoint/2010/main" val="4174280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54</a:t>
            </a:fld>
            <a:endParaRPr lang="en-US" dirty="0"/>
          </a:p>
        </p:txBody>
      </p:sp>
    </p:spTree>
    <p:extLst>
      <p:ext uri="{BB962C8B-B14F-4D97-AF65-F5344CB8AC3E}">
        <p14:creationId xmlns:p14="http://schemas.microsoft.com/office/powerpoint/2010/main" val="471271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55</a:t>
            </a:fld>
            <a:endParaRPr lang="en-US" dirty="0"/>
          </a:p>
        </p:txBody>
      </p:sp>
    </p:spTree>
    <p:extLst>
      <p:ext uri="{BB962C8B-B14F-4D97-AF65-F5344CB8AC3E}">
        <p14:creationId xmlns:p14="http://schemas.microsoft.com/office/powerpoint/2010/main" val="7078349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56</a:t>
            </a:fld>
            <a:endParaRPr lang="en-US" dirty="0"/>
          </a:p>
        </p:txBody>
      </p:sp>
    </p:spTree>
    <p:extLst>
      <p:ext uri="{BB962C8B-B14F-4D97-AF65-F5344CB8AC3E}">
        <p14:creationId xmlns:p14="http://schemas.microsoft.com/office/powerpoint/2010/main" val="22388822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57</a:t>
            </a:fld>
            <a:endParaRPr lang="en-US" dirty="0"/>
          </a:p>
        </p:txBody>
      </p:sp>
    </p:spTree>
    <p:extLst>
      <p:ext uri="{BB962C8B-B14F-4D97-AF65-F5344CB8AC3E}">
        <p14:creationId xmlns:p14="http://schemas.microsoft.com/office/powerpoint/2010/main" val="1368487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58</a:t>
            </a:fld>
            <a:endParaRPr lang="en-US" dirty="0"/>
          </a:p>
        </p:txBody>
      </p:sp>
    </p:spTree>
    <p:extLst>
      <p:ext uri="{BB962C8B-B14F-4D97-AF65-F5344CB8AC3E}">
        <p14:creationId xmlns:p14="http://schemas.microsoft.com/office/powerpoint/2010/main" val="40122548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a:t>
            </a:r>
            <a:r>
              <a:rPr lang="en-US" baseline="0" dirty="0"/>
              <a:t> </a:t>
            </a:r>
            <a:r>
              <a:rPr lang="en-US" dirty="0"/>
              <a:t>related APIs do not differentiate adding Documents from updates.  For example, there are only addDocument() or</a:t>
            </a:r>
            <a:r>
              <a:rPr lang="en-US" baseline="0" dirty="0"/>
              <a:t> similar </a:t>
            </a:r>
            <a:r>
              <a:rPr lang="en-US" dirty="0"/>
              <a:t>methods.</a:t>
            </a:r>
          </a:p>
          <a:p>
            <a:endParaRPr lang="en-US" dirty="0"/>
          </a:p>
          <a:p>
            <a:r>
              <a:rPr lang="en-US" dirty="0"/>
              <a:t>When the document related APIs are used by an external client, the assumption is that the incoming document's content has been handled separately and already exists on the DMS. </a:t>
            </a:r>
          </a:p>
          <a:p>
            <a:endParaRPr lang="en-US" dirty="0"/>
          </a:p>
          <a:p>
            <a:r>
              <a:rPr lang="en-US" dirty="0"/>
              <a:t>In order to match the entity metadata with its content, the corresponding identifier (often the </a:t>
            </a:r>
            <a:r>
              <a:rPr lang="en-US" dirty="0" err="1"/>
              <a:t>DocUID</a:t>
            </a:r>
            <a:r>
              <a:rPr lang="en-US" dirty="0"/>
              <a:t> property)  that is used to locate the content on the DMS should be set on the SOAP Document entity.</a:t>
            </a:r>
          </a:p>
          <a:p>
            <a:endParaRPr lang="en-US" dirty="0"/>
          </a:p>
          <a:p>
            <a:r>
              <a:rPr lang="en-US" dirty="0"/>
              <a:t>During an API call to add a document, the document metadata source plugin calls </a:t>
            </a:r>
            <a:r>
              <a:rPr lang="en-US" dirty="0" err="1"/>
              <a:t>saveDocument</a:t>
            </a:r>
            <a:r>
              <a:rPr lang="en-US" dirty="0"/>
              <a:t>() to handle the metadata for the incoming Document entity.  The document content source plugin is  not called. </a:t>
            </a:r>
          </a:p>
          <a:p>
            <a:endParaRPr lang="en-US" dirty="0"/>
          </a:p>
          <a:p>
            <a:r>
              <a:rPr lang="en-US" dirty="0"/>
              <a:t>If you implement </a:t>
            </a:r>
            <a:r>
              <a:rPr lang="en-US" dirty="0" err="1"/>
              <a:t>saveDocument</a:t>
            </a:r>
            <a:r>
              <a:rPr lang="en-US" dirty="0"/>
              <a:t>() such that an update on an existing document can be differentiated from the addition of an entirely new document, use the incoming document's PublicID or </a:t>
            </a:r>
            <a:r>
              <a:rPr lang="en-US" dirty="0" err="1"/>
              <a:t>DocUID</a:t>
            </a:r>
            <a:r>
              <a:rPr lang="en-US" dirty="0"/>
              <a:t> properties to determine if the document was already saved into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59</a:t>
            </a:fld>
            <a:endParaRPr lang="en-US" dirty="0"/>
          </a:p>
        </p:txBody>
      </p:sp>
    </p:spTree>
    <p:extLst>
      <p:ext uri="{BB962C8B-B14F-4D97-AF65-F5344CB8AC3E}">
        <p14:creationId xmlns:p14="http://schemas.microsoft.com/office/powerpoint/2010/main" val="4714855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60</a:t>
            </a:fld>
            <a:endParaRPr lang="en-US" dirty="0"/>
          </a:p>
        </p:txBody>
      </p:sp>
    </p:spTree>
    <p:extLst>
      <p:ext uri="{BB962C8B-B14F-4D97-AF65-F5344CB8AC3E}">
        <p14:creationId xmlns:p14="http://schemas.microsoft.com/office/powerpoint/2010/main" val="23830274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a:t>
            </a:r>
            <a:r>
              <a:rPr lang="en-US" baseline="0" dirty="0"/>
              <a:t> </a:t>
            </a:r>
            <a:r>
              <a:rPr lang="en-US" dirty="0"/>
              <a:t>related APIs do not differentiate adding Documents from updates.  For example, there are only addDocument() or</a:t>
            </a:r>
            <a:r>
              <a:rPr lang="en-US" baseline="0" dirty="0"/>
              <a:t> similar </a:t>
            </a:r>
            <a:r>
              <a:rPr lang="en-US" dirty="0"/>
              <a:t>methods.</a:t>
            </a:r>
          </a:p>
          <a:p>
            <a:endParaRPr lang="en-US" dirty="0"/>
          </a:p>
          <a:p>
            <a:r>
              <a:rPr lang="en-US" dirty="0"/>
              <a:t>When the document related APIs are used by an external client, the assumption is that the incoming document's content has been handled separately and already exists on the DMS. </a:t>
            </a:r>
          </a:p>
          <a:p>
            <a:endParaRPr lang="en-US" dirty="0"/>
          </a:p>
          <a:p>
            <a:r>
              <a:rPr lang="en-US" dirty="0"/>
              <a:t>In order to match the entity metadata with its content, the corresponding identifier (often the </a:t>
            </a:r>
            <a:r>
              <a:rPr lang="en-US" dirty="0" err="1"/>
              <a:t>DocUID</a:t>
            </a:r>
            <a:r>
              <a:rPr lang="en-US" dirty="0"/>
              <a:t> property)  that is used to locate the content on the DMS should be set on the SOAP Document entity.</a:t>
            </a:r>
          </a:p>
          <a:p>
            <a:endParaRPr lang="en-US" dirty="0"/>
          </a:p>
          <a:p>
            <a:r>
              <a:rPr lang="en-US" dirty="0"/>
              <a:t>During an API call to add a document, the document metadata source plugin calls </a:t>
            </a:r>
            <a:r>
              <a:rPr lang="en-US" dirty="0" err="1"/>
              <a:t>saveDocument</a:t>
            </a:r>
            <a:r>
              <a:rPr lang="en-US" dirty="0"/>
              <a:t>() to handle the metadata for the incoming Document entity.  The document content source plugin is  not called. </a:t>
            </a:r>
          </a:p>
          <a:p>
            <a:endParaRPr lang="en-US" dirty="0"/>
          </a:p>
          <a:p>
            <a:r>
              <a:rPr lang="en-US" dirty="0"/>
              <a:t>If you implement </a:t>
            </a:r>
            <a:r>
              <a:rPr lang="en-US" dirty="0" err="1"/>
              <a:t>saveDocument</a:t>
            </a:r>
            <a:r>
              <a:rPr lang="en-US" dirty="0"/>
              <a:t>() such that an update on an existing document can be differentiated from the addition of an entirely new document, use the incoming document's PublicID or </a:t>
            </a:r>
            <a:r>
              <a:rPr lang="en-US" dirty="0" err="1"/>
              <a:t>DocUID</a:t>
            </a:r>
            <a:r>
              <a:rPr lang="en-US" dirty="0"/>
              <a:t> properties to determine if the document was already saved into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61</a:t>
            </a:fld>
            <a:endParaRPr lang="en-US" dirty="0"/>
          </a:p>
        </p:txBody>
      </p:sp>
    </p:spTree>
    <p:extLst>
      <p:ext uri="{BB962C8B-B14F-4D97-AF65-F5344CB8AC3E}">
        <p14:creationId xmlns:p14="http://schemas.microsoft.com/office/powerpoint/2010/main" val="9001084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62</a:t>
            </a:fld>
            <a:endParaRPr lang="en-US" dirty="0"/>
          </a:p>
        </p:txBody>
      </p:sp>
    </p:spTree>
    <p:extLst>
      <p:ext uri="{BB962C8B-B14F-4D97-AF65-F5344CB8AC3E}">
        <p14:creationId xmlns:p14="http://schemas.microsoft.com/office/powerpoint/2010/main" val="7346991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531551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424689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a:t>
            </a:r>
          </a:p>
          <a:p>
            <a:r>
              <a:rPr lang="en-US" dirty="0"/>
              <a:t>1) IDocumentMetadataSource and IDocumentContentSource </a:t>
            </a:r>
          </a:p>
          <a:p>
            <a:r>
              <a:rPr lang="en-US" dirty="0"/>
              <a:t>2) Document metadata is stored in the Guidewire database</a:t>
            </a:r>
          </a:p>
          <a:p>
            <a:r>
              <a:rPr lang="en-US" dirty="0"/>
              <a:t>3) Document content is stored in the file-system of</a:t>
            </a:r>
            <a:r>
              <a:rPr lang="en-US" baseline="0" dirty="0"/>
              <a:t> the Guidewire application </a:t>
            </a:r>
            <a:r>
              <a:rPr lang="en-US" dirty="0"/>
              <a:t>server.</a:t>
            </a:r>
          </a:p>
          <a:p>
            <a:r>
              <a:rPr lang="en-US" dirty="0"/>
              <a:t>4) DOCUMENT_CONTENTs, URL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67</a:t>
            </a:fld>
            <a:endParaRPr lang="en-US" dirty="0"/>
          </a:p>
        </p:txBody>
      </p:sp>
    </p:spTree>
    <p:extLst>
      <p:ext uri="{BB962C8B-B14F-4D97-AF65-F5344CB8AC3E}">
        <p14:creationId xmlns:p14="http://schemas.microsoft.com/office/powerpoint/2010/main" val="2429579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070C0"/>
                </a:solidFill>
                <a:latin typeface="+mj-lt"/>
                <a:cs typeface="Arial" pitchFamily="34" charset="0"/>
              </a:defRPr>
            </a:lvl1pPr>
          </a:lstStyle>
          <a:p>
            <a:r>
              <a:rPr lang="en-US" dirty="0"/>
              <a:t>Click to edit Master title style</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solidFill>
                  <a:schemeClr val="tx1"/>
                </a:solidFill>
              </a:defRPr>
            </a:lvl1pPr>
            <a:lvl2pPr>
              <a:buClr>
                <a:srgbClr val="04628C"/>
              </a:buClr>
              <a:buFont typeface="Calibri" pitchFamily="34" charset="0"/>
              <a:buChar char="-"/>
              <a:defRPr>
                <a:solidFill>
                  <a:schemeClr val="tx1"/>
                </a:solidFill>
              </a:defRPr>
            </a:lvl2pPr>
            <a:lvl3pPr>
              <a:buClr>
                <a:srgbClr val="04628C"/>
              </a:buClr>
              <a:buFont typeface="Calibri" pitchFamily="34" charset="0"/>
              <a:buChar char="-"/>
              <a:defRPr>
                <a:solidFill>
                  <a:schemeClr val="tx1"/>
                </a:solidFill>
              </a:defRPr>
            </a:lvl3pPr>
            <a:lvl4pPr>
              <a:buClr>
                <a:srgbClr val="04628C"/>
              </a:buClr>
              <a:buFont typeface="Calibri" pitchFamily="34" charset="0"/>
              <a:buChar char="-"/>
              <a:defRPr>
                <a:solidFill>
                  <a:schemeClr val="tx1"/>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48485534"/>
      </p:ext>
    </p:extLst>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18873"/>
            <a:ext cx="11094720" cy="742951"/>
          </a:xfrm>
        </p:spPr>
        <p:txBody>
          <a:bodyPr/>
          <a:lstStyle>
            <a:lvl1pPr>
              <a:defRPr sz="3200">
                <a:solidFill>
                  <a:srgbClr val="0070C0"/>
                </a:solidFill>
                <a:latin typeface="+mj-lt"/>
                <a:cs typeface="Arial" pitchFamily="34" charset="0"/>
              </a:defRPr>
            </a:lvl1pPr>
          </a:lstStyle>
          <a:p>
            <a:r>
              <a:rPr lang="en-US" dirty="0"/>
              <a:t>Click to edit Master title style</a:t>
            </a:r>
          </a:p>
        </p:txBody>
      </p:sp>
      <p:sp>
        <p:nvSpPr>
          <p:cNvPr id="5" name="txt SubTitle"/>
          <p:cNvSpPr>
            <a:spLocks noGrp="1"/>
          </p:cNvSpPr>
          <p:nvPr>
            <p:ph type="body" sz="quarter" idx="10"/>
          </p:nvPr>
        </p:nvSpPr>
        <p:spPr>
          <a:xfrm>
            <a:off x="658368" y="486102"/>
            <a:ext cx="11094720" cy="381000"/>
          </a:xfrm>
        </p:spPr>
        <p:txBody>
          <a:bodyPr/>
          <a:lstStyle>
            <a:lvl1pPr marL="0" indent="0">
              <a:buNone/>
              <a:defRPr lang="en-US" sz="2800" b="1" dirty="0">
                <a:solidFill>
                  <a:srgbClr val="0070C0"/>
                </a:solidFill>
                <a:latin typeface="+mj-lt"/>
                <a:ea typeface="Arial" pitchFamily="34" charset="0"/>
                <a:cs typeface="Arial" pitchFamily="34" charset="0"/>
              </a:defRPr>
            </a:lvl1pPr>
          </a:lstStyle>
          <a:p>
            <a:pPr lvl="0"/>
            <a:r>
              <a:rPr lang="en-US" dirty="0"/>
              <a:t>Click to edit Master text styles</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solidFill>
                  <a:schemeClr val="tx1"/>
                </a:solidFill>
              </a:defRPr>
            </a:lvl1pPr>
            <a:lvl2pPr>
              <a:buClr>
                <a:srgbClr val="04628C"/>
              </a:buClr>
              <a:buFont typeface="Calibri" pitchFamily="34" charset="0"/>
              <a:buChar char="-"/>
              <a:defRPr>
                <a:solidFill>
                  <a:schemeClr val="tx1"/>
                </a:solidFill>
              </a:defRPr>
            </a:lvl2pPr>
            <a:lvl3pPr>
              <a:buClr>
                <a:srgbClr val="04628C"/>
              </a:buClr>
              <a:buFont typeface="Calibri" pitchFamily="34" charset="0"/>
              <a:buChar char="-"/>
              <a:defRPr>
                <a:solidFill>
                  <a:schemeClr val="tx1"/>
                </a:solidFill>
              </a:defRPr>
            </a:lvl3pPr>
            <a:lvl4pPr>
              <a:buClr>
                <a:srgbClr val="04628C"/>
              </a:buClr>
              <a:buFont typeface="Calibri" pitchFamily="34" charset="0"/>
              <a:buChar char="-"/>
              <a:defRPr>
                <a:solidFill>
                  <a:schemeClr val="tx1"/>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18696925"/>
      </p:ext>
    </p:extLst>
  </p:cSld>
  <p:clrMapOvr>
    <a:overrideClrMapping bg1="lt1" tx1="dk1" bg2="lt2" tx2="dk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wo Column">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70C0"/>
                </a:solidFill>
              </a:defRPr>
            </a:lvl1pPr>
          </a:lstStyle>
          <a:p>
            <a:r>
              <a:rPr lang="en-US" dirty="0"/>
              <a:t>Click to edit Master title style</a:t>
            </a:r>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solidFill>
                  <a:schemeClr val="tx1"/>
                </a:solidFill>
              </a:defRPr>
            </a:lvl1pPr>
            <a:lvl2pPr>
              <a:buClr>
                <a:srgbClr val="04628C"/>
              </a:buClr>
              <a:buFont typeface="Arial" pitchFamily="34" charset="0"/>
              <a:buChar char="-"/>
              <a:defRPr sz="2000">
                <a:solidFill>
                  <a:schemeClr val="tx1"/>
                </a:solidFill>
              </a:defRPr>
            </a:lvl2pPr>
            <a:lvl3pPr>
              <a:buClr>
                <a:srgbClr val="04628C"/>
              </a:buClr>
              <a:buFont typeface="Arial" pitchFamily="34" charset="0"/>
              <a:buChar char="-"/>
              <a:defRPr sz="1800">
                <a:solidFill>
                  <a:schemeClr val="tx1"/>
                </a:solidFill>
              </a:defRPr>
            </a:lvl3pPr>
            <a:lvl4pPr>
              <a:buClr>
                <a:srgbClr val="04628C"/>
              </a:buClr>
              <a:buFont typeface="Arial" pitchFamily="34" charset="0"/>
              <a:buChar char="-"/>
              <a:defRPr sz="1600">
                <a:solidFill>
                  <a:schemeClr val="tx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tx1"/>
                </a:solidFill>
                <a:latin typeface="+mn-lt"/>
                <a:ea typeface="+mn-ea"/>
                <a:cs typeface="Calibri" pitchFamily="34" charset="0"/>
              </a:defRPr>
            </a:lvl1pPr>
            <a:lvl2pPr>
              <a:buClr>
                <a:srgbClr val="04628C"/>
              </a:buClr>
              <a:buFont typeface="Arial" pitchFamily="34" charset="0"/>
              <a:buChar char="-"/>
              <a:defRPr sz="2000">
                <a:solidFill>
                  <a:schemeClr val="tx1"/>
                </a:solidFill>
                <a:latin typeface="+mn-lt"/>
              </a:defRPr>
            </a:lvl2pPr>
            <a:lvl3pPr>
              <a:buClr>
                <a:srgbClr val="04628C"/>
              </a:buClr>
              <a:buFont typeface="Arial" pitchFamily="34" charset="0"/>
              <a:buChar char="-"/>
              <a:defRPr sz="1800">
                <a:solidFill>
                  <a:schemeClr val="tx1"/>
                </a:solidFill>
                <a:latin typeface="+mn-lt"/>
              </a:defRPr>
            </a:lvl3pPr>
            <a:lvl4pPr>
              <a:buClr>
                <a:srgbClr val="04628C"/>
              </a:buClr>
              <a:buFont typeface="Arial" pitchFamily="34" charset="0"/>
              <a:buChar char="-"/>
              <a:defRPr sz="1600">
                <a:solidFill>
                  <a:schemeClr val="tx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70386826"/>
      </p:ext>
    </p:extLst>
  </p:cSld>
  <p:clrMapOvr>
    <a:overrideClrMapping bg1="lt1" tx1="dk1" bg2="lt2" tx2="dk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wo Column SubTitles">
    <p:bg>
      <p:bgRef idx="1001">
        <a:schemeClr val="bg1"/>
      </p:bgRef>
    </p:bg>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lvl1pPr>
              <a:defRPr>
                <a:solidFill>
                  <a:srgbClr val="0070C0"/>
                </a:solidFill>
              </a:defRPr>
            </a:lvl1pPr>
          </a:lstStyle>
          <a:p>
            <a:r>
              <a:rPr lang="en-US" dirty="0"/>
              <a:t>Click to edit Master title style</a:t>
            </a:r>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solidFill>
                  <a:schemeClr val="tx1"/>
                </a:solidFill>
              </a:defRPr>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lang="en-US" altLang="en-US" sz="2400" baseline="0" dirty="0" smtClean="0">
                <a:solidFill>
                  <a:schemeClr val="tx1"/>
                </a:solidFill>
                <a:latin typeface="+mn-lt"/>
                <a:ea typeface="Arial" pitchFamily="32" charset="0"/>
                <a:cs typeface="Arial" pitchFamily="32" charset="0"/>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tx1"/>
                </a:solidFill>
                <a:latin typeface="+mn-lt"/>
                <a:ea typeface="+mn-ea"/>
                <a:cs typeface="Calibri" pitchFamily="34" charset="0"/>
              </a:defRPr>
            </a:lvl1pPr>
            <a:lvl2pPr>
              <a:buClr>
                <a:srgbClr val="04628C"/>
              </a:buClr>
              <a:buFont typeface="Arial" pitchFamily="34" charset="0"/>
              <a:buChar char="-"/>
              <a:defRPr sz="2000">
                <a:solidFill>
                  <a:schemeClr val="tx1"/>
                </a:solidFill>
                <a:latin typeface="+mn-lt"/>
              </a:defRPr>
            </a:lvl2pPr>
            <a:lvl3pPr>
              <a:buClr>
                <a:srgbClr val="04628C"/>
              </a:buClr>
              <a:buFont typeface="Arial" pitchFamily="34" charset="0"/>
              <a:buChar char="-"/>
              <a:defRPr sz="1800">
                <a:solidFill>
                  <a:schemeClr val="tx1"/>
                </a:solidFill>
                <a:latin typeface="+mn-lt"/>
              </a:defRPr>
            </a:lvl3pPr>
            <a:lvl4pPr>
              <a:buClr>
                <a:srgbClr val="04628C"/>
              </a:buClr>
              <a:buFont typeface="Arial" pitchFamily="34" charset="0"/>
              <a:buChar char="-"/>
              <a:defRPr sz="1600">
                <a:solidFill>
                  <a:schemeClr val="tx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solidFill>
                  <a:schemeClr val="tx1"/>
                </a:solidFill>
              </a:defRPr>
            </a:lvl1pPr>
            <a:lvl2pPr>
              <a:buClr>
                <a:srgbClr val="04628C"/>
              </a:buClr>
              <a:buFont typeface="Arial" pitchFamily="34" charset="0"/>
              <a:buChar char="-"/>
              <a:defRPr sz="2000">
                <a:solidFill>
                  <a:schemeClr val="tx1"/>
                </a:solidFill>
              </a:defRPr>
            </a:lvl2pPr>
            <a:lvl3pPr>
              <a:buClr>
                <a:srgbClr val="04628C"/>
              </a:buClr>
              <a:buFont typeface="Arial" pitchFamily="34" charset="0"/>
              <a:buChar char="-"/>
              <a:defRPr sz="1800">
                <a:solidFill>
                  <a:schemeClr val="tx1"/>
                </a:solidFill>
              </a:defRPr>
            </a:lvl3pPr>
            <a:lvl4pPr>
              <a:buClr>
                <a:srgbClr val="04628C"/>
              </a:buClr>
              <a:buFont typeface="Arial" pitchFamily="34" charset="0"/>
              <a:buChar char="-"/>
              <a:defRPr sz="1600">
                <a:solidFill>
                  <a:schemeClr val="tx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044806687"/>
      </p:ext>
    </p:extLst>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hree Columns">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70C0"/>
                </a:solidFill>
                <a:latin typeface="+mj-lt"/>
                <a:cs typeface="Arial" pitchFamily="34" charset="0"/>
              </a:defRPr>
            </a:lvl1pPr>
          </a:lstStyle>
          <a:p>
            <a:r>
              <a:rPr lang="en-US" dirty="0"/>
              <a:t>Click to edit Master title style</a:t>
            </a:r>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solidFill>
                  <a:schemeClr val="tx2"/>
                </a:solidFill>
                <a:latin typeface="+mn-lt"/>
              </a:defRPr>
            </a:lvl2pPr>
            <a:lvl3pPr>
              <a:buClr>
                <a:srgbClr val="04628C"/>
              </a:buClr>
              <a:buFont typeface="Arial" pitchFamily="34" charset="0"/>
              <a:buChar char="-"/>
              <a:defRPr sz="1800">
                <a:solidFill>
                  <a:schemeClr val="tx2"/>
                </a:solidFill>
                <a:latin typeface="+mn-lt"/>
              </a:defRPr>
            </a:lvl3pPr>
            <a:lvl4pPr>
              <a:buClr>
                <a:srgbClr val="04628C"/>
              </a:buClr>
              <a:buFont typeface="Arial" pitchFamily="34" charset="0"/>
              <a:buChar char="-"/>
              <a:defRPr sz="1600">
                <a:solidFill>
                  <a:schemeClr val="tx2"/>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solidFill>
                  <a:schemeClr val="tx2"/>
                </a:solidFill>
                <a:latin typeface="+mn-lt"/>
              </a:defRPr>
            </a:lvl2pPr>
            <a:lvl3pPr>
              <a:buClr>
                <a:srgbClr val="04628C"/>
              </a:buClr>
              <a:buFont typeface="Arial" pitchFamily="34" charset="0"/>
              <a:buChar char="-"/>
              <a:defRPr sz="1800">
                <a:solidFill>
                  <a:schemeClr val="tx2"/>
                </a:solidFill>
                <a:latin typeface="+mn-lt"/>
              </a:defRPr>
            </a:lvl3pPr>
            <a:lvl4pPr>
              <a:buClr>
                <a:srgbClr val="04628C"/>
              </a:buClr>
              <a:buFont typeface="Arial" pitchFamily="34" charset="0"/>
              <a:buChar char="-"/>
              <a:defRPr sz="1600">
                <a:solidFill>
                  <a:schemeClr val="tx2"/>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330886176"/>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hree Columns SubTitles">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70C0"/>
                </a:solidFill>
              </a:defRPr>
            </a:lvl1pPr>
          </a:lstStyle>
          <a:p>
            <a:r>
              <a:rPr lang="en-US" dirty="0"/>
              <a:t>Click to edit Master title style</a:t>
            </a:r>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tx2"/>
                </a:solidFill>
              </a:defRPr>
            </a:lvl1pPr>
            <a:lvl2pPr>
              <a:buClr>
                <a:srgbClr val="04628C"/>
              </a:buClr>
              <a:buFont typeface="Arial" pitchFamily="34" charset="0"/>
              <a:buChar char="-"/>
              <a:defRPr sz="2000">
                <a:solidFill>
                  <a:schemeClr val="tx2"/>
                </a:solidFill>
              </a:defRPr>
            </a:lvl2pPr>
            <a:lvl3pPr>
              <a:buClr>
                <a:srgbClr val="04628C"/>
              </a:buClr>
              <a:buFont typeface="Arial" pitchFamily="34" charset="0"/>
              <a:buChar char="-"/>
              <a:defRPr sz="1800">
                <a:solidFill>
                  <a:schemeClr val="tx2"/>
                </a:solidFill>
              </a:defRPr>
            </a:lvl3pPr>
            <a:lvl4pPr>
              <a:buClr>
                <a:srgbClr val="04628C"/>
              </a:buClr>
              <a:buFont typeface="Arial" pitchFamily="34" charset="0"/>
              <a:buChar char="-"/>
              <a:defRPr sz="1600">
                <a:solidFill>
                  <a:schemeClr val="tx2"/>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xt Center Col Content"/>
          <p:cNvSpPr>
            <a:spLocks noGrp="1"/>
          </p:cNvSpPr>
          <p:nvPr>
            <p:ph sz="half" idx="10"/>
          </p:nvPr>
        </p:nvSpPr>
        <p:spPr>
          <a:xfrm>
            <a:off x="4470400" y="1752602"/>
            <a:ext cx="3535680" cy="4637089"/>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solidFill>
                  <a:schemeClr val="tx2"/>
                </a:solidFill>
                <a:latin typeface="+mn-lt"/>
              </a:defRPr>
            </a:lvl2pPr>
            <a:lvl3pPr>
              <a:buClr>
                <a:srgbClr val="04628C"/>
              </a:buClr>
              <a:buFont typeface="Arial" pitchFamily="34" charset="0"/>
              <a:buChar char="-"/>
              <a:defRPr sz="1800">
                <a:solidFill>
                  <a:schemeClr val="tx2"/>
                </a:solidFill>
                <a:latin typeface="+mn-lt"/>
              </a:defRPr>
            </a:lvl3pPr>
            <a:lvl4pPr>
              <a:buClr>
                <a:srgbClr val="04628C"/>
              </a:buClr>
              <a:buFont typeface="Arial" pitchFamily="34" charset="0"/>
              <a:buChar char="-"/>
              <a:defRPr sz="1600">
                <a:solidFill>
                  <a:schemeClr val="tx2"/>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solidFill>
                  <a:schemeClr val="tx2"/>
                </a:solidFill>
                <a:latin typeface="+mn-lt"/>
              </a:defRPr>
            </a:lvl2pPr>
            <a:lvl3pPr>
              <a:buClr>
                <a:srgbClr val="04628C"/>
              </a:buClr>
              <a:buFont typeface="Arial" pitchFamily="34" charset="0"/>
              <a:buChar char="-"/>
              <a:defRPr sz="1800">
                <a:solidFill>
                  <a:schemeClr val="tx2"/>
                </a:solidFill>
                <a:latin typeface="+mn-lt"/>
              </a:defRPr>
            </a:lvl3pPr>
            <a:lvl4pPr>
              <a:buClr>
                <a:srgbClr val="04628C"/>
              </a:buClr>
              <a:buFont typeface="Arial" pitchFamily="34" charset="0"/>
              <a:buChar char="-"/>
              <a:defRPr sz="1600">
                <a:solidFill>
                  <a:schemeClr val="tx2"/>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tx2"/>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4474464" y="914400"/>
            <a:ext cx="3535680" cy="841248"/>
          </a:xfrm>
        </p:spPr>
        <p:txBody>
          <a:bodyPr/>
          <a:lstStyle>
            <a:lvl1pPr marL="0" indent="0">
              <a:buNone/>
              <a:defRPr>
                <a:solidFill>
                  <a:schemeClr val="tx2"/>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8229600" y="914400"/>
            <a:ext cx="3535680" cy="841248"/>
          </a:xfrm>
        </p:spPr>
        <p:txBody>
          <a:bodyPr/>
          <a:lstStyle>
            <a:lvl1pPr marL="0" indent="0">
              <a:buNone/>
              <a:defRPr>
                <a:solidFill>
                  <a:schemeClr val="tx2"/>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overrideClrMapping bg1="lt1" tx1="dk1" bg2="lt2" tx2="dk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0B0F0"/>
                </a:solidFill>
                <a:latin typeface="+mj-lt"/>
                <a:cs typeface="Arial" pitchFamily="34" charset="0"/>
              </a:defRPr>
            </a:lvl1pPr>
          </a:lstStyle>
          <a:p>
            <a:r>
              <a:rPr lang="en-US" dirty="0"/>
              <a:t>Click to edit Master title style</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tx2"/>
                </a:solidFill>
              </a:defRPr>
            </a:lvl1pPr>
            <a:lvl2pPr>
              <a:buClr>
                <a:srgbClr val="04628C"/>
              </a:buClr>
              <a:buFont typeface="Calibri" pitchFamily="34" charset="0"/>
              <a:buChar char="-"/>
              <a:defRPr>
                <a:solidFill>
                  <a:schemeClr val="tx2"/>
                </a:solidFill>
              </a:defRPr>
            </a:lvl2pPr>
            <a:lvl3pPr>
              <a:buClr>
                <a:srgbClr val="04628C"/>
              </a:buClr>
              <a:buFont typeface="Calibri" pitchFamily="34" charset="0"/>
              <a:buChar char="-"/>
              <a:defRPr>
                <a:solidFill>
                  <a:schemeClr val="tx2"/>
                </a:solidFill>
              </a:defRPr>
            </a:lvl3pPr>
            <a:lvl4pPr>
              <a:buClr>
                <a:srgbClr val="04628C"/>
              </a:buClr>
              <a:buFont typeface="Calibri" pitchFamily="34" charset="0"/>
              <a:buChar char="-"/>
              <a:defRPr>
                <a:solidFill>
                  <a:schemeClr val="tx2"/>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04636995"/>
      </p:ext>
    </p:extLst>
  </p:cSld>
  <p:clrMapOvr>
    <a:overrideClrMapping bg1="lt1" tx1="dk1" bg2="lt2" tx2="dk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Top Middle Bottom">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a:solidFill>
                  <a:srgbClr val="00B0F0"/>
                </a:solidFill>
                <a:latin typeface="+mj-lt"/>
                <a:cs typeface="Arial" pitchFamily="34" charset="0"/>
              </a:defRPr>
            </a:lvl1pPr>
          </a:lstStyle>
          <a:p>
            <a:r>
              <a:rPr lang="en-US" dirty="0"/>
              <a:t>Click to edit Master title style</a:t>
            </a:r>
          </a:p>
        </p:txBody>
      </p:sp>
      <p:sp>
        <p:nvSpPr>
          <p:cNvPr id="5" name="txt Top Content"/>
          <p:cNvSpPr>
            <a:spLocks noGrp="1"/>
          </p:cNvSpPr>
          <p:nvPr>
            <p:ph type="body" sz="quarter" idx="10"/>
          </p:nvPr>
        </p:nvSpPr>
        <p:spPr>
          <a:xfrm>
            <a:off x="694944" y="914400"/>
            <a:ext cx="11094720" cy="182880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xt Middle Content"/>
          <p:cNvSpPr>
            <a:spLocks noGrp="1"/>
          </p:cNvSpPr>
          <p:nvPr>
            <p:ph idx="11"/>
          </p:nvPr>
        </p:nvSpPr>
        <p:spPr>
          <a:xfrm>
            <a:off x="694267" y="2743200"/>
            <a:ext cx="11091333" cy="1828800"/>
          </a:xfrm>
        </p:spPr>
        <p:txBody>
          <a:bodyPr/>
          <a:lstStyle>
            <a:lvl1pPr>
              <a:buClr>
                <a:srgbClr val="04628C"/>
              </a:buClr>
              <a:buSzPct val="90000"/>
              <a:buFont typeface="Arial" pitchFamily="34" charset="0"/>
              <a:buChar char="•"/>
              <a:defRPr>
                <a:solidFill>
                  <a:schemeClr val="tx2"/>
                </a:solidFill>
              </a:defRPr>
            </a:lvl1pPr>
            <a:lvl2pPr>
              <a:buClr>
                <a:srgbClr val="04628C"/>
              </a:buClr>
              <a:buFont typeface="Calibri" pitchFamily="34" charset="0"/>
              <a:buChar char="-"/>
              <a:defRPr>
                <a:solidFill>
                  <a:schemeClr val="tx2"/>
                </a:solidFill>
              </a:defRPr>
            </a:lvl2pPr>
            <a:lvl3pPr>
              <a:buClr>
                <a:srgbClr val="04628C"/>
              </a:buClr>
              <a:buFont typeface="Calibri" pitchFamily="34" charset="0"/>
              <a:buChar char="-"/>
              <a:defRPr>
                <a:solidFill>
                  <a:schemeClr val="tx2"/>
                </a:solidFill>
              </a:defRPr>
            </a:lvl3pPr>
            <a:lvl4pPr>
              <a:buClr>
                <a:srgbClr val="04628C"/>
              </a:buClr>
              <a:buFont typeface="Calibri" pitchFamily="34" charset="0"/>
              <a:buChar char="-"/>
              <a:defRPr>
                <a:solidFill>
                  <a:schemeClr val="tx2"/>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tx2"/>
                </a:solidFill>
              </a:defRPr>
            </a:lvl1pPr>
            <a:lvl2pPr>
              <a:buClr>
                <a:srgbClr val="04628C"/>
              </a:buClr>
              <a:buFont typeface="Calibri" pitchFamily="34" charset="0"/>
              <a:buChar char="-"/>
              <a:defRPr>
                <a:solidFill>
                  <a:schemeClr val="tx2"/>
                </a:solidFill>
              </a:defRPr>
            </a:lvl2pPr>
            <a:lvl3pPr>
              <a:buClr>
                <a:srgbClr val="04628C"/>
              </a:buClr>
              <a:buFont typeface="Calibri" pitchFamily="34" charset="0"/>
              <a:buChar char="-"/>
              <a:defRPr>
                <a:solidFill>
                  <a:schemeClr val="tx2"/>
                </a:solidFill>
              </a:defRPr>
            </a:lvl3pPr>
            <a:lvl4pPr>
              <a:buClr>
                <a:srgbClr val="04628C"/>
              </a:buClr>
              <a:buFont typeface="Calibri" pitchFamily="34" charset="0"/>
              <a:buChar char="-"/>
              <a:defRPr>
                <a:solidFill>
                  <a:schemeClr val="tx2"/>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683751491"/>
      </p:ext>
    </p:extLst>
  </p:cSld>
  <p:clrMapOvr>
    <a:overrideClrMapping bg1="lt1" tx1="dk1" bg2="lt2" tx2="dk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and Top 3rd">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0B0F0"/>
                </a:solidFill>
                <a:latin typeface="+mj-lt"/>
                <a:cs typeface="Arial" pitchFamily="34" charset="0"/>
              </a:defRPr>
            </a:lvl1pPr>
          </a:lstStyle>
          <a:p>
            <a:r>
              <a:rPr lang="en-US" dirty="0"/>
              <a:t>Click to edit Master title style</a:t>
            </a:r>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tx2"/>
                </a:solidFill>
              </a:defRPr>
            </a:lvl1pPr>
            <a:lvl2pPr>
              <a:buClr>
                <a:srgbClr val="04628C"/>
              </a:buClr>
              <a:buFont typeface="Calibri" pitchFamily="34" charset="0"/>
              <a:buChar char="-"/>
              <a:defRPr>
                <a:solidFill>
                  <a:schemeClr val="tx2"/>
                </a:solidFill>
              </a:defRPr>
            </a:lvl2pPr>
            <a:lvl3pPr>
              <a:buClr>
                <a:srgbClr val="04628C"/>
              </a:buClr>
              <a:buFont typeface="Calibri" pitchFamily="34" charset="0"/>
              <a:buChar char="-"/>
              <a:defRPr>
                <a:solidFill>
                  <a:schemeClr val="tx2"/>
                </a:solidFill>
              </a:defRPr>
            </a:lvl3pPr>
            <a:lvl4pPr>
              <a:buClr>
                <a:srgbClr val="04628C"/>
              </a:buClr>
              <a:buFont typeface="Calibri" pitchFamily="34" charset="0"/>
              <a:buChar char="-"/>
              <a:defRPr>
                <a:solidFill>
                  <a:schemeClr val="tx2"/>
                </a:solidFill>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65869696"/>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eft Half Column">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B0F0"/>
                </a:solidFill>
              </a:defRPr>
            </a:lvl1pPr>
          </a:lstStyle>
          <a:p>
            <a:r>
              <a:rPr lang="en-US" dirty="0"/>
              <a:t>Click to edit Master title style</a:t>
            </a:r>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overrideClrMapping bg1="lt1" tx1="dk1" bg2="lt2" tx2="dk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ft Big Column">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B0F0"/>
                </a:solidFill>
              </a:defRPr>
            </a:lvl1pPr>
          </a:lstStyle>
          <a:p>
            <a:r>
              <a:rPr lang="en-US" dirty="0"/>
              <a:t>Click to edit Master title style</a:t>
            </a:r>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tx2"/>
                </a:solidFill>
              </a:defRPr>
            </a:lvl1pPr>
            <a:lvl2pPr>
              <a:buClr>
                <a:srgbClr val="04628C"/>
              </a:buClr>
              <a:buFont typeface="Arial" pitchFamily="34" charset="0"/>
              <a:buChar char="-"/>
              <a:defRPr sz="2000">
                <a:solidFill>
                  <a:schemeClr val="tx2"/>
                </a:solidFill>
              </a:defRPr>
            </a:lvl2pPr>
            <a:lvl3pPr>
              <a:buClr>
                <a:srgbClr val="04628C"/>
              </a:buClr>
              <a:buFont typeface="Arial" pitchFamily="34" charset="0"/>
              <a:buChar char="-"/>
              <a:defRPr sz="1800">
                <a:solidFill>
                  <a:schemeClr val="tx2"/>
                </a:solidFill>
              </a:defRPr>
            </a:lvl3pPr>
            <a:lvl4pPr>
              <a:buClr>
                <a:srgbClr val="04628C"/>
              </a:buClr>
              <a:buFont typeface="Arial" pitchFamily="34" charset="0"/>
              <a:buChar char="-"/>
              <a:defRPr sz="1600">
                <a:solidFill>
                  <a:schemeClr val="tx2"/>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597061337"/>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ight Small Column">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B0F0"/>
                </a:solidFill>
              </a:defRPr>
            </a:lvl1pPr>
          </a:lstStyle>
          <a:p>
            <a:r>
              <a:rPr lang="en-US" dirty="0"/>
              <a:t>Click to edit Master title style</a:t>
            </a:r>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solidFill>
                  <a:schemeClr val="tx2"/>
                </a:solidFill>
                <a:latin typeface="+mn-lt"/>
              </a:defRPr>
            </a:lvl2pPr>
            <a:lvl3pPr>
              <a:buClr>
                <a:srgbClr val="04628C"/>
              </a:buClr>
              <a:buFont typeface="Arial" pitchFamily="34" charset="0"/>
              <a:buChar char="-"/>
              <a:defRPr sz="1800">
                <a:solidFill>
                  <a:schemeClr val="tx2"/>
                </a:solidFill>
                <a:latin typeface="+mn-lt"/>
              </a:defRPr>
            </a:lvl3pPr>
            <a:lvl4pPr>
              <a:buClr>
                <a:srgbClr val="04628C"/>
              </a:buClr>
              <a:buFont typeface="Arial" pitchFamily="34" charset="0"/>
              <a:buChar char="-"/>
              <a:defRPr sz="1600">
                <a:solidFill>
                  <a:schemeClr val="tx2"/>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31368497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Right Big Column">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B0F0"/>
                </a:solidFill>
              </a:defRPr>
            </a:lvl1pPr>
          </a:lstStyle>
          <a:p>
            <a:r>
              <a:rPr lang="en-US" dirty="0"/>
              <a:t>Click to edit Master title style</a:t>
            </a:r>
          </a:p>
        </p:txBody>
      </p:sp>
      <p:sp>
        <p:nvSpPr>
          <p:cNvPr id="4" name="txt Right Col Content"/>
          <p:cNvSpPr>
            <a:spLocks noGrp="1"/>
          </p:cNvSpPr>
          <p:nvPr>
            <p:ph sz="half" idx="2"/>
          </p:nvPr>
        </p:nvSpPr>
        <p:spPr>
          <a:xfrm>
            <a:off x="4406900" y="914400"/>
            <a:ext cx="7376160" cy="5486400"/>
          </a:xfrm>
        </p:spPr>
        <p:txBody>
          <a:bodyPr/>
          <a:lstStyle>
            <a:lvl1pPr>
              <a:defRPr lang="en-US" sz="2400" dirty="0" smtClean="0">
                <a:solidFill>
                  <a:schemeClr val="tx2"/>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2425577"/>
      </p:ext>
    </p:extLst>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Notes Only">
    <p:bg>
      <p:bgRef idx="1001">
        <a:schemeClr val="bg1"/>
      </p:bgRef>
    </p:bg>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Ref idx="1001">
        <a:schemeClr val="bg1"/>
      </p:bgRef>
    </p:bg>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0B0F0"/>
                </a:solidFill>
              </a:defRPr>
            </a:lvl1pPr>
          </a:lstStyle>
          <a:p>
            <a:r>
              <a:rPr lang="en-US" dirty="0"/>
              <a:t>Click to edit Master title style</a:t>
            </a:r>
          </a:p>
        </p:txBody>
      </p:sp>
    </p:spTree>
    <p:extLst>
      <p:ext uri="{BB962C8B-B14F-4D97-AF65-F5344CB8AC3E}">
        <p14:creationId xmlns:p14="http://schemas.microsoft.com/office/powerpoint/2010/main" val="1860621709"/>
      </p:ext>
    </p:extLst>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Lesson Outline">
    <p:bg>
      <p:bgRef idx="1001">
        <a:schemeClr val="bg1"/>
      </p:bgRef>
    </p:bg>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chemeClr val="tx2"/>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00B0F0"/>
                </a:solidFill>
                <a:latin typeface="+mj-lt"/>
                <a:cs typeface="Arial" pitchFamily="34" charset="0"/>
              </a:rPr>
              <a:t>Lesson</a:t>
            </a:r>
            <a:r>
              <a:rPr lang="en-US" sz="3200" dirty="0">
                <a:solidFill>
                  <a:srgbClr val="00B0F0"/>
                </a:solidFill>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Lesson Objectives Review">
    <p:bg>
      <p:bgRef idx="1001">
        <a:schemeClr val="bg1"/>
      </p:bgRef>
    </p:bg>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00B0F0"/>
                </a:solidFill>
                <a:latin typeface="+mj-lt"/>
                <a:cs typeface="Arial" pitchFamily="34" charset="0"/>
              </a:rPr>
              <a:t>Lesson</a:t>
            </a:r>
            <a:r>
              <a:rPr lang="en-US" sz="3200" dirty="0">
                <a:solidFill>
                  <a:srgbClr val="00B0F0"/>
                </a:solidFill>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tx2"/>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tx2"/>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overrideClrMapping bg1="lt1" tx1="dk1" bg2="lt2" tx2="dk2" accent1="accent1" accent2="accent2" accent3="accent3" accent4="accent4" accent5="accent5" accent6="accent6" hlink="hlink" folHlink="folHlink"/>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Review Questions Standard">
    <p:bg>
      <p:bgRef idx="1001">
        <a:schemeClr val="bg1"/>
      </p:bgRef>
    </p:bg>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tx2"/>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00B0F0"/>
                </a:solidFill>
                <a:latin typeface="+mj-lt"/>
                <a:cs typeface="Arial" pitchFamily="34" charset="0"/>
              </a:rPr>
              <a:t>Review</a:t>
            </a:r>
            <a:r>
              <a:rPr lang="en-US" sz="3200" dirty="0">
                <a:solidFill>
                  <a:srgbClr val="00B0F0"/>
                </a:solidFill>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bg>
      <p:bgRef idx="1001">
        <a:schemeClr val="bg1"/>
      </p:bgRef>
    </p:bg>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a:t>
            </a:r>
          </a:p>
        </p:txBody>
      </p:sp>
    </p:spTree>
    <p:extLst>
      <p:ext uri="{BB962C8B-B14F-4D97-AF65-F5344CB8AC3E}">
        <p14:creationId xmlns:p14="http://schemas.microsoft.com/office/powerpoint/2010/main" val="222212015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Blank Slide">
    <p:bg>
      <p:bgRef idx="1001">
        <a:schemeClr val="bg1"/>
      </p:bgRef>
    </p:bg>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67482830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Thank You Slide + Partner Log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1173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4" r:id="rId7"/>
    <p:sldLayoutId id="2147483775" r:id="rId8"/>
    <p:sldLayoutId id="2147483776" r:id="rId9"/>
    <p:sldLayoutId id="2147483779" r:id="rId10"/>
    <p:sldLayoutId id="2147483781" r:id="rId11"/>
    <p:sldLayoutId id="2147483783" r:id="rId12"/>
    <p:sldLayoutId id="2147483787" r:id="rId13"/>
    <p:sldLayoutId id="2147483788" r:id="rId14"/>
    <p:sldLayoutId id="2147483793" r:id="rId15"/>
    <p:sldLayoutId id="2147483794" r:id="rId16"/>
    <p:sldLayoutId id="2147483800" r:id="rId17"/>
    <p:sldLayoutId id="2147483801" r:id="rId18"/>
    <p:sldLayoutId id="2147483806" r:id="rId19"/>
    <p:sldLayoutId id="2147483808" r:id="rId20"/>
    <p:sldLayoutId id="2147483809" r:id="rId21"/>
  </p:sldLayoutIdLst>
  <p:transition/>
  <p:txStyles>
    <p:title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tx2"/>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tx2"/>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tx2"/>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tx2"/>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emf"/><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emf"/><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emf"/><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emf"/><Relationship Id="rId5" Type="http://schemas.openxmlformats.org/officeDocument/2006/relationships/image" Target="../media/image5.emf"/><Relationship Id="rId4" Type="http://schemas.openxmlformats.org/officeDocument/2006/relationships/image" Target="../media/image27.emf"/></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9.emf"/><Relationship Id="rId5" Type="http://schemas.openxmlformats.org/officeDocument/2006/relationships/image" Target="../media/image23.emf"/><Relationship Id="rId4" Type="http://schemas.openxmlformats.org/officeDocument/2006/relationships/image" Target="../media/image26.emf"/></Relationships>
</file>

<file path=ppt/slides/_rels/slide12.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2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5.emf"/><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8.png"/><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e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1.png"/><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microsoft.com/office/2007/relationships/hdphoto" Target="../media/hdphoto1.wdp"/><Relationship Id="rId5" Type="http://schemas.openxmlformats.org/officeDocument/2006/relationships/image" Target="../media/image31.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33.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35.png"/><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8.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24.pn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39.emf"/><Relationship Id="rId11" Type="http://schemas.openxmlformats.org/officeDocument/2006/relationships/image" Target="../media/image43.emf"/><Relationship Id="rId5" Type="http://schemas.openxmlformats.org/officeDocument/2006/relationships/image" Target="../media/image29.emf"/><Relationship Id="rId10" Type="http://schemas.openxmlformats.org/officeDocument/2006/relationships/image" Target="../media/image42.emf"/><Relationship Id="rId4" Type="http://schemas.openxmlformats.org/officeDocument/2006/relationships/image" Target="../media/image23.emf"/><Relationship Id="rId9" Type="http://schemas.openxmlformats.org/officeDocument/2006/relationships/image" Target="../media/image41.emf"/></Relationships>
</file>

<file path=ppt/slides/_rels/slide25.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24.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39.emf"/><Relationship Id="rId11" Type="http://schemas.openxmlformats.org/officeDocument/2006/relationships/image" Target="../media/image45.emf"/><Relationship Id="rId5" Type="http://schemas.openxmlformats.org/officeDocument/2006/relationships/image" Target="../media/image29.emf"/><Relationship Id="rId10" Type="http://schemas.openxmlformats.org/officeDocument/2006/relationships/image" Target="../media/image37.emf"/><Relationship Id="rId4" Type="http://schemas.openxmlformats.org/officeDocument/2006/relationships/image" Target="../media/image23.emf"/><Relationship Id="rId9" Type="http://schemas.openxmlformats.org/officeDocument/2006/relationships/image" Target="../media/image5.emf"/></Relationships>
</file>

<file path=ppt/slides/_rels/slide26.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23.emf"/><Relationship Id="rId7" Type="http://schemas.openxmlformats.org/officeDocument/2006/relationships/image" Target="../media/image44.emf"/><Relationship Id="rId12"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40.png"/><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37.emf"/><Relationship Id="rId4" Type="http://schemas.openxmlformats.org/officeDocument/2006/relationships/image" Target="../media/image29.emf"/><Relationship Id="rId9" Type="http://schemas.openxmlformats.org/officeDocument/2006/relationships/image" Target="../media/image38.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37.emf"/><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25.emf"/><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image" Target="../media/image26.emf"/><Relationship Id="rId5" Type="http://schemas.openxmlformats.org/officeDocument/2006/relationships/image" Target="../media/image24.png"/><Relationship Id="rId4" Type="http://schemas.openxmlformats.org/officeDocument/2006/relationships/image" Target="../media/image38.emf"/></Relationships>
</file>

<file path=ppt/slides/_rels/slide4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image" Target="../media/image48.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8.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3.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410200" y="465794"/>
            <a:ext cx="2819400" cy="83152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6" name="Footer Placeholder 5"/>
          <p:cNvSpPr>
            <a:spLocks noGrp="1"/>
          </p:cNvSpPr>
          <p:nvPr>
            <p:ph type="ftr" sz="quarter" idx="3"/>
          </p:nvPr>
        </p:nvSpPr>
        <p:spPr/>
        <p:txBody>
          <a:bodyPr/>
          <a:lstStyle/>
          <a:p>
            <a:r>
              <a:rPr lang="en-US" dirty="0">
                <a:solidFill>
                  <a:srgbClr val="04628C"/>
                </a:solidFill>
              </a:rPr>
              <a:t>© 2020 Cognizant</a:t>
            </a:r>
          </a:p>
        </p:txBody>
      </p:sp>
      <p:sp>
        <p:nvSpPr>
          <p:cNvPr id="8" name="Title 2"/>
          <p:cNvSpPr txBox="1">
            <a:spLocks/>
          </p:cNvSpPr>
          <p:nvPr/>
        </p:nvSpPr>
        <p:spPr bwMode="white">
          <a:xfrm>
            <a:off x="762000" y="4772901"/>
            <a:ext cx="834883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800" b="0" kern="0" dirty="0">
                <a:solidFill>
                  <a:schemeClr val="accent6"/>
                </a:solidFill>
              </a:rPr>
              <a:t>Document Management</a:t>
            </a:r>
            <a:endParaRPr lang="en-US" sz="2800" b="0" dirty="0">
              <a:solidFill>
                <a:schemeClr val="accent6"/>
              </a:solidFill>
              <a:ea typeface="+mn-ea"/>
            </a:endParaRPr>
          </a:p>
        </p:txBody>
      </p:sp>
    </p:spTree>
    <p:extLst>
      <p:ext uri="{BB962C8B-B14F-4D97-AF65-F5344CB8AC3E}">
        <p14:creationId xmlns:p14="http://schemas.microsoft.com/office/powerpoint/2010/main" val="372590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94720" cy="742951"/>
          </a:xfrm>
        </p:spPr>
        <p:txBody>
          <a:bodyPr/>
          <a:lstStyle/>
          <a:p>
            <a:r>
              <a:rPr lang="en-US" dirty="0">
                <a:solidFill>
                  <a:schemeClr val="accent6"/>
                </a:solidFill>
              </a:rPr>
              <a:t>Lesson Objective</a:t>
            </a:r>
          </a:p>
        </p:txBody>
      </p:sp>
      <p:sp>
        <p:nvSpPr>
          <p:cNvPr id="4" name="Text Placeholder 3"/>
          <p:cNvSpPr>
            <a:spLocks noGrp="1"/>
          </p:cNvSpPr>
          <p:nvPr>
            <p:ph type="body" sz="quarter" idx="4294967295"/>
          </p:nvPr>
        </p:nvSpPr>
        <p:spPr>
          <a:xfrm>
            <a:off x="304800" y="1295400"/>
            <a:ext cx="11095037" cy="4343400"/>
          </a:xfrm>
        </p:spPr>
        <p:txBody>
          <a:bodyPr/>
          <a:lstStyle/>
          <a:p>
            <a:pPr lvl="1"/>
            <a:r>
              <a:rPr lang="en-US" sz="2800" dirty="0"/>
              <a:t>Explain how to integrate a  Guidewire application with an external Document Management System (DMS)</a:t>
            </a:r>
          </a:p>
          <a:p>
            <a:pPr lvl="1"/>
            <a:r>
              <a:rPr lang="en-US" sz="2800" dirty="0"/>
              <a:t>Identify the plugins that enable DMS integration</a:t>
            </a:r>
          </a:p>
          <a:p>
            <a:pPr lvl="1"/>
            <a:r>
              <a:rPr lang="en-US" sz="2800" dirty="0"/>
              <a:t>Implement the plugins to support DMS integration</a:t>
            </a:r>
          </a:p>
          <a:p>
            <a:pPr lvl="1"/>
            <a:r>
              <a:rPr lang="en-US" sz="2800" dirty="0"/>
              <a:t>Deploy and configure DMS integration plugins</a:t>
            </a:r>
          </a:p>
          <a:p>
            <a:pPr lvl="1"/>
            <a:r>
              <a:rPr lang="en-US" sz="2800" dirty="0"/>
              <a:t>Describe the features and limitations of Guidewire’s demo or default implementations of document storage functionality</a:t>
            </a:r>
          </a:p>
          <a:p>
            <a:pPr lvl="1"/>
            <a:endParaRPr lang="en-US" dirty="0"/>
          </a:p>
        </p:txBody>
      </p:sp>
    </p:spTree>
    <p:extLst>
      <p:ext uri="{BB962C8B-B14F-4D97-AF65-F5344CB8AC3E}">
        <p14:creationId xmlns:p14="http://schemas.microsoft.com/office/powerpoint/2010/main" val="27145406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Document basics</a:t>
            </a:r>
          </a:p>
          <a:p>
            <a:r>
              <a:rPr lang="en-US" dirty="0">
                <a:solidFill>
                  <a:schemeClr val="bg2">
                    <a:lumMod val="75000"/>
                  </a:schemeClr>
                </a:solidFill>
              </a:rPr>
              <a:t>Document management system (DMS) integration</a:t>
            </a:r>
          </a:p>
          <a:p>
            <a:r>
              <a:rPr lang="en-US" dirty="0">
                <a:solidFill>
                  <a:schemeClr val="bg2">
                    <a:lumMod val="75000"/>
                  </a:schemeClr>
                </a:solidFill>
              </a:rPr>
              <a:t>IDocumentContentSource plugin</a:t>
            </a:r>
          </a:p>
          <a:p>
            <a:r>
              <a:rPr lang="en-US" dirty="0">
                <a:solidFill>
                  <a:schemeClr val="bg2">
                    <a:lumMod val="75000"/>
                  </a:schemeClr>
                </a:solidFill>
              </a:rPr>
              <a:t>IDocumentMetadataSource plugin</a:t>
            </a:r>
          </a:p>
          <a:p>
            <a:r>
              <a:rPr lang="en-US" dirty="0">
                <a:solidFill>
                  <a:schemeClr val="bg2">
                    <a:lumMod val="75000"/>
                  </a:schemeClr>
                </a:solidFill>
              </a:rPr>
              <a:t>DMS integration configurations</a:t>
            </a:r>
          </a:p>
          <a:p>
            <a:r>
              <a:rPr lang="en-US" dirty="0">
                <a:solidFill>
                  <a:schemeClr val="bg2">
                    <a:lumMod val="75000"/>
                  </a:schemeClr>
                </a:solidFill>
              </a:rPr>
              <a:t>Document related SOAP APIs</a:t>
            </a:r>
          </a:p>
          <a:p>
            <a:r>
              <a:rPr lang="en-US" dirty="0">
                <a:solidFill>
                  <a:schemeClr val="bg2">
                    <a:lumMod val="75000"/>
                  </a:schemeClr>
                </a:solidFill>
              </a:rPr>
              <a:t>Asynchronous Document Storage</a:t>
            </a:r>
          </a:p>
          <a:p>
            <a:endParaRPr lang="en-US" dirty="0"/>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13626211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What is a Document?</a:t>
            </a:r>
          </a:p>
        </p:txBody>
      </p:sp>
      <p:sp>
        <p:nvSpPr>
          <p:cNvPr id="12" name="Content Placeholder 11"/>
          <p:cNvSpPr>
            <a:spLocks noGrp="1"/>
          </p:cNvSpPr>
          <p:nvPr>
            <p:ph sz="half" idx="1"/>
          </p:nvPr>
        </p:nvSpPr>
        <p:spPr>
          <a:xfrm>
            <a:off x="658368" y="914402"/>
            <a:ext cx="7607333" cy="5714998"/>
          </a:xfrm>
        </p:spPr>
        <p:txBody>
          <a:bodyPr/>
          <a:lstStyle/>
          <a:p>
            <a:r>
              <a:rPr lang="en-US" sz="2800" dirty="0"/>
              <a:t>A </a:t>
            </a:r>
            <a:r>
              <a:rPr lang="en-US" sz="2800" b="1" dirty="0"/>
              <a:t>document</a:t>
            </a:r>
            <a:r>
              <a:rPr lang="en-US" sz="2800" dirty="0"/>
              <a:t> is a digital file that is related to one or more objects.</a:t>
            </a:r>
          </a:p>
          <a:p>
            <a:pPr lvl="1"/>
            <a:r>
              <a:rPr lang="en-US" sz="2400" b="1" dirty="0"/>
              <a:t>Content</a:t>
            </a:r>
            <a:r>
              <a:rPr lang="en-US" sz="2400" dirty="0"/>
              <a:t> is stored by a DMS</a:t>
            </a:r>
          </a:p>
          <a:p>
            <a:pPr lvl="1"/>
            <a:r>
              <a:rPr lang="en-US" sz="2400" b="1" dirty="0"/>
              <a:t>Metadata</a:t>
            </a:r>
            <a:r>
              <a:rPr lang="en-US" sz="2400" dirty="0"/>
              <a:t> stored in DMS, or Guidewire, or both</a:t>
            </a:r>
          </a:p>
          <a:p>
            <a:r>
              <a:rPr lang="en-US" sz="2800" dirty="0"/>
              <a:t>Documents are related to business objects </a:t>
            </a:r>
          </a:p>
          <a:p>
            <a:pPr lvl="1"/>
            <a:r>
              <a:rPr lang="en-US" dirty="0"/>
              <a:t>Business objects vary by Insurance Suite application</a:t>
            </a:r>
            <a:br>
              <a:rPr lang="en-US" dirty="0"/>
            </a:br>
            <a:endParaRPr lang="en-US" dirty="0"/>
          </a:p>
          <a:p>
            <a:pPr marL="0" indent="0">
              <a:buNone/>
            </a:pPr>
            <a:r>
              <a:rPr lang="en-US" sz="2000" dirty="0"/>
              <a:t>	  Policy, Account, Producer</a:t>
            </a:r>
          </a:p>
          <a:p>
            <a:pPr marL="0" indent="0">
              <a:buNone/>
            </a:pPr>
            <a:endParaRPr lang="en-US" sz="2000" dirty="0"/>
          </a:p>
          <a:p>
            <a:pPr marL="0" indent="0">
              <a:buNone/>
            </a:pPr>
            <a:r>
              <a:rPr lang="en-US" sz="2000" dirty="0"/>
              <a:t>	  Claim</a:t>
            </a:r>
          </a:p>
          <a:p>
            <a:pPr marL="0" indent="0">
              <a:buNone/>
            </a:pPr>
            <a:endParaRPr lang="en-US" sz="2000" dirty="0"/>
          </a:p>
          <a:p>
            <a:pPr marL="0" indent="0">
              <a:buNone/>
            </a:pPr>
            <a:r>
              <a:rPr lang="en-US" sz="2000" dirty="0"/>
              <a:t>	  Policy, Account</a:t>
            </a:r>
          </a:p>
          <a:p>
            <a:endParaRPr lang="en-US" dirty="0"/>
          </a:p>
        </p:txBody>
      </p:sp>
      <p:pic>
        <p:nvPicPr>
          <p:cNvPr id="5" name="icn Doc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4488" y="853797"/>
            <a:ext cx="3048000" cy="3967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1"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5061" y="1435609"/>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31" descr="http://yourfileinfo.com/images/content/extensions/olk14signature-591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9495" y="2308356"/>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7" name="Picture 33" descr="http://yourfileinfo.com/images/content/extensions/pdf-7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79095" y="3137408"/>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9449" y="5678023"/>
            <a:ext cx="709092" cy="685800"/>
          </a:xfrm>
          <a:prstGeom prst="rect">
            <a:avLst/>
          </a:prstGeom>
          <a:effectLst>
            <a:outerShdw blurRad="50800" dist="38100" dir="2700000" algn="tl" rotWithShape="0">
              <a:prstClr val="black">
                <a:alpha val="40000"/>
              </a:prstClr>
            </a:outerShdw>
          </a:effectLst>
        </p:spPr>
      </p:pic>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9449" y="4726646"/>
            <a:ext cx="709092" cy="685800"/>
          </a:xfrm>
          <a:prstGeom prst="rect">
            <a:avLst/>
          </a:prstGeom>
          <a:effectLst>
            <a:outerShdw blurRad="50800" dist="38100" dir="2700000" algn="tl" rotWithShape="0">
              <a:prstClr val="black">
                <a:alpha val="40000"/>
              </a:prstClr>
            </a:outerShdw>
          </a:effectLst>
        </p:spPr>
      </p:pic>
      <p:pic>
        <p:nvPicPr>
          <p:cNvPr id="27" name="Picture 26" descr="PolicyCenter.png"/>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39449" y="3775269"/>
            <a:ext cx="709092"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864144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Document contents</a:t>
            </a:r>
          </a:p>
        </p:txBody>
      </p:sp>
      <p:sp>
        <p:nvSpPr>
          <p:cNvPr id="4" name="Content Placeholder 3"/>
          <p:cNvSpPr>
            <a:spLocks noGrp="1"/>
          </p:cNvSpPr>
          <p:nvPr>
            <p:ph sz="half" idx="1"/>
          </p:nvPr>
        </p:nvSpPr>
        <p:spPr/>
        <p:txBody>
          <a:bodyPr/>
          <a:lstStyle/>
          <a:p>
            <a:r>
              <a:rPr lang="en-US" dirty="0"/>
              <a:t>Anything that represents incoming or outgoing documents</a:t>
            </a:r>
          </a:p>
          <a:p>
            <a:r>
              <a:rPr lang="en-US" dirty="0"/>
              <a:t>Often a digital file</a:t>
            </a:r>
          </a:p>
          <a:p>
            <a:pPr lvl="1"/>
            <a:r>
              <a:rPr lang="en-US" dirty="0"/>
              <a:t>Fax</a:t>
            </a:r>
          </a:p>
          <a:p>
            <a:pPr lvl="1"/>
            <a:r>
              <a:rPr lang="en-US" dirty="0"/>
              <a:t>MS Word</a:t>
            </a:r>
          </a:p>
          <a:p>
            <a:pPr lvl="1"/>
            <a:r>
              <a:rPr lang="en-US" dirty="0"/>
              <a:t>JPEG</a:t>
            </a:r>
          </a:p>
          <a:p>
            <a:pPr lvl="1"/>
            <a:r>
              <a:rPr lang="en-US" dirty="0"/>
              <a:t>PDF </a:t>
            </a:r>
          </a:p>
          <a:p>
            <a:pPr lvl="1"/>
            <a:r>
              <a:rPr lang="en-US" dirty="0"/>
              <a:t>CSV</a:t>
            </a:r>
          </a:p>
        </p:txBody>
      </p:sp>
      <p:pic>
        <p:nvPicPr>
          <p:cNvPr id="9" name="icn Doc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7652" y="3784600"/>
            <a:ext cx="1998675" cy="26014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1"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9566" y="5029200"/>
            <a:ext cx="914399" cy="91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692"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42" descr="http://yourfileinfo.com/images/content/extensions/mime-5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0401"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48" descr="http://yourfileinfo.com/images/content/extensions/csv-18.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7274"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54" descr="http://yourfileinfo.com/images/content/extensions/udl-5303.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4983"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26741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Content and Metadata</a:t>
            </a:r>
          </a:p>
        </p:txBody>
      </p:sp>
      <p:sp>
        <p:nvSpPr>
          <p:cNvPr id="4" name="Content Placeholder 3"/>
          <p:cNvSpPr>
            <a:spLocks noGrp="1"/>
          </p:cNvSpPr>
          <p:nvPr>
            <p:ph sz="half" idx="1"/>
          </p:nvPr>
        </p:nvSpPr>
        <p:spPr>
          <a:xfrm>
            <a:off x="658369" y="914399"/>
            <a:ext cx="7342632" cy="5486400"/>
          </a:xfrm>
        </p:spPr>
        <p:txBody>
          <a:bodyPr/>
          <a:lstStyle/>
          <a:p>
            <a:r>
              <a:rPr lang="en-US" sz="2000" dirty="0">
                <a:solidFill>
                  <a:schemeClr val="tx2"/>
                </a:solidFill>
              </a:rPr>
              <a:t>Content</a:t>
            </a:r>
          </a:p>
          <a:p>
            <a:pPr lvl="1"/>
            <a:r>
              <a:rPr lang="en-US" dirty="0">
                <a:solidFill>
                  <a:schemeClr val="tx2"/>
                </a:solidFill>
              </a:rPr>
              <a:t>The content of a digital file</a:t>
            </a:r>
          </a:p>
          <a:p>
            <a:pPr lvl="2"/>
            <a:r>
              <a:rPr lang="en-US" sz="2000" dirty="0">
                <a:solidFill>
                  <a:schemeClr val="tx2"/>
                </a:solidFill>
              </a:rPr>
              <a:t>Word, Excel, JPG, MP4, PDF, etc.</a:t>
            </a:r>
          </a:p>
          <a:p>
            <a:r>
              <a:rPr lang="en-US" sz="2000" dirty="0">
                <a:solidFill>
                  <a:schemeClr val="tx2"/>
                </a:solidFill>
              </a:rPr>
              <a:t>Metadata</a:t>
            </a:r>
          </a:p>
          <a:p>
            <a:pPr lvl="1"/>
            <a:r>
              <a:rPr lang="en-US" dirty="0">
                <a:solidFill>
                  <a:schemeClr val="tx2"/>
                </a:solidFill>
              </a:rPr>
              <a:t>Attributes that describes and classify a document</a:t>
            </a:r>
          </a:p>
          <a:p>
            <a:pPr lvl="2"/>
            <a:r>
              <a:rPr lang="en-US" sz="2000" dirty="0">
                <a:solidFill>
                  <a:schemeClr val="tx2"/>
                </a:solidFill>
              </a:rPr>
              <a:t>Name, Description, Section</a:t>
            </a:r>
          </a:p>
          <a:p>
            <a:pPr lvl="2"/>
            <a:r>
              <a:rPr lang="en-US" sz="2000" dirty="0">
                <a:solidFill>
                  <a:schemeClr val="tx2"/>
                </a:solidFill>
              </a:rPr>
              <a:t>Document Type (MIME type)</a:t>
            </a:r>
          </a:p>
          <a:p>
            <a:pPr lvl="2"/>
            <a:r>
              <a:rPr lang="en-US" sz="2000" dirty="0">
                <a:solidFill>
                  <a:schemeClr val="tx2"/>
                </a:solidFill>
              </a:rPr>
              <a:t>Related objects, Author, Recipient</a:t>
            </a:r>
          </a:p>
          <a:p>
            <a:pPr lvl="2"/>
            <a:r>
              <a:rPr lang="en-US" sz="2000" dirty="0">
                <a:solidFill>
                  <a:schemeClr val="tx2"/>
                </a:solidFill>
              </a:rPr>
              <a:t>Inbound, Status, Security Type, Type, Hidden</a:t>
            </a:r>
          </a:p>
          <a:p>
            <a:r>
              <a:rPr lang="en-US" sz="2000" dirty="0">
                <a:solidFill>
                  <a:schemeClr val="tx2"/>
                </a:solidFill>
              </a:rPr>
              <a:t>Represented by a Document entity in Guidewire</a:t>
            </a:r>
          </a:p>
          <a:p>
            <a:pPr lvl="1"/>
            <a:r>
              <a:rPr lang="en-US" dirty="0">
                <a:solidFill>
                  <a:schemeClr val="tx2"/>
                </a:solidFill>
              </a:rPr>
              <a:t>If the application is configured such that Metadata is maintained in Guidewire</a:t>
            </a:r>
          </a:p>
        </p:txBody>
      </p:sp>
      <p:pic>
        <p:nvPicPr>
          <p:cNvPr id="9" name="icn Doc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399" y="4029087"/>
            <a:ext cx="1998675" cy="26014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1"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1" y="5715000"/>
            <a:ext cx="914399" cy="91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7327" y="57150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42" descr="http://yourfileinfo.com/images/content/extensions/mime-5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5036" y="57150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48" descr="http://yourfileinfo.com/images/content/extensions/csv-18.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1909" y="57150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54" descr="http://yourfileinfo.com/images/content/extensions/udl-5303.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9618" y="57150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6054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6"/>
                </a:solidFill>
              </a:rPr>
              <a:t>Creating new documents</a:t>
            </a:r>
          </a:p>
        </p:txBody>
      </p:sp>
      <p:sp>
        <p:nvSpPr>
          <p:cNvPr id="9" name="Text Placeholder 8"/>
          <p:cNvSpPr>
            <a:spLocks noGrp="1"/>
          </p:cNvSpPr>
          <p:nvPr>
            <p:ph type="body" sz="quarter" idx="10"/>
          </p:nvPr>
        </p:nvSpPr>
        <p:spPr/>
        <p:txBody>
          <a:bodyPr/>
          <a:lstStyle/>
          <a:p>
            <a:endParaRPr lang="en-US" dirty="0"/>
          </a:p>
          <a:p>
            <a:r>
              <a:rPr lang="en-US" dirty="0"/>
              <a:t>	BillingCenter</a:t>
            </a:r>
          </a:p>
        </p:txBody>
      </p:sp>
      <p:sp>
        <p:nvSpPr>
          <p:cNvPr id="10" name="Text Placeholder 9"/>
          <p:cNvSpPr>
            <a:spLocks noGrp="1"/>
          </p:cNvSpPr>
          <p:nvPr>
            <p:ph idx="11"/>
          </p:nvPr>
        </p:nvSpPr>
        <p:spPr/>
        <p:txBody>
          <a:bodyPr/>
          <a:lstStyle/>
          <a:p>
            <a:endParaRPr lang="en-US" dirty="0"/>
          </a:p>
          <a:p>
            <a:r>
              <a:rPr lang="en-US" dirty="0"/>
              <a:t>	ClaimCenter</a:t>
            </a:r>
          </a:p>
        </p:txBody>
      </p:sp>
      <p:sp>
        <p:nvSpPr>
          <p:cNvPr id="8" name="Subtitle 7"/>
          <p:cNvSpPr>
            <a:spLocks noGrp="1"/>
          </p:cNvSpPr>
          <p:nvPr>
            <p:ph idx="1"/>
          </p:nvPr>
        </p:nvSpPr>
        <p:spPr/>
        <p:txBody>
          <a:bodyPr/>
          <a:lstStyle/>
          <a:p>
            <a:endParaRPr lang="en-US" dirty="0"/>
          </a:p>
          <a:p>
            <a:r>
              <a:rPr lang="en-US" dirty="0"/>
              <a:t>	PolicyCenter</a:t>
            </a:r>
          </a:p>
          <a:p>
            <a:endParaRPr lang="en-US"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165" y="1855258"/>
            <a:ext cx="954910" cy="923544"/>
          </a:xfrm>
          <a:prstGeom prst="rect">
            <a:avLst/>
          </a:prstGeom>
          <a:effectLst>
            <a:outerShdw blurRad="50800" dist="38100" dir="2700000" algn="tl" rotWithShape="0">
              <a:prstClr val="black">
                <a:alpha val="40000"/>
              </a:prstClr>
            </a:outerShdw>
          </a:effectLst>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14165" y="3693202"/>
            <a:ext cx="958039" cy="926570"/>
          </a:xfrm>
          <a:prstGeom prst="rect">
            <a:avLst/>
          </a:prstGeom>
          <a:effectLst/>
        </p:spPr>
      </p:pic>
      <p:pic>
        <p:nvPicPr>
          <p:cNvPr id="16" name="Picture 15"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4166" y="5584882"/>
            <a:ext cx="958039" cy="926570"/>
          </a:xfrm>
          <a:prstGeom prst="rect">
            <a:avLst/>
          </a:prstGeom>
          <a:effectLst>
            <a:outerShdw blurRad="50800" dist="38100" dir="2700000" algn="tl" rotWithShape="0">
              <a:prstClr val="black">
                <a:alpha val="40000"/>
              </a:prstClr>
            </a:outerShdw>
          </a:effectLst>
        </p:spPr>
      </p:pic>
      <p:pic>
        <p:nvPicPr>
          <p:cNvPr id="5138" name="Picture 18" descr="C:\Users\sluersen\AppData\Local\Temp\SNAGHTMLacbfea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799" y="4751286"/>
            <a:ext cx="5234286" cy="1725714"/>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40" name="Picture 20" descr="C:\Users\sluersen\AppData\Local\Temp\SNAGHTMLaccec78.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799" y="925212"/>
            <a:ext cx="4948572" cy="1451429"/>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42" name="Picture 22" descr="C:\Users\sluersen\AppData\Local\Temp\SNAGHTMLacf5f47.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799" y="2747228"/>
            <a:ext cx="2765714" cy="1748572"/>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457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Left-Right-Up Arrow 25"/>
          <p:cNvSpPr/>
          <p:nvPr/>
        </p:nvSpPr>
        <p:spPr bwMode="auto">
          <a:xfrm rot="5400000">
            <a:off x="4298173" y="1264427"/>
            <a:ext cx="2019484" cy="2995830"/>
          </a:xfrm>
          <a:prstGeom prst="leftRightUpArrow">
            <a:avLst>
              <a:gd name="adj1" fmla="val 14399"/>
              <a:gd name="adj2" fmla="val 17712"/>
              <a:gd name="adj3" fmla="val 19037"/>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9" name="Rectangle 8"/>
          <p:cNvSpPr/>
          <p:nvPr/>
        </p:nvSpPr>
        <p:spPr bwMode="auto">
          <a:xfrm>
            <a:off x="2057400" y="891414"/>
            <a:ext cx="3467100" cy="1318386"/>
          </a:xfrm>
          <a:prstGeom prst="rect">
            <a:avLst/>
          </a:prstGeom>
          <a:solidFill>
            <a:schemeClr val="accent6">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a:latin typeface="Courier New" pitchFamily="49" charset="0"/>
                <a:cs typeface="Courier New" pitchFamily="49" charset="0"/>
              </a:rPr>
              <a:t>Dear &lt;</a:t>
            </a:r>
            <a:r>
              <a:rPr lang="en-US" b="1" dirty="0" err="1">
                <a:latin typeface="Courier New" pitchFamily="49" charset="0"/>
                <a:cs typeface="Courier New" pitchFamily="49" charset="0"/>
              </a:rPr>
              <a:t>Insured.FullName</a:t>
            </a:r>
            <a:r>
              <a:rPr lang="en-US" b="1" dirty="0">
                <a:latin typeface="Courier New" pitchFamily="49" charset="0"/>
                <a:cs typeface="Courier New" pitchFamily="49" charset="0"/>
              </a:rPr>
              <a:t>&gt;, </a:t>
            </a:r>
          </a:p>
          <a:p>
            <a:pPr>
              <a:spcBef>
                <a:spcPct val="50000"/>
              </a:spcBef>
              <a:spcAft>
                <a:spcPct val="30000"/>
              </a:spcAft>
              <a:buClr>
                <a:schemeClr val="tx1"/>
              </a:buClr>
            </a:pPr>
            <a:r>
              <a:rPr lang="en-US" b="1" dirty="0">
                <a:latin typeface="Courier New" pitchFamily="49" charset="0"/>
                <a:cs typeface="Courier New" pitchFamily="49" charset="0"/>
              </a:rPr>
              <a:t>On &lt;</a:t>
            </a:r>
            <a:r>
              <a:rPr lang="en-US" b="1" dirty="0" err="1">
                <a:latin typeface="Courier New" pitchFamily="49" charset="0"/>
                <a:cs typeface="Courier New" pitchFamily="49" charset="0"/>
              </a:rPr>
              <a:t>effectiveDate</a:t>
            </a:r>
            <a:r>
              <a:rPr lang="en-US" b="1" dirty="0">
                <a:latin typeface="Courier New" pitchFamily="49" charset="0"/>
                <a:cs typeface="Courier New" pitchFamily="49" charset="0"/>
              </a:rPr>
              <a:t>&gt;, </a:t>
            </a:r>
            <a:br>
              <a:rPr lang="en-US" b="1" dirty="0">
                <a:latin typeface="Courier New" pitchFamily="49" charset="0"/>
                <a:cs typeface="Courier New" pitchFamily="49" charset="0"/>
              </a:rPr>
            </a:br>
            <a:r>
              <a:rPr lang="en-US" b="1" dirty="0">
                <a:latin typeface="Courier New" pitchFamily="49" charset="0"/>
                <a:cs typeface="Courier New" pitchFamily="49" charset="0"/>
              </a:rPr>
              <a:t>your policy…</a:t>
            </a:r>
          </a:p>
        </p:txBody>
      </p:sp>
      <p:sp>
        <p:nvSpPr>
          <p:cNvPr id="2" name="Title 1"/>
          <p:cNvSpPr>
            <a:spLocks noGrp="1"/>
          </p:cNvSpPr>
          <p:nvPr>
            <p:ph type="title"/>
          </p:nvPr>
        </p:nvSpPr>
        <p:spPr/>
        <p:txBody>
          <a:bodyPr/>
          <a:lstStyle/>
          <a:p>
            <a:r>
              <a:rPr lang="en-US" dirty="0">
                <a:solidFill>
                  <a:schemeClr val="accent6"/>
                </a:solidFill>
              </a:rPr>
              <a:t>Digital document production</a:t>
            </a:r>
          </a:p>
        </p:txBody>
      </p:sp>
      <p:sp>
        <p:nvSpPr>
          <p:cNvPr id="12" name="Content Placeholder 11"/>
          <p:cNvSpPr>
            <a:spLocks noGrp="1"/>
          </p:cNvSpPr>
          <p:nvPr>
            <p:ph idx="1"/>
          </p:nvPr>
        </p:nvSpPr>
        <p:spPr>
          <a:xfrm>
            <a:off x="2043113" y="5257800"/>
            <a:ext cx="8318500" cy="1143000"/>
          </a:xfrm>
        </p:spPr>
        <p:txBody>
          <a:bodyPr/>
          <a:lstStyle/>
          <a:p>
            <a:r>
              <a:rPr lang="en-US" b="1" dirty="0"/>
              <a:t>Document production </a:t>
            </a:r>
            <a:r>
              <a:rPr lang="en-US" dirty="0"/>
              <a:t>creates digital documents using a digital template and set of business object data values</a:t>
            </a:r>
          </a:p>
          <a:p>
            <a:endParaRPr lang="en-US" dirty="0"/>
          </a:p>
        </p:txBody>
      </p:sp>
      <p:pic>
        <p:nvPicPr>
          <p:cNvPr id="4" name="icn Word  Temaple" descr="http://yourfileinfo.com/images/content/extensions/dotx-17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1" y="1471301"/>
            <a:ext cx="1142999" cy="1143000"/>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p:nvGrpSpPr>
        <p:grpSpPr>
          <a:xfrm>
            <a:off x="6883400" y="2110098"/>
            <a:ext cx="3810000" cy="1699902"/>
            <a:chOff x="6248400" y="3429000"/>
            <a:chExt cx="3810000" cy="1699902"/>
          </a:xfrm>
        </p:grpSpPr>
        <p:sp>
          <p:nvSpPr>
            <p:cNvPr id="23" name="Rectangle 22"/>
            <p:cNvSpPr/>
            <p:nvPr/>
          </p:nvSpPr>
          <p:spPr bwMode="auto">
            <a:xfrm>
              <a:off x="6248400" y="3429000"/>
              <a:ext cx="3429000" cy="1295401"/>
            </a:xfrm>
            <a:prstGeom prst="rect">
              <a:avLst/>
            </a:prstGeom>
            <a:solidFill>
              <a:schemeClr val="accent2">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a:latin typeface="Courier New" pitchFamily="49" charset="0"/>
                  <a:cs typeface="Courier New" pitchFamily="49" charset="0"/>
                </a:rPr>
                <a:t>Dear Ray Newton, </a:t>
              </a:r>
            </a:p>
            <a:p>
              <a:pPr>
                <a:spcBef>
                  <a:spcPct val="50000"/>
                </a:spcBef>
                <a:spcAft>
                  <a:spcPct val="30000"/>
                </a:spcAft>
                <a:buClr>
                  <a:schemeClr val="tx1"/>
                </a:buClr>
              </a:pPr>
              <a:r>
                <a:rPr lang="en-US" b="1" dirty="0">
                  <a:latin typeface="Courier New" pitchFamily="49" charset="0"/>
                  <a:cs typeface="Courier New" pitchFamily="49" charset="0"/>
                </a:rPr>
                <a:t>On June 4, 2014, </a:t>
              </a:r>
              <a:br>
                <a:rPr lang="en-US" b="1" dirty="0">
                  <a:latin typeface="Courier New" pitchFamily="49" charset="0"/>
                  <a:cs typeface="Courier New" pitchFamily="49" charset="0"/>
                </a:rPr>
              </a:br>
              <a:r>
                <a:rPr lang="en-US" b="1" dirty="0">
                  <a:latin typeface="Courier New" pitchFamily="49" charset="0"/>
                  <a:cs typeface="Courier New" pitchFamily="49" charset="0"/>
                </a:rPr>
                <a:t>your policy…</a:t>
              </a:r>
            </a:p>
          </p:txBody>
        </p:sp>
        <p:pic>
          <p:nvPicPr>
            <p:cNvPr id="7" name="icn Word Doc"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1" y="3985902"/>
              <a:ext cx="1142999" cy="1143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5" name="Rectangle 14"/>
          <p:cNvSpPr/>
          <p:nvPr/>
        </p:nvSpPr>
        <p:spPr bwMode="auto">
          <a:xfrm>
            <a:off x="2038351" y="3352800"/>
            <a:ext cx="3505199" cy="1295400"/>
          </a:xfrm>
          <a:prstGeom prst="rect">
            <a:avLst/>
          </a:prstGeom>
          <a:solidFill>
            <a:schemeClr val="accent4">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a:latin typeface="Courier New" pitchFamily="49" charset="0"/>
                <a:cs typeface="Courier New" pitchFamily="49" charset="0"/>
              </a:rPr>
              <a:t>Account: C000143542</a:t>
            </a:r>
            <a:br>
              <a:rPr lang="en-US" b="1" dirty="0">
                <a:latin typeface="Courier New" pitchFamily="49" charset="0"/>
                <a:cs typeface="Courier New" pitchFamily="49" charset="0"/>
              </a:rPr>
            </a:br>
            <a:r>
              <a:rPr lang="en-US" b="1" dirty="0">
                <a:latin typeface="Courier New" pitchFamily="49" charset="0"/>
                <a:cs typeface="Courier New" pitchFamily="49" charset="0"/>
              </a:rPr>
              <a:t>Policy: 7561197102</a:t>
            </a:r>
            <a:br>
              <a:rPr lang="en-US" b="1" dirty="0">
                <a:latin typeface="Courier New" pitchFamily="49" charset="0"/>
                <a:cs typeface="Courier New" pitchFamily="49" charset="0"/>
              </a:rPr>
            </a:br>
            <a:r>
              <a:rPr lang="en-US" b="1" dirty="0">
                <a:latin typeface="Courier New" pitchFamily="49" charset="0"/>
                <a:cs typeface="Courier New" pitchFamily="49" charset="0"/>
              </a:rPr>
              <a:t>Insured: Ray Newton</a:t>
            </a:r>
            <a:br>
              <a:rPr lang="en-US" b="1" dirty="0">
                <a:latin typeface="Courier New" pitchFamily="49" charset="0"/>
                <a:cs typeface="Courier New" pitchFamily="49" charset="0"/>
              </a:rPr>
            </a:br>
            <a:r>
              <a:rPr lang="en-US" b="1" dirty="0">
                <a:latin typeface="Courier New" pitchFamily="49" charset="0"/>
                <a:cs typeface="Courier New" pitchFamily="49" charset="0"/>
              </a:rPr>
              <a:t>Effective: 06/04/14</a:t>
            </a:r>
          </a:p>
          <a:p>
            <a:pPr>
              <a:spcBef>
                <a:spcPct val="50000"/>
              </a:spcBef>
              <a:spcAft>
                <a:spcPct val="30000"/>
              </a:spcAft>
              <a:buClr>
                <a:schemeClr val="tx1"/>
              </a:buClr>
            </a:pPr>
            <a:endParaRPr lang="en-US" b="1" dirty="0">
              <a:solidFill>
                <a:schemeClr val="bg1"/>
              </a:solidFill>
              <a:latin typeface="Courier New" pitchFamily="49" charset="0"/>
              <a:cs typeface="Courier New" pitchFamily="49" charset="0"/>
            </a:endParaRPr>
          </a:p>
          <a:p>
            <a:pPr>
              <a:spcBef>
                <a:spcPct val="50000"/>
              </a:spcBef>
              <a:spcAft>
                <a:spcPct val="30000"/>
              </a:spcAft>
              <a:buClr>
                <a:schemeClr val="tx1"/>
              </a:buClr>
            </a:pPr>
            <a:endParaRPr lang="en-US" b="1" dirty="0">
              <a:solidFill>
                <a:schemeClr val="bg1"/>
              </a:solidFill>
              <a:latin typeface="Courier New" pitchFamily="49" charset="0"/>
              <a:cs typeface="Courier New" pitchFamily="49" charset="0"/>
            </a:endParaRPr>
          </a:p>
        </p:txBody>
      </p:sp>
      <p:sp>
        <p:nvSpPr>
          <p:cNvPr id="28" name="TextBox 27"/>
          <p:cNvSpPr txBox="1"/>
          <p:nvPr/>
        </p:nvSpPr>
        <p:spPr>
          <a:xfrm>
            <a:off x="5791200" y="1219200"/>
            <a:ext cx="1676401" cy="685800"/>
          </a:xfrm>
          <a:prstGeom prst="rect">
            <a:avLst/>
          </a:prstGeom>
          <a:noFill/>
        </p:spPr>
        <p:txBody>
          <a:bodyPr wrap="square" rtlCol="0">
            <a:noAutofit/>
          </a:bodyPr>
          <a:lstStyle/>
          <a:p>
            <a:r>
              <a:rPr lang="en-US" b="1" dirty="0">
                <a:solidFill>
                  <a:srgbClr val="C00000"/>
                </a:solidFill>
                <a:latin typeface="Arial" pitchFamily="32" charset="0"/>
                <a:cs typeface="Arial" pitchFamily="32" charset="0"/>
              </a:rPr>
              <a:t>Document template</a:t>
            </a:r>
          </a:p>
        </p:txBody>
      </p:sp>
      <p:sp>
        <p:nvSpPr>
          <p:cNvPr id="32" name="TextBox 31"/>
          <p:cNvSpPr txBox="1"/>
          <p:nvPr/>
        </p:nvSpPr>
        <p:spPr>
          <a:xfrm>
            <a:off x="5848351" y="3657600"/>
            <a:ext cx="1676401" cy="685800"/>
          </a:xfrm>
          <a:prstGeom prst="rect">
            <a:avLst/>
          </a:prstGeom>
          <a:noFill/>
        </p:spPr>
        <p:txBody>
          <a:bodyPr wrap="square" rtlCol="0">
            <a:noAutofit/>
          </a:bodyPr>
          <a:lstStyle/>
          <a:p>
            <a:r>
              <a:rPr lang="en-US" b="1" dirty="0">
                <a:solidFill>
                  <a:srgbClr val="C00000"/>
                </a:solidFill>
                <a:latin typeface="Arial" pitchFamily="32" charset="0"/>
                <a:cs typeface="Arial" pitchFamily="32" charset="0"/>
              </a:rPr>
              <a:t>Business object data </a:t>
            </a:r>
          </a:p>
        </p:txBody>
      </p:sp>
      <p:sp>
        <p:nvSpPr>
          <p:cNvPr id="33" name="TextBox 32"/>
          <p:cNvSpPr txBox="1"/>
          <p:nvPr/>
        </p:nvSpPr>
        <p:spPr>
          <a:xfrm>
            <a:off x="7785100" y="1676400"/>
            <a:ext cx="2667000" cy="685800"/>
          </a:xfrm>
          <a:prstGeom prst="rect">
            <a:avLst/>
          </a:prstGeom>
          <a:noFill/>
        </p:spPr>
        <p:txBody>
          <a:bodyPr wrap="square" rtlCol="0">
            <a:noAutofit/>
          </a:bodyPr>
          <a:lstStyle/>
          <a:p>
            <a:pPr algn="r"/>
            <a:r>
              <a:rPr lang="en-US" b="1" dirty="0">
                <a:solidFill>
                  <a:srgbClr val="C00000"/>
                </a:solidFill>
                <a:latin typeface="Arial" pitchFamily="32" charset="0"/>
                <a:cs typeface="Arial" pitchFamily="32" charset="0"/>
              </a:rPr>
              <a:t>Digital document</a:t>
            </a:r>
          </a:p>
        </p:txBody>
      </p:sp>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5832" y="3962400"/>
            <a:ext cx="1045368" cy="11792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359247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Five systems for document storage</a:t>
            </a:r>
          </a:p>
        </p:txBody>
      </p:sp>
      <p:sp>
        <p:nvSpPr>
          <p:cNvPr id="13" name="Content Placeholder 12"/>
          <p:cNvSpPr>
            <a:spLocks noGrp="1"/>
          </p:cNvSpPr>
          <p:nvPr>
            <p:ph sz="half" idx="2"/>
          </p:nvPr>
        </p:nvSpPr>
        <p:spPr/>
        <p:txBody>
          <a:bodyPr/>
          <a:lstStyle/>
          <a:p>
            <a:r>
              <a:rPr lang="en-US" dirty="0"/>
              <a:t>Various types of documents can exist in five systems in a Guidewire document management architecture</a:t>
            </a:r>
          </a:p>
        </p:txBody>
      </p:sp>
      <p:grpSp>
        <p:nvGrpSpPr>
          <p:cNvPr id="24" name="grp User Sys"/>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Rounded Rectangle 28"/>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grpSp>
        <p:nvGrpSpPr>
          <p:cNvPr id="34" name="grp GWRE App"/>
          <p:cNvGrpSpPr/>
          <p:nvPr/>
        </p:nvGrpSpPr>
        <p:grpSpPr>
          <a:xfrm>
            <a:off x="3352800" y="927100"/>
            <a:ext cx="2514100" cy="1937488"/>
            <a:chOff x="3373932" y="2546894"/>
            <a:chExt cx="2514100" cy="1937488"/>
          </a:xfrm>
        </p:grpSpPr>
        <p:sp>
          <p:nvSpPr>
            <p:cNvPr id="35"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6" name="icn GWRE"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ounded Rectangle 36"/>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grpSp>
        <p:nvGrpSpPr>
          <p:cNvPr id="38" name="grp Doc Prod"/>
          <p:cNvGrpSpPr/>
          <p:nvPr/>
        </p:nvGrpSpPr>
        <p:grpSpPr>
          <a:xfrm>
            <a:off x="551180" y="4419600"/>
            <a:ext cx="2483932" cy="1981200"/>
            <a:chOff x="2946487" y="1821047"/>
            <a:chExt cx="2483932" cy="1981200"/>
          </a:xfrm>
        </p:grpSpPr>
        <p:sp>
          <p:nvSpPr>
            <p:cNvPr id="39"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ounded Rectangle 40"/>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Production</a:t>
              </a:r>
            </a:p>
          </p:txBody>
        </p:sp>
      </p:grpSp>
      <p:grpSp>
        <p:nvGrpSpPr>
          <p:cNvPr id="42" name="grp Doc Stor"/>
          <p:cNvGrpSpPr/>
          <p:nvPr/>
        </p:nvGrpSpPr>
        <p:grpSpPr>
          <a:xfrm>
            <a:off x="3435652" y="4419600"/>
            <a:ext cx="2547390" cy="1981200"/>
            <a:chOff x="6284922" y="4419600"/>
            <a:chExt cx="2547390" cy="1981200"/>
          </a:xfrm>
        </p:grpSpPr>
        <p:sp>
          <p:nvSpPr>
            <p:cNvPr id="43"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4" name="Picture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 name="Rounded Rectangle 44"/>
            <p:cNvSpPr/>
            <p:nvPr/>
          </p:nvSpPr>
          <p:spPr bwMode="auto">
            <a:xfrm>
              <a:off x="6284922" y="4419600"/>
              <a:ext cx="2318058"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Storage</a:t>
              </a:r>
            </a:p>
          </p:txBody>
        </p:sp>
      </p:grpSp>
      <p:grpSp>
        <p:nvGrpSpPr>
          <p:cNvPr id="46" name="grp Physical Stor"/>
          <p:cNvGrpSpPr/>
          <p:nvPr/>
        </p:nvGrpSpPr>
        <p:grpSpPr>
          <a:xfrm>
            <a:off x="6288251" y="4419600"/>
            <a:ext cx="2501711" cy="1981200"/>
            <a:chOff x="533400" y="4419600"/>
            <a:chExt cx="2501711" cy="1981200"/>
          </a:xfrm>
        </p:grpSpPr>
        <p:sp>
          <p:nvSpPr>
            <p:cNvPr id="47" name="rec Doc Physical"/>
            <p:cNvSpPr/>
            <p:nvPr/>
          </p:nvSpPr>
          <p:spPr bwMode="auto">
            <a:xfrm>
              <a:off x="749111" y="4800600"/>
              <a:ext cx="2286000" cy="1600200"/>
            </a:xfrm>
            <a:prstGeom prst="roundRect">
              <a:avLst>
                <a:gd name="adj" fmla="val 5061"/>
              </a:avLst>
            </a:prstGeom>
            <a:solidFill>
              <a:schemeClr val="accent3">
                <a:lumMod val="20000"/>
                <a:lumOff val="80000"/>
              </a:schemeClr>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5105400"/>
              <a:ext cx="1011650"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9" name="Rounded Rectangle 48"/>
            <p:cNvSpPr/>
            <p:nvPr/>
          </p:nvSpPr>
          <p:spPr bwMode="auto">
            <a:xfrm>
              <a:off x="533400" y="4419600"/>
              <a:ext cx="2362200" cy="457200"/>
            </a:xfrm>
            <a:prstGeom prst="roundRect">
              <a:avLst/>
            </a:prstGeom>
            <a:solidFill>
              <a:schemeClr val="tx1"/>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Physical Storage</a:t>
              </a:r>
            </a:p>
          </p:txBody>
        </p:sp>
      </p:grpSp>
    </p:spTree>
    <p:extLst>
      <p:ext uri="{BB962C8B-B14F-4D97-AF65-F5344CB8AC3E}">
        <p14:creationId xmlns:p14="http://schemas.microsoft.com/office/powerpoint/2010/main" val="149013021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 name="rec Hidden" hidden="1"/>
          <p:cNvSpPr/>
          <p:nvPr/>
        </p:nvSpPr>
        <p:spPr bwMode="auto">
          <a:xfrm>
            <a:off x="2743201"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6316406"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4" name="rec Hidden" hidden="1"/>
          <p:cNvSpPr/>
          <p:nvPr/>
        </p:nvSpPr>
        <p:spPr bwMode="auto">
          <a:xfrm>
            <a:off x="9482633"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0" name="Group 19"/>
          <p:cNvGrpSpPr/>
          <p:nvPr/>
        </p:nvGrpSpPr>
        <p:grpSpPr>
          <a:xfrm>
            <a:off x="4876800" y="927100"/>
            <a:ext cx="2514100" cy="1949570"/>
            <a:chOff x="3373932" y="2546894"/>
            <a:chExt cx="2514100" cy="1949570"/>
          </a:xfrm>
        </p:grpSpPr>
        <p:sp>
          <p:nvSpPr>
            <p:cNvPr id="21" name="rec GWRE"/>
            <p:cNvSpPr/>
            <p:nvPr/>
          </p:nvSpPr>
          <p:spPr bwMode="auto">
            <a:xfrm>
              <a:off x="3602032" y="2941651"/>
              <a:ext cx="2286000" cy="1554813"/>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3" name="Rounded Rectangle 22"/>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ClaimCenter</a:t>
              </a:r>
            </a:p>
          </p:txBody>
        </p:sp>
      </p:grpSp>
      <p:pic>
        <p:nvPicPr>
          <p:cNvPr id="20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3054" y="1771651"/>
            <a:ext cx="842146" cy="98619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solidFill>
                  <a:schemeClr val="accent6"/>
                </a:solidFill>
              </a:rPr>
              <a:t>Physical Documents (ClaimCenter only)</a:t>
            </a:r>
          </a:p>
        </p:txBody>
      </p:sp>
      <p:sp>
        <p:nvSpPr>
          <p:cNvPr id="16" name="Content Placeholder 15"/>
          <p:cNvSpPr>
            <a:spLocks noGrp="1"/>
          </p:cNvSpPr>
          <p:nvPr>
            <p:ph idx="1"/>
          </p:nvPr>
        </p:nvSpPr>
        <p:spPr>
          <a:xfrm>
            <a:off x="658368" y="4014977"/>
            <a:ext cx="8318500" cy="2286000"/>
          </a:xfrm>
        </p:spPr>
        <p:txBody>
          <a:bodyPr/>
          <a:lstStyle/>
          <a:p>
            <a:r>
              <a:rPr lang="en-US" dirty="0"/>
              <a:t>Physical location contains the document itself</a:t>
            </a:r>
          </a:p>
          <a:p>
            <a:r>
              <a:rPr lang="en-US" dirty="0"/>
              <a:t>For physical documents, ClaimCenter tracks only the  information about the document</a:t>
            </a:r>
          </a:p>
          <a:p>
            <a:r>
              <a:rPr lang="en-US" dirty="0"/>
              <a:t>User can view the information that ClaimCenter has stored about the document, but not the document itself</a:t>
            </a:r>
          </a:p>
          <a:p>
            <a:endParaRPr lang="en-US" dirty="0"/>
          </a:p>
        </p:txBody>
      </p:sp>
      <p:grpSp>
        <p:nvGrpSpPr>
          <p:cNvPr id="10" name="Group 9"/>
          <p:cNvGrpSpPr/>
          <p:nvPr/>
        </p:nvGrpSpPr>
        <p:grpSpPr>
          <a:xfrm>
            <a:off x="7785290" y="914400"/>
            <a:ext cx="2501711" cy="1981200"/>
            <a:chOff x="533400" y="4419600"/>
            <a:chExt cx="2501711" cy="1981200"/>
          </a:xfrm>
        </p:grpSpPr>
        <p:sp>
          <p:nvSpPr>
            <p:cNvPr id="13" name="rec Doc Physical"/>
            <p:cNvSpPr/>
            <p:nvPr/>
          </p:nvSpPr>
          <p:spPr bwMode="auto">
            <a:xfrm>
              <a:off x="749111" y="4800600"/>
              <a:ext cx="2286000" cy="1600200"/>
            </a:xfrm>
            <a:prstGeom prst="roundRect">
              <a:avLst>
                <a:gd name="adj" fmla="val 5061"/>
              </a:avLst>
            </a:prstGeom>
            <a:solidFill>
              <a:schemeClr val="accent3">
                <a:lumMod val="20000"/>
                <a:lumOff val="80000"/>
              </a:schemeClr>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105400"/>
              <a:ext cx="1011650"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ounded Rectangle 14"/>
            <p:cNvSpPr/>
            <p:nvPr/>
          </p:nvSpPr>
          <p:spPr bwMode="auto">
            <a:xfrm>
              <a:off x="533400" y="4419600"/>
              <a:ext cx="2362200" cy="457200"/>
            </a:xfrm>
            <a:prstGeom prst="roundRect">
              <a:avLst/>
            </a:prstGeom>
            <a:solidFill>
              <a:schemeClr val="tx1"/>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Physical Storage</a:t>
              </a:r>
            </a:p>
          </p:txBody>
        </p:sp>
      </p:grpSp>
      <p:pic>
        <p:nvPicPr>
          <p:cNvPr id="17" name="icn Doc Cont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02168" y="1752600"/>
            <a:ext cx="702527"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4" name="Group 23"/>
          <p:cNvGrpSpPr/>
          <p:nvPr/>
        </p:nvGrpSpPr>
        <p:grpSpPr>
          <a:xfrm>
            <a:off x="2075181"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25902" y="1600200"/>
            <a:ext cx="1174899" cy="1136306"/>
          </a:xfrm>
          <a:prstGeom prst="rect">
            <a:avLst/>
          </a:prstGeom>
          <a:effectLst>
            <a:outerShdw blurRad="50800" dist="38100" dir="2700000" algn="tl" rotWithShape="0">
              <a:prstClr val="black">
                <a:alpha val="40000"/>
              </a:prstClr>
            </a:outerShdw>
          </a:effectLst>
        </p:spPr>
      </p:pic>
      <p:cxnSp>
        <p:nvCxnSpPr>
          <p:cNvPr id="6" name="Elbow Connector 5"/>
          <p:cNvCxnSpPr>
            <a:stCxn id="51" idx="2"/>
            <a:endCxn id="2056" idx="2"/>
          </p:cNvCxnSpPr>
          <p:nvPr/>
        </p:nvCxnSpPr>
        <p:spPr bwMode="auto">
          <a:xfrm rot="5400000" flipH="1" flipV="1">
            <a:off x="4724400" y="651798"/>
            <a:ext cx="152400" cy="3573205"/>
          </a:xfrm>
          <a:prstGeom prst="bentConnector3">
            <a:avLst>
              <a:gd name="adj1" fmla="val -487503"/>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2" name="Elbow Connector 31"/>
          <p:cNvCxnSpPr>
            <a:stCxn id="2056" idx="3"/>
            <a:endCxn id="44" idx="2"/>
          </p:cNvCxnSpPr>
          <p:nvPr/>
        </p:nvCxnSpPr>
        <p:spPr bwMode="auto">
          <a:xfrm>
            <a:off x="6858000" y="2209800"/>
            <a:ext cx="2895430" cy="152400"/>
          </a:xfrm>
          <a:prstGeom prst="bentConnector4">
            <a:avLst>
              <a:gd name="adj1" fmla="val 28218"/>
              <a:gd name="adj2" fmla="val 693750"/>
            </a:avLst>
          </a:prstGeom>
          <a:noFill/>
          <a:ln w="28575" cap="flat" cmpd="sng" algn="ctr">
            <a:solidFill>
              <a:schemeClr val="accent1">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34450908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8" name="grp GWRE App"/>
          <p:cNvGrpSpPr/>
          <p:nvPr/>
        </p:nvGrpSpPr>
        <p:grpSpPr>
          <a:xfrm>
            <a:off x="4876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sp>
        <p:nvSpPr>
          <p:cNvPr id="2056" name="rec Hidden" hidden="1"/>
          <p:cNvSpPr/>
          <p:nvPr/>
        </p:nvSpPr>
        <p:spPr bwMode="auto">
          <a:xfrm>
            <a:off x="6621206" y="19812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32" name="grp Doc Stor"/>
          <p:cNvGrpSpPr/>
          <p:nvPr/>
        </p:nvGrpSpPr>
        <p:grpSpPr>
          <a:xfrm>
            <a:off x="7772400" y="904995"/>
            <a:ext cx="2547390" cy="1981200"/>
            <a:chOff x="6284922" y="4419600"/>
            <a:chExt cx="2547390" cy="1981200"/>
          </a:xfrm>
        </p:grpSpPr>
        <p:sp>
          <p:nvSpPr>
            <p:cNvPr id="38"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9"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ounded Rectangle 40"/>
            <p:cNvSpPr/>
            <p:nvPr/>
          </p:nvSpPr>
          <p:spPr bwMode="auto">
            <a:xfrm>
              <a:off x="6284922" y="4419600"/>
              <a:ext cx="2318058"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Document Storage</a:t>
              </a:r>
            </a:p>
          </p:txBody>
        </p:sp>
      </p:grpSp>
      <p:sp>
        <p:nvSpPr>
          <p:cNvPr id="44" name="rec Hidden" hidden="1"/>
          <p:cNvSpPr/>
          <p:nvPr/>
        </p:nvSpPr>
        <p:spPr bwMode="auto">
          <a:xfrm>
            <a:off x="9296401" y="22860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5" name="rec Hidden" hidden="1"/>
          <p:cNvSpPr/>
          <p:nvPr/>
        </p:nvSpPr>
        <p:spPr bwMode="auto">
          <a:xfrm>
            <a:off x="9135806" y="19812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ec Hidden" hidden="1"/>
          <p:cNvSpPr/>
          <p:nvPr/>
        </p:nvSpPr>
        <p:spPr bwMode="auto">
          <a:xfrm>
            <a:off x="2743201"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solidFill>
                  <a:schemeClr val="accent6"/>
                </a:solidFill>
              </a:rPr>
              <a:t>Digital document storage</a:t>
            </a:r>
          </a:p>
        </p:txBody>
      </p:sp>
      <p:sp>
        <p:nvSpPr>
          <p:cNvPr id="16" name="Content Placeholder 15"/>
          <p:cNvSpPr>
            <a:spLocks noGrp="1"/>
          </p:cNvSpPr>
          <p:nvPr>
            <p:ph idx="1"/>
          </p:nvPr>
        </p:nvSpPr>
        <p:spPr>
          <a:xfrm>
            <a:off x="656059" y="4099505"/>
            <a:ext cx="8318500" cy="2286000"/>
          </a:xfrm>
        </p:spPr>
        <p:txBody>
          <a:bodyPr/>
          <a:lstStyle/>
          <a:p>
            <a:r>
              <a:rPr lang="en-US" dirty="0"/>
              <a:t>Guidewire application and document storage system both store (and synchronize) document metadata</a:t>
            </a:r>
          </a:p>
          <a:p>
            <a:r>
              <a:rPr lang="en-US" dirty="0"/>
              <a:t>Document storage system stores master copy of document</a:t>
            </a:r>
          </a:p>
          <a:p>
            <a:r>
              <a:rPr lang="en-US" dirty="0"/>
              <a:t>User system views and edits a local copy of the master document</a:t>
            </a:r>
          </a:p>
        </p:txBody>
      </p:sp>
      <p:grpSp>
        <p:nvGrpSpPr>
          <p:cNvPr id="24" name="grp User Sys"/>
          <p:cNvGrpSpPr/>
          <p:nvPr/>
        </p:nvGrpSpPr>
        <p:grpSpPr>
          <a:xfrm>
            <a:off x="2075181"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cxnSp>
        <p:nvCxnSpPr>
          <p:cNvPr id="6" name="Elbow Connector 5"/>
          <p:cNvCxnSpPr>
            <a:stCxn id="57" idx="2"/>
            <a:endCxn id="53" idx="2"/>
          </p:cNvCxnSpPr>
          <p:nvPr/>
        </p:nvCxnSpPr>
        <p:spPr bwMode="auto">
          <a:xfrm rot="16200000" flipH="1">
            <a:off x="7051731" y="-162739"/>
            <a:ext cx="8019" cy="5776956"/>
          </a:xfrm>
          <a:prstGeom prst="bentConnector3">
            <a:avLst>
              <a:gd name="adj1" fmla="val 11384163"/>
            </a:avLst>
          </a:prstGeom>
          <a:noFill/>
          <a:ln w="28575" cap="flat" cmpd="sng" algn="ctr">
            <a:solidFill>
              <a:schemeClr val="accent1">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54" name="icn Doc Metadat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4603" y="194355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Metadat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67800" y="19431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2" name="Elbow Connector 41"/>
          <p:cNvCxnSpPr>
            <a:stCxn id="2056" idx="2"/>
            <a:endCxn id="45" idx="2"/>
          </p:cNvCxnSpPr>
          <p:nvPr/>
        </p:nvCxnSpPr>
        <p:spPr bwMode="auto">
          <a:xfrm rot="16200000" flipH="1">
            <a:off x="8149303" y="1028700"/>
            <a:ext cx="12700" cy="2514600"/>
          </a:xfrm>
          <a:prstGeom prst="bentConnector3">
            <a:avLst>
              <a:gd name="adj1" fmla="val 7800000"/>
            </a:avLst>
          </a:prstGeom>
          <a:noFill/>
          <a:ln w="28575" cap="flat" cmpd="sng" algn="ctr">
            <a:solidFill>
              <a:schemeClr val="accent1">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53" name="icn Doc Cont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01200" y="1836819"/>
            <a:ext cx="686034" cy="8929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rot="16200000">
            <a:off x="9367591" y="2104281"/>
            <a:ext cx="1008160" cy="304800"/>
          </a:xfrm>
          <a:prstGeom prst="rect">
            <a:avLst/>
          </a:prstGeom>
          <a:noFill/>
        </p:spPr>
        <p:txBody>
          <a:bodyPr wrap="square" rtlCol="0">
            <a:noAutofit/>
          </a:bodyPr>
          <a:lstStyle/>
          <a:p>
            <a:r>
              <a:rPr lang="en-US" b="1" dirty="0">
                <a:solidFill>
                  <a:srgbClr val="C00000"/>
                </a:solidFill>
                <a:latin typeface="Arial" pitchFamily="32" charset="0"/>
                <a:cs typeface="Arial" pitchFamily="32" charset="0"/>
              </a:rPr>
              <a:t>master</a:t>
            </a:r>
          </a:p>
        </p:txBody>
      </p:sp>
      <p:pic>
        <p:nvPicPr>
          <p:cNvPr id="57" name="icn Doc Cont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4244" y="1828800"/>
            <a:ext cx="686034" cy="8929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8" name="TextBox 57"/>
          <p:cNvSpPr txBox="1"/>
          <p:nvPr/>
        </p:nvSpPr>
        <p:spPr>
          <a:xfrm rot="16200000">
            <a:off x="3688476" y="2138299"/>
            <a:ext cx="812478" cy="304800"/>
          </a:xfrm>
          <a:prstGeom prst="rect">
            <a:avLst/>
          </a:prstGeom>
          <a:noFill/>
        </p:spPr>
        <p:txBody>
          <a:bodyPr wrap="square" rtlCol="0">
            <a:noAutofit/>
          </a:bodyPr>
          <a:lstStyle/>
          <a:p>
            <a:pPr algn="ctr"/>
            <a:r>
              <a:rPr lang="en-US" b="1" dirty="0">
                <a:solidFill>
                  <a:srgbClr val="C00000"/>
                </a:solidFill>
                <a:latin typeface="Arial" pitchFamily="32" charset="0"/>
                <a:cs typeface="Arial" pitchFamily="32" charset="0"/>
              </a:rPr>
              <a:t>local</a:t>
            </a:r>
          </a:p>
        </p:txBody>
      </p:sp>
    </p:spTree>
    <p:extLst>
      <p:ext uri="{BB962C8B-B14F-4D97-AF65-F5344CB8AC3E}">
        <p14:creationId xmlns:p14="http://schemas.microsoft.com/office/powerpoint/2010/main" val="143816531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rec Hidden" hidden="1"/>
          <p:cNvSpPr/>
          <p:nvPr/>
        </p:nvSpPr>
        <p:spPr bwMode="auto">
          <a:xfrm>
            <a:off x="9296401" y="2286000"/>
            <a:ext cx="541595" cy="304800"/>
          </a:xfrm>
          <a:prstGeom prst="roundRect">
            <a:avLst/>
          </a:prstGeom>
          <a:solidFill>
            <a:schemeClr val="accent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5" name="rec Hidden" hidden="1"/>
          <p:cNvSpPr/>
          <p:nvPr/>
        </p:nvSpPr>
        <p:spPr bwMode="auto">
          <a:xfrm>
            <a:off x="8297606" y="2209800"/>
            <a:ext cx="541595" cy="304800"/>
          </a:xfrm>
          <a:prstGeom prst="roundRect">
            <a:avLst/>
          </a:prstGeom>
          <a:solidFill>
            <a:schemeClr val="accent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ec Hidden" hidden="1"/>
          <p:cNvSpPr/>
          <p:nvPr/>
        </p:nvSpPr>
        <p:spPr bwMode="auto">
          <a:xfrm>
            <a:off x="2743201"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6316406"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4876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sp>
        <p:nvSpPr>
          <p:cNvPr id="2" name="Title 1"/>
          <p:cNvSpPr>
            <a:spLocks noGrp="1"/>
          </p:cNvSpPr>
          <p:nvPr>
            <p:ph type="title"/>
          </p:nvPr>
        </p:nvSpPr>
        <p:spPr/>
        <p:txBody>
          <a:bodyPr/>
          <a:lstStyle/>
          <a:p>
            <a:r>
              <a:rPr lang="en-US" dirty="0">
                <a:solidFill>
                  <a:schemeClr val="accent6"/>
                </a:solidFill>
              </a:rPr>
              <a:t>Digital document production (1)</a:t>
            </a:r>
          </a:p>
        </p:txBody>
      </p:sp>
      <p:sp>
        <p:nvSpPr>
          <p:cNvPr id="16" name="Content Placeholder 15"/>
          <p:cNvSpPr>
            <a:spLocks noGrp="1"/>
          </p:cNvSpPr>
          <p:nvPr>
            <p:ph idx="1"/>
          </p:nvPr>
        </p:nvSpPr>
        <p:spPr>
          <a:xfrm>
            <a:off x="658368" y="4130840"/>
            <a:ext cx="8624887" cy="2286000"/>
          </a:xfrm>
        </p:spPr>
        <p:txBody>
          <a:bodyPr/>
          <a:lstStyle/>
          <a:p>
            <a:r>
              <a:rPr lang="en-US" dirty="0"/>
              <a:t>Guidewire application sends object data and a template identifier to the document production system</a:t>
            </a:r>
          </a:p>
          <a:p>
            <a:r>
              <a:rPr lang="en-US" dirty="0"/>
              <a:t>Document production system stores the document template</a:t>
            </a:r>
          </a:p>
          <a:p>
            <a:r>
              <a:rPr lang="en-US" dirty="0"/>
              <a:t>Document production system creates document and makes the document visible to user system</a:t>
            </a:r>
          </a:p>
        </p:txBody>
      </p:sp>
      <p:grpSp>
        <p:nvGrpSpPr>
          <p:cNvPr id="24" name="grp User Sys"/>
          <p:cNvGrpSpPr/>
          <p:nvPr/>
        </p:nvGrpSpPr>
        <p:grpSpPr>
          <a:xfrm>
            <a:off x="2075181"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grpSp>
        <p:nvGrpSpPr>
          <p:cNvPr id="33" name="grp Doc Prod"/>
          <p:cNvGrpSpPr/>
          <p:nvPr/>
        </p:nvGrpSpPr>
        <p:grpSpPr>
          <a:xfrm>
            <a:off x="7781925" y="927100"/>
            <a:ext cx="2483932" cy="1981200"/>
            <a:chOff x="2946487" y="1821047"/>
            <a:chExt cx="2483932" cy="1981200"/>
          </a:xfrm>
        </p:grpSpPr>
        <p:sp>
          <p:nvSpPr>
            <p:cNvPr id="34"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5"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Rounded Rectangle 35"/>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Production</a:t>
              </a:r>
            </a:p>
          </p:txBody>
        </p:sp>
      </p:grpSp>
      <p:pic>
        <p:nvPicPr>
          <p:cNvPr id="37" name="icn Word  Temaple" descr="http://yourfileinfo.com/images/content/extensions/dotx-1756.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22106" y="1754506"/>
            <a:ext cx="912494" cy="91249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Elbow Connector 5"/>
          <p:cNvCxnSpPr>
            <a:stCxn id="51" idx="2"/>
            <a:endCxn id="44" idx="2"/>
          </p:cNvCxnSpPr>
          <p:nvPr/>
        </p:nvCxnSpPr>
        <p:spPr bwMode="auto">
          <a:xfrm rot="16200000" flipH="1">
            <a:off x="6252498" y="-723900"/>
            <a:ext cx="76200" cy="6553200"/>
          </a:xfrm>
          <a:prstGeom prst="bentConnector3">
            <a:avLst>
              <a:gd name="adj1" fmla="val 1487500"/>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40" name="icn Word Doc" descr="http://yourfileinfo.com/images/content/extensions/docx-142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2301" y="2670340"/>
            <a:ext cx="912494" cy="9124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42" name="Elbow Connector 41"/>
          <p:cNvCxnSpPr>
            <a:stCxn id="30" idx="2"/>
            <a:endCxn id="45" idx="2"/>
          </p:cNvCxnSpPr>
          <p:nvPr/>
        </p:nvCxnSpPr>
        <p:spPr bwMode="auto">
          <a:xfrm rot="5400000" flipH="1" flipV="1">
            <a:off x="7142642" y="1242093"/>
            <a:ext cx="153254" cy="2698268"/>
          </a:xfrm>
          <a:prstGeom prst="bentConnector3">
            <a:avLst>
              <a:gd name="adj1" fmla="val -37969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56"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1800" y="2581275"/>
            <a:ext cx="861320" cy="9716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597832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 name="rec Hidden" hidden="1"/>
          <p:cNvSpPr/>
          <p:nvPr/>
        </p:nvSpPr>
        <p:spPr bwMode="auto">
          <a:xfrm>
            <a:off x="2743201"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6316406"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4876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sp>
        <p:nvSpPr>
          <p:cNvPr id="2" name="Title 1"/>
          <p:cNvSpPr>
            <a:spLocks noGrp="1"/>
          </p:cNvSpPr>
          <p:nvPr>
            <p:ph type="title"/>
          </p:nvPr>
        </p:nvSpPr>
        <p:spPr/>
        <p:txBody>
          <a:bodyPr/>
          <a:lstStyle/>
          <a:p>
            <a:r>
              <a:rPr lang="en-US" dirty="0">
                <a:solidFill>
                  <a:schemeClr val="accent6"/>
                </a:solidFill>
              </a:rPr>
              <a:t>Digital document production (2)</a:t>
            </a:r>
          </a:p>
        </p:txBody>
      </p:sp>
      <p:sp>
        <p:nvSpPr>
          <p:cNvPr id="16" name="Content Placeholder 15"/>
          <p:cNvSpPr>
            <a:spLocks noGrp="1"/>
          </p:cNvSpPr>
          <p:nvPr>
            <p:ph idx="1"/>
          </p:nvPr>
        </p:nvSpPr>
        <p:spPr>
          <a:xfrm>
            <a:off x="658368" y="4173769"/>
            <a:ext cx="8318500" cy="2286000"/>
          </a:xfrm>
        </p:spPr>
        <p:txBody>
          <a:bodyPr/>
          <a:lstStyle/>
          <a:p>
            <a:r>
              <a:rPr lang="en-US" dirty="0"/>
              <a:t>Guidewire application stores a document template</a:t>
            </a:r>
          </a:p>
          <a:p>
            <a:r>
              <a:rPr lang="en-US" dirty="0"/>
              <a:t>Guidewire application creates a document with object data</a:t>
            </a:r>
          </a:p>
          <a:p>
            <a:r>
              <a:rPr lang="en-US" dirty="0"/>
              <a:t>Document visible to the user system</a:t>
            </a:r>
          </a:p>
        </p:txBody>
      </p:sp>
      <p:grpSp>
        <p:nvGrpSpPr>
          <p:cNvPr id="24" name="grp User Sys"/>
          <p:cNvGrpSpPr/>
          <p:nvPr/>
        </p:nvGrpSpPr>
        <p:grpSpPr>
          <a:xfrm>
            <a:off x="2075181"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cxnSp>
        <p:nvCxnSpPr>
          <p:cNvPr id="6" name="Elbow Connector 5"/>
          <p:cNvCxnSpPr>
            <a:stCxn id="51" idx="2"/>
            <a:endCxn id="30" idx="2"/>
          </p:cNvCxnSpPr>
          <p:nvPr/>
        </p:nvCxnSpPr>
        <p:spPr bwMode="auto">
          <a:xfrm rot="16200000" flipH="1">
            <a:off x="4365439" y="1163159"/>
            <a:ext cx="153254" cy="2856137"/>
          </a:xfrm>
          <a:prstGeom prst="bentConnector3">
            <a:avLst>
              <a:gd name="adj1" fmla="val 723778"/>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9"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5384" y="2703872"/>
            <a:ext cx="855016" cy="85501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1507184"/>
            <a:ext cx="855016" cy="85501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6046" y="1981200"/>
            <a:ext cx="810554"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084568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 name="rec Hidden" hidden="1"/>
          <p:cNvSpPr/>
          <p:nvPr/>
        </p:nvSpPr>
        <p:spPr bwMode="auto">
          <a:xfrm>
            <a:off x="2743201"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6316406"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4876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sp>
        <p:nvSpPr>
          <p:cNvPr id="2" name="Title 1"/>
          <p:cNvSpPr>
            <a:spLocks noGrp="1"/>
          </p:cNvSpPr>
          <p:nvPr>
            <p:ph type="title"/>
          </p:nvPr>
        </p:nvSpPr>
        <p:spPr/>
        <p:txBody>
          <a:bodyPr/>
          <a:lstStyle/>
          <a:p>
            <a:r>
              <a:rPr lang="en-US" dirty="0">
                <a:solidFill>
                  <a:schemeClr val="accent6"/>
                </a:solidFill>
              </a:rPr>
              <a:t>Digital document production (3)</a:t>
            </a:r>
          </a:p>
        </p:txBody>
      </p:sp>
      <p:sp>
        <p:nvSpPr>
          <p:cNvPr id="16" name="Content Placeholder 15"/>
          <p:cNvSpPr>
            <a:spLocks noGrp="1"/>
          </p:cNvSpPr>
          <p:nvPr>
            <p:ph idx="1"/>
          </p:nvPr>
        </p:nvSpPr>
        <p:spPr>
          <a:xfrm>
            <a:off x="658368" y="4186139"/>
            <a:ext cx="8318500" cy="2286000"/>
          </a:xfrm>
        </p:spPr>
        <p:txBody>
          <a:bodyPr/>
          <a:lstStyle/>
          <a:p>
            <a:r>
              <a:rPr lang="en-US" dirty="0"/>
              <a:t>Guidewire application stores the document template</a:t>
            </a:r>
          </a:p>
          <a:p>
            <a:r>
              <a:rPr lang="en-US" dirty="0"/>
              <a:t>Guidewire application sends a document template and object data to the user system</a:t>
            </a:r>
          </a:p>
          <a:p>
            <a:r>
              <a:rPr lang="en-US" dirty="0"/>
              <a:t>User system creates document</a:t>
            </a:r>
          </a:p>
        </p:txBody>
      </p:sp>
      <p:grpSp>
        <p:nvGrpSpPr>
          <p:cNvPr id="24" name="grp User Sys"/>
          <p:cNvGrpSpPr/>
          <p:nvPr/>
        </p:nvGrpSpPr>
        <p:grpSpPr>
          <a:xfrm>
            <a:off x="2075181"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cxnSp>
        <p:nvCxnSpPr>
          <p:cNvPr id="6" name="Elbow Connector 5"/>
          <p:cNvCxnSpPr>
            <a:stCxn id="51" idx="2"/>
            <a:endCxn id="30" idx="2"/>
          </p:cNvCxnSpPr>
          <p:nvPr/>
        </p:nvCxnSpPr>
        <p:spPr bwMode="auto">
          <a:xfrm rot="16200000" flipH="1">
            <a:off x="4365439" y="1163159"/>
            <a:ext cx="153254" cy="2856137"/>
          </a:xfrm>
          <a:prstGeom prst="bentConnector3">
            <a:avLst>
              <a:gd name="adj1" fmla="val 730558"/>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18" name="icn Word  Temaple" descr="http://yourfileinfo.com/images/content/extensions/dotx-175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5525" y="2707006"/>
            <a:ext cx="912494" cy="912495"/>
          </a:xfrm>
          <a:prstGeom prst="rect">
            <a:avLst/>
          </a:prstGeom>
          <a:noFill/>
          <a:extLst>
            <a:ext uri="{909E8E84-426E-40DD-AFC4-6F175D3DCCD1}">
              <a14:hiddenFill xmlns:a14="http://schemas.microsoft.com/office/drawing/2010/main">
                <a:solidFill>
                  <a:srgbClr val="FFFFFF"/>
                </a:solidFill>
              </a14:hiddenFill>
            </a:ext>
          </a:extLst>
        </p:spPr>
      </p:pic>
      <p:pic>
        <p:nvPicPr>
          <p:cNvPr id="19" name="icn Word Doc" descr="http://yourfileinfo.com/images/content/extensions/docx-1429.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867876"/>
            <a:ext cx="912494" cy="9124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icn Word  Temaple" descr="http://yourfileinfo.com/images/content/extensions/dotx-175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5216" y="1867876"/>
            <a:ext cx="912494" cy="91249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bwMode="auto">
          <a:xfrm flipH="1">
            <a:off x="3303141" y="1981201"/>
            <a:ext cx="456247" cy="1"/>
          </a:xfrm>
          <a:prstGeom prst="straightConnector1">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46"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3066930"/>
            <a:ext cx="861320" cy="97167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089964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905" y="2685400"/>
            <a:ext cx="4876800" cy="370522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solidFill>
                  <a:schemeClr val="accent6"/>
                </a:solidFill>
              </a:rPr>
              <a:t>View and editing documents: PolicyCenter</a:t>
            </a:r>
          </a:p>
        </p:txBody>
      </p:sp>
      <p:sp>
        <p:nvSpPr>
          <p:cNvPr id="10" name="Content Placeholder 9"/>
          <p:cNvSpPr>
            <a:spLocks noGrp="1"/>
          </p:cNvSpPr>
          <p:nvPr>
            <p:ph idx="1"/>
          </p:nvPr>
        </p:nvSpPr>
        <p:spPr/>
        <p:txBody>
          <a:bodyPr/>
          <a:lstStyle/>
          <a:p>
            <a:r>
              <a:rPr lang="en-US" dirty="0"/>
              <a:t>Actions </a:t>
            </a:r>
            <a:r>
              <a:rPr lang="en-US" dirty="0">
                <a:sym typeface="Wingdings"/>
              </a:rPr>
              <a:t> </a:t>
            </a:r>
            <a:r>
              <a:rPr lang="en-US" dirty="0"/>
              <a:t>Documents</a:t>
            </a:r>
          </a:p>
          <a:p>
            <a:r>
              <a:rPr lang="en-US" dirty="0"/>
              <a:t>Search</a:t>
            </a:r>
          </a:p>
          <a:p>
            <a:r>
              <a:rPr lang="en-US" dirty="0"/>
              <a:t>View and edit documents </a:t>
            </a:r>
          </a:p>
        </p:txBody>
      </p:sp>
      <p:pic>
        <p:nvPicPr>
          <p:cNvPr id="4" name="Picture 3"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48801" y="5506615"/>
            <a:ext cx="958039" cy="926570"/>
          </a:xfrm>
          <a:prstGeom prst="rect">
            <a:avLst/>
          </a:prstGeom>
          <a:effectLst>
            <a:outerShdw blurRad="50800" dist="38100" dir="2700000" algn="tl" rotWithShape="0">
              <a:prstClr val="black">
                <a:alpha val="40000"/>
              </a:prstClr>
            </a:outerShdw>
          </a:effectLst>
        </p:spPr>
      </p:pic>
      <p:pic>
        <p:nvPicPr>
          <p:cNvPr id="7172" name="Picture 4" descr="C:\Users\sluersen\AppData\Local\Temp\SNAGHTMLae4dacd.PNG"/>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7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5486400" y="914400"/>
            <a:ext cx="4793671" cy="3048000"/>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sp>
        <p:nvSpPr>
          <p:cNvPr id="2" name="Rounded Rectangle 1"/>
          <p:cNvSpPr/>
          <p:nvPr/>
        </p:nvSpPr>
        <p:spPr bwMode="auto">
          <a:xfrm>
            <a:off x="4701411" y="5369455"/>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Arc 8"/>
          <p:cNvSpPr/>
          <p:nvPr/>
        </p:nvSpPr>
        <p:spPr bwMode="auto">
          <a:xfrm rot="17254141">
            <a:off x="5083671" y="4931864"/>
            <a:ext cx="5335189" cy="1828800"/>
          </a:xfrm>
          <a:prstGeom prst="arc">
            <a:avLst>
              <a:gd name="adj1" fmla="val 15726916"/>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Tree>
    <p:extLst>
      <p:ext uri="{BB962C8B-B14F-4D97-AF65-F5344CB8AC3E}">
        <p14:creationId xmlns:p14="http://schemas.microsoft.com/office/powerpoint/2010/main" val="19801055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9" descr="C:\Users\sluersen\AppData\Local\Temp\SNAGHTMLb6a184c.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5399476" y="914401"/>
            <a:ext cx="4887524" cy="2926953"/>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4906" y="3166556"/>
            <a:ext cx="3705225" cy="321945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solidFill>
                  <a:schemeClr val="accent6"/>
                </a:solidFill>
              </a:rPr>
              <a:t>View and editing documents: ClaimCenter</a:t>
            </a:r>
          </a:p>
        </p:txBody>
      </p:sp>
      <p:sp>
        <p:nvSpPr>
          <p:cNvPr id="10" name="Content Placeholder 9"/>
          <p:cNvSpPr>
            <a:spLocks noGrp="1"/>
          </p:cNvSpPr>
          <p:nvPr>
            <p:ph idx="1"/>
          </p:nvPr>
        </p:nvSpPr>
        <p:spPr/>
        <p:txBody>
          <a:bodyPr/>
          <a:lstStyle/>
          <a:p>
            <a:r>
              <a:rPr lang="en-US" dirty="0"/>
              <a:t>Actions </a:t>
            </a:r>
            <a:r>
              <a:rPr lang="en-US" dirty="0">
                <a:sym typeface="Wingdings"/>
              </a:rPr>
              <a:t> </a:t>
            </a:r>
            <a:r>
              <a:rPr lang="en-US" dirty="0"/>
              <a:t>Documents</a:t>
            </a:r>
          </a:p>
          <a:p>
            <a:r>
              <a:rPr lang="en-US" dirty="0"/>
              <a:t>Search</a:t>
            </a:r>
          </a:p>
          <a:p>
            <a:r>
              <a:rPr lang="en-US" dirty="0"/>
              <a:t>View and edit documents </a:t>
            </a:r>
          </a:p>
        </p:txBody>
      </p:sp>
      <p:sp>
        <p:nvSpPr>
          <p:cNvPr id="2" name="Rounded Rectangle 1"/>
          <p:cNvSpPr/>
          <p:nvPr/>
        </p:nvSpPr>
        <p:spPr bwMode="auto">
          <a:xfrm>
            <a:off x="4671104" y="5636486"/>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25944" y="5475442"/>
            <a:ext cx="958039" cy="926570"/>
          </a:xfrm>
          <a:prstGeom prst="rect">
            <a:avLst/>
          </a:prstGeom>
          <a:effectLst>
            <a:outerShdw blurRad="50800" dist="38100" dir="2700000" algn="tl" rotWithShape="0">
              <a:prstClr val="black">
                <a:alpha val="40000"/>
              </a:prstClr>
            </a:outerShdw>
          </a:effectLst>
        </p:spPr>
      </p:pic>
      <p:sp>
        <p:nvSpPr>
          <p:cNvPr id="13" name="Arc 12"/>
          <p:cNvSpPr/>
          <p:nvPr/>
        </p:nvSpPr>
        <p:spPr bwMode="auto">
          <a:xfrm rot="17346155">
            <a:off x="5005535" y="5340872"/>
            <a:ext cx="5565015" cy="1828800"/>
          </a:xfrm>
          <a:prstGeom prst="arc">
            <a:avLst>
              <a:gd name="adj1" fmla="val 15829303"/>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Tree>
    <p:extLst>
      <p:ext uri="{BB962C8B-B14F-4D97-AF65-F5344CB8AC3E}">
        <p14:creationId xmlns:p14="http://schemas.microsoft.com/office/powerpoint/2010/main" val="30148143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6" name="Picture 4" descr="C:\Users\sluersen\AppData\Local\Temp\SNAGHTMLb08f6a7.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1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5332114" y="1066800"/>
            <a:ext cx="4880572" cy="3712572"/>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1" y="3349626"/>
            <a:ext cx="4810125" cy="303847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solidFill>
                  <a:schemeClr val="accent6"/>
                </a:solidFill>
              </a:rPr>
              <a:t>View and editing documents: BillingCenter</a:t>
            </a:r>
          </a:p>
        </p:txBody>
      </p:sp>
      <p:sp>
        <p:nvSpPr>
          <p:cNvPr id="10" name="Content Placeholder 9"/>
          <p:cNvSpPr>
            <a:spLocks noGrp="1"/>
          </p:cNvSpPr>
          <p:nvPr>
            <p:ph idx="1"/>
          </p:nvPr>
        </p:nvSpPr>
        <p:spPr/>
        <p:txBody>
          <a:bodyPr/>
          <a:lstStyle/>
          <a:p>
            <a:r>
              <a:rPr lang="en-US" dirty="0"/>
              <a:t>Actions </a:t>
            </a:r>
            <a:r>
              <a:rPr lang="en-US" dirty="0">
                <a:sym typeface="Wingdings"/>
              </a:rPr>
              <a:t> </a:t>
            </a:r>
            <a:r>
              <a:rPr lang="en-US" dirty="0"/>
              <a:t>Documents</a:t>
            </a:r>
          </a:p>
          <a:p>
            <a:r>
              <a:rPr lang="en-US" dirty="0"/>
              <a:t>Search</a:t>
            </a:r>
          </a:p>
          <a:p>
            <a:r>
              <a:rPr lang="en-US" dirty="0"/>
              <a:t>View and edit documents </a:t>
            </a:r>
          </a:p>
        </p:txBody>
      </p:sp>
      <p:sp>
        <p:nvSpPr>
          <p:cNvPr id="2" name="Rounded Rectangle 1"/>
          <p:cNvSpPr/>
          <p:nvPr/>
        </p:nvSpPr>
        <p:spPr bwMode="auto">
          <a:xfrm>
            <a:off x="4698236" y="5624258"/>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Arc 8"/>
          <p:cNvSpPr/>
          <p:nvPr/>
        </p:nvSpPr>
        <p:spPr bwMode="auto">
          <a:xfrm rot="17078864">
            <a:off x="5030692" y="5246189"/>
            <a:ext cx="5335189" cy="1828800"/>
          </a:xfrm>
          <a:prstGeom prst="arc">
            <a:avLst>
              <a:gd name="adj1" fmla="val 15982774"/>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3684" y="5455405"/>
            <a:ext cx="979516" cy="94734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3314789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tx1"/>
                </a:solidFill>
              </a:rPr>
              <a:t>Document management system (DMS) integration</a:t>
            </a:r>
          </a:p>
          <a:p>
            <a:r>
              <a:rPr lang="en-US" dirty="0">
                <a:solidFill>
                  <a:schemeClr val="bg2">
                    <a:lumMod val="75000"/>
                  </a:schemeClr>
                </a:solidFill>
              </a:rPr>
              <a:t>IDocumentContentSource plugin</a:t>
            </a:r>
          </a:p>
          <a:p>
            <a:r>
              <a:rPr lang="en-US" dirty="0">
                <a:solidFill>
                  <a:schemeClr val="bg2">
                    <a:lumMod val="75000"/>
                  </a:schemeClr>
                </a:solidFill>
              </a:rPr>
              <a:t>IDocumentMetadataSource plugin</a:t>
            </a:r>
          </a:p>
          <a:p>
            <a:r>
              <a:rPr lang="en-US" dirty="0">
                <a:solidFill>
                  <a:schemeClr val="bg2">
                    <a:lumMod val="75000"/>
                  </a:schemeClr>
                </a:solidFill>
              </a:rPr>
              <a:t>DMS integration configurations</a:t>
            </a:r>
          </a:p>
          <a:p>
            <a:r>
              <a:rPr lang="en-US" dirty="0">
                <a:solidFill>
                  <a:schemeClr val="bg2">
                    <a:lumMod val="75000"/>
                  </a:schemeClr>
                </a:solidFill>
              </a:rPr>
              <a:t>Document related SOAP APIs</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359587795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Document management system (DMS) provides :</a:t>
            </a:r>
          </a:p>
        </p:txBody>
      </p:sp>
      <p:sp>
        <p:nvSpPr>
          <p:cNvPr id="5" name="Content Placeholder 4"/>
          <p:cNvSpPr>
            <a:spLocks noGrp="1"/>
          </p:cNvSpPr>
          <p:nvPr>
            <p:ph sz="half" idx="1"/>
          </p:nvPr>
        </p:nvSpPr>
        <p:spPr/>
        <p:txBody>
          <a:bodyPr/>
          <a:lstStyle/>
          <a:p>
            <a:r>
              <a:rPr lang="en-US" dirty="0"/>
              <a:t>Document storage</a:t>
            </a:r>
          </a:p>
          <a:p>
            <a:pPr lvl="1"/>
            <a:r>
              <a:rPr lang="en-US" dirty="0"/>
              <a:t>Document content</a:t>
            </a:r>
          </a:p>
          <a:p>
            <a:pPr lvl="2"/>
            <a:r>
              <a:rPr lang="en-US" dirty="0"/>
              <a:t>The digital content of a document file</a:t>
            </a:r>
          </a:p>
          <a:p>
            <a:pPr lvl="1"/>
            <a:r>
              <a:rPr lang="en-US" dirty="0"/>
              <a:t>Document metadata</a:t>
            </a:r>
          </a:p>
          <a:p>
            <a:pPr lvl="2"/>
            <a:r>
              <a:rPr lang="en-US" dirty="0"/>
              <a:t>Date created, Date modified, Author(s)</a:t>
            </a:r>
          </a:p>
          <a:p>
            <a:pPr lvl="2"/>
            <a:r>
              <a:rPr lang="en-US" dirty="0"/>
              <a:t>Tags, Categories, Title</a:t>
            </a:r>
            <a:r>
              <a:rPr lang="en-US" dirty="0" smtClean="0"/>
              <a:t>, Subject</a:t>
            </a:r>
            <a:endParaRPr lang="en-US" dirty="0"/>
          </a:p>
          <a:p>
            <a:endParaRPr lang="en-US" dirty="0"/>
          </a:p>
          <a:p>
            <a:r>
              <a:rPr lang="en-US" dirty="0"/>
              <a:t>Document Services</a:t>
            </a:r>
          </a:p>
          <a:p>
            <a:pPr lvl="1"/>
            <a:r>
              <a:rPr lang="en-US" dirty="0"/>
              <a:t>Search and retrieval</a:t>
            </a:r>
          </a:p>
          <a:p>
            <a:pPr lvl="1"/>
            <a:r>
              <a:rPr lang="en-US" dirty="0"/>
              <a:t>Add and Update</a:t>
            </a:r>
          </a:p>
          <a:p>
            <a:pPr lvl="1"/>
            <a:r>
              <a:rPr lang="en-US" dirty="0"/>
              <a:t>Indexing</a:t>
            </a:r>
          </a:p>
          <a:p>
            <a:pPr lvl="1"/>
            <a:r>
              <a:rPr lang="en-US" dirty="0"/>
              <a:t>Versioning</a:t>
            </a:r>
          </a:p>
          <a:p>
            <a:pPr lvl="1"/>
            <a:r>
              <a:rPr lang="en-US" dirty="0"/>
              <a:t>Workflow management</a:t>
            </a:r>
          </a:p>
          <a:p>
            <a:pPr lvl="1"/>
            <a:r>
              <a:rPr lang="en-US" dirty="0"/>
              <a:t>Security</a:t>
            </a:r>
          </a:p>
          <a:p>
            <a:pPr lvl="1"/>
            <a:endParaRPr lang="en-US" dirty="0"/>
          </a:p>
          <a:p>
            <a:pPr lvl="1"/>
            <a:endParaRPr lang="en-US"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460" y="3048000"/>
            <a:ext cx="2670280" cy="34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95217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6848" y="914400"/>
            <a:ext cx="1884825" cy="18821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dirty="0">
                <a:solidFill>
                  <a:schemeClr val="accent6"/>
                </a:solidFill>
              </a:rPr>
              <a:t>Guidewire default DMS implementations</a:t>
            </a:r>
          </a:p>
        </p:txBody>
      </p:sp>
      <p:sp>
        <p:nvSpPr>
          <p:cNvPr id="4" name="Content Placeholder 3"/>
          <p:cNvSpPr>
            <a:spLocks noGrp="1"/>
          </p:cNvSpPr>
          <p:nvPr>
            <p:ph sz="half" idx="1"/>
          </p:nvPr>
        </p:nvSpPr>
        <p:spPr>
          <a:xfrm>
            <a:off x="914400" y="914400"/>
            <a:ext cx="5881690" cy="5486400"/>
          </a:xfrm>
        </p:spPr>
        <p:txBody>
          <a:bodyPr/>
          <a:lstStyle/>
          <a:p>
            <a:r>
              <a:rPr lang="en-US" dirty="0"/>
              <a:t>Default DMS implementation</a:t>
            </a:r>
          </a:p>
          <a:p>
            <a:pPr lvl="1"/>
            <a:r>
              <a:rPr lang="en-US" dirty="0"/>
              <a:t>Provided and enabled</a:t>
            </a:r>
          </a:p>
          <a:p>
            <a:pPr lvl="1"/>
            <a:r>
              <a:rPr lang="en-US" dirty="0" err="1"/>
              <a:t>xx_document</a:t>
            </a:r>
            <a:r>
              <a:rPr lang="en-US" dirty="0"/>
              <a:t> table in Guidewire database stores document metadata</a:t>
            </a:r>
          </a:p>
          <a:p>
            <a:pPr lvl="1"/>
            <a:r>
              <a:rPr lang="en-US" dirty="0"/>
              <a:t>Guidewire application server file system stores document contents</a:t>
            </a:r>
          </a:p>
          <a:p>
            <a:r>
              <a:rPr lang="en-US" dirty="0"/>
              <a:t>Alternate DMS implementation </a:t>
            </a:r>
          </a:p>
          <a:p>
            <a:pPr lvl="1"/>
            <a:r>
              <a:rPr lang="en-US" dirty="0"/>
              <a:t>Proof of Concept (demo)</a:t>
            </a:r>
          </a:p>
          <a:p>
            <a:pPr lvl="1"/>
            <a:r>
              <a:rPr lang="en-US" dirty="0"/>
              <a:t>Provided, but NOT enabled</a:t>
            </a:r>
          </a:p>
          <a:p>
            <a:pPr lvl="1"/>
            <a:r>
              <a:rPr lang="en-US" dirty="0"/>
              <a:t>User system stores metadata as a serialized Document entity in local file system</a:t>
            </a:r>
          </a:p>
          <a:p>
            <a:pPr lvl="1"/>
            <a:r>
              <a:rPr lang="en-US" dirty="0"/>
              <a:t>Guidewire application server file system stores document contents</a:t>
            </a:r>
          </a:p>
          <a:p>
            <a:r>
              <a:rPr lang="en-US" dirty="0"/>
              <a:t>Neither implementation intended for production use</a:t>
            </a:r>
          </a:p>
          <a:p>
            <a:endParaRPr lang="en-US"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9000" y="3849404"/>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21986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chemeClr val="accent6"/>
                </a:solidFill>
              </a:rPr>
              <a:t>DMS integration plugins</a:t>
            </a:r>
          </a:p>
        </p:txBody>
      </p:sp>
      <p:sp>
        <p:nvSpPr>
          <p:cNvPr id="8" name="Content Placeholder 7"/>
          <p:cNvSpPr>
            <a:spLocks noGrp="1"/>
          </p:cNvSpPr>
          <p:nvPr>
            <p:ph sz="half" idx="1"/>
          </p:nvPr>
        </p:nvSpPr>
        <p:spPr>
          <a:xfrm>
            <a:off x="990600" y="858832"/>
            <a:ext cx="5881690" cy="5486400"/>
          </a:xfrm>
        </p:spPr>
        <p:txBody>
          <a:bodyPr/>
          <a:lstStyle/>
          <a:p>
            <a:r>
              <a:rPr lang="en-US" b="1" dirty="0">
                <a:latin typeface="Courier New" pitchFamily="49" charset="0"/>
                <a:cs typeface="Courier New" pitchFamily="49" charset="0"/>
              </a:rPr>
              <a:t>IDocumentContentSource</a:t>
            </a:r>
            <a:r>
              <a:rPr lang="en-US" dirty="0"/>
              <a:t> plugin handles storage and retrieval of document content</a:t>
            </a:r>
          </a:p>
          <a:p>
            <a:pPr lvl="1"/>
            <a:r>
              <a:rPr lang="en-US" dirty="0"/>
              <a:t>Optionally stores metadata</a:t>
            </a:r>
          </a:p>
          <a:p>
            <a:pPr lvl="1"/>
            <a:r>
              <a:rPr lang="en-US" dirty="0"/>
              <a:t>More efficient if same system holds content and metadata</a:t>
            </a:r>
          </a:p>
          <a:p>
            <a:r>
              <a:rPr lang="en-US" b="1" dirty="0">
                <a:latin typeface="Courier New" pitchFamily="49" charset="0"/>
                <a:cs typeface="Courier New" pitchFamily="49" charset="0"/>
              </a:rPr>
              <a:t>IDocumentMetadataSource</a:t>
            </a:r>
            <a:r>
              <a:rPr lang="en-US" dirty="0"/>
              <a:t> plugin manages document metadata and document searches</a:t>
            </a:r>
          </a:p>
          <a:p>
            <a:r>
              <a:rPr lang="en-US" dirty="0" smtClean="0"/>
              <a:t>Implementing </a:t>
            </a:r>
            <a:r>
              <a:rPr lang="en-US" b="1" dirty="0" err="1" smtClean="0">
                <a:latin typeface="Courier New" pitchFamily="49" charset="0"/>
                <a:cs typeface="Courier New" pitchFamily="49" charset="0"/>
              </a:rPr>
              <a:t>IDocumentMetadataSource</a:t>
            </a:r>
            <a:r>
              <a:rPr lang="en-US" dirty="0" smtClean="0"/>
              <a:t> plugin is optional, if not implemented</a:t>
            </a:r>
            <a:endParaRPr lang="en-US" dirty="0"/>
          </a:p>
          <a:p>
            <a:pPr lvl="1"/>
            <a:r>
              <a:rPr lang="en-US" dirty="0"/>
              <a:t>Application stores document metadata in its database</a:t>
            </a:r>
          </a:p>
          <a:p>
            <a:pPr lvl="1"/>
            <a:r>
              <a:rPr lang="en-US" dirty="0"/>
              <a:t>Eliminates runtime dependency on DMS for document metadata and search</a:t>
            </a:r>
          </a:p>
          <a:p>
            <a:pPr lvl="1"/>
            <a:endParaRPr lang="en-US" dirty="0"/>
          </a:p>
        </p:txBody>
      </p:sp>
      <p:pic>
        <p:nvPicPr>
          <p:cNvPr id="4"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801" y="858832"/>
            <a:ext cx="1218012" cy="14583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7801" y="3124200"/>
            <a:ext cx="1361168" cy="16080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860023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DMS integration and Document IDs</a:t>
            </a:r>
          </a:p>
        </p:txBody>
      </p:sp>
      <p:sp>
        <p:nvSpPr>
          <p:cNvPr id="3" name="Content Placeholder 2"/>
          <p:cNvSpPr>
            <a:spLocks noGrp="1"/>
          </p:cNvSpPr>
          <p:nvPr>
            <p:ph sz="half" idx="1"/>
          </p:nvPr>
        </p:nvSpPr>
        <p:spPr/>
        <p:txBody>
          <a:bodyPr/>
          <a:lstStyle/>
          <a:p>
            <a:r>
              <a:rPr lang="en-US" dirty="0"/>
              <a:t>Unique identifier for a single document in the DMS</a:t>
            </a:r>
            <a:br>
              <a:rPr lang="en-US" dirty="0"/>
            </a:br>
            <a:endParaRPr lang="en-US" dirty="0"/>
          </a:p>
          <a:p>
            <a:r>
              <a:rPr lang="en-US" dirty="0"/>
              <a:t>If versioning supported, then PublicID does not change</a:t>
            </a:r>
          </a:p>
        </p:txBody>
      </p:sp>
      <p:sp>
        <p:nvSpPr>
          <p:cNvPr id="8" name="Content Placeholder 7"/>
          <p:cNvSpPr>
            <a:spLocks noGrp="1"/>
          </p:cNvSpPr>
          <p:nvPr>
            <p:ph sz="half" idx="10"/>
          </p:nvPr>
        </p:nvSpPr>
        <p:spPr/>
        <p:txBody>
          <a:bodyPr/>
          <a:lstStyle/>
          <a:p>
            <a:r>
              <a:rPr lang="en-US" dirty="0"/>
              <a:t>Unique identifier for a single version of a single document in the DMS</a:t>
            </a:r>
          </a:p>
          <a:p>
            <a:r>
              <a:rPr lang="en-US" dirty="0"/>
              <a:t>If versioning supported, </a:t>
            </a:r>
            <a:r>
              <a:rPr lang="en-US" dirty="0" err="1"/>
              <a:t>DocUID</a:t>
            </a:r>
            <a:r>
              <a:rPr lang="en-US" dirty="0"/>
              <a:t> most likely changes</a:t>
            </a:r>
          </a:p>
        </p:txBody>
      </p:sp>
      <p:sp>
        <p:nvSpPr>
          <p:cNvPr id="7" name="Content Placeholder 6"/>
          <p:cNvSpPr>
            <a:spLocks noGrp="1"/>
          </p:cNvSpPr>
          <p:nvPr>
            <p:ph sz="half" idx="2"/>
          </p:nvPr>
        </p:nvSpPr>
        <p:spPr/>
        <p:txBody>
          <a:bodyPr/>
          <a:lstStyle/>
          <a:p>
            <a:r>
              <a:rPr lang="en-US" dirty="0"/>
              <a:t>Internal Guidewire application property</a:t>
            </a:r>
            <a:br>
              <a:rPr lang="en-US" dirty="0"/>
            </a:br>
            <a:endParaRPr lang="en-US" dirty="0"/>
          </a:p>
          <a:p>
            <a:r>
              <a:rPr lang="en-US" dirty="0"/>
              <a:t>Not used for DMS </a:t>
            </a:r>
          </a:p>
          <a:p>
            <a:r>
              <a:rPr lang="en-US" dirty="0"/>
              <a:t>Not used for versioning</a:t>
            </a:r>
            <a:br>
              <a:rPr lang="en-US" dirty="0"/>
            </a:br>
            <a:endParaRPr lang="en-US" dirty="0"/>
          </a:p>
        </p:txBody>
      </p:sp>
      <p:sp>
        <p:nvSpPr>
          <p:cNvPr id="9" name="Subtitle 8"/>
          <p:cNvSpPr>
            <a:spLocks noGrp="1"/>
          </p:cNvSpPr>
          <p:nvPr>
            <p:ph type="subTitle" idx="11"/>
          </p:nvPr>
        </p:nvSpPr>
        <p:spPr/>
        <p:txBody>
          <a:bodyPr/>
          <a:lstStyle/>
          <a:p>
            <a:r>
              <a:rPr lang="en-US" dirty="0" err="1"/>
              <a:t>Document.PublicID</a:t>
            </a:r>
            <a:r>
              <a:rPr lang="en-US" dirty="0"/>
              <a:t> </a:t>
            </a:r>
          </a:p>
        </p:txBody>
      </p:sp>
      <p:sp>
        <p:nvSpPr>
          <p:cNvPr id="10" name="Text Placeholder 9"/>
          <p:cNvSpPr>
            <a:spLocks noGrp="1"/>
          </p:cNvSpPr>
          <p:nvPr>
            <p:ph type="body" sz="quarter" idx="12"/>
          </p:nvPr>
        </p:nvSpPr>
        <p:spPr/>
        <p:txBody>
          <a:bodyPr/>
          <a:lstStyle/>
          <a:p>
            <a:r>
              <a:rPr lang="en-US" dirty="0" err="1"/>
              <a:t>Document.DocUID</a:t>
            </a:r>
            <a:endParaRPr lang="en-US" dirty="0"/>
          </a:p>
        </p:txBody>
      </p:sp>
      <p:sp>
        <p:nvSpPr>
          <p:cNvPr id="11" name="Text Placeholder 10"/>
          <p:cNvSpPr>
            <a:spLocks noGrp="1"/>
          </p:cNvSpPr>
          <p:nvPr>
            <p:ph type="body" sz="quarter" idx="13"/>
          </p:nvPr>
        </p:nvSpPr>
        <p:spPr/>
        <p:txBody>
          <a:bodyPr/>
          <a:lstStyle/>
          <a:p>
            <a:r>
              <a:rPr lang="en-US" dirty="0" err="1"/>
              <a:t>Document.Id</a:t>
            </a:r>
            <a:endParaRPr lang="en-US" dirty="0"/>
          </a:p>
        </p:txBody>
      </p:sp>
    </p:spTree>
    <p:extLst>
      <p:ext uri="{BB962C8B-B14F-4D97-AF65-F5344CB8AC3E}">
        <p14:creationId xmlns:p14="http://schemas.microsoft.com/office/powerpoint/2010/main" val="3163123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DMS storage choices</a:t>
            </a:r>
          </a:p>
        </p:txBody>
      </p:sp>
      <p:sp>
        <p:nvSpPr>
          <p:cNvPr id="3" name="Subtitle 2"/>
          <p:cNvSpPr>
            <a:spLocks noGrp="1"/>
          </p:cNvSpPr>
          <p:nvPr>
            <p:ph type="subTitle" idx="10"/>
          </p:nvPr>
        </p:nvSpPr>
        <p:spPr/>
        <p:txBody>
          <a:bodyPr/>
          <a:lstStyle/>
          <a:p>
            <a:r>
              <a:rPr lang="en-US" dirty="0"/>
              <a:t>No DMS storage</a:t>
            </a:r>
          </a:p>
        </p:txBody>
      </p:sp>
      <p:sp>
        <p:nvSpPr>
          <p:cNvPr id="4" name="Text Placeholder 3"/>
          <p:cNvSpPr>
            <a:spLocks noGrp="1"/>
          </p:cNvSpPr>
          <p:nvPr>
            <p:ph type="body" sz="quarter" idx="11"/>
          </p:nvPr>
        </p:nvSpPr>
        <p:spPr/>
        <p:txBody>
          <a:bodyPr/>
          <a:lstStyle/>
          <a:p>
            <a:r>
              <a:rPr lang="en-US" dirty="0"/>
              <a:t>External DMS storage</a:t>
            </a:r>
          </a:p>
        </p:txBody>
      </p:sp>
      <p:sp>
        <p:nvSpPr>
          <p:cNvPr id="5" name="Content Placeholder 4"/>
          <p:cNvSpPr>
            <a:spLocks noGrp="1"/>
          </p:cNvSpPr>
          <p:nvPr>
            <p:ph sz="half" idx="2"/>
          </p:nvPr>
        </p:nvSpPr>
        <p:spPr/>
        <p:txBody>
          <a:bodyPr/>
          <a:lstStyle/>
          <a:p>
            <a:r>
              <a:rPr lang="en-US" dirty="0"/>
              <a:t>To store and retrieve content, implement custom plugin for </a:t>
            </a:r>
            <a:r>
              <a:rPr lang="en-US" b="1" dirty="0" err="1">
                <a:latin typeface="Courier New" pitchFamily="49" charset="0"/>
                <a:cs typeface="Courier New" pitchFamily="49" charset="0"/>
              </a:rPr>
              <a:t>IDocumentContent</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a:t>
            </a:r>
            <a:r>
              <a:rPr lang="en-US" dirty="0"/>
              <a:t> plugin</a:t>
            </a:r>
          </a:p>
          <a:p>
            <a:r>
              <a:rPr lang="en-US" dirty="0"/>
              <a:t>If added to DMS outside of a Guidewire application process, implement a custom </a:t>
            </a:r>
            <a:r>
              <a:rPr lang="en-US" b="1" dirty="0" err="1">
                <a:latin typeface="Courier New" pitchFamily="49" charset="0"/>
                <a:cs typeface="Courier New" pitchFamily="49" charset="0"/>
              </a:rPr>
              <a:t>IDocumentMetadata</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a:t>
            </a:r>
            <a:r>
              <a:rPr lang="en-US" dirty="0"/>
              <a:t> plugin</a:t>
            </a:r>
          </a:p>
          <a:p>
            <a:pPr marL="0" indent="0">
              <a:buNone/>
            </a:pPr>
            <a:endParaRPr lang="en-US" dirty="0"/>
          </a:p>
        </p:txBody>
      </p:sp>
      <p:sp>
        <p:nvSpPr>
          <p:cNvPr id="6" name="Content Placeholder 5"/>
          <p:cNvSpPr>
            <a:spLocks noGrp="1"/>
          </p:cNvSpPr>
          <p:nvPr>
            <p:ph sz="half" idx="1"/>
          </p:nvPr>
        </p:nvSpPr>
        <p:spPr/>
        <p:txBody>
          <a:bodyPr/>
          <a:lstStyle/>
          <a:p>
            <a:r>
              <a:rPr lang="en-US" dirty="0"/>
              <a:t>Use the default </a:t>
            </a:r>
            <a:r>
              <a:rPr lang="en-US" dirty="0" err="1" smtClean="0"/>
              <a:t>implementaion</a:t>
            </a:r>
            <a:r>
              <a:rPr lang="en-US" dirty="0" smtClean="0"/>
              <a:t> </a:t>
            </a:r>
            <a:r>
              <a:rPr lang="en-US" dirty="0"/>
              <a:t>of the </a:t>
            </a:r>
            <a:r>
              <a:rPr lang="en-US" b="1" dirty="0" err="1">
                <a:latin typeface="Courier New" pitchFamily="49" charset="0"/>
                <a:cs typeface="Courier New" pitchFamily="49" charset="0"/>
              </a:rPr>
              <a:t>IDocumentContent</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 </a:t>
            </a:r>
            <a:r>
              <a:rPr lang="en-US" dirty="0"/>
              <a:t>plugin</a:t>
            </a:r>
          </a:p>
          <a:p>
            <a:r>
              <a:rPr lang="en-US" dirty="0"/>
              <a:t>Do NOT enable </a:t>
            </a:r>
            <a:r>
              <a:rPr lang="en-US" b="1" dirty="0" err="1">
                <a:latin typeface="Courier New" pitchFamily="49" charset="0"/>
                <a:cs typeface="Courier New" pitchFamily="49" charset="0"/>
              </a:rPr>
              <a:t>IDocumentMetadata</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a:t>
            </a:r>
            <a:r>
              <a:rPr lang="en-US" dirty="0"/>
              <a:t> plugin</a:t>
            </a:r>
          </a:p>
        </p:txBody>
      </p:sp>
    </p:spTree>
    <p:extLst>
      <p:ext uri="{BB962C8B-B14F-4D97-AF65-F5344CB8AC3E}">
        <p14:creationId xmlns:p14="http://schemas.microsoft.com/office/powerpoint/2010/main" val="43356242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 name="rec Hidden"/>
          <p:cNvSpPr/>
          <p:nvPr/>
        </p:nvSpPr>
        <p:spPr bwMode="auto">
          <a:xfrm>
            <a:off x="2434303"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4191000" y="1321858"/>
            <a:ext cx="1828800" cy="4774142"/>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8"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1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p User Sys"/>
          <p:cNvGrpSpPr/>
          <p:nvPr/>
        </p:nvGrpSpPr>
        <p:grpSpPr>
          <a:xfrm>
            <a:off x="1929364" y="938352"/>
            <a:ext cx="1752601" cy="1951436"/>
            <a:chOff x="650518" y="925234"/>
            <a:chExt cx="1752601" cy="1951436"/>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650518" y="925234"/>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grpSp>
        <p:nvGrpSpPr>
          <p:cNvPr id="43" name="grp Doc Prod"/>
          <p:cNvGrpSpPr/>
          <p:nvPr/>
        </p:nvGrpSpPr>
        <p:grpSpPr>
          <a:xfrm>
            <a:off x="8099056" y="927100"/>
            <a:ext cx="2354580" cy="5168900"/>
            <a:chOff x="3075839" y="1821047"/>
            <a:chExt cx="2354580"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3075839"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External systems</a:t>
              </a:r>
            </a:p>
          </p:txBody>
        </p:sp>
      </p:grpSp>
      <p:sp>
        <p:nvSpPr>
          <p:cNvPr id="33" name="Rounded Rectangle 32"/>
          <p:cNvSpPr/>
          <p:nvPr/>
        </p:nvSpPr>
        <p:spPr bwMode="auto">
          <a:xfrm>
            <a:off x="4077200" y="916887"/>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Guidewire App</a:t>
            </a:r>
          </a:p>
        </p:txBody>
      </p:sp>
      <p:sp>
        <p:nvSpPr>
          <p:cNvPr id="7" name="Title 6"/>
          <p:cNvSpPr>
            <a:spLocks noGrp="1"/>
          </p:cNvSpPr>
          <p:nvPr>
            <p:ph type="title"/>
          </p:nvPr>
        </p:nvSpPr>
        <p:spPr>
          <a:xfrm>
            <a:off x="537944" y="156579"/>
            <a:ext cx="8650224" cy="742951"/>
          </a:xfrm>
        </p:spPr>
        <p:txBody>
          <a:bodyPr/>
          <a:lstStyle/>
          <a:p>
            <a:r>
              <a:rPr lang="en-US" dirty="0">
                <a:solidFill>
                  <a:schemeClr val="accent6"/>
                </a:solidFill>
              </a:rPr>
              <a:t>Internal document storage and metadata</a:t>
            </a:r>
          </a:p>
        </p:txBody>
      </p:sp>
      <p:pic>
        <p:nvPicPr>
          <p:cNvPr id="11"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5105401"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3465424"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6437774" y="5221165"/>
            <a:ext cx="859676" cy="1005840"/>
            <a:chOff x="5008403" y="4005593"/>
            <a:chExt cx="958363" cy="1115765"/>
          </a:xfrm>
        </p:grpSpPr>
        <p:pic>
          <p:nvPicPr>
            <p:cNvPr id="922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7221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50"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37338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5856" y="38862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8312" y="40386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0" name="num8"/>
          <p:cNvSpPr/>
          <p:nvPr/>
        </p:nvSpPr>
        <p:spPr bwMode="auto">
          <a:xfrm>
            <a:off x="6019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4</a:t>
            </a:r>
            <a:endParaRPr lang="en-US" dirty="0"/>
          </a:p>
        </p:txBody>
      </p:sp>
      <p:sp>
        <p:nvSpPr>
          <p:cNvPr id="54" name="num7"/>
          <p:cNvSpPr/>
          <p:nvPr/>
        </p:nvSpPr>
        <p:spPr bwMode="auto">
          <a:xfrm>
            <a:off x="7848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3</a:t>
            </a:r>
            <a:endParaRPr lang="en-US" dirty="0"/>
          </a:p>
        </p:txBody>
      </p:sp>
      <p:pic>
        <p:nvPicPr>
          <p:cNvPr id="58"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8200" y="1524001"/>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10600" y="1676401"/>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63000" y="1828801"/>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3316" y="3886201"/>
            <a:ext cx="910284" cy="8331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73278" y="2628857"/>
            <a:ext cx="670322" cy="95760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num8"/>
          <p:cNvSpPr/>
          <p:nvPr/>
        </p:nvSpPr>
        <p:spPr bwMode="auto">
          <a:xfrm>
            <a:off x="5158978" y="310492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1</a:t>
            </a:r>
            <a:endParaRPr lang="en-US" dirty="0"/>
          </a:p>
        </p:txBody>
      </p:sp>
      <p:sp>
        <p:nvSpPr>
          <p:cNvPr id="72" name="num8"/>
          <p:cNvSpPr/>
          <p:nvPr/>
        </p:nvSpPr>
        <p:spPr bwMode="auto">
          <a:xfrm>
            <a:off x="4915150" y="4262488"/>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2</a:t>
            </a:r>
            <a:endParaRPr lang="en-US" dirty="0"/>
          </a:p>
        </p:txBody>
      </p:sp>
    </p:spTree>
    <p:extLst>
      <p:ext uri="{BB962C8B-B14F-4D97-AF65-F5344CB8AC3E}">
        <p14:creationId xmlns:p14="http://schemas.microsoft.com/office/powerpoint/2010/main" val="285598268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 name="rec Hidden"/>
          <p:cNvSpPr/>
          <p:nvPr/>
        </p:nvSpPr>
        <p:spPr bwMode="auto">
          <a:xfrm>
            <a:off x="2434303"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4191000" y="1321858"/>
            <a:ext cx="1828800" cy="4774142"/>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8"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1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p User Sys"/>
          <p:cNvGrpSpPr/>
          <p:nvPr/>
        </p:nvGrpSpPr>
        <p:grpSpPr>
          <a:xfrm>
            <a:off x="1904999" y="917779"/>
            <a:ext cx="1752601" cy="1958891"/>
            <a:chOff x="609598" y="917779"/>
            <a:chExt cx="1752601" cy="1958891"/>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609598" y="917779"/>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grpSp>
        <p:nvGrpSpPr>
          <p:cNvPr id="43" name="grp Doc Prod"/>
          <p:cNvGrpSpPr/>
          <p:nvPr/>
        </p:nvGrpSpPr>
        <p:grpSpPr>
          <a:xfrm>
            <a:off x="8077200" y="927100"/>
            <a:ext cx="2376436" cy="5168900"/>
            <a:chOff x="3053983" y="1821047"/>
            <a:chExt cx="2376436"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3053983"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DMS</a:t>
              </a:r>
            </a:p>
          </p:txBody>
        </p:sp>
      </p:grpSp>
      <p:sp>
        <p:nvSpPr>
          <p:cNvPr id="33" name="Rounded Rectangle 32"/>
          <p:cNvSpPr/>
          <p:nvPr/>
        </p:nvSpPr>
        <p:spPr bwMode="auto">
          <a:xfrm>
            <a:off x="4103367" y="927100"/>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Guidewire App</a:t>
            </a:r>
          </a:p>
        </p:txBody>
      </p:sp>
      <p:sp>
        <p:nvSpPr>
          <p:cNvPr id="7" name="Title 6"/>
          <p:cNvSpPr>
            <a:spLocks noGrp="1"/>
          </p:cNvSpPr>
          <p:nvPr>
            <p:ph type="title"/>
          </p:nvPr>
        </p:nvSpPr>
        <p:spPr/>
        <p:txBody>
          <a:bodyPr/>
          <a:lstStyle/>
          <a:p>
            <a:r>
              <a:rPr lang="en-US" dirty="0">
                <a:solidFill>
                  <a:schemeClr val="accent6"/>
                </a:solidFill>
              </a:rPr>
              <a:t>External doc storage and internal metadata</a:t>
            </a:r>
          </a:p>
        </p:txBody>
      </p:sp>
      <p:sp>
        <p:nvSpPr>
          <p:cNvPr id="2" name="Content Placeholder 1"/>
          <p:cNvSpPr>
            <a:spLocks noGrp="1"/>
          </p:cNvSpPr>
          <p:nvPr>
            <p:ph sz="half" idx="1"/>
          </p:nvPr>
        </p:nvSpPr>
        <p:spPr/>
        <p:txBody>
          <a:bodyPr/>
          <a:lstStyle/>
          <a:p>
            <a:endParaRPr lang="en-US"/>
          </a:p>
        </p:txBody>
      </p:sp>
      <p:sp>
        <p:nvSpPr>
          <p:cNvPr id="4" name="Content Placeholder 3"/>
          <p:cNvSpPr>
            <a:spLocks noGrp="1"/>
          </p:cNvSpPr>
          <p:nvPr>
            <p:ph sz="half" idx="10"/>
          </p:nvPr>
        </p:nvSpPr>
        <p:spPr/>
        <p:txBody>
          <a:bodyPr/>
          <a:lstStyle/>
          <a:p>
            <a:endParaRPr lang="en-US"/>
          </a:p>
        </p:txBody>
      </p:sp>
      <p:sp>
        <p:nvSpPr>
          <p:cNvPr id="3" name="Content Placeholder 2"/>
          <p:cNvSpPr>
            <a:spLocks noGrp="1"/>
          </p:cNvSpPr>
          <p:nvPr>
            <p:ph sz="half" idx="2"/>
          </p:nvPr>
        </p:nvSpPr>
        <p:spPr/>
        <p:txBody>
          <a:bodyPr/>
          <a:lstStyle/>
          <a:p>
            <a:endParaRPr lang="en-US"/>
          </a:p>
        </p:txBody>
      </p:sp>
      <p:pic>
        <p:nvPicPr>
          <p:cNvPr id="11"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5105401"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3465424"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6437774" y="5221165"/>
            <a:ext cx="859676" cy="1005840"/>
            <a:chOff x="5008403" y="4005593"/>
            <a:chExt cx="958363" cy="1115765"/>
          </a:xfrm>
        </p:grpSpPr>
        <p:pic>
          <p:nvPicPr>
            <p:cNvPr id="922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7221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66808" y="1501480"/>
            <a:ext cx="929592" cy="12052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0622" y="37338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43078" y="38862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05534" y="40386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2" name="Straight Arrow Connector 61"/>
          <p:cNvCxnSpPr/>
          <p:nvPr/>
        </p:nvCxnSpPr>
        <p:spPr bwMode="auto">
          <a:xfrm>
            <a:off x="5105401" y="4262939"/>
            <a:ext cx="1308395"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8"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7778" y="3815163"/>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DocContentDataSource Plg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93280" y="3810000"/>
            <a:ext cx="693320" cy="8301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0" name="Elbow Connector 69"/>
          <p:cNvCxnSpPr>
            <a:stCxn id="87" idx="2"/>
            <a:endCxn id="44" idx="2"/>
          </p:cNvCxnSpPr>
          <p:nvPr/>
        </p:nvCxnSpPr>
        <p:spPr bwMode="auto">
          <a:xfrm rot="16200000" flipH="1">
            <a:off x="4325939" y="1111303"/>
            <a:ext cx="3363858" cy="6605536"/>
          </a:xfrm>
          <a:prstGeom prst="bentConnector3">
            <a:avLst>
              <a:gd name="adj1" fmla="val 109816"/>
            </a:avLst>
          </a:prstGeom>
          <a:noFill/>
          <a:ln w="28575" cap="flat" cmpd="sng" algn="ctr">
            <a:solidFill>
              <a:schemeClr val="accent6">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
        <p:nvSpPr>
          <p:cNvPr id="107" name="num4"/>
          <p:cNvSpPr/>
          <p:nvPr/>
        </p:nvSpPr>
        <p:spPr bwMode="auto">
          <a:xfrm>
            <a:off x="6007867" y="412289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1</a:t>
            </a:r>
            <a:endParaRPr lang="en-US" dirty="0"/>
          </a:p>
        </p:txBody>
      </p:sp>
      <p:cxnSp>
        <p:nvCxnSpPr>
          <p:cNvPr id="109" name="Straight Arrow Connector 108"/>
          <p:cNvCxnSpPr/>
          <p:nvPr/>
        </p:nvCxnSpPr>
        <p:spPr bwMode="auto">
          <a:xfrm>
            <a:off x="7150986" y="4267200"/>
            <a:ext cx="1189450"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sp>
        <p:nvSpPr>
          <p:cNvPr id="97" name="num5"/>
          <p:cNvSpPr/>
          <p:nvPr/>
        </p:nvSpPr>
        <p:spPr bwMode="auto">
          <a:xfrm>
            <a:off x="7848600" y="4114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2</a:t>
            </a:r>
            <a:endParaRPr lang="en-US" dirty="0"/>
          </a:p>
        </p:txBody>
      </p:sp>
      <p:sp>
        <p:nvSpPr>
          <p:cNvPr id="120" name="num8"/>
          <p:cNvSpPr/>
          <p:nvPr/>
        </p:nvSpPr>
        <p:spPr bwMode="auto">
          <a:xfrm>
            <a:off x="6019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4</a:t>
            </a:r>
            <a:endParaRPr lang="en-US" dirty="0"/>
          </a:p>
        </p:txBody>
      </p:sp>
      <p:sp>
        <p:nvSpPr>
          <p:cNvPr id="121" name="num9"/>
          <p:cNvSpPr/>
          <p:nvPr/>
        </p:nvSpPr>
        <p:spPr bwMode="auto">
          <a:xfrm>
            <a:off x="2588935" y="521546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5</a:t>
            </a:r>
            <a:endParaRPr lang="en-US" sz="2400" dirty="0"/>
          </a:p>
        </p:txBody>
      </p:sp>
      <p:pic>
        <p:nvPicPr>
          <p:cNvPr id="1028"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00329" y="4605389"/>
            <a:ext cx="609542" cy="5333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num7"/>
          <p:cNvSpPr/>
          <p:nvPr/>
        </p:nvSpPr>
        <p:spPr bwMode="auto">
          <a:xfrm>
            <a:off x="7848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3</a:t>
            </a:r>
            <a:endParaRPr lang="en-US" dirty="0"/>
          </a:p>
        </p:txBody>
      </p:sp>
    </p:spTree>
    <p:extLst>
      <p:ext uri="{BB962C8B-B14F-4D97-AF65-F5344CB8AC3E}">
        <p14:creationId xmlns:p14="http://schemas.microsoft.com/office/powerpoint/2010/main" val="378450470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 name="rec Hidden"/>
          <p:cNvSpPr/>
          <p:nvPr/>
        </p:nvSpPr>
        <p:spPr bwMode="auto">
          <a:xfrm>
            <a:off x="2434303"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4191000" y="1321858"/>
            <a:ext cx="1828800" cy="4774142"/>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64" name="grp User Sys"/>
          <p:cNvGrpSpPr/>
          <p:nvPr/>
        </p:nvGrpSpPr>
        <p:grpSpPr>
          <a:xfrm>
            <a:off x="1920228" y="901751"/>
            <a:ext cx="1752601" cy="1974919"/>
            <a:chOff x="624827" y="901751"/>
            <a:chExt cx="1752601" cy="1974919"/>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624827" y="901751"/>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User System</a:t>
              </a:r>
            </a:p>
          </p:txBody>
        </p:sp>
      </p:grpSp>
      <p:grpSp>
        <p:nvGrpSpPr>
          <p:cNvPr id="43" name="grp Doc Prod"/>
          <p:cNvGrpSpPr/>
          <p:nvPr/>
        </p:nvGrpSpPr>
        <p:grpSpPr>
          <a:xfrm>
            <a:off x="8063345" y="927100"/>
            <a:ext cx="2375912" cy="5168900"/>
            <a:chOff x="3054507" y="1821047"/>
            <a:chExt cx="2375912"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305450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DMS</a:t>
              </a:r>
            </a:p>
          </p:txBody>
        </p:sp>
      </p:grpSp>
      <p:sp>
        <p:nvSpPr>
          <p:cNvPr id="33" name="Rounded Rectangle 32"/>
          <p:cNvSpPr/>
          <p:nvPr/>
        </p:nvSpPr>
        <p:spPr bwMode="auto">
          <a:xfrm>
            <a:off x="4115300" y="927100"/>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Guidewire App</a:t>
            </a:r>
          </a:p>
        </p:txBody>
      </p:sp>
      <p:sp>
        <p:nvSpPr>
          <p:cNvPr id="7" name="Title 6"/>
          <p:cNvSpPr>
            <a:spLocks noGrp="1"/>
          </p:cNvSpPr>
          <p:nvPr>
            <p:ph type="title"/>
          </p:nvPr>
        </p:nvSpPr>
        <p:spPr>
          <a:xfrm>
            <a:off x="631123" y="128156"/>
            <a:ext cx="8650224" cy="742951"/>
          </a:xfrm>
        </p:spPr>
        <p:txBody>
          <a:bodyPr/>
          <a:lstStyle/>
          <a:p>
            <a:r>
              <a:rPr lang="en-US" dirty="0">
                <a:solidFill>
                  <a:schemeClr val="accent6"/>
                </a:solidFill>
              </a:rPr>
              <a:t>External DMS with external metadata</a:t>
            </a:r>
          </a:p>
        </p:txBody>
      </p:sp>
      <p:pic>
        <p:nvPicPr>
          <p:cNvPr id="11"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5105401"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3465424"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6437774" y="5221165"/>
            <a:ext cx="859676" cy="1005840"/>
            <a:chOff x="5008403" y="4005593"/>
            <a:chExt cx="958363" cy="1115765"/>
          </a:xfrm>
        </p:grpSpPr>
        <p:pic>
          <p:nvPicPr>
            <p:cNvPr id="92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7221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66808" y="1501480"/>
            <a:ext cx="929592" cy="12052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0622" y="41148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43078" y="42672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05534" y="4419601"/>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6" name="Straight Arrow Connector 55"/>
          <p:cNvCxnSpPr/>
          <p:nvPr/>
        </p:nvCxnSpPr>
        <p:spPr bwMode="auto">
          <a:xfrm>
            <a:off x="5043097" y="3264233"/>
            <a:ext cx="137069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46" name="icn DocMMetaDataSource Plg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51491" y="2755562"/>
            <a:ext cx="763551" cy="9020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2" name="Straight Arrow Connector 61"/>
          <p:cNvCxnSpPr/>
          <p:nvPr/>
        </p:nvCxnSpPr>
        <p:spPr bwMode="auto">
          <a:xfrm>
            <a:off x="5105401" y="4262939"/>
            <a:ext cx="1308395"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cxnSp>
        <p:nvCxnSpPr>
          <p:cNvPr id="63" name="Straight Arrow Connector 62"/>
          <p:cNvCxnSpPr/>
          <p:nvPr/>
        </p:nvCxnSpPr>
        <p:spPr bwMode="auto">
          <a:xfrm flipH="1">
            <a:off x="7054476" y="4876800"/>
            <a:ext cx="1251325"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pic>
        <p:nvPicPr>
          <p:cNvPr id="38"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7778" y="3815163"/>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DocContentDataSource Plg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93280" y="4122890"/>
            <a:ext cx="693320" cy="8301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2819411"/>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0" name="Elbow Connector 69"/>
          <p:cNvCxnSpPr>
            <a:stCxn id="87" idx="2"/>
            <a:endCxn id="44" idx="2"/>
          </p:cNvCxnSpPr>
          <p:nvPr/>
        </p:nvCxnSpPr>
        <p:spPr bwMode="auto">
          <a:xfrm rot="16200000" flipH="1">
            <a:off x="4318750" y="1118493"/>
            <a:ext cx="3363858" cy="6591156"/>
          </a:xfrm>
          <a:prstGeom prst="bentConnector3">
            <a:avLst>
              <a:gd name="adj1" fmla="val 106796"/>
            </a:avLst>
          </a:prstGeom>
          <a:noFill/>
          <a:ln w="28575" cap="flat" cmpd="sng" algn="ctr">
            <a:solidFill>
              <a:schemeClr val="accent6">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
        <p:nvSpPr>
          <p:cNvPr id="99" name="num1"/>
          <p:cNvSpPr/>
          <p:nvPr/>
        </p:nvSpPr>
        <p:spPr bwMode="auto">
          <a:xfrm>
            <a:off x="5999400" y="3124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1</a:t>
            </a:r>
            <a:endParaRPr lang="en-US" dirty="0"/>
          </a:p>
        </p:txBody>
      </p:sp>
      <p:cxnSp>
        <p:nvCxnSpPr>
          <p:cNvPr id="102" name="Straight Arrow Connector 101"/>
          <p:cNvCxnSpPr/>
          <p:nvPr/>
        </p:nvCxnSpPr>
        <p:spPr bwMode="auto">
          <a:xfrm flipH="1">
            <a:off x="7097608" y="2895600"/>
            <a:ext cx="1208193"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100" name="num2"/>
          <p:cNvSpPr/>
          <p:nvPr/>
        </p:nvSpPr>
        <p:spPr bwMode="auto">
          <a:xfrm>
            <a:off x="7848600" y="2743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2</a:t>
            </a:r>
            <a:endParaRPr lang="en-US" dirty="0"/>
          </a:p>
        </p:txBody>
      </p:sp>
      <p:cxnSp>
        <p:nvCxnSpPr>
          <p:cNvPr id="105" name="Straight Arrow Connector 104"/>
          <p:cNvCxnSpPr/>
          <p:nvPr/>
        </p:nvCxnSpPr>
        <p:spPr bwMode="auto">
          <a:xfrm>
            <a:off x="7134707" y="3484367"/>
            <a:ext cx="1098357"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98" name="num4"/>
          <p:cNvSpPr/>
          <p:nvPr/>
        </p:nvSpPr>
        <p:spPr bwMode="auto">
          <a:xfrm>
            <a:off x="7848600" y="3352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3</a:t>
            </a:r>
            <a:endParaRPr lang="en-US" dirty="0"/>
          </a:p>
        </p:txBody>
      </p:sp>
      <p:sp>
        <p:nvSpPr>
          <p:cNvPr id="107" name="num4"/>
          <p:cNvSpPr/>
          <p:nvPr/>
        </p:nvSpPr>
        <p:spPr bwMode="auto">
          <a:xfrm>
            <a:off x="6007867" y="412289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4</a:t>
            </a:r>
            <a:endParaRPr lang="en-US" dirty="0"/>
          </a:p>
        </p:txBody>
      </p:sp>
      <p:cxnSp>
        <p:nvCxnSpPr>
          <p:cNvPr id="109" name="Straight Arrow Connector 108"/>
          <p:cNvCxnSpPr/>
          <p:nvPr/>
        </p:nvCxnSpPr>
        <p:spPr bwMode="auto">
          <a:xfrm>
            <a:off x="7150986" y="4267200"/>
            <a:ext cx="1189450"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sp>
        <p:nvSpPr>
          <p:cNvPr id="97" name="num5"/>
          <p:cNvSpPr/>
          <p:nvPr/>
        </p:nvSpPr>
        <p:spPr bwMode="auto">
          <a:xfrm>
            <a:off x="7848600" y="4114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5</a:t>
            </a:r>
            <a:endParaRPr lang="en-US" dirty="0"/>
          </a:p>
        </p:txBody>
      </p:sp>
      <p:cxnSp>
        <p:nvCxnSpPr>
          <p:cNvPr id="114" name="Straight Arrow Connector 113"/>
          <p:cNvCxnSpPr/>
          <p:nvPr/>
        </p:nvCxnSpPr>
        <p:spPr bwMode="auto">
          <a:xfrm>
            <a:off x="5105401" y="4876800"/>
            <a:ext cx="1308395" cy="0"/>
          </a:xfrm>
          <a:prstGeom prst="straightConnector1">
            <a:avLst/>
          </a:prstGeom>
          <a:noFill/>
          <a:ln w="28575" cap="flat" cmpd="sng" algn="ctr">
            <a:solidFill>
              <a:schemeClr val="accent6">
                <a:lumMod val="75000"/>
              </a:schemeClr>
            </a:solidFill>
            <a:prstDash val="sysDash"/>
            <a:round/>
            <a:headEnd type="arrow" w="lg" len="med"/>
            <a:tailEnd type="arrow" w="lg" len="med"/>
          </a:ln>
          <a:effectLst>
            <a:outerShdw blurRad="50800" dist="38100" dir="2700000" algn="tl" rotWithShape="0">
              <a:prstClr val="black">
                <a:alpha val="40000"/>
              </a:prstClr>
            </a:outerShdw>
          </a:effectLst>
        </p:spPr>
      </p:cxnSp>
      <p:pic>
        <p:nvPicPr>
          <p:cNvPr id="49"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7778" y="453435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0" name="num6"/>
          <p:cNvSpPr/>
          <p:nvPr/>
        </p:nvSpPr>
        <p:spPr bwMode="auto">
          <a:xfrm>
            <a:off x="5999400" y="4724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6</a:t>
            </a:r>
            <a:endParaRPr lang="en-US" dirty="0"/>
          </a:p>
        </p:txBody>
      </p:sp>
      <p:sp>
        <p:nvSpPr>
          <p:cNvPr id="117" name="num7"/>
          <p:cNvSpPr/>
          <p:nvPr/>
        </p:nvSpPr>
        <p:spPr bwMode="auto">
          <a:xfrm>
            <a:off x="7855404" y="4724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7</a:t>
            </a:r>
            <a:endParaRPr lang="en-US" dirty="0"/>
          </a:p>
        </p:txBody>
      </p:sp>
      <p:sp>
        <p:nvSpPr>
          <p:cNvPr id="120" name="num8"/>
          <p:cNvSpPr/>
          <p:nvPr/>
        </p:nvSpPr>
        <p:spPr bwMode="auto">
          <a:xfrm>
            <a:off x="6019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9</a:t>
            </a:r>
            <a:endParaRPr lang="en-US" dirty="0"/>
          </a:p>
        </p:txBody>
      </p:sp>
      <p:sp>
        <p:nvSpPr>
          <p:cNvPr id="121" name="num9"/>
          <p:cNvSpPr/>
          <p:nvPr/>
        </p:nvSpPr>
        <p:spPr bwMode="auto">
          <a:xfrm>
            <a:off x="2588935" y="521546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z="1400" dirty="0">
                <a:solidFill>
                  <a:schemeClr val="accent1"/>
                </a:solidFill>
              </a:rPr>
              <a:t>10</a:t>
            </a:r>
            <a:endParaRPr lang="en-US" dirty="0"/>
          </a:p>
        </p:txBody>
      </p:sp>
      <p:pic>
        <p:nvPicPr>
          <p:cNvPr id="1028"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00329" y="4605389"/>
            <a:ext cx="609542" cy="5333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num7"/>
          <p:cNvSpPr/>
          <p:nvPr/>
        </p:nvSpPr>
        <p:spPr bwMode="auto">
          <a:xfrm>
            <a:off x="7848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8</a:t>
            </a:r>
            <a:endParaRPr lang="en-US" dirty="0"/>
          </a:p>
        </p:txBody>
      </p:sp>
      <p:pic>
        <p:nvPicPr>
          <p:cNvPr id="53" name="icn GWRE" descr="icon_TrainingApp"/>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1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032496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bg2">
                    <a:lumMod val="75000"/>
                  </a:schemeClr>
                </a:solidFill>
              </a:rPr>
              <a:t>Document management system (DMS) integration</a:t>
            </a:r>
          </a:p>
          <a:p>
            <a:r>
              <a:rPr lang="en-US" dirty="0">
                <a:solidFill>
                  <a:schemeClr val="tx1"/>
                </a:solidFill>
              </a:rPr>
              <a:t>IDocumentContentSource plugin</a:t>
            </a:r>
          </a:p>
          <a:p>
            <a:r>
              <a:rPr lang="en-US" dirty="0">
                <a:solidFill>
                  <a:schemeClr val="bg2">
                    <a:lumMod val="75000"/>
                  </a:schemeClr>
                </a:solidFill>
              </a:rPr>
              <a:t>IDocumentMetadataSource plugin</a:t>
            </a:r>
          </a:p>
          <a:p>
            <a:r>
              <a:rPr lang="en-US" dirty="0">
                <a:solidFill>
                  <a:schemeClr val="bg2">
                    <a:lumMod val="75000"/>
                  </a:schemeClr>
                </a:solidFill>
              </a:rPr>
              <a:t>DMS integration configurations</a:t>
            </a:r>
          </a:p>
          <a:p>
            <a:r>
              <a:rPr lang="en-US" dirty="0">
                <a:solidFill>
                  <a:schemeClr val="bg2">
                    <a:lumMod val="75000"/>
                  </a:schemeClr>
                </a:solidFill>
              </a:rPr>
              <a:t>Document related SOAP APIs</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126326439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4" name="icn DocMMeta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955" y="4704304"/>
            <a:ext cx="1099108" cy="12984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Arrow Connector 20"/>
          <p:cNvCxnSpPr/>
          <p:nvPr/>
        </p:nvCxnSpPr>
        <p:spPr bwMode="auto">
          <a:xfrm>
            <a:off x="3067502" y="1981200"/>
            <a:ext cx="1428298" cy="111877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grpSp>
        <p:nvGrpSpPr>
          <p:cNvPr id="3" name="grp GWRE App"/>
          <p:cNvGrpSpPr/>
          <p:nvPr/>
        </p:nvGrpSpPr>
        <p:grpSpPr>
          <a:xfrm>
            <a:off x="4267700" y="2710712"/>
            <a:ext cx="2514100" cy="1937488"/>
            <a:chOff x="3373932" y="2546894"/>
            <a:chExt cx="2514100" cy="1937488"/>
          </a:xfrm>
        </p:grpSpPr>
        <p:sp>
          <p:nvSpPr>
            <p:cNvPr id="4"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5" name="icn GWRE"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cxnSp>
        <p:nvCxnSpPr>
          <p:cNvPr id="32" name="Straight Arrow Connector 31"/>
          <p:cNvCxnSpPr/>
          <p:nvPr/>
        </p:nvCxnSpPr>
        <p:spPr bwMode="auto">
          <a:xfrm>
            <a:off x="6804524" y="4191000"/>
            <a:ext cx="1167386" cy="91440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2" name="Title 1"/>
          <p:cNvSpPr>
            <a:spLocks noGrp="1"/>
          </p:cNvSpPr>
          <p:nvPr>
            <p:ph type="title"/>
          </p:nvPr>
        </p:nvSpPr>
        <p:spPr/>
        <p:txBody>
          <a:bodyPr/>
          <a:lstStyle/>
          <a:p>
            <a:r>
              <a:rPr lang="en-US" dirty="0">
                <a:solidFill>
                  <a:schemeClr val="accent6"/>
                </a:solidFill>
              </a:rPr>
              <a:t>Basic document storage </a:t>
            </a:r>
            <a:r>
              <a:rPr lang="en-US" sz="2800" dirty="0">
                <a:solidFill>
                  <a:schemeClr val="accent6"/>
                </a:solidFill>
              </a:rPr>
              <a:t>Flow</a:t>
            </a:r>
            <a:endParaRPr lang="en-US" dirty="0">
              <a:solidFill>
                <a:schemeClr val="accent6"/>
              </a:solidFill>
            </a:endParaRPr>
          </a:p>
        </p:txBody>
      </p:sp>
      <p:grpSp>
        <p:nvGrpSpPr>
          <p:cNvPr id="7" name="grp Doc Prod"/>
          <p:cNvGrpSpPr/>
          <p:nvPr/>
        </p:nvGrpSpPr>
        <p:grpSpPr>
          <a:xfrm>
            <a:off x="7872772" y="914400"/>
            <a:ext cx="2483932" cy="1981200"/>
            <a:chOff x="2946487" y="1821047"/>
            <a:chExt cx="2483932" cy="1981200"/>
          </a:xfrm>
        </p:grpSpPr>
        <p:sp>
          <p:nvSpPr>
            <p:cNvPr id="8"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ounded Rectangle 9"/>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Production</a:t>
              </a:r>
            </a:p>
          </p:txBody>
        </p:sp>
      </p:grpSp>
      <p:grpSp>
        <p:nvGrpSpPr>
          <p:cNvPr id="11" name="grp Doc Stor"/>
          <p:cNvGrpSpPr/>
          <p:nvPr/>
        </p:nvGrpSpPr>
        <p:grpSpPr>
          <a:xfrm>
            <a:off x="7772400" y="4419600"/>
            <a:ext cx="2547390" cy="1981200"/>
            <a:chOff x="6284922" y="4419600"/>
            <a:chExt cx="2547390" cy="1981200"/>
          </a:xfrm>
        </p:grpSpPr>
        <p:sp>
          <p:nvSpPr>
            <p:cNvPr id="12"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ounded Rectangle 13"/>
            <p:cNvSpPr/>
            <p:nvPr/>
          </p:nvSpPr>
          <p:spPr bwMode="auto">
            <a:xfrm>
              <a:off x="6284922" y="4419600"/>
              <a:ext cx="2454952"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Storage (file sys)</a:t>
              </a:r>
            </a:p>
          </p:txBody>
        </p:sp>
      </p:grpSp>
      <p:pic>
        <p:nvPicPr>
          <p:cNvPr id="17" name="icn DocContentDataSource Plg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5624" y="132588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2057400" y="914400"/>
            <a:ext cx="3048000" cy="457200"/>
          </a:xfrm>
          <a:prstGeom prst="rect">
            <a:avLst/>
          </a:prstGeom>
          <a:noFill/>
        </p:spPr>
        <p:txBody>
          <a:bodyPr wrap="none" rtlCol="0">
            <a:noAutofit/>
          </a:bodyPr>
          <a:lstStyle/>
          <a:p>
            <a:r>
              <a:rPr lang="en-US" b="1" dirty="0">
                <a:solidFill>
                  <a:srgbClr val="C00000"/>
                </a:solidFill>
                <a:latin typeface="Arial" pitchFamily="32" charset="0"/>
                <a:cs typeface="Arial" pitchFamily="32" charset="0"/>
              </a:rPr>
              <a:t>IDocumentContentSource</a:t>
            </a:r>
          </a:p>
        </p:txBody>
      </p:sp>
      <p:sp>
        <p:nvSpPr>
          <p:cNvPr id="19" name="TextBox 18"/>
          <p:cNvSpPr txBox="1"/>
          <p:nvPr/>
        </p:nvSpPr>
        <p:spPr>
          <a:xfrm>
            <a:off x="2057400" y="5934075"/>
            <a:ext cx="1922120" cy="457200"/>
          </a:xfrm>
          <a:prstGeom prst="rect">
            <a:avLst/>
          </a:prstGeom>
          <a:noFill/>
        </p:spPr>
        <p:txBody>
          <a:bodyPr wrap="none" rtlCol="0">
            <a:noAutofit/>
          </a:bodyPr>
          <a:lstStyle/>
          <a:p>
            <a:r>
              <a:rPr lang="en-US" b="1" dirty="0">
                <a:solidFill>
                  <a:srgbClr val="C00000"/>
                </a:solidFill>
                <a:latin typeface="Arial" pitchFamily="32" charset="0"/>
                <a:cs typeface="Arial" pitchFamily="32" charset="0"/>
              </a:rPr>
              <a:t>IDocumentMetadataSource</a:t>
            </a:r>
          </a:p>
        </p:txBody>
      </p:sp>
      <p:cxnSp>
        <p:nvCxnSpPr>
          <p:cNvPr id="25" name="Straight Arrow Connector 24"/>
          <p:cNvCxnSpPr/>
          <p:nvPr/>
        </p:nvCxnSpPr>
        <p:spPr bwMode="auto">
          <a:xfrm>
            <a:off x="3129375" y="2400300"/>
            <a:ext cx="1337991" cy="1085784"/>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cxnSp>
        <p:nvCxnSpPr>
          <p:cNvPr id="29" name="Straight Arrow Connector 28"/>
          <p:cNvCxnSpPr/>
          <p:nvPr/>
        </p:nvCxnSpPr>
        <p:spPr bwMode="auto">
          <a:xfrm flipV="1">
            <a:off x="3082591" y="4451467"/>
            <a:ext cx="1321269" cy="1034935"/>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1" name="Straight Arrow Connector 30"/>
          <p:cNvCxnSpPr/>
          <p:nvPr/>
        </p:nvCxnSpPr>
        <p:spPr bwMode="auto">
          <a:xfrm flipV="1">
            <a:off x="6781800" y="2495618"/>
            <a:ext cx="1288904" cy="1009583"/>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47" name="TextBox 46"/>
          <p:cNvSpPr txBox="1"/>
          <p:nvPr/>
        </p:nvSpPr>
        <p:spPr>
          <a:xfrm>
            <a:off x="7162800" y="3429000"/>
            <a:ext cx="2115862" cy="914400"/>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Newly created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or updated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document contents </a:t>
            </a:r>
          </a:p>
        </p:txBody>
      </p:sp>
      <p:sp>
        <p:nvSpPr>
          <p:cNvPr id="49" name="TextBox 48"/>
          <p:cNvSpPr txBox="1"/>
          <p:nvPr/>
        </p:nvSpPr>
        <p:spPr>
          <a:xfrm>
            <a:off x="3730553" y="1463040"/>
            <a:ext cx="2292495" cy="632460"/>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Document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contents storage</a:t>
            </a:r>
          </a:p>
        </p:txBody>
      </p:sp>
      <p:sp>
        <p:nvSpPr>
          <p:cNvPr id="50" name="TextBox 49"/>
          <p:cNvSpPr txBox="1"/>
          <p:nvPr/>
        </p:nvSpPr>
        <p:spPr>
          <a:xfrm>
            <a:off x="2243386" y="3131820"/>
            <a:ext cx="1566615" cy="830580"/>
          </a:xfrm>
          <a:prstGeom prst="rect">
            <a:avLst/>
          </a:prstGeom>
          <a:solidFill>
            <a:schemeClr val="tx1">
              <a:lumMod val="95000"/>
              <a:alpha val="49000"/>
            </a:schemeClr>
          </a:solidFill>
        </p:spPr>
        <p:txBody>
          <a:bodyPr wrap="none" rtlCol="0">
            <a:noAutofit/>
          </a:bodyPr>
          <a:lstStyle/>
          <a:p>
            <a:pPr algn="r"/>
            <a:r>
              <a:rPr lang="en-US" sz="1600" b="1" dirty="0">
                <a:solidFill>
                  <a:schemeClr val="bg1"/>
                </a:solidFill>
                <a:latin typeface="Arial" pitchFamily="32" charset="0"/>
                <a:cs typeface="Arial" pitchFamily="32" charset="0"/>
              </a:rPr>
              <a:t>Modified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metadata</a:t>
            </a:r>
          </a:p>
          <a:p>
            <a:pPr algn="r"/>
            <a:r>
              <a:rPr lang="en-US" sz="1600" b="1" dirty="0">
                <a:solidFill>
                  <a:schemeClr val="bg1"/>
                </a:solidFill>
                <a:latin typeface="Arial" pitchFamily="32" charset="0"/>
                <a:cs typeface="Arial" pitchFamily="32" charset="0"/>
              </a:rPr>
              <a:t>(with doc ID)</a:t>
            </a:r>
          </a:p>
        </p:txBody>
      </p:sp>
      <p:sp>
        <p:nvSpPr>
          <p:cNvPr id="51" name="TextBox 50"/>
          <p:cNvSpPr txBox="1"/>
          <p:nvPr/>
        </p:nvSpPr>
        <p:spPr>
          <a:xfrm>
            <a:off x="4072186" y="4876800"/>
            <a:ext cx="3166815" cy="830580"/>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Document metadata storage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(if IDocumentContentSource</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not handling metadata)</a:t>
            </a:r>
          </a:p>
        </p:txBody>
      </p:sp>
    </p:spTree>
    <p:extLst>
      <p:ext uri="{BB962C8B-B14F-4D97-AF65-F5344CB8AC3E}">
        <p14:creationId xmlns:p14="http://schemas.microsoft.com/office/powerpoint/2010/main" val="35824688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1500"/>
                                        <p:tgtEl>
                                          <p:spTgt spid="31"/>
                                        </p:tgtEl>
                                      </p:cBhvr>
                                    </p:animEffect>
                                  </p:childTnLst>
                                </p:cTn>
                              </p:par>
                              <p:par>
                                <p:cTn id="8" presetID="22" presetClass="entr" presetSubtype="2"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right)">
                                      <p:cBhvr>
                                        <p:cTn id="10" dur="1500"/>
                                        <p:tgtEl>
                                          <p:spTgt spid="32"/>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right)">
                                      <p:cBhvr>
                                        <p:cTn id="13" dur="1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1500"/>
                                        <p:tgtEl>
                                          <p:spTgt spid="21"/>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right)">
                                      <p:cBhvr>
                                        <p:cTn id="21" dur="1500"/>
                                        <p:tgtEl>
                                          <p:spTgt spid="49"/>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up)">
                                      <p:cBhvr>
                                        <p:cTn id="25" dur="1500"/>
                                        <p:tgtEl>
                                          <p:spTgt spid="2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left)">
                                      <p:cBhvr>
                                        <p:cTn id="28" dur="15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500"/>
                                  </p:stCondLst>
                                  <p:childTnLst>
                                    <p:set>
                                      <p:cBhvr>
                                        <p:cTn id="32" dur="1" fill="hold">
                                          <p:stCondLst>
                                            <p:cond delay="0"/>
                                          </p:stCondLst>
                                        </p:cTn>
                                        <p:tgtEl>
                                          <p:spTgt spid="29"/>
                                        </p:tgtEl>
                                        <p:attrNameLst>
                                          <p:attrName>style.visibility</p:attrName>
                                        </p:attrNameLst>
                                      </p:cBhvr>
                                      <p:to>
                                        <p:strVal val="visible"/>
                                      </p:to>
                                    </p:set>
                                    <p:animEffect transition="in" filter="wipe(up)">
                                      <p:cBhvr>
                                        <p:cTn id="33" dur="1500"/>
                                        <p:tgtEl>
                                          <p:spTgt spid="29"/>
                                        </p:tgtEl>
                                      </p:cBhvr>
                                    </p:animEffect>
                                  </p:childTnLst>
                                </p:cTn>
                              </p:par>
                              <p:par>
                                <p:cTn id="34" presetID="22" presetClass="entr" presetSubtype="1" fill="hold" grpId="0" nodeType="withEffect">
                                  <p:stCondLst>
                                    <p:cond delay="500"/>
                                  </p:stCondLst>
                                  <p:childTnLst>
                                    <p:set>
                                      <p:cBhvr>
                                        <p:cTn id="35" dur="1" fill="hold">
                                          <p:stCondLst>
                                            <p:cond delay="0"/>
                                          </p:stCondLst>
                                        </p:cTn>
                                        <p:tgtEl>
                                          <p:spTgt spid="51"/>
                                        </p:tgtEl>
                                        <p:attrNameLst>
                                          <p:attrName>style.visibility</p:attrName>
                                        </p:attrNameLst>
                                      </p:cBhvr>
                                      <p:to>
                                        <p:strVal val="visible"/>
                                      </p:to>
                                    </p:set>
                                    <p:animEffect transition="in" filter="wipe(up)">
                                      <p:cBhvr>
                                        <p:cTn id="36" dur="1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50" grpId="0" animBg="1"/>
      <p:bldP spid="5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IDocumentContentSource plugin</a:t>
            </a:r>
          </a:p>
        </p:txBody>
      </p:sp>
      <p:sp>
        <p:nvSpPr>
          <p:cNvPr id="4" name="Content Placeholder 3"/>
          <p:cNvSpPr>
            <a:spLocks noGrp="1"/>
          </p:cNvSpPr>
          <p:nvPr>
            <p:ph sz="half" idx="2"/>
          </p:nvPr>
        </p:nvSpPr>
        <p:spPr>
          <a:xfrm>
            <a:off x="3276600" y="914400"/>
            <a:ext cx="7376160" cy="5486400"/>
          </a:xfrm>
        </p:spPr>
        <p:txBody>
          <a:bodyPr/>
          <a:lstStyle/>
          <a:p>
            <a:r>
              <a:rPr lang="en-US" dirty="0"/>
              <a:t>Manages document content</a:t>
            </a:r>
          </a:p>
          <a:p>
            <a:r>
              <a:rPr lang="en-US" dirty="0"/>
              <a:t>May also manage document metadata based on :</a:t>
            </a:r>
          </a:p>
          <a:p>
            <a:pPr lvl="1"/>
            <a:r>
              <a:rPr lang="en-US" dirty="0"/>
              <a:t>Configuration of </a:t>
            </a:r>
            <a:r>
              <a:rPr lang="en-US" dirty="0" err="1"/>
              <a:t>IDocumentMetadataSource</a:t>
            </a:r>
            <a:r>
              <a:rPr lang="en-US" dirty="0"/>
              <a:t> plugin interface and</a:t>
            </a:r>
          </a:p>
          <a:p>
            <a:pPr lvl="1"/>
            <a:r>
              <a:rPr lang="en-US" dirty="0"/>
              <a:t>Configuration of </a:t>
            </a:r>
            <a:r>
              <a:rPr lang="en-US" dirty="0" err="1"/>
              <a:t>IDocumentContentSource</a:t>
            </a:r>
            <a:r>
              <a:rPr lang="en-US" dirty="0"/>
              <a:t> plugin interface </a:t>
            </a:r>
            <a:r>
              <a:rPr lang="en-US" dirty="0" err="1"/>
              <a:t>addDocument</a:t>
            </a:r>
            <a:r>
              <a:rPr lang="en-US" dirty="0"/>
              <a:t> method</a:t>
            </a:r>
          </a:p>
          <a:p>
            <a:r>
              <a:rPr lang="en-US" dirty="0"/>
              <a:t>No search capability in plugin</a:t>
            </a:r>
          </a:p>
          <a:p>
            <a:endParaRPr lang="en-US" dirty="0"/>
          </a:p>
        </p:txBody>
      </p:sp>
      <p:pic>
        <p:nvPicPr>
          <p:cNvPr id="5"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14400"/>
            <a:ext cx="1909299" cy="2286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42652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6"/>
                </a:solidFill>
              </a:rPr>
              <a:t>IDocumentContentSource</a:t>
            </a:r>
            <a:r>
              <a:rPr lang="en-US" dirty="0">
                <a:solidFill>
                  <a:schemeClr val="accent6"/>
                </a:solidFill>
              </a:rPr>
              <a:t> plugin interface</a:t>
            </a:r>
            <a:br>
              <a:rPr lang="en-US" dirty="0">
                <a:solidFill>
                  <a:schemeClr val="accent6"/>
                </a:solidFill>
              </a:rPr>
            </a:br>
            <a:r>
              <a:rPr lang="en-US" sz="2400" dirty="0" err="1">
                <a:solidFill>
                  <a:schemeClr val="accent6"/>
                </a:solidFill>
              </a:rPr>
              <a:t>addDocument</a:t>
            </a:r>
            <a:r>
              <a:rPr lang="en-US" sz="2400" dirty="0">
                <a:solidFill>
                  <a:schemeClr val="accent6"/>
                </a:solidFill>
              </a:rPr>
              <a:t>(</a:t>
            </a:r>
            <a:r>
              <a:rPr lang="en-US" sz="2400" dirty="0" err="1">
                <a:solidFill>
                  <a:schemeClr val="accent6"/>
                </a:solidFill>
              </a:rPr>
              <a:t>InputStream</a:t>
            </a:r>
            <a:r>
              <a:rPr lang="en-US" sz="2400" dirty="0">
                <a:solidFill>
                  <a:schemeClr val="accent6"/>
                </a:solidFill>
              </a:rPr>
              <a:t>, Document) : </a:t>
            </a:r>
            <a:r>
              <a:rPr lang="en-US" sz="2400" dirty="0" err="1">
                <a:solidFill>
                  <a:schemeClr val="accent6"/>
                </a:solidFill>
              </a:rPr>
              <a:t>boolean</a:t>
            </a:r>
            <a:endParaRPr lang="en-US" sz="2400" dirty="0">
              <a:solidFill>
                <a:schemeClr val="accent6"/>
              </a:solidFill>
            </a:endParaRPr>
          </a:p>
        </p:txBody>
      </p:sp>
      <p:sp>
        <p:nvSpPr>
          <p:cNvPr id="4" name="Content Placeholder 3"/>
          <p:cNvSpPr>
            <a:spLocks noGrp="1"/>
          </p:cNvSpPr>
          <p:nvPr>
            <p:ph sz="half" idx="1"/>
          </p:nvPr>
        </p:nvSpPr>
        <p:spPr>
          <a:xfrm>
            <a:off x="533400" y="1295400"/>
            <a:ext cx="5567426" cy="5410200"/>
          </a:xfrm>
        </p:spPr>
        <p:txBody>
          <a:bodyPr/>
          <a:lstStyle/>
          <a:p>
            <a:r>
              <a:rPr lang="en-US" sz="2800" dirty="0">
                <a:solidFill>
                  <a:schemeClr val="tx2"/>
                </a:solidFill>
              </a:rPr>
              <a:t>Parameters</a:t>
            </a:r>
          </a:p>
          <a:p>
            <a:pPr lvl="1"/>
            <a:r>
              <a:rPr lang="en-US" dirty="0">
                <a:solidFill>
                  <a:schemeClr val="tx2"/>
                </a:solidFill>
              </a:rPr>
              <a:t>An </a:t>
            </a:r>
            <a:r>
              <a:rPr lang="en-US" dirty="0" err="1">
                <a:solidFill>
                  <a:schemeClr val="tx2"/>
                </a:solidFill>
              </a:rPr>
              <a:t>InputStream</a:t>
            </a:r>
            <a:r>
              <a:rPr lang="en-US" dirty="0">
                <a:solidFill>
                  <a:schemeClr val="tx2"/>
                </a:solidFill>
              </a:rPr>
              <a:t> object, which is a new document as a stream of bytes</a:t>
            </a:r>
          </a:p>
          <a:p>
            <a:pPr lvl="1"/>
            <a:r>
              <a:rPr lang="en-US" dirty="0">
                <a:solidFill>
                  <a:schemeClr val="tx2"/>
                </a:solidFill>
              </a:rPr>
              <a:t>A Document object, which contains document metadata</a:t>
            </a:r>
          </a:p>
          <a:p>
            <a:r>
              <a:rPr lang="en-US" sz="2800" dirty="0">
                <a:solidFill>
                  <a:schemeClr val="tx2"/>
                </a:solidFill>
              </a:rPr>
              <a:t>Purpose</a:t>
            </a:r>
          </a:p>
          <a:p>
            <a:pPr lvl="1"/>
            <a:r>
              <a:rPr lang="en-US" dirty="0">
                <a:solidFill>
                  <a:schemeClr val="tx2"/>
                </a:solidFill>
              </a:rPr>
              <a:t>Add new document content in the DMS</a:t>
            </a:r>
          </a:p>
          <a:p>
            <a:pPr lvl="1"/>
            <a:r>
              <a:rPr lang="en-US" dirty="0">
                <a:solidFill>
                  <a:schemeClr val="tx2"/>
                </a:solidFill>
              </a:rPr>
              <a:t>Set metadata properties on the Document object</a:t>
            </a:r>
          </a:p>
          <a:p>
            <a:pPr lvl="2"/>
            <a:r>
              <a:rPr lang="en-US" dirty="0">
                <a:solidFill>
                  <a:schemeClr val="tx2"/>
                </a:solidFill>
              </a:rPr>
              <a:t>Such as </a:t>
            </a:r>
            <a:r>
              <a:rPr lang="en-US" dirty="0" err="1">
                <a:solidFill>
                  <a:schemeClr val="tx2"/>
                </a:solidFill>
              </a:rPr>
              <a:t>DocUID</a:t>
            </a:r>
            <a:r>
              <a:rPr lang="en-US" dirty="0">
                <a:solidFill>
                  <a:schemeClr val="tx2"/>
                </a:solidFill>
              </a:rPr>
              <a:t> and </a:t>
            </a:r>
            <a:r>
              <a:rPr lang="en-US" dirty="0" err="1">
                <a:solidFill>
                  <a:schemeClr val="tx2"/>
                </a:solidFill>
              </a:rPr>
              <a:t>PublicID</a:t>
            </a:r>
            <a:endParaRPr lang="en-US" dirty="0">
              <a:solidFill>
                <a:schemeClr val="tx2"/>
              </a:solidFill>
            </a:endParaRPr>
          </a:p>
          <a:p>
            <a:pPr lvl="2"/>
            <a:r>
              <a:rPr lang="en-US" dirty="0">
                <a:solidFill>
                  <a:schemeClr val="tx2"/>
                </a:solidFill>
              </a:rPr>
              <a:t>Properties that uniquely identify the content corresponding to the Document entity</a:t>
            </a:r>
          </a:p>
          <a:p>
            <a:pPr lvl="2"/>
            <a:r>
              <a:rPr lang="en-US" dirty="0">
                <a:solidFill>
                  <a:schemeClr val="tx2"/>
                </a:solidFill>
              </a:rPr>
              <a:t>If called with a null </a:t>
            </a:r>
            <a:r>
              <a:rPr lang="en-US" dirty="0" err="1">
                <a:solidFill>
                  <a:schemeClr val="tx2"/>
                </a:solidFill>
              </a:rPr>
              <a:t>InputStream</a:t>
            </a:r>
            <a:r>
              <a:rPr lang="en-US" dirty="0">
                <a:solidFill>
                  <a:schemeClr val="tx2"/>
                </a:solidFill>
              </a:rPr>
              <a:t> properties should still be set</a:t>
            </a:r>
          </a:p>
        </p:txBody>
      </p:sp>
      <p:sp>
        <p:nvSpPr>
          <p:cNvPr id="5" name="Content Placeholder 4"/>
          <p:cNvSpPr>
            <a:spLocks noGrp="1"/>
          </p:cNvSpPr>
          <p:nvPr>
            <p:ph sz="half" idx="2"/>
          </p:nvPr>
        </p:nvSpPr>
        <p:spPr>
          <a:xfrm>
            <a:off x="6261452" y="1371600"/>
            <a:ext cx="5491635" cy="5322366"/>
          </a:xfrm>
        </p:spPr>
        <p:txBody>
          <a:bodyPr/>
          <a:lstStyle/>
          <a:p>
            <a:r>
              <a:rPr lang="en-US" sz="2800" dirty="0">
                <a:solidFill>
                  <a:schemeClr val="tx2"/>
                </a:solidFill>
              </a:rPr>
              <a:t>Returns </a:t>
            </a:r>
            <a:r>
              <a:rPr lang="en-US" sz="2800" dirty="0" err="1">
                <a:solidFill>
                  <a:schemeClr val="tx2"/>
                </a:solidFill>
              </a:rPr>
              <a:t>boolean</a:t>
            </a:r>
            <a:endParaRPr lang="en-US" sz="2800" dirty="0">
              <a:solidFill>
                <a:schemeClr val="tx2"/>
              </a:solidFill>
            </a:endParaRPr>
          </a:p>
          <a:p>
            <a:pPr lvl="1"/>
            <a:r>
              <a:rPr lang="en-US" dirty="0">
                <a:solidFill>
                  <a:schemeClr val="tx2"/>
                </a:solidFill>
              </a:rPr>
              <a:t>Controls how metadata is managed</a:t>
            </a:r>
          </a:p>
          <a:p>
            <a:pPr lvl="1"/>
            <a:r>
              <a:rPr lang="en-US" dirty="0">
                <a:solidFill>
                  <a:schemeClr val="tx2"/>
                </a:solidFill>
              </a:rPr>
              <a:t>If </a:t>
            </a:r>
            <a:r>
              <a:rPr lang="en-US" dirty="0" err="1">
                <a:solidFill>
                  <a:schemeClr val="tx2"/>
                </a:solidFill>
              </a:rPr>
              <a:t>IDocumentMetadataSource</a:t>
            </a:r>
            <a:r>
              <a:rPr lang="en-US" dirty="0">
                <a:solidFill>
                  <a:schemeClr val="tx2"/>
                </a:solidFill>
              </a:rPr>
              <a:t> plugin is not implemented and enabled</a:t>
            </a:r>
          </a:p>
          <a:p>
            <a:pPr lvl="2"/>
            <a:r>
              <a:rPr lang="en-US" dirty="0">
                <a:solidFill>
                  <a:schemeClr val="tx2"/>
                </a:solidFill>
              </a:rPr>
              <a:t>Must return false</a:t>
            </a:r>
          </a:p>
          <a:p>
            <a:pPr lvl="2"/>
            <a:r>
              <a:rPr lang="en-US" dirty="0">
                <a:solidFill>
                  <a:schemeClr val="tx2"/>
                </a:solidFill>
              </a:rPr>
              <a:t>System saves the metadata in the Document entity</a:t>
            </a:r>
          </a:p>
          <a:p>
            <a:pPr lvl="1"/>
            <a:r>
              <a:rPr lang="en-US" dirty="0">
                <a:solidFill>
                  <a:schemeClr val="tx2"/>
                </a:solidFill>
              </a:rPr>
              <a:t>If </a:t>
            </a:r>
            <a:r>
              <a:rPr lang="en-US" dirty="0" err="1">
                <a:solidFill>
                  <a:schemeClr val="tx2"/>
                </a:solidFill>
              </a:rPr>
              <a:t>IDocumentMetadataSource</a:t>
            </a:r>
            <a:r>
              <a:rPr lang="en-US" dirty="0">
                <a:solidFill>
                  <a:schemeClr val="tx2"/>
                </a:solidFill>
              </a:rPr>
              <a:t> plugin is implemented and enabled</a:t>
            </a:r>
          </a:p>
          <a:p>
            <a:pPr lvl="2"/>
            <a:r>
              <a:rPr lang="en-US" dirty="0">
                <a:solidFill>
                  <a:schemeClr val="tx2"/>
                </a:solidFill>
              </a:rPr>
              <a:t>Return false if </a:t>
            </a:r>
            <a:r>
              <a:rPr lang="en-US" dirty="0" err="1">
                <a:solidFill>
                  <a:schemeClr val="tx2"/>
                </a:solidFill>
              </a:rPr>
              <a:t>IDocumentMetadataSource</a:t>
            </a:r>
            <a:r>
              <a:rPr lang="en-US" dirty="0">
                <a:solidFill>
                  <a:schemeClr val="tx2"/>
                </a:solidFill>
              </a:rPr>
              <a:t> plugin saves metadata</a:t>
            </a:r>
          </a:p>
          <a:p>
            <a:pPr lvl="2"/>
            <a:r>
              <a:rPr lang="en-US" dirty="0">
                <a:solidFill>
                  <a:schemeClr val="tx2"/>
                </a:solidFill>
              </a:rPr>
              <a:t>Return true if </a:t>
            </a:r>
            <a:r>
              <a:rPr lang="en-US" dirty="0" err="1">
                <a:solidFill>
                  <a:schemeClr val="tx2"/>
                </a:solidFill>
              </a:rPr>
              <a:t>IDocumentContentSource</a:t>
            </a:r>
            <a:r>
              <a:rPr lang="en-US" dirty="0">
                <a:solidFill>
                  <a:schemeClr val="tx2"/>
                </a:solidFill>
              </a:rPr>
              <a:t> plugin saves metadata</a:t>
            </a:r>
          </a:p>
        </p:txBody>
      </p:sp>
    </p:spTree>
    <p:extLst>
      <p:ext uri="{BB962C8B-B14F-4D97-AF65-F5344CB8AC3E}">
        <p14:creationId xmlns:p14="http://schemas.microsoft.com/office/powerpoint/2010/main" val="10624011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Title 1"/>
          <p:cNvSpPr txBox="1">
            <a:spLocks/>
          </p:cNvSpPr>
          <p:nvPr/>
        </p:nvSpPr>
        <p:spPr>
          <a:xfrm>
            <a:off x="658368" y="118873"/>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Notes only Slide</a:t>
            </a:r>
          </a:p>
        </p:txBody>
      </p:sp>
    </p:spTree>
    <p:extLst>
      <p:ext uri="{BB962C8B-B14F-4D97-AF65-F5344CB8AC3E}">
        <p14:creationId xmlns:p14="http://schemas.microsoft.com/office/powerpoint/2010/main" val="189949574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6"/>
                </a:solidFill>
              </a:rPr>
              <a:t>IDocumentContentSource</a:t>
            </a:r>
            <a:r>
              <a:rPr lang="en-US" dirty="0">
                <a:solidFill>
                  <a:schemeClr val="accent6"/>
                </a:solidFill>
              </a:rPr>
              <a:t> plugin interface</a:t>
            </a:r>
            <a:br>
              <a:rPr lang="en-US" dirty="0">
                <a:solidFill>
                  <a:schemeClr val="accent6"/>
                </a:solidFill>
              </a:rPr>
            </a:br>
            <a:r>
              <a:rPr lang="en-US" sz="2400" dirty="0" err="1">
                <a:solidFill>
                  <a:schemeClr val="accent6"/>
                </a:solidFill>
              </a:rPr>
              <a:t>updateDocument</a:t>
            </a:r>
            <a:r>
              <a:rPr lang="en-US" sz="2400" dirty="0">
                <a:solidFill>
                  <a:schemeClr val="accent6"/>
                </a:solidFill>
              </a:rPr>
              <a:t>(</a:t>
            </a:r>
            <a:r>
              <a:rPr lang="en-US" sz="2400" dirty="0" err="1">
                <a:solidFill>
                  <a:schemeClr val="accent6"/>
                </a:solidFill>
              </a:rPr>
              <a:t>Document,InputStream</a:t>
            </a:r>
            <a:r>
              <a:rPr lang="en-US" sz="2400" dirty="0">
                <a:solidFill>
                  <a:schemeClr val="accent6"/>
                </a:solidFill>
              </a:rPr>
              <a:t>) : </a:t>
            </a:r>
            <a:r>
              <a:rPr lang="en-US" sz="2400" dirty="0" err="1">
                <a:solidFill>
                  <a:schemeClr val="accent6"/>
                </a:solidFill>
              </a:rPr>
              <a:t>boolean</a:t>
            </a:r>
            <a:endParaRPr lang="en-US" sz="2400" dirty="0">
              <a:solidFill>
                <a:schemeClr val="accent6"/>
              </a:solidFill>
            </a:endParaRPr>
          </a:p>
        </p:txBody>
      </p:sp>
      <p:sp>
        <p:nvSpPr>
          <p:cNvPr id="4" name="Content Placeholder 3"/>
          <p:cNvSpPr>
            <a:spLocks noGrp="1"/>
          </p:cNvSpPr>
          <p:nvPr>
            <p:ph sz="half" idx="1"/>
          </p:nvPr>
        </p:nvSpPr>
        <p:spPr>
          <a:xfrm>
            <a:off x="533400" y="1219200"/>
            <a:ext cx="5567426" cy="5486400"/>
          </a:xfrm>
        </p:spPr>
        <p:txBody>
          <a:bodyPr/>
          <a:lstStyle/>
          <a:p>
            <a:r>
              <a:rPr lang="en-US" sz="2800" dirty="0">
                <a:solidFill>
                  <a:schemeClr val="tx2"/>
                </a:solidFill>
              </a:rPr>
              <a:t>Parameters</a:t>
            </a:r>
          </a:p>
          <a:p>
            <a:pPr lvl="1"/>
            <a:r>
              <a:rPr lang="en-US" dirty="0">
                <a:solidFill>
                  <a:schemeClr val="tx2"/>
                </a:solidFill>
              </a:rPr>
              <a:t>An </a:t>
            </a:r>
            <a:r>
              <a:rPr lang="en-US" dirty="0" err="1">
                <a:solidFill>
                  <a:schemeClr val="tx2"/>
                </a:solidFill>
              </a:rPr>
              <a:t>InputStream</a:t>
            </a:r>
            <a:r>
              <a:rPr lang="en-US" dirty="0">
                <a:solidFill>
                  <a:schemeClr val="tx2"/>
                </a:solidFill>
              </a:rPr>
              <a:t> object, which is a replacement document as a stream of bytes</a:t>
            </a:r>
          </a:p>
          <a:p>
            <a:pPr lvl="1"/>
            <a:r>
              <a:rPr lang="en-US" dirty="0">
                <a:solidFill>
                  <a:schemeClr val="tx2"/>
                </a:solidFill>
              </a:rPr>
              <a:t>A Document object, which contains document metadata</a:t>
            </a:r>
          </a:p>
          <a:p>
            <a:r>
              <a:rPr lang="en-US" sz="2800" dirty="0">
                <a:solidFill>
                  <a:schemeClr val="tx2"/>
                </a:solidFill>
              </a:rPr>
              <a:t>Purpose</a:t>
            </a:r>
          </a:p>
          <a:p>
            <a:pPr lvl="1"/>
            <a:r>
              <a:rPr lang="en-US" dirty="0">
                <a:solidFill>
                  <a:schemeClr val="tx2"/>
                </a:solidFill>
              </a:rPr>
              <a:t>Update the contents of an existing document in the DMS</a:t>
            </a:r>
          </a:p>
          <a:p>
            <a:pPr lvl="1"/>
            <a:r>
              <a:rPr lang="en-US" dirty="0">
                <a:solidFill>
                  <a:schemeClr val="tx2"/>
                </a:solidFill>
              </a:rPr>
              <a:t>Update metadata properties on the Document object that represent the change</a:t>
            </a:r>
          </a:p>
          <a:p>
            <a:pPr lvl="2"/>
            <a:r>
              <a:rPr lang="en-US" dirty="0">
                <a:solidFill>
                  <a:schemeClr val="tx2"/>
                </a:solidFill>
              </a:rPr>
              <a:t>Set </a:t>
            </a:r>
            <a:r>
              <a:rPr lang="en-US" dirty="0" err="1">
                <a:solidFill>
                  <a:schemeClr val="tx2"/>
                </a:solidFill>
              </a:rPr>
              <a:t>DateModified</a:t>
            </a:r>
            <a:r>
              <a:rPr lang="en-US" dirty="0">
                <a:solidFill>
                  <a:schemeClr val="tx2"/>
                </a:solidFill>
              </a:rPr>
              <a:t>, </a:t>
            </a:r>
            <a:r>
              <a:rPr lang="en-US" dirty="0" err="1">
                <a:solidFill>
                  <a:schemeClr val="tx2"/>
                </a:solidFill>
              </a:rPr>
              <a:t>UpdateTime</a:t>
            </a:r>
            <a:r>
              <a:rPr lang="en-US" dirty="0">
                <a:solidFill>
                  <a:schemeClr val="tx2"/>
                </a:solidFill>
              </a:rPr>
              <a:t> and </a:t>
            </a:r>
            <a:r>
              <a:rPr lang="en-US" dirty="0" err="1">
                <a:solidFill>
                  <a:schemeClr val="tx2"/>
                </a:solidFill>
              </a:rPr>
              <a:t>UpdateUser</a:t>
            </a:r>
            <a:r>
              <a:rPr lang="en-US" dirty="0">
                <a:solidFill>
                  <a:schemeClr val="tx2"/>
                </a:solidFill>
              </a:rPr>
              <a:t> properties at a minimum</a:t>
            </a:r>
          </a:p>
        </p:txBody>
      </p:sp>
      <p:sp>
        <p:nvSpPr>
          <p:cNvPr id="5" name="Content Placeholder 4"/>
          <p:cNvSpPr>
            <a:spLocks noGrp="1"/>
          </p:cNvSpPr>
          <p:nvPr>
            <p:ph sz="half" idx="2"/>
          </p:nvPr>
        </p:nvSpPr>
        <p:spPr>
          <a:xfrm>
            <a:off x="6261452" y="1207566"/>
            <a:ext cx="5491635" cy="5486400"/>
          </a:xfrm>
        </p:spPr>
        <p:txBody>
          <a:bodyPr/>
          <a:lstStyle/>
          <a:p>
            <a:r>
              <a:rPr lang="en-US" sz="2800" dirty="0">
                <a:solidFill>
                  <a:schemeClr val="tx2"/>
                </a:solidFill>
              </a:rPr>
              <a:t>Returns </a:t>
            </a:r>
            <a:r>
              <a:rPr lang="en-US" sz="2800" dirty="0" err="1">
                <a:solidFill>
                  <a:schemeClr val="tx2"/>
                </a:solidFill>
              </a:rPr>
              <a:t>boolean</a:t>
            </a:r>
            <a:endParaRPr lang="en-US" sz="2800" dirty="0">
              <a:solidFill>
                <a:schemeClr val="tx2"/>
              </a:solidFill>
            </a:endParaRPr>
          </a:p>
          <a:p>
            <a:pPr lvl="1"/>
            <a:r>
              <a:rPr lang="en-US" dirty="0">
                <a:solidFill>
                  <a:schemeClr val="tx2"/>
                </a:solidFill>
              </a:rPr>
              <a:t>Controls how metadata is managed</a:t>
            </a:r>
          </a:p>
          <a:p>
            <a:pPr lvl="1"/>
            <a:r>
              <a:rPr lang="en-US" dirty="0">
                <a:solidFill>
                  <a:schemeClr val="tx2"/>
                </a:solidFill>
              </a:rPr>
              <a:t>If </a:t>
            </a:r>
            <a:r>
              <a:rPr lang="en-US" dirty="0" err="1">
                <a:solidFill>
                  <a:schemeClr val="tx2"/>
                </a:solidFill>
              </a:rPr>
              <a:t>IDocumentMetadataSource</a:t>
            </a:r>
            <a:r>
              <a:rPr lang="en-US" dirty="0">
                <a:solidFill>
                  <a:schemeClr val="tx2"/>
                </a:solidFill>
              </a:rPr>
              <a:t> plugin is not implemented and enabled</a:t>
            </a:r>
          </a:p>
          <a:p>
            <a:pPr lvl="2"/>
            <a:r>
              <a:rPr lang="en-US" dirty="0">
                <a:solidFill>
                  <a:schemeClr val="tx2"/>
                </a:solidFill>
              </a:rPr>
              <a:t>Must return false</a:t>
            </a:r>
          </a:p>
          <a:p>
            <a:pPr lvl="2"/>
            <a:r>
              <a:rPr lang="en-US" dirty="0">
                <a:solidFill>
                  <a:schemeClr val="tx2"/>
                </a:solidFill>
              </a:rPr>
              <a:t>System saves the metadata in the Document entity</a:t>
            </a:r>
          </a:p>
          <a:p>
            <a:pPr lvl="1"/>
            <a:r>
              <a:rPr lang="en-US" dirty="0">
                <a:solidFill>
                  <a:schemeClr val="tx2"/>
                </a:solidFill>
              </a:rPr>
              <a:t>If </a:t>
            </a:r>
            <a:r>
              <a:rPr lang="en-US" dirty="0" err="1">
                <a:solidFill>
                  <a:schemeClr val="tx2"/>
                </a:solidFill>
              </a:rPr>
              <a:t>IDocumentMetadataSource</a:t>
            </a:r>
            <a:r>
              <a:rPr lang="en-US" dirty="0">
                <a:solidFill>
                  <a:schemeClr val="tx2"/>
                </a:solidFill>
              </a:rPr>
              <a:t> plugin is implemented and enabled</a:t>
            </a:r>
          </a:p>
          <a:p>
            <a:pPr lvl="2"/>
            <a:r>
              <a:rPr lang="en-US" dirty="0">
                <a:solidFill>
                  <a:schemeClr val="tx2"/>
                </a:solidFill>
              </a:rPr>
              <a:t>Return false if </a:t>
            </a:r>
            <a:r>
              <a:rPr lang="en-US" dirty="0" err="1">
                <a:solidFill>
                  <a:schemeClr val="tx2"/>
                </a:solidFill>
              </a:rPr>
              <a:t>IDocumentMetadataSource</a:t>
            </a:r>
            <a:r>
              <a:rPr lang="en-US" dirty="0">
                <a:solidFill>
                  <a:schemeClr val="tx2"/>
                </a:solidFill>
              </a:rPr>
              <a:t> plugin saves metadata</a:t>
            </a:r>
          </a:p>
          <a:p>
            <a:pPr lvl="2"/>
            <a:r>
              <a:rPr lang="en-US" dirty="0">
                <a:solidFill>
                  <a:schemeClr val="tx2"/>
                </a:solidFill>
              </a:rPr>
              <a:t>Return true if </a:t>
            </a:r>
            <a:r>
              <a:rPr lang="en-US" dirty="0" err="1">
                <a:solidFill>
                  <a:schemeClr val="tx2"/>
                </a:solidFill>
              </a:rPr>
              <a:t>IDocumentContentSource</a:t>
            </a:r>
            <a:r>
              <a:rPr lang="en-US" dirty="0">
                <a:solidFill>
                  <a:schemeClr val="tx2"/>
                </a:solidFill>
              </a:rPr>
              <a:t> plugin saves metadata</a:t>
            </a:r>
          </a:p>
        </p:txBody>
      </p:sp>
    </p:spTree>
    <p:extLst>
      <p:ext uri="{BB962C8B-B14F-4D97-AF65-F5344CB8AC3E}">
        <p14:creationId xmlns:p14="http://schemas.microsoft.com/office/powerpoint/2010/main" val="404439459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6"/>
                </a:solidFill>
              </a:rPr>
              <a:t>IDocumentContentSource</a:t>
            </a:r>
            <a:r>
              <a:rPr lang="en-US" dirty="0">
                <a:solidFill>
                  <a:schemeClr val="accent6"/>
                </a:solidFill>
              </a:rPr>
              <a:t> plugin interface</a:t>
            </a:r>
            <a:br>
              <a:rPr lang="en-US" dirty="0">
                <a:solidFill>
                  <a:schemeClr val="accent6"/>
                </a:solidFill>
              </a:rPr>
            </a:br>
            <a:r>
              <a:rPr lang="en-US" sz="2400" dirty="0" err="1">
                <a:solidFill>
                  <a:schemeClr val="accent6"/>
                </a:solidFill>
              </a:rPr>
              <a:t>removeDocument</a:t>
            </a:r>
            <a:r>
              <a:rPr lang="en-US" sz="2400" dirty="0">
                <a:solidFill>
                  <a:schemeClr val="accent6"/>
                </a:solidFill>
              </a:rPr>
              <a:t>(Document) : </a:t>
            </a:r>
            <a:r>
              <a:rPr lang="en-US" sz="2400" dirty="0" err="1">
                <a:solidFill>
                  <a:schemeClr val="accent6"/>
                </a:solidFill>
              </a:rPr>
              <a:t>boolean</a:t>
            </a:r>
            <a:endParaRPr lang="en-US" sz="2400" dirty="0">
              <a:solidFill>
                <a:schemeClr val="accent6"/>
              </a:solidFill>
            </a:endParaRPr>
          </a:p>
        </p:txBody>
      </p:sp>
      <p:sp>
        <p:nvSpPr>
          <p:cNvPr id="4" name="Content Placeholder 3"/>
          <p:cNvSpPr>
            <a:spLocks noGrp="1"/>
          </p:cNvSpPr>
          <p:nvPr>
            <p:ph sz="half" idx="1"/>
          </p:nvPr>
        </p:nvSpPr>
        <p:spPr>
          <a:xfrm>
            <a:off x="457200" y="1219200"/>
            <a:ext cx="5643626" cy="5486400"/>
          </a:xfrm>
        </p:spPr>
        <p:txBody>
          <a:bodyPr/>
          <a:lstStyle/>
          <a:p>
            <a:r>
              <a:rPr lang="en-US" sz="3200" dirty="0">
                <a:solidFill>
                  <a:schemeClr val="tx2"/>
                </a:solidFill>
              </a:rPr>
              <a:t>Parameters</a:t>
            </a:r>
          </a:p>
          <a:p>
            <a:pPr lvl="1"/>
            <a:r>
              <a:rPr lang="en-US" sz="2400" dirty="0">
                <a:solidFill>
                  <a:schemeClr val="tx2"/>
                </a:solidFill>
              </a:rPr>
              <a:t>A Document object, which contains document metadata</a:t>
            </a:r>
          </a:p>
          <a:p>
            <a:r>
              <a:rPr lang="en-US" sz="3200" dirty="0">
                <a:solidFill>
                  <a:schemeClr val="tx2"/>
                </a:solidFill>
              </a:rPr>
              <a:t>Purpose</a:t>
            </a:r>
          </a:p>
          <a:p>
            <a:pPr lvl="1"/>
            <a:r>
              <a:rPr lang="en-US" sz="2400" dirty="0">
                <a:solidFill>
                  <a:schemeClr val="tx2"/>
                </a:solidFill>
              </a:rPr>
              <a:t>Logically or physically delete the content</a:t>
            </a:r>
          </a:p>
          <a:p>
            <a:pPr lvl="1"/>
            <a:r>
              <a:rPr lang="en-US" sz="2400" dirty="0">
                <a:solidFill>
                  <a:schemeClr val="tx2"/>
                </a:solidFill>
              </a:rPr>
              <a:t>Optionally delete the metadata properties on the Document object based on the return value</a:t>
            </a:r>
            <a:endParaRPr lang="en-US" dirty="0">
              <a:solidFill>
                <a:schemeClr val="tx2"/>
              </a:solidFill>
            </a:endParaRPr>
          </a:p>
        </p:txBody>
      </p:sp>
      <p:sp>
        <p:nvSpPr>
          <p:cNvPr id="5" name="Content Placeholder 4"/>
          <p:cNvSpPr>
            <a:spLocks noGrp="1"/>
          </p:cNvSpPr>
          <p:nvPr>
            <p:ph sz="half" idx="2"/>
          </p:nvPr>
        </p:nvSpPr>
        <p:spPr>
          <a:xfrm>
            <a:off x="6261452" y="1207566"/>
            <a:ext cx="5625747" cy="5486400"/>
          </a:xfrm>
        </p:spPr>
        <p:txBody>
          <a:bodyPr/>
          <a:lstStyle/>
          <a:p>
            <a:r>
              <a:rPr lang="en-US" sz="3200" dirty="0">
                <a:solidFill>
                  <a:schemeClr val="tx2"/>
                </a:solidFill>
              </a:rPr>
              <a:t>Returns </a:t>
            </a:r>
            <a:r>
              <a:rPr lang="en-US" sz="3200" dirty="0" err="1">
                <a:solidFill>
                  <a:schemeClr val="tx2"/>
                </a:solidFill>
              </a:rPr>
              <a:t>boolean</a:t>
            </a:r>
            <a:endParaRPr lang="en-US" sz="3200" dirty="0">
              <a:solidFill>
                <a:schemeClr val="tx2"/>
              </a:solidFill>
            </a:endParaRPr>
          </a:p>
          <a:p>
            <a:pPr lvl="1"/>
            <a:r>
              <a:rPr lang="en-US" sz="2400" dirty="0">
                <a:solidFill>
                  <a:schemeClr val="tx2"/>
                </a:solidFill>
              </a:rPr>
              <a:t>Controls how metadata is managed</a:t>
            </a:r>
          </a:p>
          <a:p>
            <a:pPr lvl="1"/>
            <a:r>
              <a:rPr lang="en-US" sz="2400" dirty="0">
                <a:solidFill>
                  <a:schemeClr val="tx2"/>
                </a:solidFill>
              </a:rPr>
              <a:t>If </a:t>
            </a:r>
            <a:r>
              <a:rPr lang="en-US" sz="2400" dirty="0" err="1">
                <a:solidFill>
                  <a:schemeClr val="tx2"/>
                </a:solidFill>
              </a:rPr>
              <a:t>IDocumentMetadataSource</a:t>
            </a:r>
            <a:r>
              <a:rPr lang="en-US" sz="2400" dirty="0">
                <a:solidFill>
                  <a:schemeClr val="tx2"/>
                </a:solidFill>
              </a:rPr>
              <a:t> plugin is not implemented and enabled</a:t>
            </a:r>
          </a:p>
          <a:p>
            <a:pPr lvl="2"/>
            <a:r>
              <a:rPr lang="en-US" sz="2000" dirty="0">
                <a:solidFill>
                  <a:schemeClr val="tx2"/>
                </a:solidFill>
              </a:rPr>
              <a:t>Must return false</a:t>
            </a:r>
          </a:p>
          <a:p>
            <a:pPr lvl="2"/>
            <a:r>
              <a:rPr lang="en-US" sz="2000" dirty="0">
                <a:solidFill>
                  <a:schemeClr val="tx2"/>
                </a:solidFill>
              </a:rPr>
              <a:t>System saves the metadata in the Document entity</a:t>
            </a:r>
          </a:p>
          <a:p>
            <a:pPr lvl="1"/>
            <a:r>
              <a:rPr lang="en-US" sz="2400" dirty="0">
                <a:solidFill>
                  <a:schemeClr val="tx2"/>
                </a:solidFill>
              </a:rPr>
              <a:t>If </a:t>
            </a:r>
            <a:r>
              <a:rPr lang="en-US" sz="2400" dirty="0" err="1">
                <a:solidFill>
                  <a:schemeClr val="tx2"/>
                </a:solidFill>
              </a:rPr>
              <a:t>IDocumentMetadataSource</a:t>
            </a:r>
            <a:r>
              <a:rPr lang="en-US" sz="2400" dirty="0">
                <a:solidFill>
                  <a:schemeClr val="tx2"/>
                </a:solidFill>
              </a:rPr>
              <a:t> plugin is implemented and enabled</a:t>
            </a:r>
          </a:p>
          <a:p>
            <a:pPr lvl="2"/>
            <a:r>
              <a:rPr lang="en-US" sz="2000" dirty="0">
                <a:solidFill>
                  <a:schemeClr val="tx2"/>
                </a:solidFill>
              </a:rPr>
              <a:t>Return false if </a:t>
            </a:r>
            <a:r>
              <a:rPr lang="en-US" sz="2000" dirty="0" err="1">
                <a:solidFill>
                  <a:schemeClr val="tx2"/>
                </a:solidFill>
              </a:rPr>
              <a:t>IDocumentMetadataSource</a:t>
            </a:r>
            <a:r>
              <a:rPr lang="en-US" sz="2000" dirty="0">
                <a:solidFill>
                  <a:schemeClr val="tx2"/>
                </a:solidFill>
              </a:rPr>
              <a:t> plugin removes metadata</a:t>
            </a:r>
          </a:p>
          <a:p>
            <a:pPr lvl="2"/>
            <a:r>
              <a:rPr lang="en-US" sz="2000" dirty="0">
                <a:solidFill>
                  <a:schemeClr val="tx2"/>
                </a:solidFill>
              </a:rPr>
              <a:t>Return true if </a:t>
            </a:r>
            <a:r>
              <a:rPr lang="en-US" sz="2000" dirty="0" err="1">
                <a:solidFill>
                  <a:schemeClr val="tx2"/>
                </a:solidFill>
              </a:rPr>
              <a:t>IDocumentContentSource</a:t>
            </a:r>
            <a:r>
              <a:rPr lang="en-US" sz="2000" dirty="0">
                <a:solidFill>
                  <a:schemeClr val="tx2"/>
                </a:solidFill>
              </a:rPr>
              <a:t> plugin removes metadata</a:t>
            </a:r>
          </a:p>
        </p:txBody>
      </p:sp>
    </p:spTree>
    <p:extLst>
      <p:ext uri="{BB962C8B-B14F-4D97-AF65-F5344CB8AC3E}">
        <p14:creationId xmlns:p14="http://schemas.microsoft.com/office/powerpoint/2010/main" val="321815520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6"/>
                </a:solidFill>
              </a:rPr>
              <a:t>IDocumentContentSource</a:t>
            </a:r>
            <a:r>
              <a:rPr lang="en-US" dirty="0">
                <a:solidFill>
                  <a:schemeClr val="accent6"/>
                </a:solidFill>
              </a:rPr>
              <a:t> plugin interface</a:t>
            </a:r>
            <a:br>
              <a:rPr lang="en-US" dirty="0">
                <a:solidFill>
                  <a:schemeClr val="accent6"/>
                </a:solidFill>
              </a:rPr>
            </a:br>
            <a:r>
              <a:rPr lang="en-US" sz="1800" dirty="0" err="1">
                <a:solidFill>
                  <a:schemeClr val="accent6"/>
                </a:solidFill>
              </a:rPr>
              <a:t>getDocumentContentsInfo</a:t>
            </a:r>
            <a:r>
              <a:rPr lang="en-US" sz="1800" dirty="0">
                <a:solidFill>
                  <a:schemeClr val="accent6"/>
                </a:solidFill>
              </a:rPr>
              <a:t> (</a:t>
            </a:r>
            <a:r>
              <a:rPr lang="en-US" sz="1800" dirty="0" err="1">
                <a:solidFill>
                  <a:schemeClr val="accent6"/>
                </a:solidFill>
              </a:rPr>
              <a:t>Document,boolean</a:t>
            </a:r>
            <a:r>
              <a:rPr lang="en-US" sz="1800" dirty="0">
                <a:solidFill>
                  <a:schemeClr val="accent6"/>
                </a:solidFill>
              </a:rPr>
              <a:t>) : </a:t>
            </a:r>
            <a:r>
              <a:rPr lang="en-US" sz="1800" dirty="0" err="1">
                <a:solidFill>
                  <a:schemeClr val="accent6"/>
                </a:solidFill>
              </a:rPr>
              <a:t>DocumentContentsInfo</a:t>
            </a:r>
            <a:endParaRPr lang="en-US" sz="1800" dirty="0">
              <a:solidFill>
                <a:schemeClr val="accent6"/>
              </a:solidFill>
            </a:endParaRPr>
          </a:p>
        </p:txBody>
      </p:sp>
      <p:sp>
        <p:nvSpPr>
          <p:cNvPr id="4" name="Content Placeholder 3"/>
          <p:cNvSpPr>
            <a:spLocks noGrp="1"/>
          </p:cNvSpPr>
          <p:nvPr>
            <p:ph sz="half" idx="1"/>
          </p:nvPr>
        </p:nvSpPr>
        <p:spPr>
          <a:xfrm>
            <a:off x="658368" y="1219200"/>
            <a:ext cx="5442458" cy="5486400"/>
          </a:xfrm>
        </p:spPr>
        <p:txBody>
          <a:bodyPr/>
          <a:lstStyle/>
          <a:p>
            <a:r>
              <a:rPr lang="en-US" sz="2800" dirty="0">
                <a:solidFill>
                  <a:schemeClr val="tx2"/>
                </a:solidFill>
              </a:rPr>
              <a:t>Parameters</a:t>
            </a:r>
          </a:p>
          <a:p>
            <a:pPr lvl="1"/>
            <a:r>
              <a:rPr lang="en-US" dirty="0">
                <a:solidFill>
                  <a:schemeClr val="tx2"/>
                </a:solidFill>
              </a:rPr>
              <a:t>A Document object, which contains document metadata</a:t>
            </a:r>
          </a:p>
          <a:p>
            <a:pPr lvl="1"/>
            <a:r>
              <a:rPr lang="en-US" dirty="0" err="1">
                <a:solidFill>
                  <a:schemeClr val="tx2"/>
                </a:solidFill>
              </a:rPr>
              <a:t>boolean</a:t>
            </a:r>
            <a:r>
              <a:rPr lang="en-US" dirty="0">
                <a:solidFill>
                  <a:schemeClr val="tx2"/>
                </a:solidFill>
              </a:rPr>
              <a:t> value</a:t>
            </a:r>
          </a:p>
          <a:p>
            <a:pPr lvl="1"/>
            <a:r>
              <a:rPr lang="en-US" dirty="0">
                <a:solidFill>
                  <a:schemeClr val="tx2"/>
                </a:solidFill>
              </a:rPr>
              <a:t>If true, call to include content</a:t>
            </a:r>
          </a:p>
          <a:p>
            <a:pPr lvl="1"/>
            <a:r>
              <a:rPr lang="en-US" dirty="0">
                <a:solidFill>
                  <a:schemeClr val="tx2"/>
                </a:solidFill>
              </a:rPr>
              <a:t>If false, call to retrieve just metadata</a:t>
            </a:r>
          </a:p>
          <a:p>
            <a:r>
              <a:rPr lang="en-US" sz="2800" dirty="0">
                <a:solidFill>
                  <a:schemeClr val="tx2"/>
                </a:solidFill>
              </a:rPr>
              <a:t>Purpose</a:t>
            </a:r>
          </a:p>
          <a:p>
            <a:pPr lvl="1"/>
            <a:r>
              <a:rPr lang="en-US" dirty="0">
                <a:solidFill>
                  <a:schemeClr val="tx2"/>
                </a:solidFill>
              </a:rPr>
              <a:t>Retrieve the contents of the document</a:t>
            </a:r>
          </a:p>
          <a:p>
            <a:pPr lvl="1"/>
            <a:r>
              <a:rPr lang="en-US" dirty="0">
                <a:solidFill>
                  <a:schemeClr val="tx2"/>
                </a:solidFill>
              </a:rPr>
              <a:t>Use </a:t>
            </a:r>
            <a:r>
              <a:rPr lang="en-US" dirty="0" err="1">
                <a:solidFill>
                  <a:schemeClr val="tx2"/>
                </a:solidFill>
              </a:rPr>
              <a:t>DocUID</a:t>
            </a:r>
            <a:r>
              <a:rPr lang="en-US" dirty="0">
                <a:solidFill>
                  <a:schemeClr val="tx2"/>
                </a:solidFill>
              </a:rPr>
              <a:t> property to retrieve content from DMS</a:t>
            </a:r>
          </a:p>
          <a:p>
            <a:pPr lvl="2"/>
            <a:r>
              <a:rPr lang="en-US" dirty="0">
                <a:solidFill>
                  <a:schemeClr val="tx2"/>
                </a:solidFill>
              </a:rPr>
              <a:t>Use </a:t>
            </a:r>
            <a:r>
              <a:rPr lang="en-US" dirty="0" err="1">
                <a:solidFill>
                  <a:schemeClr val="tx2"/>
                </a:solidFill>
              </a:rPr>
              <a:t>publicID</a:t>
            </a:r>
            <a:r>
              <a:rPr lang="en-US" dirty="0">
                <a:solidFill>
                  <a:schemeClr val="tx2"/>
                </a:solidFill>
              </a:rPr>
              <a:t> if content is identified differently than metadata</a:t>
            </a:r>
          </a:p>
          <a:p>
            <a:pPr lvl="1"/>
            <a:r>
              <a:rPr lang="en-US" dirty="0">
                <a:solidFill>
                  <a:schemeClr val="tx2"/>
                </a:solidFill>
              </a:rPr>
              <a:t>Any changes to Document entity are not persisted.</a:t>
            </a:r>
            <a:endParaRPr lang="en-US" sz="1800" dirty="0">
              <a:solidFill>
                <a:schemeClr val="tx2"/>
              </a:solidFill>
            </a:endParaRPr>
          </a:p>
        </p:txBody>
      </p:sp>
      <p:sp>
        <p:nvSpPr>
          <p:cNvPr id="5" name="Content Placeholder 4"/>
          <p:cNvSpPr>
            <a:spLocks noGrp="1"/>
          </p:cNvSpPr>
          <p:nvPr>
            <p:ph sz="half" idx="2"/>
          </p:nvPr>
        </p:nvSpPr>
        <p:spPr>
          <a:xfrm>
            <a:off x="6261452" y="1207566"/>
            <a:ext cx="5491635" cy="5486400"/>
          </a:xfrm>
        </p:spPr>
        <p:txBody>
          <a:bodyPr/>
          <a:lstStyle/>
          <a:p>
            <a:r>
              <a:rPr lang="en-US" dirty="0">
                <a:solidFill>
                  <a:schemeClr val="tx2"/>
                </a:solidFill>
              </a:rPr>
              <a:t>Returns </a:t>
            </a:r>
            <a:r>
              <a:rPr lang="en-US" dirty="0" err="1">
                <a:solidFill>
                  <a:schemeClr val="tx2"/>
                </a:solidFill>
              </a:rPr>
              <a:t>DocumentContentsInfo</a:t>
            </a:r>
            <a:r>
              <a:rPr lang="en-US" dirty="0">
                <a:solidFill>
                  <a:schemeClr val="tx2"/>
                </a:solidFill>
              </a:rPr>
              <a:t> Object</a:t>
            </a:r>
          </a:p>
          <a:p>
            <a:pPr lvl="1"/>
            <a:r>
              <a:rPr lang="en-US" dirty="0">
                <a:solidFill>
                  <a:schemeClr val="tx2"/>
                </a:solidFill>
              </a:rPr>
              <a:t>Encapsulates document contents as an </a:t>
            </a:r>
            <a:r>
              <a:rPr lang="en-US" dirty="0" err="1">
                <a:solidFill>
                  <a:schemeClr val="tx2"/>
                </a:solidFill>
              </a:rPr>
              <a:t>InputStream</a:t>
            </a:r>
            <a:endParaRPr lang="en-US" dirty="0">
              <a:solidFill>
                <a:schemeClr val="tx2"/>
              </a:solidFill>
            </a:endParaRPr>
          </a:p>
          <a:p>
            <a:pPr lvl="1"/>
            <a:r>
              <a:rPr lang="en-US" dirty="0">
                <a:solidFill>
                  <a:schemeClr val="tx2"/>
                </a:solidFill>
              </a:rPr>
              <a:t>Describes Content Response Type</a:t>
            </a:r>
          </a:p>
          <a:p>
            <a:pPr lvl="2"/>
            <a:r>
              <a:rPr lang="en-US" dirty="0">
                <a:solidFill>
                  <a:schemeClr val="tx2"/>
                </a:solidFill>
              </a:rPr>
              <a:t>DOCUMENT_CONTENTS or URL</a:t>
            </a:r>
          </a:p>
          <a:p>
            <a:pPr lvl="1"/>
            <a:r>
              <a:rPr lang="en-US" dirty="0">
                <a:solidFill>
                  <a:schemeClr val="tx2"/>
                </a:solidFill>
              </a:rPr>
              <a:t>Specifies MIME Type</a:t>
            </a:r>
            <a:endParaRPr lang="en-US" sz="1800" dirty="0">
              <a:solidFill>
                <a:schemeClr val="tx2"/>
              </a:solidFill>
            </a:endParaRPr>
          </a:p>
        </p:txBody>
      </p:sp>
    </p:spTree>
    <p:extLst>
      <p:ext uri="{BB962C8B-B14F-4D97-AF65-F5344CB8AC3E}">
        <p14:creationId xmlns:p14="http://schemas.microsoft.com/office/powerpoint/2010/main" val="193629688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Notes Only Slide</a:t>
            </a:r>
          </a:p>
        </p:txBody>
      </p:sp>
    </p:spTree>
    <p:extLst>
      <p:ext uri="{BB962C8B-B14F-4D97-AF65-F5344CB8AC3E}">
        <p14:creationId xmlns:p14="http://schemas.microsoft.com/office/powerpoint/2010/main" val="195286773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6"/>
                </a:solidFill>
              </a:rPr>
              <a:t>IDocumentContentSource</a:t>
            </a:r>
            <a:r>
              <a:rPr lang="en-US" dirty="0">
                <a:solidFill>
                  <a:schemeClr val="accent6"/>
                </a:solidFill>
              </a:rPr>
              <a:t> plugin interface</a:t>
            </a:r>
            <a:r>
              <a:rPr lang="en-US" sz="2000" dirty="0">
                <a:solidFill>
                  <a:schemeClr val="accent6"/>
                </a:solidFill>
              </a:rPr>
              <a:t/>
            </a:r>
            <a:br>
              <a:rPr lang="en-US" sz="2000" dirty="0">
                <a:solidFill>
                  <a:schemeClr val="accent6"/>
                </a:solidFill>
              </a:rPr>
            </a:br>
            <a:r>
              <a:rPr lang="en-US" sz="2400" dirty="0" err="1">
                <a:solidFill>
                  <a:schemeClr val="accent6"/>
                </a:solidFill>
              </a:rPr>
              <a:t>isDocument</a:t>
            </a:r>
            <a:r>
              <a:rPr lang="en-US" sz="2400" dirty="0">
                <a:solidFill>
                  <a:schemeClr val="accent6"/>
                </a:solidFill>
              </a:rPr>
              <a:t>(Document) : </a:t>
            </a:r>
            <a:r>
              <a:rPr lang="en-US" sz="2400" dirty="0" err="1">
                <a:solidFill>
                  <a:schemeClr val="accent6"/>
                </a:solidFill>
              </a:rPr>
              <a:t>boolean</a:t>
            </a:r>
            <a:endParaRPr lang="en-US" sz="2400" dirty="0">
              <a:solidFill>
                <a:schemeClr val="accent6"/>
              </a:solidFill>
            </a:endParaRPr>
          </a:p>
        </p:txBody>
      </p:sp>
      <p:sp>
        <p:nvSpPr>
          <p:cNvPr id="4" name="Content Placeholder 3"/>
          <p:cNvSpPr>
            <a:spLocks noGrp="1"/>
          </p:cNvSpPr>
          <p:nvPr>
            <p:ph sz="half" idx="1"/>
          </p:nvPr>
        </p:nvSpPr>
        <p:spPr>
          <a:xfrm>
            <a:off x="658368" y="1219200"/>
            <a:ext cx="5442458" cy="5486400"/>
          </a:xfrm>
        </p:spPr>
        <p:txBody>
          <a:bodyPr/>
          <a:lstStyle/>
          <a:p>
            <a:r>
              <a:rPr lang="en-US" sz="3200" dirty="0">
                <a:solidFill>
                  <a:schemeClr val="tx2"/>
                </a:solidFill>
              </a:rPr>
              <a:t>Parameters</a:t>
            </a:r>
          </a:p>
          <a:p>
            <a:pPr lvl="1"/>
            <a:r>
              <a:rPr lang="en-US" sz="2400" dirty="0">
                <a:solidFill>
                  <a:schemeClr val="tx2"/>
                </a:solidFill>
              </a:rPr>
              <a:t>A Document object, which contains document metadata</a:t>
            </a:r>
          </a:p>
          <a:p>
            <a:pPr lvl="1"/>
            <a:endParaRPr lang="en-US" sz="2400" dirty="0">
              <a:solidFill>
                <a:schemeClr val="tx2"/>
              </a:solidFill>
            </a:endParaRPr>
          </a:p>
          <a:p>
            <a:r>
              <a:rPr lang="en-US" sz="3200" dirty="0">
                <a:solidFill>
                  <a:schemeClr val="tx2"/>
                </a:solidFill>
              </a:rPr>
              <a:t>Purpose</a:t>
            </a:r>
          </a:p>
          <a:p>
            <a:pPr lvl="1"/>
            <a:r>
              <a:rPr lang="en-US" sz="2400" dirty="0">
                <a:solidFill>
                  <a:schemeClr val="tx2"/>
                </a:solidFill>
              </a:rPr>
              <a:t>Check for the existence of a document in the DMS</a:t>
            </a:r>
          </a:p>
          <a:p>
            <a:pPr lvl="1"/>
            <a:r>
              <a:rPr lang="en-US" sz="2400" dirty="0">
                <a:solidFill>
                  <a:schemeClr val="tx2"/>
                </a:solidFill>
              </a:rPr>
              <a:t>Often used </a:t>
            </a:r>
            <a:r>
              <a:rPr lang="en-US" sz="2400" dirty="0" err="1">
                <a:solidFill>
                  <a:schemeClr val="tx2"/>
                </a:solidFill>
              </a:rPr>
              <a:t>DocUID</a:t>
            </a:r>
            <a:r>
              <a:rPr lang="en-US" sz="2400" dirty="0">
                <a:solidFill>
                  <a:schemeClr val="tx2"/>
                </a:solidFill>
              </a:rPr>
              <a:t> or </a:t>
            </a:r>
            <a:r>
              <a:rPr lang="en-US" sz="2400" dirty="0" err="1">
                <a:solidFill>
                  <a:schemeClr val="tx2"/>
                </a:solidFill>
              </a:rPr>
              <a:t>PublicID</a:t>
            </a:r>
            <a:r>
              <a:rPr lang="en-US" sz="2400" dirty="0">
                <a:solidFill>
                  <a:schemeClr val="tx2"/>
                </a:solidFill>
              </a:rPr>
              <a:t> property</a:t>
            </a:r>
            <a:endParaRPr lang="en-US" dirty="0">
              <a:solidFill>
                <a:schemeClr val="tx2"/>
              </a:solidFill>
            </a:endParaRPr>
          </a:p>
        </p:txBody>
      </p:sp>
      <p:sp>
        <p:nvSpPr>
          <p:cNvPr id="5" name="Content Placeholder 4"/>
          <p:cNvSpPr>
            <a:spLocks noGrp="1"/>
          </p:cNvSpPr>
          <p:nvPr>
            <p:ph sz="half" idx="2"/>
          </p:nvPr>
        </p:nvSpPr>
        <p:spPr>
          <a:xfrm>
            <a:off x="6261452" y="1207566"/>
            <a:ext cx="5491635" cy="5486400"/>
          </a:xfrm>
        </p:spPr>
        <p:txBody>
          <a:bodyPr/>
          <a:lstStyle/>
          <a:p>
            <a:r>
              <a:rPr lang="en-US" sz="2800" dirty="0">
                <a:solidFill>
                  <a:schemeClr val="tx2"/>
                </a:solidFill>
              </a:rPr>
              <a:t>Returns </a:t>
            </a:r>
            <a:r>
              <a:rPr lang="en-US" sz="2800" dirty="0" err="1">
                <a:solidFill>
                  <a:schemeClr val="tx2"/>
                </a:solidFill>
              </a:rPr>
              <a:t>boolean</a:t>
            </a:r>
            <a:endParaRPr lang="en-US" sz="2800" dirty="0">
              <a:solidFill>
                <a:schemeClr val="tx2"/>
              </a:solidFill>
            </a:endParaRPr>
          </a:p>
          <a:p>
            <a:pPr lvl="1"/>
            <a:r>
              <a:rPr lang="en-US" sz="2400" dirty="0">
                <a:solidFill>
                  <a:schemeClr val="tx2"/>
                </a:solidFill>
              </a:rPr>
              <a:t>Return true is DMS system already contains content corresponding to the appropriate fields on the Document entity</a:t>
            </a:r>
          </a:p>
          <a:p>
            <a:pPr lvl="1"/>
            <a:r>
              <a:rPr lang="en-US" sz="2400" dirty="0">
                <a:solidFill>
                  <a:schemeClr val="tx2"/>
                </a:solidFill>
              </a:rPr>
              <a:t>Return false otherwise</a:t>
            </a:r>
            <a:endParaRPr lang="en-US" dirty="0">
              <a:solidFill>
                <a:schemeClr val="tx2"/>
              </a:solidFill>
            </a:endParaRPr>
          </a:p>
        </p:txBody>
      </p:sp>
    </p:spTree>
    <p:extLst>
      <p:ext uri="{BB962C8B-B14F-4D97-AF65-F5344CB8AC3E}">
        <p14:creationId xmlns:p14="http://schemas.microsoft.com/office/powerpoint/2010/main" val="140369203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Demo implementation</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gw.plugin.document.impl</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err="1">
                <a:latin typeface="Courier New" pitchFamily="49" charset="0"/>
                <a:cs typeface="Courier New" pitchFamily="49" charset="0"/>
              </a:rPr>
              <a:t>LocalDocumentContentSource</a:t>
            </a:r>
            <a:endParaRPr lang="en-US" b="1" dirty="0">
              <a:latin typeface="Courier New" pitchFamily="49" charset="0"/>
              <a:cs typeface="Courier New" pitchFamily="49" charset="0"/>
            </a:endParaRPr>
          </a:p>
          <a:p>
            <a:r>
              <a:rPr lang="en-US" dirty="0"/>
              <a:t>Stores document content in the local file system</a:t>
            </a:r>
          </a:p>
          <a:p>
            <a:pPr lvl="1"/>
            <a:r>
              <a:rPr lang="en-US" b="1" dirty="0">
                <a:latin typeface="Courier New" pitchFamily="49" charset="0"/>
                <a:cs typeface="Courier New" pitchFamily="49" charset="0"/>
              </a:rPr>
              <a:t>…\plugins\document\files\documents</a:t>
            </a:r>
          </a:p>
          <a:p>
            <a:pPr lvl="1"/>
            <a:r>
              <a:rPr lang="en-US" dirty="0"/>
              <a:t>Sub-directory for each root object such as claim</a:t>
            </a:r>
          </a:p>
        </p:txBody>
      </p:sp>
      <p:pic>
        <p:nvPicPr>
          <p:cNvPr id="4"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6301" y="4152900"/>
            <a:ext cx="1909299" cy="2286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615572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bg2">
                    <a:lumMod val="75000"/>
                  </a:schemeClr>
                </a:solidFill>
              </a:rPr>
              <a:t>Document management system (DMS) integration</a:t>
            </a:r>
          </a:p>
          <a:p>
            <a:r>
              <a:rPr lang="en-US" dirty="0">
                <a:solidFill>
                  <a:schemeClr val="bg2">
                    <a:lumMod val="75000"/>
                  </a:schemeClr>
                </a:solidFill>
              </a:rPr>
              <a:t>IDocumentContentSource plugin</a:t>
            </a:r>
          </a:p>
          <a:p>
            <a:r>
              <a:rPr lang="en-US" dirty="0">
                <a:solidFill>
                  <a:schemeClr val="tx1"/>
                </a:solidFill>
              </a:rPr>
              <a:t>IDocumentMetadataSource plugin</a:t>
            </a:r>
          </a:p>
          <a:p>
            <a:r>
              <a:rPr lang="en-US" dirty="0">
                <a:solidFill>
                  <a:schemeClr val="bg2">
                    <a:lumMod val="75000"/>
                  </a:schemeClr>
                </a:solidFill>
              </a:rPr>
              <a:t>DMS integration configurations</a:t>
            </a:r>
          </a:p>
          <a:p>
            <a:r>
              <a:rPr lang="en-US" dirty="0">
                <a:solidFill>
                  <a:schemeClr val="bg2">
                    <a:lumMod val="75000"/>
                  </a:schemeClr>
                </a:solidFill>
              </a:rPr>
              <a:t>Document related SOAP APIs</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53798516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 name="txt List"/>
          <p:cNvSpPr txBox="1"/>
          <p:nvPr/>
        </p:nvSpPr>
        <p:spPr>
          <a:xfrm>
            <a:off x="2022906" y="2829701"/>
            <a:ext cx="1939494" cy="830580"/>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Matching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document list</a:t>
            </a:r>
          </a:p>
        </p:txBody>
      </p:sp>
      <p:pic>
        <p:nvPicPr>
          <p:cNvPr id="17"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955" y="4704304"/>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907" y="1329648"/>
            <a:ext cx="1096419" cy="1295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Arrow Connector 20"/>
          <p:cNvCxnSpPr/>
          <p:nvPr/>
        </p:nvCxnSpPr>
        <p:spPr bwMode="auto">
          <a:xfrm>
            <a:off x="3067502" y="1981200"/>
            <a:ext cx="1428298" cy="111877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grpSp>
        <p:nvGrpSpPr>
          <p:cNvPr id="3" name="grp GWRE App"/>
          <p:cNvGrpSpPr/>
          <p:nvPr/>
        </p:nvGrpSpPr>
        <p:grpSpPr>
          <a:xfrm>
            <a:off x="4267700" y="2710712"/>
            <a:ext cx="2514100" cy="1937488"/>
            <a:chOff x="3373932" y="2546894"/>
            <a:chExt cx="2514100" cy="1937488"/>
          </a:xfrm>
        </p:grpSpPr>
        <p:sp>
          <p:nvSpPr>
            <p:cNvPr id="4" name="rec GWRE"/>
            <p:cNvSpPr/>
            <p:nvPr/>
          </p:nvSpPr>
          <p:spPr bwMode="auto">
            <a:xfrm>
              <a:off x="3602032" y="2941651"/>
              <a:ext cx="2286000" cy="1542731"/>
            </a:xfrm>
            <a:prstGeom prst="roundRect">
              <a:avLst>
                <a:gd name="adj" fmla="val 5061"/>
              </a:avLst>
            </a:prstGeom>
            <a:solidFill>
              <a:schemeClr val="bg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5" name="icn GWRE" descr="icon_Training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a:t>
              </a:r>
              <a:r>
                <a:rPr lang="en-US" b="1" dirty="0">
                  <a:solidFill>
                    <a:schemeClr val="bg1"/>
                  </a:solidFill>
                </a:rPr>
                <a:t>Guidewire App</a:t>
              </a:r>
            </a:p>
          </p:txBody>
        </p:sp>
      </p:grpSp>
      <p:sp>
        <p:nvSpPr>
          <p:cNvPr id="2" name="Title 1"/>
          <p:cNvSpPr>
            <a:spLocks noGrp="1"/>
          </p:cNvSpPr>
          <p:nvPr>
            <p:ph type="title"/>
          </p:nvPr>
        </p:nvSpPr>
        <p:spPr/>
        <p:txBody>
          <a:bodyPr/>
          <a:lstStyle/>
          <a:p>
            <a:r>
              <a:rPr lang="en-US" dirty="0">
                <a:solidFill>
                  <a:schemeClr val="accent6"/>
                </a:solidFill>
              </a:rPr>
              <a:t>Basic document search and retrieval</a:t>
            </a:r>
            <a:br>
              <a:rPr lang="en-US" dirty="0">
                <a:solidFill>
                  <a:schemeClr val="accent6"/>
                </a:solidFill>
              </a:rPr>
            </a:br>
            <a:r>
              <a:rPr lang="en-US" sz="2800" dirty="0">
                <a:solidFill>
                  <a:schemeClr val="accent6"/>
                </a:solidFill>
              </a:rPr>
              <a:t>Flow</a:t>
            </a:r>
            <a:endParaRPr lang="en-US" dirty="0">
              <a:solidFill>
                <a:schemeClr val="accent6"/>
              </a:solidFill>
            </a:endParaRPr>
          </a:p>
        </p:txBody>
      </p:sp>
      <p:grpSp>
        <p:nvGrpSpPr>
          <p:cNvPr id="11" name="grp Doc Stor"/>
          <p:cNvGrpSpPr/>
          <p:nvPr/>
        </p:nvGrpSpPr>
        <p:grpSpPr>
          <a:xfrm>
            <a:off x="7772400" y="4419600"/>
            <a:ext cx="2547390" cy="1981200"/>
            <a:chOff x="6284922" y="4419600"/>
            <a:chExt cx="2547390" cy="1981200"/>
          </a:xfrm>
        </p:grpSpPr>
        <p:sp>
          <p:nvSpPr>
            <p:cNvPr id="12"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ounded Rectangle 13"/>
            <p:cNvSpPr/>
            <p:nvPr/>
          </p:nvSpPr>
          <p:spPr bwMode="auto">
            <a:xfrm>
              <a:off x="6284922" y="4419600"/>
              <a:ext cx="2454952"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Storage (file sys)</a:t>
              </a:r>
            </a:p>
          </p:txBody>
        </p:sp>
      </p:grpSp>
      <p:sp>
        <p:nvSpPr>
          <p:cNvPr id="18" name="TextBox 17"/>
          <p:cNvSpPr txBox="1"/>
          <p:nvPr/>
        </p:nvSpPr>
        <p:spPr>
          <a:xfrm>
            <a:off x="2057400" y="914400"/>
            <a:ext cx="3048000" cy="457200"/>
          </a:xfrm>
          <a:prstGeom prst="rect">
            <a:avLst/>
          </a:prstGeom>
          <a:noFill/>
        </p:spPr>
        <p:txBody>
          <a:bodyPr wrap="none" rtlCol="0">
            <a:noAutofit/>
          </a:bodyPr>
          <a:lstStyle/>
          <a:p>
            <a:r>
              <a:rPr lang="en-US" b="1" dirty="0">
                <a:solidFill>
                  <a:srgbClr val="C00000"/>
                </a:solidFill>
                <a:latin typeface="Arial" pitchFamily="32" charset="0"/>
                <a:cs typeface="Arial" pitchFamily="32" charset="0"/>
              </a:rPr>
              <a:t>IDocumentMetadataSource</a:t>
            </a:r>
          </a:p>
        </p:txBody>
      </p:sp>
      <p:sp>
        <p:nvSpPr>
          <p:cNvPr id="19" name="TextBox 18"/>
          <p:cNvSpPr txBox="1"/>
          <p:nvPr/>
        </p:nvSpPr>
        <p:spPr>
          <a:xfrm>
            <a:off x="2057400" y="5934075"/>
            <a:ext cx="3203635" cy="457200"/>
          </a:xfrm>
          <a:prstGeom prst="rect">
            <a:avLst/>
          </a:prstGeom>
          <a:noFill/>
        </p:spPr>
        <p:txBody>
          <a:bodyPr wrap="none" rtlCol="0">
            <a:noAutofit/>
          </a:bodyPr>
          <a:lstStyle/>
          <a:p>
            <a:r>
              <a:rPr lang="en-US" b="1" dirty="0">
                <a:solidFill>
                  <a:srgbClr val="C00000"/>
                </a:solidFill>
                <a:latin typeface="Arial" pitchFamily="32" charset="0"/>
                <a:cs typeface="Arial" pitchFamily="32" charset="0"/>
              </a:rPr>
              <a:t>IDocumentContentSource</a:t>
            </a:r>
          </a:p>
        </p:txBody>
      </p:sp>
      <p:cxnSp>
        <p:nvCxnSpPr>
          <p:cNvPr id="25" name="Straight Arrow Connector 24"/>
          <p:cNvCxnSpPr/>
          <p:nvPr/>
        </p:nvCxnSpPr>
        <p:spPr bwMode="auto">
          <a:xfrm>
            <a:off x="3129375" y="2400300"/>
            <a:ext cx="1337991" cy="1085784"/>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cxnSp>
        <p:nvCxnSpPr>
          <p:cNvPr id="29" name="Straight Arrow Connector 28"/>
          <p:cNvCxnSpPr/>
          <p:nvPr/>
        </p:nvCxnSpPr>
        <p:spPr bwMode="auto">
          <a:xfrm flipV="1">
            <a:off x="3082591" y="4451467"/>
            <a:ext cx="1321269" cy="1034935"/>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49" name="txt Search Cr"/>
          <p:cNvSpPr txBox="1"/>
          <p:nvPr/>
        </p:nvSpPr>
        <p:spPr>
          <a:xfrm>
            <a:off x="3730553" y="1463040"/>
            <a:ext cx="1718248" cy="632460"/>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Search criteria</a:t>
            </a:r>
          </a:p>
        </p:txBody>
      </p:sp>
      <p:sp>
        <p:nvSpPr>
          <p:cNvPr id="51" name="txt View Docs"/>
          <p:cNvSpPr txBox="1"/>
          <p:nvPr/>
        </p:nvSpPr>
        <p:spPr>
          <a:xfrm>
            <a:off x="4550693" y="4876801"/>
            <a:ext cx="2002508" cy="609601"/>
          </a:xfrm>
          <a:prstGeom prst="rect">
            <a:avLst/>
          </a:prstGeom>
          <a:solidFill>
            <a:schemeClr val="tx1">
              <a:lumMod val="95000"/>
              <a:alpha val="49000"/>
            </a:schemeClr>
          </a:solidFill>
        </p:spPr>
        <p:txBody>
          <a:bodyPr wrap="none" rtlCol="0">
            <a:noAutofit/>
          </a:bodyPr>
          <a:lstStyle/>
          <a:p>
            <a:r>
              <a:rPr lang="en-US" sz="1600" b="1" dirty="0">
                <a:solidFill>
                  <a:schemeClr val="bg1"/>
                </a:solidFill>
                <a:latin typeface="Arial" pitchFamily="32" charset="0"/>
                <a:cs typeface="Arial" pitchFamily="32" charset="0"/>
              </a:rPr>
              <a:t>Display document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contents</a:t>
            </a:r>
          </a:p>
        </p:txBody>
      </p:sp>
      <p:sp>
        <p:nvSpPr>
          <p:cNvPr id="60" name="txt Metadata ID"/>
          <p:cNvSpPr txBox="1"/>
          <p:nvPr/>
        </p:nvSpPr>
        <p:spPr>
          <a:xfrm>
            <a:off x="2057400" y="3810000"/>
            <a:ext cx="1905000" cy="830580"/>
          </a:xfrm>
          <a:prstGeom prst="rect">
            <a:avLst/>
          </a:prstGeom>
          <a:solidFill>
            <a:schemeClr val="tx1">
              <a:lumMod val="95000"/>
              <a:alpha val="49000"/>
            </a:schemeClr>
          </a:solidFill>
        </p:spPr>
        <p:txBody>
          <a:bodyPr wrap="none" rtlCol="0">
            <a:noAutofit/>
          </a:bodyPr>
          <a:lstStyle/>
          <a:p>
            <a:pPr algn="r"/>
            <a:r>
              <a:rPr lang="en-US" sz="1600" b="1" dirty="0">
                <a:solidFill>
                  <a:schemeClr val="bg1"/>
                </a:solidFill>
                <a:latin typeface="Arial" pitchFamily="32" charset="0"/>
                <a:cs typeface="Arial" pitchFamily="32" charset="0"/>
              </a:rPr>
              <a:t>Metadata (ID)</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for single </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document content</a:t>
            </a:r>
          </a:p>
        </p:txBody>
      </p:sp>
      <p:cxnSp>
        <p:nvCxnSpPr>
          <p:cNvPr id="61" name="Straight Arrow Connector 60"/>
          <p:cNvCxnSpPr/>
          <p:nvPr/>
        </p:nvCxnSpPr>
        <p:spPr bwMode="auto">
          <a:xfrm flipV="1">
            <a:off x="3174532" y="4682685"/>
            <a:ext cx="1321269" cy="1034935"/>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grpSp>
        <p:nvGrpSpPr>
          <p:cNvPr id="62" name="grp Doc Prod"/>
          <p:cNvGrpSpPr/>
          <p:nvPr/>
        </p:nvGrpSpPr>
        <p:grpSpPr>
          <a:xfrm>
            <a:off x="7872772" y="914400"/>
            <a:ext cx="2483932" cy="1981200"/>
            <a:chOff x="2946487" y="1821047"/>
            <a:chExt cx="2483932" cy="1981200"/>
          </a:xfrm>
        </p:grpSpPr>
        <p:sp>
          <p:nvSpPr>
            <p:cNvPr id="63"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4"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Rounded Rectangle 64"/>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Doc Production</a:t>
              </a:r>
            </a:p>
          </p:txBody>
        </p:sp>
      </p:grpSp>
      <p:grpSp>
        <p:nvGrpSpPr>
          <p:cNvPr id="33" name="icn Stop"/>
          <p:cNvGrpSpPr>
            <a:grpSpLocks/>
          </p:cNvGrpSpPr>
          <p:nvPr/>
        </p:nvGrpSpPr>
        <p:grpSpPr bwMode="auto">
          <a:xfrm>
            <a:off x="11506200" y="118873"/>
            <a:ext cx="431800" cy="461963"/>
            <a:chOff x="2967" y="1718"/>
            <a:chExt cx="467" cy="499"/>
          </a:xfrm>
        </p:grpSpPr>
        <p:sp>
          <p:nvSpPr>
            <p:cNvPr id="34" name="Rectangle 7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 name="Rectangle 7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extLst>
      <p:ext uri="{BB962C8B-B14F-4D97-AF65-F5344CB8AC3E}">
        <p14:creationId xmlns:p14="http://schemas.microsoft.com/office/powerpoint/2010/main" val="13037319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1500"/>
                                        <p:tgtEl>
                                          <p:spTgt spid="21"/>
                                        </p:tgtEl>
                                      </p:cBhvr>
                                    </p:animEffect>
                                  </p:childTnLst>
                                </p:cTn>
                              </p:par>
                              <p:par>
                                <p:cTn id="8" presetID="22" presetClass="entr" presetSubtype="2" fill="hold" grpId="0" nodeType="withEffect">
                                  <p:stCondLst>
                                    <p:cond delay="100"/>
                                  </p:stCondLst>
                                  <p:childTnLst>
                                    <p:set>
                                      <p:cBhvr>
                                        <p:cTn id="9" dur="1" fill="hold">
                                          <p:stCondLst>
                                            <p:cond delay="0"/>
                                          </p:stCondLst>
                                        </p:cTn>
                                        <p:tgtEl>
                                          <p:spTgt spid="49"/>
                                        </p:tgtEl>
                                        <p:attrNameLst>
                                          <p:attrName>style.visibility</p:attrName>
                                        </p:attrNameLst>
                                      </p:cBhvr>
                                      <p:to>
                                        <p:strVal val="visible"/>
                                      </p:to>
                                    </p:set>
                                    <p:animEffect transition="in" filter="wipe(right)">
                                      <p:cBhvr>
                                        <p:cTn id="10" dur="1500"/>
                                        <p:tgtEl>
                                          <p:spTgt spid="49"/>
                                        </p:tgtEl>
                                      </p:cBhvr>
                                    </p:animEffect>
                                  </p:childTnLst>
                                </p:cTn>
                              </p:par>
                            </p:childTnLst>
                          </p:cTn>
                        </p:par>
                        <p:par>
                          <p:cTn id="11" fill="hold">
                            <p:stCondLst>
                              <p:cond delay="1600"/>
                            </p:stCondLst>
                            <p:childTnLst>
                              <p:par>
                                <p:cTn id="12" presetID="22" presetClass="entr" presetSubtype="1" fill="hold" nodeType="afterEffect">
                                  <p:stCondLst>
                                    <p:cond delay="50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1500"/>
                                        <p:tgtEl>
                                          <p:spTgt spid="25"/>
                                        </p:tgtEl>
                                      </p:cBhvr>
                                    </p:animEffect>
                                  </p:childTnLst>
                                </p:cTn>
                              </p:par>
                              <p:par>
                                <p:cTn id="15" presetID="22" presetClass="entr" presetSubtype="8" fill="hold" grpId="0" nodeType="withEffect">
                                  <p:stCondLst>
                                    <p:cond delay="600"/>
                                  </p:stCondLst>
                                  <p:childTnLst>
                                    <p:set>
                                      <p:cBhvr>
                                        <p:cTn id="16" dur="1" fill="hold">
                                          <p:stCondLst>
                                            <p:cond delay="0"/>
                                          </p:stCondLst>
                                        </p:cTn>
                                        <p:tgtEl>
                                          <p:spTgt spid="50"/>
                                        </p:tgtEl>
                                        <p:attrNameLst>
                                          <p:attrName>style.visibility</p:attrName>
                                        </p:attrNameLst>
                                      </p:cBhvr>
                                      <p:to>
                                        <p:strVal val="visible"/>
                                      </p:to>
                                    </p:set>
                                    <p:animEffect transition="in" filter="wipe(left)">
                                      <p:cBhvr>
                                        <p:cTn id="17" dur="1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1500"/>
                                        <p:tgtEl>
                                          <p:spTgt spid="29"/>
                                        </p:tgtEl>
                                      </p:cBhvr>
                                    </p:animEffect>
                                  </p:childTnLst>
                                </p:cTn>
                              </p:par>
                              <p:par>
                                <p:cTn id="23" presetID="22" presetClass="entr" presetSubtype="2" fill="hold" grpId="0" nodeType="withEffect">
                                  <p:stCondLst>
                                    <p:cond delay="100"/>
                                  </p:stCondLst>
                                  <p:childTnLst>
                                    <p:set>
                                      <p:cBhvr>
                                        <p:cTn id="24" dur="1" fill="hold">
                                          <p:stCondLst>
                                            <p:cond delay="0"/>
                                          </p:stCondLst>
                                        </p:cTn>
                                        <p:tgtEl>
                                          <p:spTgt spid="60"/>
                                        </p:tgtEl>
                                        <p:attrNameLst>
                                          <p:attrName>style.visibility</p:attrName>
                                        </p:attrNameLst>
                                      </p:cBhvr>
                                      <p:to>
                                        <p:strVal val="visible"/>
                                      </p:to>
                                    </p:set>
                                    <p:animEffect transition="in" filter="wipe(right)">
                                      <p:cBhvr>
                                        <p:cTn id="25" dur="1500"/>
                                        <p:tgtEl>
                                          <p:spTgt spid="60"/>
                                        </p:tgtEl>
                                      </p:cBhvr>
                                    </p:animEffect>
                                  </p:childTnLst>
                                </p:cTn>
                              </p:par>
                            </p:childTnLst>
                          </p:cTn>
                        </p:par>
                        <p:par>
                          <p:cTn id="26" fill="hold">
                            <p:stCondLst>
                              <p:cond delay="1600"/>
                            </p:stCondLst>
                            <p:childTnLst>
                              <p:par>
                                <p:cTn id="27" presetID="22" presetClass="entr" presetSubtype="4" fill="hold" nodeType="afterEffect">
                                  <p:stCondLst>
                                    <p:cond delay="500"/>
                                  </p:stCondLst>
                                  <p:childTnLst>
                                    <p:set>
                                      <p:cBhvr>
                                        <p:cTn id="28" dur="1" fill="hold">
                                          <p:stCondLst>
                                            <p:cond delay="0"/>
                                          </p:stCondLst>
                                        </p:cTn>
                                        <p:tgtEl>
                                          <p:spTgt spid="61"/>
                                        </p:tgtEl>
                                        <p:attrNameLst>
                                          <p:attrName>style.visibility</p:attrName>
                                        </p:attrNameLst>
                                      </p:cBhvr>
                                      <p:to>
                                        <p:strVal val="visible"/>
                                      </p:to>
                                    </p:set>
                                    <p:animEffect transition="in" filter="wipe(down)">
                                      <p:cBhvr>
                                        <p:cTn id="29" dur="1500"/>
                                        <p:tgtEl>
                                          <p:spTgt spid="61"/>
                                        </p:tgtEl>
                                      </p:cBhvr>
                                    </p:animEffect>
                                  </p:childTnLst>
                                </p:cTn>
                              </p:par>
                              <p:par>
                                <p:cTn id="30" presetID="22" presetClass="entr" presetSubtype="8" fill="hold" grpId="0" nodeType="withEffect">
                                  <p:stCondLst>
                                    <p:cond delay="60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1500"/>
                                        <p:tgtEl>
                                          <p:spTgt spid="51"/>
                                        </p:tgtEl>
                                      </p:cBhvr>
                                    </p:animEffect>
                                  </p:childTnLst>
                                </p:cTn>
                              </p:par>
                            </p:childTnLst>
                          </p:cTn>
                        </p:par>
                        <p:par>
                          <p:cTn id="33" fill="hold">
                            <p:stCondLst>
                              <p:cond delay="3700"/>
                            </p:stCondLst>
                            <p:childTnLst>
                              <p:par>
                                <p:cTn id="34" presetID="16" presetClass="entr" presetSubtype="37" fill="hold"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barn(outVertical)">
                                      <p:cBhvr>
                                        <p:cTn id="3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9" grpId="0" animBg="1"/>
      <p:bldP spid="51" grpId="0" animBg="1"/>
      <p:bldP spid="60"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chemeClr val="accent6"/>
                </a:solidFill>
              </a:rPr>
              <a:t>IDocumentMetadataSource plugin</a:t>
            </a:r>
          </a:p>
        </p:txBody>
      </p:sp>
      <p:sp>
        <p:nvSpPr>
          <p:cNvPr id="6" name="Content Placeholder 5"/>
          <p:cNvSpPr>
            <a:spLocks noGrp="1"/>
          </p:cNvSpPr>
          <p:nvPr>
            <p:ph sz="half" idx="2"/>
          </p:nvPr>
        </p:nvSpPr>
        <p:spPr/>
        <p:txBody>
          <a:bodyPr/>
          <a:lstStyle/>
          <a:p>
            <a:r>
              <a:rPr lang="en-US" dirty="0">
                <a:solidFill>
                  <a:schemeClr val="tx1"/>
                </a:solidFill>
              </a:rPr>
              <a:t>When enabled, handles the document metadata</a:t>
            </a:r>
          </a:p>
          <a:p>
            <a:pPr lvl="1"/>
            <a:r>
              <a:rPr lang="en-US" dirty="0">
                <a:solidFill>
                  <a:schemeClr val="tx1"/>
                </a:solidFill>
              </a:rPr>
              <a:t>IDocumentContentSource plugin does not handle metadata in this case</a:t>
            </a:r>
          </a:p>
          <a:p>
            <a:r>
              <a:rPr lang="en-US" dirty="0">
                <a:solidFill>
                  <a:schemeClr val="tx1"/>
                </a:solidFill>
              </a:rPr>
              <a:t>Add / change / remove metadata for documents with or without content.(Only CC may have docs without content)</a:t>
            </a:r>
          </a:p>
          <a:p>
            <a:r>
              <a:rPr lang="en-US" dirty="0">
                <a:solidFill>
                  <a:schemeClr val="tx1"/>
                </a:solidFill>
              </a:rPr>
              <a:t>Supports search</a:t>
            </a:r>
          </a:p>
        </p:txBody>
      </p:sp>
      <p:pic>
        <p:nvPicPr>
          <p:cNvPr id="4" name="icn DocMMeta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174865"/>
            <a:ext cx="2089853" cy="24688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713179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Plugin Methods</a:t>
            </a:r>
            <a:br>
              <a:rPr lang="en-US" dirty="0">
                <a:solidFill>
                  <a:schemeClr val="accent6"/>
                </a:solidFill>
              </a:rPr>
            </a:br>
            <a:r>
              <a:rPr lang="en-US" sz="2000" dirty="0" err="1">
                <a:solidFill>
                  <a:schemeClr val="accent6"/>
                </a:solidFill>
              </a:rPr>
              <a:t>searchDocuments</a:t>
            </a:r>
            <a:r>
              <a:rPr lang="en-US" sz="2000" dirty="0">
                <a:solidFill>
                  <a:schemeClr val="accent6"/>
                </a:solidFill>
              </a:rPr>
              <a:t>(</a:t>
            </a:r>
            <a:r>
              <a:rPr lang="en-US" sz="2000" dirty="0" err="1">
                <a:solidFill>
                  <a:schemeClr val="accent6"/>
                </a:solidFill>
              </a:rPr>
              <a:t>DocumentSearchCriteria,RemotableSearchResultSpec</a:t>
            </a:r>
            <a:r>
              <a:rPr lang="en-US" sz="2000" dirty="0">
                <a:solidFill>
                  <a:schemeClr val="accent6"/>
                </a:solidFill>
              </a:rPr>
              <a:t>) : </a:t>
            </a:r>
            <a:r>
              <a:rPr lang="en-US" sz="2000" dirty="0" err="1">
                <a:solidFill>
                  <a:schemeClr val="accent6"/>
                </a:solidFill>
              </a:rPr>
              <a:t>DocumentSearchResult</a:t>
            </a:r>
            <a:endParaRPr lang="en-US" sz="2000" dirty="0">
              <a:solidFill>
                <a:schemeClr val="accent6"/>
              </a:solidFill>
            </a:endParaRPr>
          </a:p>
        </p:txBody>
      </p:sp>
      <p:sp>
        <p:nvSpPr>
          <p:cNvPr id="4" name="Content Placeholder 3"/>
          <p:cNvSpPr>
            <a:spLocks noGrp="1"/>
          </p:cNvSpPr>
          <p:nvPr>
            <p:ph sz="half" idx="1"/>
          </p:nvPr>
        </p:nvSpPr>
        <p:spPr>
          <a:xfrm>
            <a:off x="533400" y="1447800"/>
            <a:ext cx="5567426" cy="4114800"/>
          </a:xfrm>
        </p:spPr>
        <p:txBody>
          <a:bodyPr/>
          <a:lstStyle/>
          <a:p>
            <a:r>
              <a:rPr lang="en-US" sz="2800" dirty="0">
                <a:solidFill>
                  <a:schemeClr val="tx2"/>
                </a:solidFill>
              </a:rPr>
              <a:t>Parameters</a:t>
            </a:r>
          </a:p>
          <a:p>
            <a:pPr lvl="1"/>
            <a:r>
              <a:rPr lang="en-US" b="1" dirty="0" err="1">
                <a:solidFill>
                  <a:schemeClr val="tx2"/>
                </a:solidFill>
              </a:rPr>
              <a:t>DocumentSearchCriteria</a:t>
            </a:r>
            <a:r>
              <a:rPr lang="en-US" b="1" dirty="0">
                <a:solidFill>
                  <a:schemeClr val="tx2"/>
                </a:solidFill>
              </a:rPr>
              <a:t> </a:t>
            </a:r>
            <a:r>
              <a:rPr lang="en-US" dirty="0">
                <a:solidFill>
                  <a:schemeClr val="tx2"/>
                </a:solidFill>
              </a:rPr>
              <a:t>object which defines search criteria to DMS</a:t>
            </a:r>
            <a:endParaRPr lang="en-US" b="1" dirty="0">
              <a:solidFill>
                <a:schemeClr val="tx2"/>
              </a:solidFill>
            </a:endParaRPr>
          </a:p>
          <a:p>
            <a:pPr lvl="1"/>
            <a:r>
              <a:rPr lang="en-US" b="1" dirty="0" err="1">
                <a:solidFill>
                  <a:schemeClr val="tx2"/>
                </a:solidFill>
              </a:rPr>
              <a:t>RemotableSearchResultsSpec</a:t>
            </a:r>
            <a:r>
              <a:rPr lang="en-US" dirty="0">
                <a:solidFill>
                  <a:schemeClr val="tx2"/>
                </a:solidFill>
              </a:rPr>
              <a:t> object containing sorting and paging info for PCF</a:t>
            </a:r>
          </a:p>
          <a:p>
            <a:r>
              <a:rPr lang="en-US" sz="2800" dirty="0">
                <a:solidFill>
                  <a:schemeClr val="tx2"/>
                </a:solidFill>
              </a:rPr>
              <a:t>Purpose</a:t>
            </a:r>
          </a:p>
          <a:p>
            <a:pPr lvl="1"/>
            <a:r>
              <a:rPr lang="en-US" dirty="0">
                <a:solidFill>
                  <a:schemeClr val="tx2"/>
                </a:solidFill>
              </a:rPr>
              <a:t>Return the set of Documents in DMS that match the search criteria</a:t>
            </a:r>
          </a:p>
        </p:txBody>
      </p:sp>
      <p:sp>
        <p:nvSpPr>
          <p:cNvPr id="5" name="Content Placeholder 4"/>
          <p:cNvSpPr>
            <a:spLocks noGrp="1"/>
          </p:cNvSpPr>
          <p:nvPr>
            <p:ph sz="half" idx="2"/>
          </p:nvPr>
        </p:nvSpPr>
        <p:spPr>
          <a:xfrm>
            <a:off x="6400800" y="1524000"/>
            <a:ext cx="5352288" cy="4560366"/>
          </a:xfrm>
        </p:spPr>
        <p:txBody>
          <a:bodyPr/>
          <a:lstStyle/>
          <a:p>
            <a:r>
              <a:rPr lang="en-US" sz="2800" dirty="0">
                <a:solidFill>
                  <a:schemeClr val="tx2"/>
                </a:solidFill>
              </a:rPr>
              <a:t>Returns </a:t>
            </a:r>
            <a:r>
              <a:rPr lang="en-US" sz="2000" dirty="0" err="1">
                <a:solidFill>
                  <a:schemeClr val="tx2"/>
                </a:solidFill>
              </a:rPr>
              <a:t>DocumentSearchResult</a:t>
            </a:r>
            <a:r>
              <a:rPr lang="en-US" sz="2000" dirty="0">
                <a:solidFill>
                  <a:schemeClr val="tx2"/>
                </a:solidFill>
              </a:rPr>
              <a:t> object</a:t>
            </a:r>
          </a:p>
          <a:p>
            <a:pPr lvl="1"/>
            <a:r>
              <a:rPr lang="en-US" dirty="0"/>
              <a:t>Contains Document[] collection</a:t>
            </a:r>
          </a:p>
          <a:p>
            <a:pPr lvl="1"/>
            <a:r>
              <a:rPr lang="en-US" dirty="0">
                <a:solidFill>
                  <a:schemeClr val="tx1"/>
                </a:solidFill>
              </a:rPr>
              <a:t>For each item in </a:t>
            </a:r>
            <a:r>
              <a:rPr lang="en-US" b="1" dirty="0" err="1">
                <a:solidFill>
                  <a:schemeClr val="tx1"/>
                </a:solidFill>
                <a:latin typeface="Courier New" pitchFamily="49" charset="0"/>
                <a:cs typeface="Courier New" pitchFamily="49" charset="0"/>
              </a:rPr>
              <a:t>DocumentSearchResult</a:t>
            </a:r>
            <a:r>
              <a:rPr lang="en-US" dirty="0">
                <a:solidFill>
                  <a:schemeClr val="tx1"/>
                </a:solidFill>
              </a:rPr>
              <a:t>, set properties as needed</a:t>
            </a:r>
          </a:p>
          <a:p>
            <a:pPr lvl="2"/>
            <a:r>
              <a:rPr lang="en-US" dirty="0" err="1">
                <a:solidFill>
                  <a:schemeClr val="tx1"/>
                </a:solidFill>
              </a:rPr>
              <a:t>docUID</a:t>
            </a:r>
            <a:r>
              <a:rPr lang="en-US" dirty="0">
                <a:solidFill>
                  <a:schemeClr val="tx1"/>
                </a:solidFill>
              </a:rPr>
              <a:t> to the linked identifier in the external system</a:t>
            </a:r>
          </a:p>
          <a:p>
            <a:pPr lvl="2"/>
            <a:r>
              <a:rPr lang="en-US" dirty="0" err="1">
                <a:solidFill>
                  <a:schemeClr val="tx1"/>
                </a:solidFill>
              </a:rPr>
              <a:t>DocumentIdentifier</a:t>
            </a:r>
            <a:endParaRPr lang="en-US" dirty="0">
              <a:solidFill>
                <a:schemeClr val="tx1"/>
              </a:solidFill>
            </a:endParaRPr>
          </a:p>
          <a:p>
            <a:pPr lvl="2"/>
            <a:r>
              <a:rPr lang="en-US" dirty="0">
                <a:solidFill>
                  <a:schemeClr val="tx1"/>
                </a:solidFill>
              </a:rPr>
              <a:t>DMS (true/false</a:t>
            </a:r>
            <a:endParaRPr lang="en-US" dirty="0">
              <a:solidFill>
                <a:schemeClr val="tx2"/>
              </a:solidFill>
            </a:endParaRPr>
          </a:p>
        </p:txBody>
      </p:sp>
    </p:spTree>
    <p:extLst>
      <p:ext uri="{BB962C8B-B14F-4D97-AF65-F5344CB8AC3E}">
        <p14:creationId xmlns:p14="http://schemas.microsoft.com/office/powerpoint/2010/main" val="140150502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Plugin Methods – Other methods</a:t>
            </a:r>
          </a:p>
        </p:txBody>
      </p:sp>
      <p:sp>
        <p:nvSpPr>
          <p:cNvPr id="7" name="Content Placeholder 6"/>
          <p:cNvSpPr>
            <a:spLocks noGrp="1"/>
          </p:cNvSpPr>
          <p:nvPr>
            <p:ph idx="1"/>
          </p:nvPr>
        </p:nvSpPr>
        <p:spPr>
          <a:xfrm>
            <a:off x="634254" y="990600"/>
            <a:ext cx="10771632" cy="5181600"/>
          </a:xfrm>
        </p:spPr>
        <p:txBody>
          <a:bodyPr/>
          <a:lstStyle/>
          <a:p>
            <a:r>
              <a:rPr lang="en-US" sz="2000" b="1" dirty="0" err="1">
                <a:solidFill>
                  <a:schemeClr val="tx1"/>
                </a:solidFill>
              </a:rPr>
              <a:t>retrieveDocument</a:t>
            </a:r>
            <a:r>
              <a:rPr lang="en-US" sz="2000" b="1" dirty="0">
                <a:solidFill>
                  <a:schemeClr val="tx1"/>
                </a:solidFill>
              </a:rPr>
              <a:t>(String) : Document</a:t>
            </a:r>
          </a:p>
          <a:p>
            <a:pPr lvl="1"/>
            <a:r>
              <a:rPr lang="en-US" dirty="0">
                <a:solidFill>
                  <a:schemeClr val="tx1"/>
                </a:solidFill>
              </a:rPr>
              <a:t>Retrieve the metadata for a document from a DMS</a:t>
            </a:r>
          </a:p>
          <a:p>
            <a:pPr lvl="1"/>
            <a:r>
              <a:rPr lang="en-US" dirty="0">
                <a:solidFill>
                  <a:schemeClr val="tx1"/>
                </a:solidFill>
              </a:rPr>
              <a:t>Returns a Document object containing the retrieved metadata</a:t>
            </a:r>
          </a:p>
          <a:p>
            <a:pPr lvl="2"/>
            <a:r>
              <a:rPr lang="en-US" sz="2000" dirty="0">
                <a:solidFill>
                  <a:schemeClr val="tx1"/>
                </a:solidFill>
              </a:rPr>
              <a:t>Set the </a:t>
            </a:r>
            <a:r>
              <a:rPr lang="en-US" sz="2000" dirty="0" err="1">
                <a:solidFill>
                  <a:schemeClr val="tx1"/>
                </a:solidFill>
              </a:rPr>
              <a:t>DocUID</a:t>
            </a:r>
            <a:r>
              <a:rPr lang="en-US" sz="2000" dirty="0">
                <a:solidFill>
                  <a:schemeClr val="tx1"/>
                </a:solidFill>
              </a:rPr>
              <a:t> of the returned document to the ID that was retrieved</a:t>
            </a:r>
          </a:p>
          <a:p>
            <a:pPr lvl="2"/>
            <a:r>
              <a:rPr lang="en-US" sz="2000" dirty="0">
                <a:solidFill>
                  <a:schemeClr val="tx1"/>
                </a:solidFill>
              </a:rPr>
              <a:t>Must initialize the internal properties of the returned Document object by calling</a:t>
            </a:r>
          </a:p>
          <a:p>
            <a:pPr lvl="2"/>
            <a:r>
              <a:rPr lang="en-US" sz="2000" dirty="0" err="1">
                <a:solidFill>
                  <a:schemeClr val="tx1"/>
                </a:solidFill>
              </a:rPr>
              <a:t>DocumentsUtilBase.initOriginalValues</a:t>
            </a:r>
            <a:r>
              <a:rPr lang="en-US" sz="2000" dirty="0">
                <a:solidFill>
                  <a:schemeClr val="tx1"/>
                </a:solidFill>
              </a:rPr>
              <a:t> method</a:t>
            </a:r>
          </a:p>
          <a:p>
            <a:pPr lvl="2"/>
            <a:r>
              <a:rPr lang="en-US" sz="2000" dirty="0">
                <a:solidFill>
                  <a:schemeClr val="tx1"/>
                </a:solidFill>
              </a:rPr>
              <a:t>Must call </a:t>
            </a:r>
            <a:r>
              <a:rPr lang="en-US" sz="2000" dirty="0" err="1">
                <a:solidFill>
                  <a:schemeClr val="tx1"/>
                </a:solidFill>
              </a:rPr>
              <a:t>setRetrievedFromIDMS</a:t>
            </a:r>
            <a:r>
              <a:rPr lang="en-US" sz="2000" dirty="0">
                <a:solidFill>
                  <a:schemeClr val="tx1"/>
                </a:solidFill>
              </a:rPr>
              <a:t> method on the Document entity instance</a:t>
            </a:r>
          </a:p>
          <a:p>
            <a:r>
              <a:rPr lang="en-US" sz="2000" b="1" dirty="0" err="1">
                <a:solidFill>
                  <a:schemeClr val="tx1"/>
                </a:solidFill>
              </a:rPr>
              <a:t>saveDocument</a:t>
            </a:r>
            <a:r>
              <a:rPr lang="en-US" sz="2000" b="1" dirty="0">
                <a:solidFill>
                  <a:schemeClr val="tx1"/>
                </a:solidFill>
              </a:rPr>
              <a:t>(Document)</a:t>
            </a:r>
          </a:p>
          <a:p>
            <a:pPr lvl="1"/>
            <a:r>
              <a:rPr lang="en-US" dirty="0">
                <a:solidFill>
                  <a:schemeClr val="tx1"/>
                </a:solidFill>
              </a:rPr>
              <a:t>Create or update the metadata for a Document to a DMS</a:t>
            </a:r>
          </a:p>
          <a:p>
            <a:pPr lvl="1"/>
            <a:r>
              <a:rPr lang="en-US" dirty="0">
                <a:solidFill>
                  <a:schemeClr val="tx1"/>
                </a:solidFill>
              </a:rPr>
              <a:t>If </a:t>
            </a:r>
            <a:r>
              <a:rPr lang="en-US" dirty="0" err="1">
                <a:solidFill>
                  <a:schemeClr val="tx1"/>
                </a:solidFill>
              </a:rPr>
              <a:t>IDocumentContentSource</a:t>
            </a:r>
            <a:r>
              <a:rPr lang="en-US" dirty="0">
                <a:solidFill>
                  <a:schemeClr val="tx1"/>
                </a:solidFill>
              </a:rPr>
              <a:t> plugin methods </a:t>
            </a:r>
            <a:r>
              <a:rPr lang="en-US" dirty="0" err="1">
                <a:solidFill>
                  <a:schemeClr val="tx1"/>
                </a:solidFill>
              </a:rPr>
              <a:t>addDocuement</a:t>
            </a:r>
            <a:r>
              <a:rPr lang="en-US" dirty="0">
                <a:solidFill>
                  <a:schemeClr val="tx1"/>
                </a:solidFill>
              </a:rPr>
              <a:t> or </a:t>
            </a:r>
            <a:r>
              <a:rPr lang="en-US" dirty="0" err="1">
                <a:solidFill>
                  <a:schemeClr val="tx1"/>
                </a:solidFill>
              </a:rPr>
              <a:t>updateDocument</a:t>
            </a:r>
            <a:r>
              <a:rPr lang="en-US" dirty="0">
                <a:solidFill>
                  <a:schemeClr val="tx1"/>
                </a:solidFill>
              </a:rPr>
              <a:t> return false </a:t>
            </a:r>
          </a:p>
          <a:p>
            <a:pPr lvl="2"/>
            <a:r>
              <a:rPr lang="en-US" sz="2000" dirty="0">
                <a:solidFill>
                  <a:schemeClr val="tx1"/>
                </a:solidFill>
              </a:rPr>
              <a:t>Indicates they did not handle metadata</a:t>
            </a:r>
          </a:p>
          <a:p>
            <a:pPr lvl="2"/>
            <a:r>
              <a:rPr lang="en-US" sz="2000" dirty="0">
                <a:solidFill>
                  <a:schemeClr val="tx1"/>
                </a:solidFill>
              </a:rPr>
              <a:t>Application calls the </a:t>
            </a:r>
            <a:r>
              <a:rPr lang="en-US" sz="2000" dirty="0" err="1">
                <a:solidFill>
                  <a:schemeClr val="tx1"/>
                </a:solidFill>
              </a:rPr>
              <a:t>saveDocument</a:t>
            </a:r>
            <a:r>
              <a:rPr lang="en-US" sz="2000" dirty="0">
                <a:solidFill>
                  <a:schemeClr val="tx1"/>
                </a:solidFill>
              </a:rPr>
              <a:t> method</a:t>
            </a:r>
          </a:p>
          <a:p>
            <a:r>
              <a:rPr lang="en-US" sz="2000" b="1" dirty="0" err="1">
                <a:solidFill>
                  <a:schemeClr val="tx1"/>
                </a:solidFill>
              </a:rPr>
              <a:t>removeDocument</a:t>
            </a:r>
            <a:r>
              <a:rPr lang="en-US" sz="2000" b="1" dirty="0">
                <a:solidFill>
                  <a:schemeClr val="tx1"/>
                </a:solidFill>
              </a:rPr>
              <a:t>(Document)</a:t>
            </a:r>
          </a:p>
          <a:p>
            <a:pPr lvl="1"/>
            <a:r>
              <a:rPr lang="en-US" dirty="0">
                <a:solidFill>
                  <a:schemeClr val="tx1"/>
                </a:solidFill>
              </a:rPr>
              <a:t>Logically or physically delete document metadata</a:t>
            </a:r>
          </a:p>
        </p:txBody>
      </p:sp>
    </p:spTree>
    <p:extLst>
      <p:ext uri="{BB962C8B-B14F-4D97-AF65-F5344CB8AC3E}">
        <p14:creationId xmlns:p14="http://schemas.microsoft.com/office/powerpoint/2010/main" val="213133543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Other methods in both plugin interfaces</a:t>
            </a:r>
          </a:p>
        </p:txBody>
      </p:sp>
      <p:sp>
        <p:nvSpPr>
          <p:cNvPr id="3" name="Content Placeholder 2"/>
          <p:cNvSpPr>
            <a:spLocks noGrp="1"/>
          </p:cNvSpPr>
          <p:nvPr>
            <p:ph sz="half" idx="1"/>
          </p:nvPr>
        </p:nvSpPr>
        <p:spPr>
          <a:xfrm>
            <a:off x="658368" y="1752600"/>
            <a:ext cx="5467795" cy="4648199"/>
          </a:xfrm>
        </p:spPr>
        <p:txBody>
          <a:bodyPr/>
          <a:lstStyle/>
          <a:p>
            <a:r>
              <a:rPr lang="en-US" sz="2000" dirty="0">
                <a:solidFill>
                  <a:schemeClr val="tx1"/>
                </a:solidFill>
              </a:rPr>
              <a:t>If the external DMS is available for the desired actions</a:t>
            </a:r>
          </a:p>
          <a:p>
            <a:r>
              <a:rPr lang="en-US" sz="2000" dirty="0">
                <a:solidFill>
                  <a:schemeClr val="tx1"/>
                </a:solidFill>
              </a:rPr>
              <a:t>Inbound content methods</a:t>
            </a:r>
          </a:p>
          <a:p>
            <a:pPr lvl="1"/>
            <a:r>
              <a:rPr lang="en-US" sz="1800" dirty="0">
                <a:solidFill>
                  <a:schemeClr val="tx1"/>
                </a:solidFill>
              </a:rPr>
              <a:t>addDocument()</a:t>
            </a:r>
          </a:p>
          <a:p>
            <a:pPr lvl="1"/>
            <a:r>
              <a:rPr lang="en-US" sz="1800" dirty="0">
                <a:solidFill>
                  <a:schemeClr val="tx1"/>
                </a:solidFill>
              </a:rPr>
              <a:t>updateDocument()</a:t>
            </a:r>
          </a:p>
          <a:p>
            <a:pPr lvl="1"/>
            <a:r>
              <a:rPr lang="en-US" sz="1800" dirty="0">
                <a:solidFill>
                  <a:schemeClr val="tx1"/>
                </a:solidFill>
              </a:rPr>
              <a:t>removeDocument()</a:t>
            </a:r>
          </a:p>
          <a:p>
            <a:r>
              <a:rPr lang="en-US" sz="2000" dirty="0">
                <a:solidFill>
                  <a:schemeClr val="tx1"/>
                </a:solidFill>
              </a:rPr>
              <a:t>Inbound metadata methods  </a:t>
            </a:r>
          </a:p>
          <a:p>
            <a:pPr lvl="1"/>
            <a:r>
              <a:rPr lang="en-US" sz="1800" dirty="0" err="1">
                <a:solidFill>
                  <a:schemeClr val="tx1"/>
                </a:solidFill>
              </a:rPr>
              <a:t>saveDocument</a:t>
            </a:r>
            <a:r>
              <a:rPr lang="en-US" sz="1800" dirty="0">
                <a:solidFill>
                  <a:schemeClr val="tx1"/>
                </a:solidFill>
              </a:rPr>
              <a:t>()</a:t>
            </a:r>
          </a:p>
          <a:p>
            <a:pPr lvl="1"/>
            <a:r>
              <a:rPr lang="en-US" sz="1800" dirty="0">
                <a:solidFill>
                  <a:schemeClr val="tx1"/>
                </a:solidFill>
              </a:rPr>
              <a:t>removeDocument()</a:t>
            </a:r>
          </a:p>
        </p:txBody>
      </p:sp>
      <p:sp>
        <p:nvSpPr>
          <p:cNvPr id="4" name="Content Placeholder 3"/>
          <p:cNvSpPr>
            <a:spLocks noGrp="1"/>
          </p:cNvSpPr>
          <p:nvPr>
            <p:ph sz="half" idx="2"/>
          </p:nvPr>
        </p:nvSpPr>
        <p:spPr>
          <a:xfrm>
            <a:off x="6324600" y="1371601"/>
            <a:ext cx="5428488" cy="3886199"/>
          </a:xfrm>
        </p:spPr>
        <p:txBody>
          <a:bodyPr/>
          <a:lstStyle/>
          <a:p>
            <a:endParaRPr lang="en-US" sz="2000" dirty="0">
              <a:solidFill>
                <a:schemeClr val="tx1"/>
              </a:solidFill>
            </a:endParaRPr>
          </a:p>
          <a:p>
            <a:r>
              <a:rPr lang="en-US" sz="2000" dirty="0">
                <a:solidFill>
                  <a:schemeClr val="tx1"/>
                </a:solidFill>
              </a:rPr>
              <a:t>Outbound content methods</a:t>
            </a:r>
          </a:p>
          <a:p>
            <a:pPr lvl="1"/>
            <a:r>
              <a:rPr lang="en-US" sz="1800" dirty="0" err="1">
                <a:solidFill>
                  <a:schemeClr val="tx1"/>
                </a:solidFill>
              </a:rPr>
              <a:t>isDocument</a:t>
            </a:r>
            <a:r>
              <a:rPr lang="en-US" sz="1800" dirty="0">
                <a:solidFill>
                  <a:schemeClr val="tx1"/>
                </a:solidFill>
              </a:rPr>
              <a:t>()</a:t>
            </a:r>
          </a:p>
          <a:p>
            <a:pPr lvl="1"/>
            <a:r>
              <a:rPr lang="en-US" sz="1800" dirty="0" err="1">
                <a:solidFill>
                  <a:schemeClr val="tx1"/>
                </a:solidFill>
              </a:rPr>
              <a:t>getDocumentContentsInfo</a:t>
            </a:r>
            <a:r>
              <a:rPr lang="en-US" sz="1800" dirty="0">
                <a:solidFill>
                  <a:schemeClr val="tx1"/>
                </a:solidFill>
              </a:rPr>
              <a:t>()</a:t>
            </a:r>
          </a:p>
          <a:p>
            <a:r>
              <a:rPr lang="en-US" sz="2000" dirty="0">
                <a:solidFill>
                  <a:schemeClr val="tx1"/>
                </a:solidFill>
              </a:rPr>
              <a:t>Outbound metadata methods</a:t>
            </a:r>
          </a:p>
          <a:p>
            <a:pPr lvl="1"/>
            <a:r>
              <a:rPr lang="en-US" sz="1800" dirty="0" err="1">
                <a:solidFill>
                  <a:schemeClr val="tx1"/>
                </a:solidFill>
              </a:rPr>
              <a:t>searchDocuments</a:t>
            </a:r>
            <a:r>
              <a:rPr lang="en-US" sz="1800" dirty="0">
                <a:solidFill>
                  <a:schemeClr val="tx1"/>
                </a:solidFill>
              </a:rPr>
              <a:t>()</a:t>
            </a:r>
          </a:p>
          <a:p>
            <a:pPr lvl="1"/>
            <a:r>
              <a:rPr lang="en-US" sz="1800" dirty="0" err="1">
                <a:solidFill>
                  <a:schemeClr val="tx1"/>
                </a:solidFill>
              </a:rPr>
              <a:t>retrieveDocument</a:t>
            </a:r>
            <a:r>
              <a:rPr lang="en-US" sz="1800" dirty="0">
                <a:solidFill>
                  <a:schemeClr val="tx1"/>
                </a:solidFill>
              </a:rPr>
              <a:t>()</a:t>
            </a:r>
          </a:p>
        </p:txBody>
      </p:sp>
      <p:sp>
        <p:nvSpPr>
          <p:cNvPr id="5" name="Rectangle 4"/>
          <p:cNvSpPr/>
          <p:nvPr/>
        </p:nvSpPr>
        <p:spPr>
          <a:xfrm>
            <a:off x="799747" y="1076379"/>
            <a:ext cx="3199850" cy="523220"/>
          </a:xfrm>
          <a:prstGeom prst="rect">
            <a:avLst/>
          </a:prstGeom>
        </p:spPr>
        <p:txBody>
          <a:bodyPr wrap="none">
            <a:spAutoFit/>
          </a:bodyPr>
          <a:lstStyle/>
          <a:p>
            <a:r>
              <a:rPr lang="en-US" sz="2800" dirty="0" err="1"/>
              <a:t>isInboundAvailable</a:t>
            </a:r>
            <a:endParaRPr lang="en-US" sz="2800" dirty="0"/>
          </a:p>
        </p:txBody>
      </p:sp>
      <p:sp>
        <p:nvSpPr>
          <p:cNvPr id="6" name="Rectangle 5"/>
          <p:cNvSpPr/>
          <p:nvPr/>
        </p:nvSpPr>
        <p:spPr>
          <a:xfrm>
            <a:off x="6477000" y="1076378"/>
            <a:ext cx="3478773" cy="523220"/>
          </a:xfrm>
          <a:prstGeom prst="rect">
            <a:avLst/>
          </a:prstGeom>
        </p:spPr>
        <p:txBody>
          <a:bodyPr wrap="none">
            <a:spAutoFit/>
          </a:bodyPr>
          <a:lstStyle/>
          <a:p>
            <a:r>
              <a:rPr lang="en-US" sz="2800" dirty="0" err="1"/>
              <a:t>isOutboundAvailable</a:t>
            </a:r>
            <a:endParaRPr lang="en-US" sz="2800" dirty="0"/>
          </a:p>
        </p:txBody>
      </p:sp>
    </p:spTree>
    <p:extLst>
      <p:ext uri="{BB962C8B-B14F-4D97-AF65-F5344CB8AC3E}">
        <p14:creationId xmlns:p14="http://schemas.microsoft.com/office/powerpoint/2010/main" val="30686570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bg2">
                    <a:lumMod val="75000"/>
                  </a:schemeClr>
                </a:solidFill>
              </a:rPr>
              <a:t>Document management system (DMS) integration</a:t>
            </a:r>
          </a:p>
          <a:p>
            <a:r>
              <a:rPr lang="en-US" dirty="0">
                <a:solidFill>
                  <a:schemeClr val="bg2">
                    <a:lumMod val="75000"/>
                  </a:schemeClr>
                </a:solidFill>
              </a:rPr>
              <a:t>IDocumentContentSource plugin</a:t>
            </a:r>
          </a:p>
          <a:p>
            <a:r>
              <a:rPr lang="en-US" dirty="0">
                <a:solidFill>
                  <a:schemeClr val="bg2">
                    <a:lumMod val="75000"/>
                  </a:schemeClr>
                </a:solidFill>
              </a:rPr>
              <a:t>IDocumentMetadataSource plugin</a:t>
            </a:r>
          </a:p>
          <a:p>
            <a:r>
              <a:rPr lang="en-US" dirty="0">
                <a:solidFill>
                  <a:schemeClr val="tx1"/>
                </a:solidFill>
              </a:rPr>
              <a:t>DMS integration configurations</a:t>
            </a:r>
          </a:p>
          <a:p>
            <a:r>
              <a:rPr lang="en-US" dirty="0">
                <a:solidFill>
                  <a:schemeClr val="bg2">
                    <a:lumMod val="75000"/>
                  </a:schemeClr>
                </a:solidFill>
              </a:rPr>
              <a:t>Document related SOAP APIs</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359463387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DMS integration considerations</a:t>
            </a:r>
          </a:p>
        </p:txBody>
      </p:sp>
      <p:sp>
        <p:nvSpPr>
          <p:cNvPr id="3" name="Content Placeholder 2"/>
          <p:cNvSpPr>
            <a:spLocks noGrp="1"/>
          </p:cNvSpPr>
          <p:nvPr>
            <p:ph sz="half" idx="1"/>
          </p:nvPr>
        </p:nvSpPr>
        <p:spPr/>
        <p:txBody>
          <a:bodyPr/>
          <a:lstStyle/>
          <a:p>
            <a:r>
              <a:rPr lang="en-US" dirty="0">
                <a:solidFill>
                  <a:schemeClr val="tx1"/>
                </a:solidFill>
              </a:rPr>
              <a:t>DMS Uptime and availability</a:t>
            </a:r>
          </a:p>
          <a:p>
            <a:r>
              <a:rPr lang="en-US" dirty="0">
                <a:solidFill>
                  <a:schemeClr val="tx1"/>
                </a:solidFill>
              </a:rPr>
              <a:t>If metadata stored locally, users can continue limited doc related work</a:t>
            </a:r>
          </a:p>
          <a:p>
            <a:endParaRPr lang="en-US" dirty="0"/>
          </a:p>
        </p:txBody>
      </p:sp>
      <p:sp>
        <p:nvSpPr>
          <p:cNvPr id="5" name="Content Placeholder 4"/>
          <p:cNvSpPr>
            <a:spLocks noGrp="1"/>
          </p:cNvSpPr>
          <p:nvPr>
            <p:ph sz="half" idx="10"/>
          </p:nvPr>
        </p:nvSpPr>
        <p:spPr/>
        <p:txBody>
          <a:bodyPr/>
          <a:lstStyle/>
          <a:p>
            <a:r>
              <a:rPr lang="en-US" dirty="0">
                <a:solidFill>
                  <a:schemeClr val="tx1"/>
                </a:solidFill>
              </a:rPr>
              <a:t>Is DMS able to handle modifying both content and metadata in a single call?</a:t>
            </a:r>
          </a:p>
          <a:p>
            <a:r>
              <a:rPr lang="en-US" dirty="0">
                <a:solidFill>
                  <a:schemeClr val="tx1"/>
                </a:solidFill>
              </a:rPr>
              <a:t>If yes, IDocumentMetaDataSource plugin not needed</a:t>
            </a:r>
          </a:p>
          <a:p>
            <a:endParaRPr lang="en-US" dirty="0"/>
          </a:p>
        </p:txBody>
      </p:sp>
      <p:sp>
        <p:nvSpPr>
          <p:cNvPr id="4" name="Content Placeholder 3"/>
          <p:cNvSpPr>
            <a:spLocks noGrp="1"/>
          </p:cNvSpPr>
          <p:nvPr>
            <p:ph sz="half" idx="2"/>
          </p:nvPr>
        </p:nvSpPr>
        <p:spPr/>
        <p:txBody>
          <a:bodyPr/>
          <a:lstStyle/>
          <a:p>
            <a:r>
              <a:rPr lang="en-US" dirty="0">
                <a:solidFill>
                  <a:schemeClr val="tx1"/>
                </a:solidFill>
              </a:rPr>
              <a:t>Is external and Guidewire data synchronization required?</a:t>
            </a:r>
          </a:p>
          <a:p>
            <a:r>
              <a:rPr lang="en-US" dirty="0">
                <a:solidFill>
                  <a:schemeClr val="tx1"/>
                </a:solidFill>
              </a:rPr>
              <a:t>Requires IDocumentMetaDataSource plugin usually</a:t>
            </a:r>
          </a:p>
          <a:p>
            <a:endParaRPr lang="en-US" dirty="0"/>
          </a:p>
        </p:txBody>
      </p:sp>
      <p:pic>
        <p:nvPicPr>
          <p:cNvPr id="7" name="Picture 6"/>
          <p:cNvPicPr>
            <a:picLocks noChangeAspect="1"/>
          </p:cNvPicPr>
          <p:nvPr/>
        </p:nvPicPr>
        <p:blipFill>
          <a:blip r:embed="rId3"/>
          <a:stretch>
            <a:fillRect/>
          </a:stretch>
        </p:blipFill>
        <p:spPr>
          <a:xfrm>
            <a:off x="2413096" y="5029200"/>
            <a:ext cx="1397714" cy="1244680"/>
          </a:xfrm>
          <a:prstGeom prst="rect">
            <a:avLst/>
          </a:prstGeom>
        </p:spPr>
      </p:pic>
      <p:pic>
        <p:nvPicPr>
          <p:cNvPr id="11" name="Picture 10"/>
          <p:cNvPicPr>
            <a:picLocks noChangeAspect="1"/>
          </p:cNvPicPr>
          <p:nvPr/>
        </p:nvPicPr>
        <p:blipFill>
          <a:blip r:embed="rId4"/>
          <a:stretch>
            <a:fillRect/>
          </a:stretch>
        </p:blipFill>
        <p:spPr>
          <a:xfrm>
            <a:off x="5334001" y="5105400"/>
            <a:ext cx="1580649" cy="1168480"/>
          </a:xfrm>
          <a:prstGeom prst="rect">
            <a:avLst/>
          </a:prstGeom>
        </p:spPr>
      </p:pic>
      <p:pic>
        <p:nvPicPr>
          <p:cNvPr id="12" name="Picture 11"/>
          <p:cNvPicPr>
            <a:picLocks noChangeAspect="1"/>
          </p:cNvPicPr>
          <p:nvPr/>
        </p:nvPicPr>
        <p:blipFill>
          <a:blip r:embed="rId5"/>
          <a:stretch>
            <a:fillRect/>
          </a:stretch>
        </p:blipFill>
        <p:spPr>
          <a:xfrm>
            <a:off x="8077201" y="4870130"/>
            <a:ext cx="1524000" cy="1401441"/>
          </a:xfrm>
          <a:prstGeom prst="rect">
            <a:avLst/>
          </a:prstGeom>
        </p:spPr>
      </p:pic>
    </p:spTree>
    <p:extLst>
      <p:ext uri="{BB962C8B-B14F-4D97-AF65-F5344CB8AC3E}">
        <p14:creationId xmlns:p14="http://schemas.microsoft.com/office/powerpoint/2010/main" val="248414674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Default DMS Implementation</a:t>
            </a:r>
          </a:p>
        </p:txBody>
      </p:sp>
      <p:sp>
        <p:nvSpPr>
          <p:cNvPr id="7" name="Content Placeholder 2"/>
          <p:cNvSpPr>
            <a:spLocks noGrp="1"/>
          </p:cNvSpPr>
          <p:nvPr>
            <p:ph idx="1"/>
          </p:nvPr>
        </p:nvSpPr>
        <p:spPr>
          <a:xfrm>
            <a:off x="533400" y="914400"/>
            <a:ext cx="9832848" cy="5486400"/>
          </a:xfrm>
        </p:spPr>
        <p:txBody>
          <a:bodyPr/>
          <a:lstStyle/>
          <a:p>
            <a:r>
              <a:rPr lang="en-US" dirty="0">
                <a:solidFill>
                  <a:schemeClr val="tx1"/>
                </a:solidFill>
              </a:rPr>
              <a:t>Used for demo purposes only and not for Production</a:t>
            </a:r>
          </a:p>
          <a:p>
            <a:r>
              <a:rPr lang="en-US" dirty="0">
                <a:solidFill>
                  <a:schemeClr val="tx1"/>
                </a:solidFill>
              </a:rPr>
              <a:t>IDocumentMetadataSource</a:t>
            </a:r>
          </a:p>
          <a:p>
            <a:pPr lvl="1"/>
            <a:r>
              <a:rPr lang="en-US" dirty="0">
                <a:solidFill>
                  <a:schemeClr val="tx1"/>
                </a:solidFill>
              </a:rPr>
              <a:t>Plugin not implemented and enabled</a:t>
            </a:r>
          </a:p>
          <a:p>
            <a:pPr lvl="1"/>
            <a:r>
              <a:rPr lang="en-US" dirty="0">
                <a:solidFill>
                  <a:schemeClr val="tx1"/>
                </a:solidFill>
              </a:rPr>
              <a:t>Document table in App DB stores document metadata</a:t>
            </a:r>
          </a:p>
          <a:p>
            <a:r>
              <a:rPr lang="en-US" dirty="0">
                <a:solidFill>
                  <a:schemeClr val="tx1"/>
                </a:solidFill>
              </a:rPr>
              <a:t>IDocumentContentSource</a:t>
            </a:r>
          </a:p>
          <a:p>
            <a:pPr lvl="1"/>
            <a:r>
              <a:rPr lang="en-US" dirty="0">
                <a:solidFill>
                  <a:schemeClr val="tx1"/>
                </a:solidFill>
              </a:rPr>
              <a:t>Plugin is enabled</a:t>
            </a:r>
          </a:p>
          <a:p>
            <a:pPr lvl="1"/>
            <a:r>
              <a:rPr lang="en-US" dirty="0">
                <a:solidFill>
                  <a:schemeClr val="tx1"/>
                </a:solidFill>
              </a:rPr>
              <a:t>Implemented by AsyncDocumentContentSource class</a:t>
            </a:r>
          </a:p>
          <a:p>
            <a:pPr lvl="2"/>
            <a:r>
              <a:rPr lang="en-US" dirty="0">
                <a:solidFill>
                  <a:schemeClr val="tx1"/>
                </a:solidFill>
              </a:rPr>
              <a:t>Stores doc content in GW app server file system</a:t>
            </a:r>
          </a:p>
          <a:p>
            <a:pPr lvl="2"/>
            <a:r>
              <a:rPr lang="en-US" dirty="0">
                <a:solidFill>
                  <a:schemeClr val="tx1"/>
                </a:solidFill>
              </a:rPr>
              <a:t>Example, in windows environment C:\Users\&lt;user&gt;\AppData\Local\Temp\GuideWire_Server\...</a:t>
            </a:r>
          </a:p>
        </p:txBody>
      </p:sp>
    </p:spTree>
    <p:extLst>
      <p:ext uri="{BB962C8B-B14F-4D97-AF65-F5344CB8AC3E}">
        <p14:creationId xmlns:p14="http://schemas.microsoft.com/office/powerpoint/2010/main" val="349978175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Default DMS Implementation</a:t>
            </a:r>
            <a:br>
              <a:rPr lang="en-US" dirty="0">
                <a:solidFill>
                  <a:schemeClr val="accent6"/>
                </a:solidFill>
              </a:rPr>
            </a:br>
            <a:r>
              <a:rPr lang="en-US" dirty="0">
                <a:solidFill>
                  <a:schemeClr val="accent6"/>
                </a:solidFill>
              </a:rPr>
              <a:t>Alternate implementation</a:t>
            </a:r>
          </a:p>
        </p:txBody>
      </p:sp>
      <p:sp>
        <p:nvSpPr>
          <p:cNvPr id="7" name="Content Placeholder 2"/>
          <p:cNvSpPr>
            <a:spLocks noGrp="1"/>
          </p:cNvSpPr>
          <p:nvPr>
            <p:ph idx="1"/>
          </p:nvPr>
        </p:nvSpPr>
        <p:spPr>
          <a:xfrm>
            <a:off x="658368" y="914400"/>
            <a:ext cx="9707880" cy="5486400"/>
          </a:xfrm>
        </p:spPr>
        <p:txBody>
          <a:bodyPr/>
          <a:lstStyle/>
          <a:p>
            <a:endParaRPr lang="en-US" dirty="0"/>
          </a:p>
          <a:p>
            <a:r>
              <a:rPr lang="en-US" dirty="0">
                <a:solidFill>
                  <a:schemeClr val="tx1"/>
                </a:solidFill>
              </a:rPr>
              <a:t>Used for POC demonstrations and not for Production</a:t>
            </a:r>
          </a:p>
          <a:p>
            <a:r>
              <a:rPr lang="en-US" dirty="0">
                <a:solidFill>
                  <a:schemeClr val="tx1"/>
                </a:solidFill>
              </a:rPr>
              <a:t>IDocumentMetadataSource</a:t>
            </a:r>
          </a:p>
          <a:p>
            <a:pPr lvl="1"/>
            <a:r>
              <a:rPr lang="en-US" dirty="0">
                <a:solidFill>
                  <a:schemeClr val="tx1"/>
                </a:solidFill>
              </a:rPr>
              <a:t>Implement and enable plugin using LocalDocumentMetaDataSource class</a:t>
            </a:r>
          </a:p>
          <a:p>
            <a:pPr lvl="1"/>
            <a:r>
              <a:rPr lang="en-US" dirty="0">
                <a:solidFill>
                  <a:schemeClr val="tx1"/>
                </a:solidFill>
              </a:rPr>
              <a:t>IDocumentContentSource plugin addDocument() returns false</a:t>
            </a:r>
          </a:p>
          <a:p>
            <a:pPr lvl="2"/>
            <a:r>
              <a:rPr lang="en-US" dirty="0">
                <a:solidFill>
                  <a:schemeClr val="tx1"/>
                </a:solidFill>
              </a:rPr>
              <a:t>IDocumentMetadataSource saves XML metadata in server file system</a:t>
            </a:r>
          </a:p>
          <a:p>
            <a:pPr lvl="2"/>
            <a:r>
              <a:rPr lang="en-US" dirty="0">
                <a:solidFill>
                  <a:schemeClr val="tx1"/>
                </a:solidFill>
              </a:rPr>
              <a:t>C:\Users\&lt;user&gt;\AppData\Local\Temp\jetty-0.0.0.0-8080-webapp-cc…</a:t>
            </a:r>
          </a:p>
          <a:p>
            <a:r>
              <a:rPr lang="en-US" dirty="0">
                <a:solidFill>
                  <a:schemeClr val="tx1"/>
                </a:solidFill>
              </a:rPr>
              <a:t>IDocumentContentSource</a:t>
            </a:r>
          </a:p>
          <a:p>
            <a:pPr lvl="1"/>
            <a:r>
              <a:rPr lang="en-US" dirty="0">
                <a:solidFill>
                  <a:schemeClr val="tx1"/>
                </a:solidFill>
              </a:rPr>
              <a:t>Implement and enable plugin using LocalDocumentMetaDataSource class</a:t>
            </a:r>
          </a:p>
          <a:p>
            <a:pPr lvl="1"/>
            <a:r>
              <a:rPr lang="en-US" dirty="0">
                <a:solidFill>
                  <a:schemeClr val="tx1"/>
                </a:solidFill>
              </a:rPr>
              <a:t>Implemented by AsyncDocumentContentSource class</a:t>
            </a:r>
          </a:p>
          <a:p>
            <a:pPr lvl="2"/>
            <a:r>
              <a:rPr lang="en-US" dirty="0">
                <a:solidFill>
                  <a:schemeClr val="tx1"/>
                </a:solidFill>
              </a:rPr>
              <a:t>Stores doc content in GW app server file system</a:t>
            </a:r>
          </a:p>
          <a:p>
            <a:pPr lvl="2"/>
            <a:r>
              <a:rPr lang="en-US" dirty="0">
                <a:solidFill>
                  <a:schemeClr val="tx1"/>
                </a:solidFill>
              </a:rPr>
              <a:t>Example, in windows environment C:\Users\&lt;user&gt;\AppData\Local\Temp\GuideWire_Server\...</a:t>
            </a:r>
          </a:p>
        </p:txBody>
      </p:sp>
    </p:spTree>
    <p:extLst>
      <p:ext uri="{BB962C8B-B14F-4D97-AF65-F5344CB8AC3E}">
        <p14:creationId xmlns:p14="http://schemas.microsoft.com/office/powerpoint/2010/main" val="85145257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First DMS integration option</a:t>
            </a:r>
          </a:p>
        </p:txBody>
      </p:sp>
      <p:sp>
        <p:nvSpPr>
          <p:cNvPr id="5" name="Content Placeholder 2"/>
          <p:cNvSpPr>
            <a:spLocks noGrp="1"/>
          </p:cNvSpPr>
          <p:nvPr>
            <p:ph sz="half" idx="1"/>
          </p:nvPr>
        </p:nvSpPr>
        <p:spPr>
          <a:xfrm>
            <a:off x="658368" y="914399"/>
            <a:ext cx="4828032" cy="5486400"/>
          </a:xfrm>
        </p:spPr>
        <p:txBody>
          <a:bodyPr/>
          <a:lstStyle/>
          <a:p>
            <a:pPr marL="0" indent="0">
              <a:buNone/>
            </a:pPr>
            <a:r>
              <a:rPr lang="en-US" sz="2000" b="1" dirty="0">
                <a:solidFill>
                  <a:schemeClr val="tx1"/>
                </a:solidFill>
              </a:rPr>
              <a:t>IDocumentMetaDataSource Enabled</a:t>
            </a:r>
          </a:p>
          <a:p>
            <a:r>
              <a:rPr lang="en-US" sz="2000" dirty="0">
                <a:solidFill>
                  <a:schemeClr val="tx1"/>
                </a:solidFill>
              </a:rPr>
              <a:t>IDocumentMetaDataSource – reads only metadata</a:t>
            </a:r>
          </a:p>
          <a:p>
            <a:r>
              <a:rPr lang="en-US" sz="2000" dirty="0">
                <a:solidFill>
                  <a:schemeClr val="tx1"/>
                </a:solidFill>
              </a:rPr>
              <a:t>IDocumentContentSource</a:t>
            </a:r>
          </a:p>
          <a:p>
            <a:pPr lvl="1"/>
            <a:r>
              <a:rPr lang="en-US" dirty="0">
                <a:solidFill>
                  <a:schemeClr val="tx1"/>
                </a:solidFill>
              </a:rPr>
              <a:t>Writes /updates metadata with</a:t>
            </a:r>
          </a:p>
          <a:p>
            <a:pPr lvl="2"/>
            <a:r>
              <a:rPr lang="en-US" dirty="0">
                <a:solidFill>
                  <a:schemeClr val="tx1"/>
                </a:solidFill>
              </a:rPr>
              <a:t>addDocument</a:t>
            </a:r>
          </a:p>
          <a:p>
            <a:pPr lvl="2"/>
            <a:r>
              <a:rPr lang="en-US" dirty="0">
                <a:solidFill>
                  <a:schemeClr val="tx1"/>
                </a:solidFill>
              </a:rPr>
              <a:t>updateDocument</a:t>
            </a:r>
          </a:p>
          <a:p>
            <a:pPr lvl="2"/>
            <a:r>
              <a:rPr lang="en-US" dirty="0">
                <a:solidFill>
                  <a:schemeClr val="tx1"/>
                </a:solidFill>
              </a:rPr>
              <a:t>removeDocument</a:t>
            </a:r>
          </a:p>
          <a:p>
            <a:pPr lvl="1"/>
            <a:r>
              <a:rPr lang="en-US" dirty="0">
                <a:solidFill>
                  <a:schemeClr val="tx1"/>
                </a:solidFill>
              </a:rPr>
              <a:t>Manages No Content docs</a:t>
            </a:r>
          </a:p>
          <a:p>
            <a:pPr lvl="1"/>
            <a:r>
              <a:rPr lang="en-US" dirty="0">
                <a:solidFill>
                  <a:schemeClr val="tx1"/>
                </a:solidFill>
              </a:rPr>
              <a:t> Document table not used</a:t>
            </a:r>
          </a:p>
          <a:p>
            <a:pPr marL="742950" lvl="2" indent="0">
              <a:buNone/>
            </a:pPr>
            <a:endParaRPr lang="en-US" dirty="0"/>
          </a:p>
        </p:txBody>
      </p:sp>
      <p:sp>
        <p:nvSpPr>
          <p:cNvPr id="6" name="Content Placeholder 2"/>
          <p:cNvSpPr txBox="1">
            <a:spLocks/>
          </p:cNvSpPr>
          <p:nvPr/>
        </p:nvSpPr>
        <p:spPr bwMode="auto">
          <a:xfrm>
            <a:off x="6019800" y="914399"/>
            <a:ext cx="5257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marL="0" indent="0">
              <a:buNone/>
            </a:pPr>
            <a:r>
              <a:rPr lang="en-US" sz="2000" b="1" kern="0" dirty="0">
                <a:solidFill>
                  <a:schemeClr val="tx1"/>
                </a:solidFill>
              </a:rPr>
              <a:t>Runtime Characteristics</a:t>
            </a:r>
          </a:p>
          <a:p>
            <a:r>
              <a:rPr lang="en-US" sz="2000" kern="0" dirty="0">
                <a:solidFill>
                  <a:schemeClr val="tx1"/>
                </a:solidFill>
              </a:rPr>
              <a:t>Create,update,delete is more efficient</a:t>
            </a:r>
            <a:endParaRPr lang="en-US" kern="0" dirty="0">
              <a:solidFill>
                <a:schemeClr val="tx1"/>
              </a:solidFill>
            </a:endParaRPr>
          </a:p>
          <a:p>
            <a:r>
              <a:rPr lang="en-US" sz="2000" kern="0" dirty="0">
                <a:solidFill>
                  <a:schemeClr val="tx1"/>
                </a:solidFill>
              </a:rPr>
              <a:t>Appropriate for DMS that maintains content and metadata. Single call can modify content and metadata</a:t>
            </a:r>
          </a:p>
          <a:p>
            <a:r>
              <a:rPr lang="en-US" sz="2000" kern="0" dirty="0">
                <a:solidFill>
                  <a:schemeClr val="tx1"/>
                </a:solidFill>
              </a:rPr>
              <a:t>List Documents depends on DMS availability</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1" y="4495799"/>
            <a:ext cx="1495323"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970819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First DMS integration option</a:t>
            </a:r>
            <a:br>
              <a:rPr lang="en-US" dirty="0">
                <a:solidFill>
                  <a:schemeClr val="accent6"/>
                </a:solidFill>
              </a:rPr>
            </a:br>
            <a:r>
              <a:rPr lang="en-US" sz="2800" dirty="0">
                <a:solidFill>
                  <a:schemeClr val="accent6"/>
                </a:solidFill>
              </a:rPr>
              <a:t>Method call sequences (1)</a:t>
            </a:r>
            <a:endParaRPr lang="en-US" dirty="0">
              <a:solidFill>
                <a:schemeClr val="accent6"/>
              </a:solidFill>
            </a:endParaRPr>
          </a:p>
        </p:txBody>
      </p:sp>
      <p:sp>
        <p:nvSpPr>
          <p:cNvPr id="3" name="Content Placeholder 2"/>
          <p:cNvSpPr>
            <a:spLocks noGrp="1"/>
          </p:cNvSpPr>
          <p:nvPr>
            <p:ph idx="1"/>
          </p:nvPr>
        </p:nvSpPr>
        <p:spPr/>
        <p:txBody>
          <a:bodyPr/>
          <a:lstStyle/>
          <a:p>
            <a:endParaRPr lang="en-US" dirty="0"/>
          </a:p>
          <a:p>
            <a:r>
              <a:rPr lang="en-US" dirty="0">
                <a:solidFill>
                  <a:schemeClr val="tx1"/>
                </a:solidFill>
              </a:rPr>
              <a:t>Create document</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IDocumentContentSource.addDocument()*</a:t>
            </a:r>
          </a:p>
          <a:p>
            <a:pPr lvl="2"/>
            <a:r>
              <a:rPr lang="en-US" dirty="0">
                <a:solidFill>
                  <a:schemeClr val="tx1"/>
                </a:solidFill>
              </a:rPr>
              <a:t>Returns true</a:t>
            </a:r>
          </a:p>
          <a:p>
            <a:r>
              <a:rPr lang="en-US" dirty="0">
                <a:solidFill>
                  <a:schemeClr val="tx1"/>
                </a:solidFill>
              </a:rPr>
              <a:t>List documents </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IDocumentMetadataSource.searchDocuments()</a:t>
            </a:r>
          </a:p>
          <a:p>
            <a:r>
              <a:rPr lang="en-US" dirty="0">
                <a:solidFill>
                  <a:schemeClr val="tx1"/>
                </a:solidFill>
              </a:rPr>
              <a:t>Retrieve document (contents) </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IDocumentMetadataSource.retrieveDocument()</a:t>
            </a:r>
          </a:p>
          <a:p>
            <a:pPr lvl="2"/>
            <a:r>
              <a:rPr lang="en-US" dirty="0">
                <a:solidFill>
                  <a:schemeClr val="tx1"/>
                </a:solidFill>
              </a:rPr>
              <a:t>Retrieve call may be omitted if search has loaded metadata</a:t>
            </a:r>
          </a:p>
          <a:p>
            <a:pPr lvl="1"/>
            <a:r>
              <a:rPr lang="en-US" dirty="0">
                <a:solidFill>
                  <a:schemeClr val="tx1"/>
                </a:solidFill>
              </a:rPr>
              <a:t>2. </a:t>
            </a:r>
            <a:r>
              <a:rPr lang="en-US" b="1" dirty="0">
                <a:solidFill>
                  <a:schemeClr val="tx1"/>
                </a:solidFill>
                <a:latin typeface="Courier New" pitchFamily="49" charset="0"/>
                <a:cs typeface="Courier New" pitchFamily="49" charset="0"/>
              </a:rPr>
              <a:t>IDocumentContentSource.getDocumentContentsInfo()</a:t>
            </a:r>
          </a:p>
        </p:txBody>
      </p:sp>
    </p:spTree>
    <p:extLst>
      <p:ext uri="{BB962C8B-B14F-4D97-AF65-F5344CB8AC3E}">
        <p14:creationId xmlns:p14="http://schemas.microsoft.com/office/powerpoint/2010/main" val="280646776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First DMS integration option</a:t>
            </a:r>
            <a:br>
              <a:rPr lang="en-US" dirty="0">
                <a:solidFill>
                  <a:schemeClr val="accent6"/>
                </a:solidFill>
              </a:rPr>
            </a:br>
            <a:r>
              <a:rPr lang="en-US" sz="2800" dirty="0">
                <a:solidFill>
                  <a:schemeClr val="accent6"/>
                </a:solidFill>
              </a:rPr>
              <a:t>Method call sequences (2)</a:t>
            </a:r>
            <a:endParaRPr lang="en-US" dirty="0">
              <a:solidFill>
                <a:schemeClr val="accent6"/>
              </a:solidFill>
            </a:endParaRPr>
          </a:p>
        </p:txBody>
      </p:sp>
      <p:sp>
        <p:nvSpPr>
          <p:cNvPr id="3" name="Content Placeholder 2"/>
          <p:cNvSpPr>
            <a:spLocks noGrp="1"/>
          </p:cNvSpPr>
          <p:nvPr>
            <p:ph idx="1"/>
          </p:nvPr>
        </p:nvSpPr>
        <p:spPr/>
        <p:txBody>
          <a:bodyPr/>
          <a:lstStyle/>
          <a:p>
            <a:endParaRPr lang="en-US" dirty="0"/>
          </a:p>
          <a:p>
            <a:r>
              <a:rPr lang="en-US" dirty="0">
                <a:solidFill>
                  <a:schemeClr val="tx1"/>
                </a:solidFill>
              </a:rPr>
              <a:t>Update document content only</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IDocumentContentSource.updateDocument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true</a:t>
            </a:r>
          </a:p>
          <a:p>
            <a:r>
              <a:rPr lang="en-US" dirty="0">
                <a:solidFill>
                  <a:schemeClr val="tx1"/>
                </a:solidFill>
              </a:rPr>
              <a:t>Update document metadata only </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IDocumentMetadataSource.saveDocument</a:t>
            </a:r>
            <a:r>
              <a:rPr lang="en-US" b="1" dirty="0">
                <a:solidFill>
                  <a:schemeClr val="tx1"/>
                </a:solidFill>
                <a:latin typeface="Courier New" pitchFamily="49" charset="0"/>
                <a:cs typeface="Courier New" pitchFamily="49" charset="0"/>
              </a:rPr>
              <a:t>()</a:t>
            </a:r>
          </a:p>
          <a:p>
            <a:r>
              <a:rPr lang="en-US" dirty="0">
                <a:solidFill>
                  <a:schemeClr val="tx1"/>
                </a:solidFill>
              </a:rPr>
              <a:t>Delete document</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IDocumentContentSource.removeDocument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true</a:t>
            </a:r>
          </a:p>
          <a:p>
            <a:endParaRPr lang="en-US" dirty="0"/>
          </a:p>
        </p:txBody>
      </p:sp>
    </p:spTree>
    <p:extLst>
      <p:ext uri="{BB962C8B-B14F-4D97-AF65-F5344CB8AC3E}">
        <p14:creationId xmlns:p14="http://schemas.microsoft.com/office/powerpoint/2010/main" val="148921401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Second DMS integration option</a:t>
            </a:r>
          </a:p>
        </p:txBody>
      </p:sp>
      <p:sp>
        <p:nvSpPr>
          <p:cNvPr id="5" name="Content Placeholder 2"/>
          <p:cNvSpPr>
            <a:spLocks noGrp="1"/>
          </p:cNvSpPr>
          <p:nvPr>
            <p:ph sz="half" idx="1"/>
          </p:nvPr>
        </p:nvSpPr>
        <p:spPr>
          <a:xfrm>
            <a:off x="658368" y="914399"/>
            <a:ext cx="4828032" cy="5486400"/>
          </a:xfrm>
        </p:spPr>
        <p:txBody>
          <a:bodyPr/>
          <a:lstStyle/>
          <a:p>
            <a:pPr marL="0" indent="0">
              <a:buNone/>
            </a:pPr>
            <a:r>
              <a:rPr lang="en-US" sz="2000" b="1" dirty="0">
                <a:solidFill>
                  <a:schemeClr val="tx1"/>
                </a:solidFill>
              </a:rPr>
              <a:t>IDocumentMetaDataSource Enabled</a:t>
            </a:r>
          </a:p>
          <a:p>
            <a:r>
              <a:rPr lang="en-US" sz="2000" dirty="0">
                <a:solidFill>
                  <a:schemeClr val="tx1"/>
                </a:solidFill>
              </a:rPr>
              <a:t>IDocumentMetaDataSource – read &amp; write metadata</a:t>
            </a:r>
          </a:p>
          <a:p>
            <a:r>
              <a:rPr lang="en-US" sz="2000" dirty="0">
                <a:solidFill>
                  <a:schemeClr val="tx1"/>
                </a:solidFill>
              </a:rPr>
              <a:t>IDocumentContentSource</a:t>
            </a:r>
          </a:p>
          <a:p>
            <a:pPr lvl="1"/>
            <a:r>
              <a:rPr lang="en-US" dirty="0">
                <a:solidFill>
                  <a:schemeClr val="tx1"/>
                </a:solidFill>
              </a:rPr>
              <a:t>Methods return false</a:t>
            </a:r>
          </a:p>
          <a:p>
            <a:pPr lvl="2"/>
            <a:r>
              <a:rPr lang="en-US" dirty="0">
                <a:solidFill>
                  <a:schemeClr val="tx1"/>
                </a:solidFill>
              </a:rPr>
              <a:t>addDocument</a:t>
            </a:r>
          </a:p>
          <a:p>
            <a:pPr lvl="2"/>
            <a:r>
              <a:rPr lang="en-US" dirty="0">
                <a:solidFill>
                  <a:schemeClr val="tx1"/>
                </a:solidFill>
              </a:rPr>
              <a:t>updateDocument</a:t>
            </a:r>
          </a:p>
          <a:p>
            <a:pPr lvl="2"/>
            <a:r>
              <a:rPr lang="en-US" dirty="0">
                <a:solidFill>
                  <a:schemeClr val="tx1"/>
                </a:solidFill>
              </a:rPr>
              <a:t>removeDocument</a:t>
            </a:r>
          </a:p>
          <a:p>
            <a:pPr lvl="1"/>
            <a:r>
              <a:rPr lang="en-US" dirty="0">
                <a:solidFill>
                  <a:schemeClr val="tx1"/>
                </a:solidFill>
              </a:rPr>
              <a:t>Document table not used</a:t>
            </a:r>
          </a:p>
          <a:p>
            <a:pPr marL="742950" lvl="2" indent="0">
              <a:buNone/>
            </a:pPr>
            <a:endParaRPr lang="en-US" dirty="0"/>
          </a:p>
        </p:txBody>
      </p:sp>
      <p:sp>
        <p:nvSpPr>
          <p:cNvPr id="6" name="Content Placeholder 2"/>
          <p:cNvSpPr txBox="1">
            <a:spLocks/>
          </p:cNvSpPr>
          <p:nvPr/>
        </p:nvSpPr>
        <p:spPr bwMode="auto">
          <a:xfrm>
            <a:off x="6019800" y="914399"/>
            <a:ext cx="5486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marL="0" indent="0">
              <a:buNone/>
            </a:pPr>
            <a:r>
              <a:rPr lang="en-US" sz="2000" b="1" kern="0" dirty="0">
                <a:solidFill>
                  <a:schemeClr val="tx1"/>
                </a:solidFill>
              </a:rPr>
              <a:t>Runtime Characteristics</a:t>
            </a:r>
          </a:p>
          <a:p>
            <a:r>
              <a:rPr lang="en-US" sz="2000" kern="0" dirty="0">
                <a:solidFill>
                  <a:schemeClr val="tx1"/>
                </a:solidFill>
              </a:rPr>
              <a:t>Create,update,delete is less efficient</a:t>
            </a:r>
            <a:endParaRPr lang="en-US" kern="0" dirty="0">
              <a:solidFill>
                <a:schemeClr val="tx1"/>
              </a:solidFill>
            </a:endParaRPr>
          </a:p>
          <a:p>
            <a:r>
              <a:rPr lang="en-US" sz="2000" kern="0" dirty="0">
                <a:solidFill>
                  <a:schemeClr val="tx1"/>
                </a:solidFill>
              </a:rPr>
              <a:t>Calls </a:t>
            </a:r>
            <a:r>
              <a:rPr lang="en-US" sz="2000" dirty="0">
                <a:solidFill>
                  <a:schemeClr val="tx1"/>
                </a:solidFill>
              </a:rPr>
              <a:t>IDocumentMetaDataSource &amp; IDocumentContentSource</a:t>
            </a:r>
          </a:p>
          <a:p>
            <a:r>
              <a:rPr lang="en-US" sz="2000" kern="0" dirty="0">
                <a:solidFill>
                  <a:schemeClr val="tx1"/>
                </a:solidFill>
              </a:rPr>
              <a:t>Suitable for DMS whose API does not allow content and metadata modification in single call</a:t>
            </a:r>
          </a:p>
          <a:p>
            <a:r>
              <a:rPr lang="en-US" sz="2000" kern="0" dirty="0">
                <a:solidFill>
                  <a:schemeClr val="tx1"/>
                </a:solidFill>
              </a:rPr>
              <a:t>List Documents depends on DMS availability</a:t>
            </a:r>
          </a:p>
        </p:txBody>
      </p:sp>
      <p:pic>
        <p:nvPicPr>
          <p:cNvPr id="7"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698" y="495300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8548" y="5235068"/>
            <a:ext cx="1096419" cy="1295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50327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Second DMS integration option</a:t>
            </a:r>
            <a:br>
              <a:rPr lang="en-US" dirty="0">
                <a:solidFill>
                  <a:schemeClr val="accent6"/>
                </a:solidFill>
              </a:rPr>
            </a:br>
            <a:r>
              <a:rPr lang="en-US" sz="2800" dirty="0">
                <a:solidFill>
                  <a:schemeClr val="accent6"/>
                </a:solidFill>
              </a:rPr>
              <a:t>Method call sequences (1)</a:t>
            </a:r>
            <a:endParaRPr lang="en-US" dirty="0">
              <a:solidFill>
                <a:schemeClr val="accent6"/>
              </a:solidFill>
            </a:endParaRPr>
          </a:p>
        </p:txBody>
      </p:sp>
      <p:sp>
        <p:nvSpPr>
          <p:cNvPr id="4" name="Content Placeholder 3"/>
          <p:cNvSpPr>
            <a:spLocks noGrp="1"/>
          </p:cNvSpPr>
          <p:nvPr>
            <p:ph idx="1"/>
          </p:nvPr>
        </p:nvSpPr>
        <p:spPr/>
        <p:txBody>
          <a:bodyPr/>
          <a:lstStyle/>
          <a:p>
            <a:endParaRPr lang="en-US" dirty="0"/>
          </a:p>
          <a:p>
            <a:r>
              <a:rPr lang="en-US" dirty="0">
                <a:solidFill>
                  <a:schemeClr val="tx1"/>
                </a:solidFill>
              </a:rPr>
              <a:t>Create document</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IDocumentContentSource.addDocument()</a:t>
            </a:r>
          </a:p>
          <a:p>
            <a:pPr lvl="2"/>
            <a:r>
              <a:rPr lang="en-US" dirty="0">
                <a:solidFill>
                  <a:schemeClr val="tx1"/>
                </a:solidFill>
              </a:rPr>
              <a:t>Returns false</a:t>
            </a:r>
          </a:p>
          <a:p>
            <a:pPr lvl="1"/>
            <a:r>
              <a:rPr lang="en-US" dirty="0">
                <a:solidFill>
                  <a:schemeClr val="tx1"/>
                </a:solidFill>
              </a:rPr>
              <a:t>2. </a:t>
            </a:r>
            <a:r>
              <a:rPr lang="en-US" b="1" dirty="0" err="1">
                <a:solidFill>
                  <a:schemeClr val="tx1"/>
                </a:solidFill>
                <a:latin typeface="Courier New" pitchFamily="49" charset="0"/>
                <a:cs typeface="Courier New" pitchFamily="49" charset="0"/>
              </a:rPr>
              <a:t>IDocumentMetadataSource.saveDocument</a:t>
            </a:r>
            <a:r>
              <a:rPr lang="en-US" b="1" dirty="0">
                <a:solidFill>
                  <a:schemeClr val="tx1"/>
                </a:solidFill>
                <a:latin typeface="Courier New" pitchFamily="49" charset="0"/>
                <a:cs typeface="Courier New" pitchFamily="49" charset="0"/>
              </a:rPr>
              <a:t>()</a:t>
            </a:r>
          </a:p>
          <a:p>
            <a:r>
              <a:rPr lang="en-US" dirty="0">
                <a:solidFill>
                  <a:schemeClr val="tx1"/>
                </a:solidFill>
              </a:rPr>
              <a:t>List documents</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IDocumentMetadataSource.searchDocuments()</a:t>
            </a:r>
          </a:p>
          <a:p>
            <a:r>
              <a:rPr lang="en-US" dirty="0">
                <a:solidFill>
                  <a:schemeClr val="tx1"/>
                </a:solidFill>
              </a:rPr>
              <a:t>Retrieve document</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IDocumentMetadataSource.retrieveDocument()</a:t>
            </a:r>
          </a:p>
          <a:p>
            <a:pPr lvl="2"/>
            <a:r>
              <a:rPr lang="en-US" dirty="0">
                <a:solidFill>
                  <a:schemeClr val="tx1"/>
                </a:solidFill>
              </a:rPr>
              <a:t>Retrieve call may be omitted if search has loaded metadata</a:t>
            </a:r>
          </a:p>
          <a:p>
            <a:pPr lvl="1"/>
            <a:r>
              <a:rPr lang="en-US" dirty="0">
                <a:solidFill>
                  <a:schemeClr val="tx1"/>
                </a:solidFill>
              </a:rPr>
              <a:t>2. </a:t>
            </a:r>
            <a:r>
              <a:rPr lang="en-US" b="1" dirty="0">
                <a:solidFill>
                  <a:schemeClr val="tx1"/>
                </a:solidFill>
                <a:latin typeface="Courier New" pitchFamily="49" charset="0"/>
                <a:cs typeface="Courier New" pitchFamily="49" charset="0"/>
              </a:rPr>
              <a:t>IDocumentContentSource.getDocumentContentsInfo()</a:t>
            </a:r>
          </a:p>
          <a:p>
            <a:pPr lvl="1"/>
            <a:endParaRPr lang="en-US" b="1" dirty="0">
              <a:latin typeface="Courier New" pitchFamily="49" charset="0"/>
              <a:cs typeface="Courier New" pitchFamily="49" charset="0"/>
            </a:endParaRPr>
          </a:p>
          <a:p>
            <a:endParaRPr lang="en-US" dirty="0"/>
          </a:p>
        </p:txBody>
      </p:sp>
    </p:spTree>
    <p:extLst>
      <p:ext uri="{BB962C8B-B14F-4D97-AF65-F5344CB8AC3E}">
        <p14:creationId xmlns:p14="http://schemas.microsoft.com/office/powerpoint/2010/main" val="295058776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Second DMS integration option</a:t>
            </a:r>
            <a:br>
              <a:rPr lang="en-US" dirty="0">
                <a:solidFill>
                  <a:schemeClr val="accent6"/>
                </a:solidFill>
              </a:rPr>
            </a:br>
            <a:r>
              <a:rPr lang="en-US" sz="2800" dirty="0">
                <a:solidFill>
                  <a:schemeClr val="accent6"/>
                </a:solidFill>
              </a:rPr>
              <a:t>Method call sequences (2)</a:t>
            </a:r>
            <a:endParaRPr lang="en-US" dirty="0">
              <a:solidFill>
                <a:schemeClr val="accent6"/>
              </a:solidFill>
            </a:endParaRPr>
          </a:p>
        </p:txBody>
      </p:sp>
      <p:sp>
        <p:nvSpPr>
          <p:cNvPr id="4" name="Content Placeholder 3"/>
          <p:cNvSpPr>
            <a:spLocks noGrp="1"/>
          </p:cNvSpPr>
          <p:nvPr>
            <p:ph idx="1"/>
          </p:nvPr>
        </p:nvSpPr>
        <p:spPr/>
        <p:txBody>
          <a:bodyPr/>
          <a:lstStyle/>
          <a:p>
            <a:endParaRPr lang="en-US" dirty="0"/>
          </a:p>
          <a:p>
            <a:r>
              <a:rPr lang="en-US" dirty="0">
                <a:solidFill>
                  <a:schemeClr val="tx1"/>
                </a:solidFill>
              </a:rPr>
              <a:t>Update document</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IDocumentContentSource.updateDocument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false</a:t>
            </a:r>
          </a:p>
          <a:p>
            <a:pPr lvl="1"/>
            <a:r>
              <a:rPr lang="en-US" dirty="0">
                <a:solidFill>
                  <a:schemeClr val="tx1"/>
                </a:solidFill>
              </a:rPr>
              <a:t>2. </a:t>
            </a:r>
            <a:r>
              <a:rPr lang="en-US" b="1" dirty="0" err="1">
                <a:solidFill>
                  <a:schemeClr val="tx1"/>
                </a:solidFill>
                <a:latin typeface="Courier New" pitchFamily="49" charset="0"/>
                <a:cs typeface="Courier New" pitchFamily="49" charset="0"/>
              </a:rPr>
              <a:t>IDocumentMetadataSource.saveDocument</a:t>
            </a:r>
            <a:r>
              <a:rPr lang="en-US" b="1" dirty="0">
                <a:solidFill>
                  <a:schemeClr val="tx1"/>
                </a:solidFill>
                <a:latin typeface="Courier New" pitchFamily="49" charset="0"/>
                <a:cs typeface="Courier New" pitchFamily="49" charset="0"/>
              </a:rPr>
              <a:t>()</a:t>
            </a:r>
          </a:p>
          <a:p>
            <a:r>
              <a:rPr lang="en-US" dirty="0">
                <a:solidFill>
                  <a:schemeClr val="tx1"/>
                </a:solidFill>
              </a:rPr>
              <a:t>Delete document</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IDocumentContentSource.removeDocument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false</a:t>
            </a:r>
          </a:p>
          <a:p>
            <a:pPr lvl="1"/>
            <a:r>
              <a:rPr lang="en-US" dirty="0">
                <a:solidFill>
                  <a:schemeClr val="tx1"/>
                </a:solidFill>
              </a:rPr>
              <a:t>2. </a:t>
            </a:r>
            <a:r>
              <a:rPr lang="en-US" b="1" dirty="0" err="1">
                <a:solidFill>
                  <a:schemeClr val="tx1"/>
                </a:solidFill>
                <a:latin typeface="Courier New" pitchFamily="49" charset="0"/>
                <a:cs typeface="Courier New" pitchFamily="49" charset="0"/>
              </a:rPr>
              <a:t>IDocumentMetadataSource.removeDocument</a:t>
            </a:r>
            <a:r>
              <a:rPr lang="en-US" b="1" dirty="0">
                <a:solidFill>
                  <a:schemeClr val="tx1"/>
                </a:solidFill>
                <a:latin typeface="Courier New" pitchFamily="49" charset="0"/>
                <a:cs typeface="Courier New" pitchFamily="49" charset="0"/>
              </a:rPr>
              <a:t>()</a:t>
            </a:r>
          </a:p>
          <a:p>
            <a:endParaRPr lang="en-US" dirty="0"/>
          </a:p>
        </p:txBody>
      </p:sp>
    </p:spTree>
    <p:extLst>
      <p:ext uri="{BB962C8B-B14F-4D97-AF65-F5344CB8AC3E}">
        <p14:creationId xmlns:p14="http://schemas.microsoft.com/office/powerpoint/2010/main" val="289742250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Third DMS integration option</a:t>
            </a:r>
          </a:p>
        </p:txBody>
      </p:sp>
      <p:sp>
        <p:nvSpPr>
          <p:cNvPr id="5" name="Content Placeholder 2"/>
          <p:cNvSpPr>
            <a:spLocks noGrp="1"/>
          </p:cNvSpPr>
          <p:nvPr>
            <p:ph sz="half" idx="1"/>
          </p:nvPr>
        </p:nvSpPr>
        <p:spPr>
          <a:xfrm>
            <a:off x="658368" y="914399"/>
            <a:ext cx="4828032" cy="5486400"/>
          </a:xfrm>
        </p:spPr>
        <p:txBody>
          <a:bodyPr/>
          <a:lstStyle/>
          <a:p>
            <a:pPr marL="0" indent="0">
              <a:buNone/>
            </a:pPr>
            <a:r>
              <a:rPr lang="en-US" sz="2000" b="1" dirty="0">
                <a:solidFill>
                  <a:schemeClr val="tx1"/>
                </a:solidFill>
              </a:rPr>
              <a:t>IDocumentMetaDataSource Disabled</a:t>
            </a:r>
          </a:p>
          <a:p>
            <a:r>
              <a:rPr lang="en-US" sz="2000" dirty="0">
                <a:solidFill>
                  <a:schemeClr val="tx1"/>
                </a:solidFill>
              </a:rPr>
              <a:t>Base configuration of IDocumentMetaDataSource </a:t>
            </a:r>
          </a:p>
          <a:p>
            <a:r>
              <a:rPr lang="en-US" sz="2000" dirty="0">
                <a:solidFill>
                  <a:schemeClr val="tx1"/>
                </a:solidFill>
              </a:rPr>
              <a:t>IDocumentContentSource</a:t>
            </a:r>
          </a:p>
          <a:p>
            <a:pPr lvl="1"/>
            <a:r>
              <a:rPr lang="en-US" dirty="0">
                <a:solidFill>
                  <a:schemeClr val="tx1"/>
                </a:solidFill>
              </a:rPr>
              <a:t>Methods return false</a:t>
            </a:r>
          </a:p>
          <a:p>
            <a:pPr lvl="2"/>
            <a:r>
              <a:rPr lang="en-US" dirty="0">
                <a:solidFill>
                  <a:schemeClr val="tx1"/>
                </a:solidFill>
              </a:rPr>
              <a:t>addDocument</a:t>
            </a:r>
          </a:p>
          <a:p>
            <a:pPr lvl="2"/>
            <a:r>
              <a:rPr lang="en-US" dirty="0">
                <a:solidFill>
                  <a:schemeClr val="tx1"/>
                </a:solidFill>
              </a:rPr>
              <a:t>updateDocument</a:t>
            </a:r>
          </a:p>
          <a:p>
            <a:pPr lvl="2"/>
            <a:r>
              <a:rPr lang="en-US" dirty="0">
                <a:solidFill>
                  <a:schemeClr val="tx1"/>
                </a:solidFill>
              </a:rPr>
              <a:t>removeDocument</a:t>
            </a:r>
          </a:p>
          <a:p>
            <a:pPr lvl="1"/>
            <a:r>
              <a:rPr lang="en-US" dirty="0">
                <a:solidFill>
                  <a:schemeClr val="tx1"/>
                </a:solidFill>
              </a:rPr>
              <a:t>Document table is used for read write of metadata</a:t>
            </a:r>
          </a:p>
          <a:p>
            <a:pPr marL="742950" lvl="2" indent="0">
              <a:buNone/>
            </a:pPr>
            <a:endParaRPr lang="en-US" dirty="0"/>
          </a:p>
        </p:txBody>
      </p:sp>
      <p:sp>
        <p:nvSpPr>
          <p:cNvPr id="6" name="Content Placeholder 2"/>
          <p:cNvSpPr txBox="1">
            <a:spLocks/>
          </p:cNvSpPr>
          <p:nvPr/>
        </p:nvSpPr>
        <p:spPr bwMode="auto">
          <a:xfrm>
            <a:off x="6019800" y="914399"/>
            <a:ext cx="5486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marL="0" indent="0">
              <a:buNone/>
            </a:pPr>
            <a:r>
              <a:rPr lang="en-US" sz="2000" b="1" kern="0" dirty="0">
                <a:solidFill>
                  <a:schemeClr val="tx1"/>
                </a:solidFill>
              </a:rPr>
              <a:t>Runtime Characteristics</a:t>
            </a:r>
          </a:p>
          <a:p>
            <a:r>
              <a:rPr lang="en-US" sz="2000" kern="0" dirty="0">
                <a:solidFill>
                  <a:schemeClr val="tx1"/>
                </a:solidFill>
              </a:rPr>
              <a:t>Create,update,delete more efficient</a:t>
            </a:r>
          </a:p>
          <a:p>
            <a:pPr lvl="1"/>
            <a:r>
              <a:rPr lang="en-US" kern="0" dirty="0">
                <a:solidFill>
                  <a:schemeClr val="tx1"/>
                </a:solidFill>
              </a:rPr>
              <a:t>No remote calls through </a:t>
            </a:r>
            <a:r>
              <a:rPr lang="en-US" dirty="0">
                <a:solidFill>
                  <a:schemeClr val="tx1"/>
                </a:solidFill>
              </a:rPr>
              <a:t>IDocumentMetaDataSource</a:t>
            </a:r>
            <a:endParaRPr lang="en-US" kern="0" dirty="0">
              <a:solidFill>
                <a:schemeClr val="tx1"/>
              </a:solidFill>
            </a:endParaRPr>
          </a:p>
          <a:p>
            <a:r>
              <a:rPr lang="en-US" sz="2000" kern="0" dirty="0">
                <a:solidFill>
                  <a:schemeClr val="tx1"/>
                </a:solidFill>
              </a:rPr>
              <a:t>GW app queries it DB for document list independent of DMS</a:t>
            </a:r>
            <a:endParaRPr lang="en-US" sz="2000" dirty="0">
              <a:solidFill>
                <a:schemeClr val="tx1"/>
              </a:solidFill>
            </a:endParaRPr>
          </a:p>
          <a:p>
            <a:r>
              <a:rPr lang="en-US" sz="2000" kern="0" dirty="0">
                <a:solidFill>
                  <a:schemeClr val="tx1"/>
                </a:solidFill>
              </a:rPr>
              <a:t>DMS metadata changes are not detected</a:t>
            </a:r>
          </a:p>
          <a:p>
            <a:pPr lvl="1"/>
            <a:r>
              <a:rPr lang="en-US" sz="1600" kern="0" dirty="0">
                <a:solidFill>
                  <a:schemeClr val="tx1"/>
                </a:solidFill>
              </a:rPr>
              <a:t>Sync issues between GW doc table and DMS possible</a:t>
            </a:r>
          </a:p>
        </p:txBody>
      </p:sp>
      <p:pic>
        <p:nvPicPr>
          <p:cNvPr id="7" name="icn GWRE"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1" y="5297054"/>
            <a:ext cx="719449" cy="7184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1634" y="5578355"/>
            <a:ext cx="596724" cy="8524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773501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Third DMS integration option</a:t>
            </a:r>
            <a:br>
              <a:rPr lang="en-US" dirty="0">
                <a:solidFill>
                  <a:schemeClr val="accent6"/>
                </a:solidFill>
              </a:rPr>
            </a:br>
            <a:r>
              <a:rPr lang="en-US" sz="2800" dirty="0">
                <a:solidFill>
                  <a:schemeClr val="accent6"/>
                </a:solidFill>
              </a:rPr>
              <a:t>Method call sequences (1)</a:t>
            </a:r>
            <a:endParaRPr lang="en-US" dirty="0">
              <a:solidFill>
                <a:schemeClr val="accent6"/>
              </a:solidFill>
            </a:endParaRPr>
          </a:p>
        </p:txBody>
      </p:sp>
      <p:sp>
        <p:nvSpPr>
          <p:cNvPr id="4" name="Content Placeholder 3"/>
          <p:cNvSpPr>
            <a:spLocks noGrp="1"/>
          </p:cNvSpPr>
          <p:nvPr>
            <p:ph idx="1"/>
          </p:nvPr>
        </p:nvSpPr>
        <p:spPr/>
        <p:txBody>
          <a:bodyPr/>
          <a:lstStyle/>
          <a:p>
            <a:endParaRPr lang="en-US" dirty="0"/>
          </a:p>
          <a:p>
            <a:r>
              <a:rPr lang="en-US" dirty="0">
                <a:solidFill>
                  <a:schemeClr val="tx1"/>
                </a:solidFill>
              </a:rPr>
              <a:t>Create document</a:t>
            </a:r>
          </a:p>
          <a:p>
            <a:pPr lvl="1"/>
            <a:r>
              <a:rPr lang="en-US" dirty="0">
                <a:solidFill>
                  <a:schemeClr val="tx1"/>
                </a:solidFill>
              </a:rPr>
              <a:t>1. </a:t>
            </a:r>
            <a:r>
              <a:rPr lang="en-US" b="1" dirty="0">
                <a:solidFill>
                  <a:schemeClr val="tx1"/>
                </a:solidFill>
                <a:latin typeface="Courier New" pitchFamily="49" charset="0"/>
                <a:cs typeface="Courier New" pitchFamily="49" charset="0"/>
              </a:rPr>
              <a:t>IDocumentContentSource.addDocument()</a:t>
            </a:r>
          </a:p>
          <a:p>
            <a:pPr lvl="2"/>
            <a:r>
              <a:rPr lang="en-US" dirty="0">
                <a:solidFill>
                  <a:schemeClr val="tx1"/>
                </a:solidFill>
              </a:rPr>
              <a:t>Returns false</a:t>
            </a:r>
          </a:p>
          <a:p>
            <a:pPr lvl="1"/>
            <a:r>
              <a:rPr lang="en-US" dirty="0">
                <a:solidFill>
                  <a:schemeClr val="tx1"/>
                </a:solidFill>
              </a:rPr>
              <a:t>2. Row added to </a:t>
            </a:r>
            <a:r>
              <a:rPr lang="en-US" dirty="0" err="1">
                <a:solidFill>
                  <a:schemeClr val="tx1"/>
                </a:solidFill>
              </a:rPr>
              <a:t>xx_document</a:t>
            </a:r>
            <a:r>
              <a:rPr lang="en-US" dirty="0">
                <a:solidFill>
                  <a:schemeClr val="tx1"/>
                </a:solidFill>
              </a:rPr>
              <a:t> table</a:t>
            </a:r>
          </a:p>
          <a:p>
            <a:r>
              <a:rPr lang="en-US" dirty="0">
                <a:solidFill>
                  <a:schemeClr val="tx1"/>
                </a:solidFill>
              </a:rPr>
              <a:t>List documents</a:t>
            </a:r>
          </a:p>
          <a:p>
            <a:pPr lvl="1"/>
            <a:r>
              <a:rPr lang="en-US" dirty="0">
                <a:solidFill>
                  <a:schemeClr val="tx1"/>
                </a:solidFill>
              </a:rPr>
              <a:t>1. Query of  </a:t>
            </a:r>
            <a:r>
              <a:rPr lang="en-US" dirty="0" err="1">
                <a:solidFill>
                  <a:schemeClr val="tx1"/>
                </a:solidFill>
              </a:rPr>
              <a:t>xx_document</a:t>
            </a:r>
            <a:r>
              <a:rPr lang="en-US" dirty="0">
                <a:solidFill>
                  <a:schemeClr val="tx1"/>
                </a:solidFill>
              </a:rPr>
              <a:t> table</a:t>
            </a:r>
          </a:p>
          <a:p>
            <a:endParaRPr lang="en-US" dirty="0"/>
          </a:p>
        </p:txBody>
      </p:sp>
    </p:spTree>
    <p:extLst>
      <p:ext uri="{BB962C8B-B14F-4D97-AF65-F5344CB8AC3E}">
        <p14:creationId xmlns:p14="http://schemas.microsoft.com/office/powerpoint/2010/main" val="1624722258"/>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Third DMS integration option</a:t>
            </a:r>
            <a:br>
              <a:rPr lang="en-US" dirty="0">
                <a:solidFill>
                  <a:schemeClr val="accent6"/>
                </a:solidFill>
              </a:rPr>
            </a:br>
            <a:r>
              <a:rPr lang="en-US" sz="2800" dirty="0">
                <a:solidFill>
                  <a:schemeClr val="accent6"/>
                </a:solidFill>
              </a:rPr>
              <a:t>Method call sequences (2)</a:t>
            </a:r>
          </a:p>
        </p:txBody>
      </p:sp>
      <p:sp>
        <p:nvSpPr>
          <p:cNvPr id="3" name="Content Placeholder 2"/>
          <p:cNvSpPr>
            <a:spLocks noGrp="1"/>
          </p:cNvSpPr>
          <p:nvPr>
            <p:ph idx="1"/>
          </p:nvPr>
        </p:nvSpPr>
        <p:spPr/>
        <p:txBody>
          <a:bodyPr/>
          <a:lstStyle/>
          <a:p>
            <a:endParaRPr lang="en-US" dirty="0"/>
          </a:p>
          <a:p>
            <a:r>
              <a:rPr lang="en-US" dirty="0">
                <a:solidFill>
                  <a:schemeClr val="tx1"/>
                </a:solidFill>
              </a:rPr>
              <a:t>Retrieve document</a:t>
            </a:r>
          </a:p>
          <a:p>
            <a:pPr lvl="1"/>
            <a:r>
              <a:rPr lang="en-US" dirty="0">
                <a:solidFill>
                  <a:schemeClr val="tx1"/>
                </a:solidFill>
              </a:rPr>
              <a:t>1. Reads row from </a:t>
            </a:r>
            <a:r>
              <a:rPr lang="en-US" dirty="0" err="1">
                <a:solidFill>
                  <a:schemeClr val="tx1"/>
                </a:solidFill>
              </a:rPr>
              <a:t>xx_document</a:t>
            </a:r>
            <a:r>
              <a:rPr lang="en-US" dirty="0">
                <a:solidFill>
                  <a:schemeClr val="tx1"/>
                </a:solidFill>
              </a:rPr>
              <a:t> table</a:t>
            </a:r>
          </a:p>
          <a:p>
            <a:pPr lvl="2"/>
            <a:r>
              <a:rPr lang="en-US" dirty="0">
                <a:solidFill>
                  <a:schemeClr val="tx1"/>
                </a:solidFill>
              </a:rPr>
              <a:t>Read may be omitted if search has loaded metadata</a:t>
            </a:r>
          </a:p>
          <a:p>
            <a:pPr lvl="1"/>
            <a:r>
              <a:rPr lang="en-US" dirty="0">
                <a:solidFill>
                  <a:schemeClr val="tx1"/>
                </a:solidFill>
              </a:rPr>
              <a:t>2. </a:t>
            </a:r>
            <a:r>
              <a:rPr lang="en-US" b="1" dirty="0">
                <a:solidFill>
                  <a:schemeClr val="tx1"/>
                </a:solidFill>
                <a:latin typeface="Courier New" pitchFamily="49" charset="0"/>
                <a:cs typeface="Courier New" pitchFamily="49" charset="0"/>
              </a:rPr>
              <a:t>IDocumentContentSource.getDocumentContentsInfo()</a:t>
            </a:r>
          </a:p>
          <a:p>
            <a:r>
              <a:rPr lang="en-US" dirty="0">
                <a:solidFill>
                  <a:schemeClr val="tx1"/>
                </a:solidFill>
              </a:rPr>
              <a:t>Update document</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IDocumentContentSource.updateDocument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false</a:t>
            </a:r>
          </a:p>
          <a:p>
            <a:pPr lvl="1"/>
            <a:r>
              <a:rPr lang="en-US" dirty="0">
                <a:solidFill>
                  <a:schemeClr val="tx1"/>
                </a:solidFill>
              </a:rPr>
              <a:t>2. </a:t>
            </a:r>
            <a:r>
              <a:rPr lang="en-US" dirty="0" err="1">
                <a:solidFill>
                  <a:schemeClr val="tx1"/>
                </a:solidFill>
              </a:rPr>
              <a:t>xx_document</a:t>
            </a:r>
            <a:r>
              <a:rPr lang="en-US" dirty="0">
                <a:solidFill>
                  <a:schemeClr val="tx1"/>
                </a:solidFill>
              </a:rPr>
              <a:t> table row updated</a:t>
            </a:r>
          </a:p>
          <a:p>
            <a:r>
              <a:rPr lang="en-US" dirty="0">
                <a:solidFill>
                  <a:schemeClr val="tx1"/>
                </a:solidFill>
              </a:rPr>
              <a:t>Delete document</a:t>
            </a:r>
          </a:p>
          <a:p>
            <a:pPr lvl="1"/>
            <a:r>
              <a:rPr lang="en-US" dirty="0">
                <a:solidFill>
                  <a:schemeClr val="tx1"/>
                </a:solidFill>
              </a:rPr>
              <a:t>1. </a:t>
            </a:r>
            <a:r>
              <a:rPr lang="en-US" b="1" dirty="0" err="1">
                <a:solidFill>
                  <a:schemeClr val="tx1"/>
                </a:solidFill>
                <a:latin typeface="Courier New" pitchFamily="49" charset="0"/>
                <a:cs typeface="Courier New" pitchFamily="49" charset="0"/>
              </a:rPr>
              <a:t>IDocumentContentSource.removeDocument</a:t>
            </a:r>
            <a:r>
              <a:rPr lang="en-US" b="1" dirty="0">
                <a:solidFill>
                  <a:schemeClr val="tx1"/>
                </a:solidFill>
                <a:latin typeface="Courier New" pitchFamily="49" charset="0"/>
                <a:cs typeface="Courier New" pitchFamily="49" charset="0"/>
              </a:rPr>
              <a:t>()</a:t>
            </a:r>
          </a:p>
          <a:p>
            <a:pPr lvl="2"/>
            <a:r>
              <a:rPr lang="en-US" dirty="0">
                <a:solidFill>
                  <a:schemeClr val="tx1"/>
                </a:solidFill>
              </a:rPr>
              <a:t>Returns false</a:t>
            </a:r>
          </a:p>
          <a:p>
            <a:pPr lvl="1"/>
            <a:r>
              <a:rPr lang="en-US" dirty="0">
                <a:solidFill>
                  <a:schemeClr val="tx1"/>
                </a:solidFill>
              </a:rPr>
              <a:t>2. Row marked as retired in </a:t>
            </a:r>
            <a:r>
              <a:rPr lang="en-US" dirty="0" err="1">
                <a:solidFill>
                  <a:schemeClr val="tx1"/>
                </a:solidFill>
              </a:rPr>
              <a:t>xx_document</a:t>
            </a:r>
            <a:r>
              <a:rPr lang="en-US" dirty="0">
                <a:solidFill>
                  <a:schemeClr val="tx1"/>
                </a:solidFill>
              </a:rPr>
              <a:t> table</a:t>
            </a:r>
          </a:p>
          <a:p>
            <a:pPr lvl="1"/>
            <a:endParaRPr lang="en-US" dirty="0"/>
          </a:p>
          <a:p>
            <a:endParaRPr lang="en-US" dirty="0"/>
          </a:p>
        </p:txBody>
      </p:sp>
    </p:spTree>
    <p:extLst>
      <p:ext uri="{BB962C8B-B14F-4D97-AF65-F5344CB8AC3E}">
        <p14:creationId xmlns:p14="http://schemas.microsoft.com/office/powerpoint/2010/main" val="2842381289"/>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Third DMS integration option Variant</a:t>
            </a:r>
          </a:p>
        </p:txBody>
      </p:sp>
      <p:sp>
        <p:nvSpPr>
          <p:cNvPr id="3" name="Content Placeholder 2"/>
          <p:cNvSpPr>
            <a:spLocks noGrp="1"/>
          </p:cNvSpPr>
          <p:nvPr>
            <p:ph idx="1"/>
          </p:nvPr>
        </p:nvSpPr>
        <p:spPr/>
        <p:txBody>
          <a:bodyPr/>
          <a:lstStyle/>
          <a:p>
            <a:endParaRPr lang="en-US" b="1" dirty="0">
              <a:latin typeface="Courier New" pitchFamily="49" charset="0"/>
              <a:cs typeface="Courier New" pitchFamily="49" charset="0"/>
            </a:endParaRPr>
          </a:p>
          <a:p>
            <a:r>
              <a:rPr lang="en-US" b="1" dirty="0">
                <a:solidFill>
                  <a:schemeClr val="tx1"/>
                </a:solidFill>
                <a:latin typeface="Courier New" pitchFamily="49" charset="0"/>
                <a:cs typeface="Courier New" pitchFamily="49" charset="0"/>
              </a:rPr>
              <a:t>IDocumentContentSource</a:t>
            </a:r>
            <a:r>
              <a:rPr lang="en-US" dirty="0">
                <a:solidFill>
                  <a:schemeClr val="tx1"/>
                </a:solidFill>
                <a:latin typeface="Courier New" pitchFamily="49" charset="0"/>
              </a:rPr>
              <a:t> </a:t>
            </a:r>
            <a:r>
              <a:rPr lang="en-US" dirty="0">
                <a:solidFill>
                  <a:schemeClr val="tx1"/>
                </a:solidFill>
              </a:rPr>
              <a:t>modifies DMS metadata</a:t>
            </a:r>
          </a:p>
          <a:p>
            <a:pPr lvl="1"/>
            <a:r>
              <a:rPr lang="en-US" dirty="0">
                <a:solidFill>
                  <a:schemeClr val="tx1"/>
                </a:solidFill>
              </a:rPr>
              <a:t>DMS stores metadata in parallel to </a:t>
            </a:r>
            <a:r>
              <a:rPr lang="en-US" dirty="0" err="1">
                <a:solidFill>
                  <a:schemeClr val="tx1"/>
                </a:solidFill>
              </a:rPr>
              <a:t>xx_document</a:t>
            </a:r>
            <a:r>
              <a:rPr lang="en-US" dirty="0">
                <a:solidFill>
                  <a:schemeClr val="tx1"/>
                </a:solidFill>
              </a:rPr>
              <a:t> table</a:t>
            </a:r>
          </a:p>
          <a:p>
            <a:r>
              <a:rPr lang="en-US" dirty="0">
                <a:solidFill>
                  <a:schemeClr val="tx1"/>
                </a:solidFill>
              </a:rPr>
              <a:t>Metadata versions must be synchronized</a:t>
            </a:r>
          </a:p>
          <a:p>
            <a:pPr lvl="1"/>
            <a:r>
              <a:rPr lang="en-US" dirty="0">
                <a:solidFill>
                  <a:schemeClr val="tx1"/>
                </a:solidFill>
              </a:rPr>
              <a:t>Concern if metadata on DMS is changed outside of Guidewire</a:t>
            </a:r>
          </a:p>
          <a:p>
            <a:r>
              <a:rPr lang="en-US" dirty="0">
                <a:solidFill>
                  <a:schemeClr val="tx1"/>
                </a:solidFill>
              </a:rPr>
              <a:t>Listing documents is still independent of the DMS</a:t>
            </a:r>
          </a:p>
          <a:p>
            <a:pPr lvl="1"/>
            <a:r>
              <a:rPr lang="en-US" dirty="0">
                <a:solidFill>
                  <a:schemeClr val="tx1"/>
                </a:solidFill>
              </a:rPr>
              <a:t>Read metadata from </a:t>
            </a:r>
            <a:r>
              <a:rPr lang="en-US" dirty="0" err="1">
                <a:solidFill>
                  <a:schemeClr val="tx1"/>
                </a:solidFill>
              </a:rPr>
              <a:t>xx_document</a:t>
            </a:r>
            <a:r>
              <a:rPr lang="en-US" dirty="0">
                <a:solidFill>
                  <a:schemeClr val="tx1"/>
                </a:solidFill>
              </a:rPr>
              <a:t> table</a:t>
            </a:r>
          </a:p>
          <a:p>
            <a:endParaRPr lang="en-US" dirty="0"/>
          </a:p>
        </p:txBody>
      </p:sp>
    </p:spTree>
    <p:extLst>
      <p:ext uri="{BB962C8B-B14F-4D97-AF65-F5344CB8AC3E}">
        <p14:creationId xmlns:p14="http://schemas.microsoft.com/office/powerpoint/2010/main" val="3742740888"/>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bg2">
                    <a:lumMod val="75000"/>
                  </a:schemeClr>
                </a:solidFill>
              </a:rPr>
              <a:t>Document management system (DMS) integration</a:t>
            </a:r>
          </a:p>
          <a:p>
            <a:r>
              <a:rPr lang="en-US" dirty="0">
                <a:solidFill>
                  <a:schemeClr val="bg2">
                    <a:lumMod val="75000"/>
                  </a:schemeClr>
                </a:solidFill>
              </a:rPr>
              <a:t>IDocumentContentSource plugin</a:t>
            </a:r>
          </a:p>
          <a:p>
            <a:r>
              <a:rPr lang="en-US" dirty="0">
                <a:solidFill>
                  <a:schemeClr val="bg2">
                    <a:lumMod val="75000"/>
                  </a:schemeClr>
                </a:solidFill>
              </a:rPr>
              <a:t>IDocumentMetadataSource plugin</a:t>
            </a:r>
          </a:p>
          <a:p>
            <a:r>
              <a:rPr lang="en-US" dirty="0">
                <a:solidFill>
                  <a:schemeClr val="bg2">
                    <a:lumMod val="75000"/>
                  </a:schemeClr>
                </a:solidFill>
              </a:rPr>
              <a:t>DMS integration configurations</a:t>
            </a:r>
          </a:p>
          <a:p>
            <a:r>
              <a:rPr lang="en-US" dirty="0">
                <a:solidFill>
                  <a:schemeClr val="tx1"/>
                </a:solidFill>
              </a:rPr>
              <a:t>Document related SOAP APIs</a:t>
            </a:r>
          </a:p>
          <a:p>
            <a:r>
              <a:rPr lang="en-US" dirty="0">
                <a:solidFill>
                  <a:schemeClr val="bg2">
                    <a:lumMod val="75000"/>
                  </a:schemeClr>
                </a:solidFill>
              </a:rPr>
              <a:t>Asynchronous Document Storage</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268590181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Document related SOAP APIs</a:t>
            </a:r>
          </a:p>
        </p:txBody>
      </p:sp>
      <p:sp>
        <p:nvSpPr>
          <p:cNvPr id="4" name="Content Placeholder 3"/>
          <p:cNvSpPr>
            <a:spLocks noGrp="1"/>
          </p:cNvSpPr>
          <p:nvPr>
            <p:ph idx="1"/>
          </p:nvPr>
        </p:nvSpPr>
        <p:spPr/>
        <p:txBody>
          <a:bodyPr/>
          <a:lstStyle/>
          <a:p>
            <a:r>
              <a:rPr lang="en-US" dirty="0">
                <a:solidFill>
                  <a:schemeClr val="tx1"/>
                </a:solidFill>
              </a:rPr>
              <a:t>Add document metadata to Guidewire programmatically</a:t>
            </a:r>
          </a:p>
          <a:p>
            <a:r>
              <a:rPr lang="en-US" dirty="0">
                <a:solidFill>
                  <a:schemeClr val="tx1"/>
                </a:solidFill>
              </a:rPr>
              <a:t>APIs that have methods for adding documents:</a:t>
            </a:r>
          </a:p>
          <a:p>
            <a:pPr lvl="1"/>
            <a:r>
              <a:rPr lang="en-US" b="1" dirty="0" err="1">
                <a:solidFill>
                  <a:schemeClr val="tx1"/>
                </a:solidFill>
                <a:latin typeface="Courier New" pitchFamily="49" charset="0"/>
                <a:cs typeface="Courier New" pitchFamily="49" charset="0"/>
              </a:rPr>
              <a:t>ClaimAPI</a:t>
            </a:r>
            <a:r>
              <a:rPr lang="en-US" dirty="0">
                <a:solidFill>
                  <a:schemeClr val="tx1"/>
                </a:solidFill>
              </a:rPr>
              <a:t> (CC)</a:t>
            </a:r>
          </a:p>
          <a:p>
            <a:pPr lvl="1"/>
            <a:r>
              <a:rPr lang="en-US" b="1" dirty="0" err="1">
                <a:solidFill>
                  <a:schemeClr val="tx1"/>
                </a:solidFill>
                <a:latin typeface="Courier New" pitchFamily="49" charset="0"/>
                <a:cs typeface="Courier New" pitchFamily="49" charset="0"/>
              </a:rPr>
              <a:t>BCAPI</a:t>
            </a:r>
            <a:r>
              <a:rPr lang="en-US" dirty="0">
                <a:solidFill>
                  <a:schemeClr val="tx1"/>
                </a:solidFill>
              </a:rPr>
              <a:t> (BC)</a:t>
            </a:r>
          </a:p>
          <a:p>
            <a:pPr lvl="1"/>
            <a:r>
              <a:rPr lang="en-US" b="1" dirty="0" err="1">
                <a:solidFill>
                  <a:schemeClr val="tx1"/>
                </a:solidFill>
                <a:latin typeface="Courier New" pitchFamily="49" charset="0"/>
                <a:cs typeface="Courier New" pitchFamily="49" charset="0"/>
              </a:rPr>
              <a:t>AccountAPI</a:t>
            </a:r>
            <a:r>
              <a:rPr lang="en-US" dirty="0">
                <a:solidFill>
                  <a:schemeClr val="tx1"/>
                </a:solidFill>
              </a:rPr>
              <a:t> (PC)</a:t>
            </a:r>
          </a:p>
          <a:p>
            <a:r>
              <a:rPr lang="en-US" dirty="0">
                <a:solidFill>
                  <a:schemeClr val="tx1"/>
                </a:solidFill>
              </a:rPr>
              <a:t>May be used by external system to notify Guidewire</a:t>
            </a:r>
          </a:p>
          <a:p>
            <a:pPr lvl="1"/>
            <a:r>
              <a:rPr lang="en-US" dirty="0">
                <a:solidFill>
                  <a:schemeClr val="tx1"/>
                </a:solidFill>
              </a:rPr>
              <a:t>Sends document ID and other metadata for document added / changed directly on the DMS*</a:t>
            </a:r>
          </a:p>
          <a:p>
            <a:endParaRPr lang="en-US" dirty="0"/>
          </a:p>
        </p:txBody>
      </p:sp>
    </p:spTree>
    <p:extLst>
      <p:ext uri="{BB962C8B-B14F-4D97-AF65-F5344CB8AC3E}">
        <p14:creationId xmlns:p14="http://schemas.microsoft.com/office/powerpoint/2010/main" val="425910141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2">
                    <a:lumMod val="75000"/>
                  </a:schemeClr>
                </a:solidFill>
              </a:rPr>
              <a:t>Document basics</a:t>
            </a:r>
          </a:p>
          <a:p>
            <a:r>
              <a:rPr lang="en-US" dirty="0">
                <a:solidFill>
                  <a:schemeClr val="bg2">
                    <a:lumMod val="75000"/>
                  </a:schemeClr>
                </a:solidFill>
              </a:rPr>
              <a:t>Document management system (DMS) integration</a:t>
            </a:r>
          </a:p>
          <a:p>
            <a:r>
              <a:rPr lang="en-US" dirty="0">
                <a:solidFill>
                  <a:schemeClr val="bg2">
                    <a:lumMod val="75000"/>
                  </a:schemeClr>
                </a:solidFill>
              </a:rPr>
              <a:t>IDocumentContentSource plugin</a:t>
            </a:r>
          </a:p>
          <a:p>
            <a:r>
              <a:rPr lang="en-US" dirty="0">
                <a:solidFill>
                  <a:schemeClr val="bg2">
                    <a:lumMod val="75000"/>
                  </a:schemeClr>
                </a:solidFill>
              </a:rPr>
              <a:t>IDocumentMetadataSource plugin</a:t>
            </a:r>
          </a:p>
          <a:p>
            <a:r>
              <a:rPr lang="en-US" dirty="0">
                <a:solidFill>
                  <a:schemeClr val="bg2">
                    <a:lumMod val="75000"/>
                  </a:schemeClr>
                </a:solidFill>
              </a:rPr>
              <a:t>DMS integration configurations</a:t>
            </a:r>
          </a:p>
          <a:p>
            <a:r>
              <a:rPr lang="en-US" dirty="0">
                <a:solidFill>
                  <a:schemeClr val="bg2">
                    <a:lumMod val="75000"/>
                  </a:schemeClr>
                </a:solidFill>
              </a:rPr>
              <a:t>Document related SOAP APIs</a:t>
            </a:r>
          </a:p>
          <a:p>
            <a:r>
              <a:rPr lang="en-US" dirty="0">
                <a:solidFill>
                  <a:schemeClr val="tx1"/>
                </a:solidFill>
              </a:rPr>
              <a:t>Asynchronous Document Storage</a:t>
            </a:r>
          </a:p>
          <a:p>
            <a:endParaRPr lang="en-US" dirty="0"/>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Outline</a:t>
            </a:r>
          </a:p>
        </p:txBody>
      </p:sp>
    </p:spTree>
    <p:extLst>
      <p:ext uri="{BB962C8B-B14F-4D97-AF65-F5344CB8AC3E}">
        <p14:creationId xmlns:p14="http://schemas.microsoft.com/office/powerpoint/2010/main" val="321266260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Asynchronous Document Storage</a:t>
            </a:r>
          </a:p>
        </p:txBody>
      </p:sp>
      <p:sp>
        <p:nvSpPr>
          <p:cNvPr id="4" name="Content Placeholder 3"/>
          <p:cNvSpPr>
            <a:spLocks noGrp="1"/>
          </p:cNvSpPr>
          <p:nvPr>
            <p:ph idx="1"/>
          </p:nvPr>
        </p:nvSpPr>
        <p:spPr/>
        <p:txBody>
          <a:bodyPr/>
          <a:lstStyle/>
          <a:p>
            <a:r>
              <a:rPr lang="en-US" dirty="0">
                <a:solidFill>
                  <a:schemeClr val="tx1"/>
                </a:solidFill>
              </a:rPr>
              <a:t>Transfer of large documents between external DMS needs significant memory and resources</a:t>
            </a:r>
          </a:p>
          <a:p>
            <a:pPr lvl="1"/>
            <a:r>
              <a:rPr lang="en-US" dirty="0">
                <a:solidFill>
                  <a:schemeClr val="tx1"/>
                </a:solidFill>
              </a:rPr>
              <a:t>External DMS or network maybe slow</a:t>
            </a:r>
          </a:p>
          <a:p>
            <a:pPr lvl="1"/>
            <a:r>
              <a:rPr lang="en-US" dirty="0">
                <a:solidFill>
                  <a:schemeClr val="tx1"/>
                </a:solidFill>
              </a:rPr>
              <a:t>Multiple simultaneous requests translate to multiple threads competing for CPU cycles		</a:t>
            </a:r>
          </a:p>
          <a:p>
            <a:r>
              <a:rPr lang="en-US" dirty="0">
                <a:solidFill>
                  <a:schemeClr val="tx1"/>
                </a:solidFill>
              </a:rPr>
              <a:t>One alternative is to create/add/update documents asynchronously so that users are not blocked while operation completes</a:t>
            </a:r>
          </a:p>
          <a:p>
            <a:pPr lvl="1"/>
            <a:r>
              <a:rPr lang="en-US" dirty="0">
                <a:solidFill>
                  <a:schemeClr val="tx1"/>
                </a:solidFill>
              </a:rPr>
              <a:t>GW includes following reference implementation for this feature</a:t>
            </a:r>
          </a:p>
          <a:p>
            <a:pPr lvl="2"/>
            <a:r>
              <a:rPr lang="en-US" dirty="0">
                <a:solidFill>
                  <a:schemeClr val="tx1"/>
                </a:solidFill>
              </a:rPr>
              <a:t>The built-in asynchronous document content source </a:t>
            </a:r>
            <a:r>
              <a:rPr lang="en-US" dirty="0" err="1">
                <a:solidFill>
                  <a:schemeClr val="tx1"/>
                </a:solidFill>
              </a:rPr>
              <a:t>gw.plugin.document.impl.AsyncDocumentContentSource</a:t>
            </a:r>
            <a:endParaRPr lang="en-US" dirty="0">
              <a:solidFill>
                <a:schemeClr val="tx1"/>
              </a:solidFill>
            </a:endParaRPr>
          </a:p>
          <a:p>
            <a:pPr lvl="2"/>
            <a:r>
              <a:rPr lang="en-US" dirty="0">
                <a:solidFill>
                  <a:schemeClr val="tx1"/>
                </a:solidFill>
              </a:rPr>
              <a:t>The built-in document storage messaging transport</a:t>
            </a:r>
          </a:p>
          <a:p>
            <a:pPr marL="400050" lvl="1" indent="0">
              <a:buNone/>
            </a:pPr>
            <a:r>
              <a:rPr lang="en-US" dirty="0"/>
              <a:t>							</a:t>
            </a:r>
          </a:p>
        </p:txBody>
      </p:sp>
    </p:spTree>
    <p:extLst>
      <p:ext uri="{BB962C8B-B14F-4D97-AF65-F5344CB8AC3E}">
        <p14:creationId xmlns:p14="http://schemas.microsoft.com/office/powerpoint/2010/main" val="68974664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solidFill>
                  <a:schemeClr val="tx1"/>
                </a:solidFill>
              </a:rPr>
              <a:t>Explain how to integrate a  Insurance Suite application with an external Document Management System (DMS)</a:t>
            </a:r>
          </a:p>
          <a:p>
            <a:pPr lvl="1"/>
            <a:r>
              <a:rPr lang="en-US" dirty="0">
                <a:solidFill>
                  <a:schemeClr val="tx1"/>
                </a:solidFill>
              </a:rPr>
              <a:t>Identify the plugins that enable DMS integration</a:t>
            </a:r>
          </a:p>
          <a:p>
            <a:pPr lvl="1"/>
            <a:r>
              <a:rPr lang="en-US" dirty="0">
                <a:solidFill>
                  <a:schemeClr val="tx1"/>
                </a:solidFill>
              </a:rPr>
              <a:t>Implement the plugins to support DMS integration</a:t>
            </a:r>
          </a:p>
          <a:p>
            <a:pPr lvl="1"/>
            <a:r>
              <a:rPr lang="en-US" dirty="0">
                <a:solidFill>
                  <a:schemeClr val="tx1"/>
                </a:solidFill>
              </a:rPr>
              <a:t>Deploy and configure DMS integration plugins</a:t>
            </a:r>
          </a:p>
          <a:p>
            <a:pPr lvl="1"/>
            <a:r>
              <a:rPr lang="en-US" dirty="0">
                <a:solidFill>
                  <a:schemeClr val="tx1"/>
                </a:solidFill>
              </a:rPr>
              <a:t>Describe the features and limitations of Guidewire’s default implementations of document storage functionality</a:t>
            </a:r>
          </a:p>
          <a:p>
            <a:pPr lvl="1"/>
            <a:endParaRPr lang="en-US" dirty="0"/>
          </a:p>
        </p:txBody>
      </p:sp>
      <p:sp>
        <p:nvSpPr>
          <p:cNvPr id="3"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Lesson Objectives Review</a:t>
            </a:r>
          </a:p>
        </p:txBody>
      </p:sp>
    </p:spTree>
    <p:extLst>
      <p:ext uri="{BB962C8B-B14F-4D97-AF65-F5344CB8AC3E}">
        <p14:creationId xmlns:p14="http://schemas.microsoft.com/office/powerpoint/2010/main" val="3676593817"/>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2194401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tx1"/>
                </a:solidFill>
              </a:rPr>
              <a:t>Provide demo details&lt;The video creator to fill this slide&gt;</a:t>
            </a:r>
          </a:p>
        </p:txBody>
      </p:sp>
    </p:spTree>
    <p:extLst>
      <p:ext uri="{BB962C8B-B14F-4D97-AF65-F5344CB8AC3E}">
        <p14:creationId xmlns:p14="http://schemas.microsoft.com/office/powerpoint/2010/main" val="3396965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2994928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tx1"/>
                </a:solidFill>
                <a:cs typeface="Arial"/>
              </a:rPr>
              <a:t>Complete the exercises listed in  “Document Management” </a:t>
            </a:r>
            <a:r>
              <a:rPr lang="en-US" sz="2400">
                <a:solidFill>
                  <a:schemeClr val="tx1"/>
                </a:solidFill>
                <a:cs typeface="Arial"/>
              </a:rPr>
              <a:t>chapter </a:t>
            </a:r>
            <a:r>
              <a:rPr lang="en-US" sz="2400" smtClean="0">
                <a:solidFill>
                  <a:schemeClr val="tx1"/>
                </a:solidFill>
                <a:cs typeface="Arial"/>
              </a:rPr>
              <a:t>3 </a:t>
            </a:r>
            <a:r>
              <a:rPr lang="en-US" sz="2400" dirty="0">
                <a:solidFill>
                  <a:schemeClr val="tx1"/>
                </a:solidFill>
                <a:cs typeface="Arial"/>
              </a:rPr>
              <a:t>in </a:t>
            </a:r>
            <a:r>
              <a:rPr lang="en-US" sz="2400">
                <a:solidFill>
                  <a:schemeClr val="tx1"/>
                </a:solidFill>
                <a:cs typeface="Arial"/>
              </a:rPr>
              <a:t>the "InsuranceSuite</a:t>
            </a:r>
            <a:r>
              <a:rPr lang="en-US" sz="2400" dirty="0">
                <a:solidFill>
                  <a:schemeClr val="tx1"/>
                </a:solidFill>
                <a:cs typeface="Arial"/>
              </a:rPr>
              <a:t> 10 Integration: Essentials" work book</a:t>
            </a:r>
          </a:p>
        </p:txBody>
      </p:sp>
    </p:spTree>
    <p:extLst>
      <p:ext uri="{BB962C8B-B14F-4D97-AF65-F5344CB8AC3E}">
        <p14:creationId xmlns:p14="http://schemas.microsoft.com/office/powerpoint/2010/main" val="10078104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A Guidewire application uses which plugin interfaces for document storage?</a:t>
            </a:r>
          </a:p>
          <a:p>
            <a:r>
              <a:rPr lang="en-US" dirty="0">
                <a:solidFill>
                  <a:schemeClr val="tx1"/>
                </a:solidFill>
              </a:rPr>
              <a:t>What are the characteristics of the default implementation for document metadata storage?</a:t>
            </a:r>
          </a:p>
          <a:p>
            <a:r>
              <a:rPr lang="en-US" dirty="0">
                <a:solidFill>
                  <a:schemeClr val="tx1"/>
                </a:solidFill>
              </a:rPr>
              <a:t>What are the characteristics of the default implementation for document content storage?</a:t>
            </a:r>
          </a:p>
          <a:p>
            <a:r>
              <a:rPr lang="en-US" dirty="0">
                <a:solidFill>
                  <a:schemeClr val="tx1"/>
                </a:solidFill>
              </a:rPr>
              <a:t>Name the 2 types of document contents that a  Guidewire application supports.</a:t>
            </a:r>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solidFill>
                  <a:schemeClr val="accent6"/>
                </a:solidFill>
              </a:rPr>
              <a:t>Review Questions</a:t>
            </a:r>
          </a:p>
        </p:txBody>
      </p:sp>
    </p:spTree>
    <p:extLst>
      <p:ext uri="{BB962C8B-B14F-4D97-AF65-F5344CB8AC3E}">
        <p14:creationId xmlns:p14="http://schemas.microsoft.com/office/powerpoint/2010/main" val="92974186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r>
              <a:rPr lang="en-US" dirty="0"/>
              <a:t>Thank you</a:t>
            </a:r>
          </a:p>
        </p:txBody>
      </p:sp>
      <p:sp>
        <p:nvSpPr>
          <p:cNvPr id="4" name="Text Placeholder 3"/>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448153994"/>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C31716-87B5-44FF-82DB-552E187E792D}">
  <ds:schemaRefs>
    <ds:schemaRef ds:uri="http://schemas.microsoft.com/sharepoint/v3/contenttype/forms"/>
  </ds:schemaRefs>
</ds:datastoreItem>
</file>

<file path=customXml/itemProps2.xml><?xml version="1.0" encoding="utf-8"?>
<ds:datastoreItem xmlns:ds="http://schemas.openxmlformats.org/officeDocument/2006/customXml" ds:itemID="{5944F252-50F3-48E0-8F6E-A518D75586F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93C8A8B-6CA7-458C-9BD3-CA34116BD7C2}"/>
</file>

<file path=docProps/app.xml><?xml version="1.0" encoding="utf-8"?>
<Properties xmlns="http://schemas.openxmlformats.org/officeDocument/2006/extended-properties" xmlns:vt="http://schemas.openxmlformats.org/officeDocument/2006/docPropsVTypes">
  <Template>Emerald_Template</Template>
  <TotalTime>7478</TotalTime>
  <Words>6692</Words>
  <Application>Microsoft Office PowerPoint</Application>
  <PresentationFormat>Widescreen</PresentationFormat>
  <Paragraphs>810</Paragraphs>
  <Slides>68</Slides>
  <Notes>63</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vt:lpstr>
      <vt:lpstr>Calibri</vt:lpstr>
      <vt:lpstr>Courier New</vt:lpstr>
      <vt:lpstr>Times New Roman</vt:lpstr>
      <vt:lpstr>Wingdings</vt:lpstr>
      <vt:lpstr>Wingdings 3</vt:lpstr>
      <vt:lpstr>Emerald_Template</vt:lpstr>
      <vt:lpstr>InsuranceSuite 10 Integration</vt:lpstr>
      <vt:lpstr>Lesson Objective</vt:lpstr>
      <vt:lpstr>PowerPoint Presentation</vt:lpstr>
      <vt:lpstr>What is a Document?</vt:lpstr>
      <vt:lpstr>Document contents</vt:lpstr>
      <vt:lpstr>Content and Metadata</vt:lpstr>
      <vt:lpstr>Creating new documents</vt:lpstr>
      <vt:lpstr>Digital document production</vt:lpstr>
      <vt:lpstr>Five systems for document storage</vt:lpstr>
      <vt:lpstr>Physical Documents (ClaimCenter only)</vt:lpstr>
      <vt:lpstr>Digital document storage</vt:lpstr>
      <vt:lpstr>Digital document production (1)</vt:lpstr>
      <vt:lpstr>Digital document production (2)</vt:lpstr>
      <vt:lpstr>Digital document production (3)</vt:lpstr>
      <vt:lpstr>View and editing documents: PolicyCenter</vt:lpstr>
      <vt:lpstr>View and editing documents: ClaimCenter</vt:lpstr>
      <vt:lpstr>View and editing documents: BillingCenter</vt:lpstr>
      <vt:lpstr>PowerPoint Presentation</vt:lpstr>
      <vt:lpstr>Document management system (DMS) provides :</vt:lpstr>
      <vt:lpstr>Guidewire default DMS implementations</vt:lpstr>
      <vt:lpstr>DMS integration plugins</vt:lpstr>
      <vt:lpstr>DMS integration and Document IDs</vt:lpstr>
      <vt:lpstr>DMS storage choices</vt:lpstr>
      <vt:lpstr>Internal document storage and metadata</vt:lpstr>
      <vt:lpstr>External doc storage and internal metadata</vt:lpstr>
      <vt:lpstr>External DMS with external metadata</vt:lpstr>
      <vt:lpstr>PowerPoint Presentation</vt:lpstr>
      <vt:lpstr>Basic document storage Flow</vt:lpstr>
      <vt:lpstr>IDocumentContentSource plugin</vt:lpstr>
      <vt:lpstr>IDocumentContentSource plugin interface addDocument(InputStream, Document) : boolean</vt:lpstr>
      <vt:lpstr>PowerPoint Presentation</vt:lpstr>
      <vt:lpstr>IDocumentContentSource plugin interface updateDocument(Document,InputStream) : boolean</vt:lpstr>
      <vt:lpstr>IDocumentContentSource plugin interface removeDocument(Document) : boolean</vt:lpstr>
      <vt:lpstr>IDocumentContentSource plugin interface getDocumentContentsInfo (Document,boolean) : DocumentContentsInfo</vt:lpstr>
      <vt:lpstr>PowerPoint Presentation</vt:lpstr>
      <vt:lpstr>IDocumentContentSource plugin interface isDocument(Document) : boolean</vt:lpstr>
      <vt:lpstr>Demo implementation</vt:lpstr>
      <vt:lpstr>PowerPoint Presentation</vt:lpstr>
      <vt:lpstr>Basic document search and retrieval Flow</vt:lpstr>
      <vt:lpstr>IDocumentMetadataSource plugin</vt:lpstr>
      <vt:lpstr>Plugin Methods searchDocuments(DocumentSearchCriteria,RemotableSearchResultSpec) : DocumentSearchResult</vt:lpstr>
      <vt:lpstr>Plugin Methods – Other methods</vt:lpstr>
      <vt:lpstr>Other methods in both plugin interfaces</vt:lpstr>
      <vt:lpstr>PowerPoint Presentation</vt:lpstr>
      <vt:lpstr>DMS integration considerations</vt:lpstr>
      <vt:lpstr>Default DMS Implementation</vt:lpstr>
      <vt:lpstr>Default DMS Implementation Alternate implementation</vt:lpstr>
      <vt:lpstr>First DMS integration option</vt:lpstr>
      <vt:lpstr>First DMS integration option Method call sequences (1)</vt:lpstr>
      <vt:lpstr>First DMS integration option Method call sequences (2)</vt:lpstr>
      <vt:lpstr>Second DMS integration option</vt:lpstr>
      <vt:lpstr>Second DMS integration option Method call sequences (1)</vt:lpstr>
      <vt:lpstr>Second DMS integration option Method call sequences (2)</vt:lpstr>
      <vt:lpstr>Third DMS integration option</vt:lpstr>
      <vt:lpstr>Third DMS integration option Method call sequences (1)</vt:lpstr>
      <vt:lpstr>Third DMS integration option Method call sequences (2)</vt:lpstr>
      <vt:lpstr>Third DMS integration option Variant</vt:lpstr>
      <vt:lpstr>PowerPoint Presentation</vt:lpstr>
      <vt:lpstr>Document related SOAP APIs</vt:lpstr>
      <vt:lpstr>PowerPoint Presentation</vt:lpstr>
      <vt:lpstr>Asynchronous Document Storage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Management</dc:title>
  <dc:subject>Emerald PowerPoint 2010 Template</dc:subject>
  <dc:creator>Guidewire Education</dc:creator>
  <cp:keywords>Emerald;Guidewire 8.0 Application Integration;Document Management Integration</cp:keywords>
  <cp:lastModifiedBy>Neyyadiyilsahadevan, Anoop (Cognizant)</cp:lastModifiedBy>
  <cp:revision>287</cp:revision>
  <dcterms:created xsi:type="dcterms:W3CDTF">2014-05-20T18:01:20Z</dcterms:created>
  <dcterms:modified xsi:type="dcterms:W3CDTF">2020-12-24T11:33:25Z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