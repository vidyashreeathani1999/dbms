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77" r:id="rId4"/>
    <p:sldMasterId id="2147484087" r:id="rId5"/>
  </p:sldMasterIdLst>
  <p:notesMasterIdLst>
    <p:notesMasterId r:id="rId39"/>
  </p:notesMasterIdLst>
  <p:handoutMasterIdLst>
    <p:handoutMasterId r:id="rId40"/>
  </p:handoutMasterIdLst>
  <p:sldIdLst>
    <p:sldId id="1205" r:id="rId6"/>
    <p:sldId id="1193" r:id="rId7"/>
    <p:sldId id="1195" r:id="rId8"/>
    <p:sldId id="1196" r:id="rId9"/>
    <p:sldId id="1197" r:id="rId10"/>
    <p:sldId id="1198" r:id="rId11"/>
    <p:sldId id="1199" r:id="rId12"/>
    <p:sldId id="1200" r:id="rId13"/>
    <p:sldId id="1201" r:id="rId14"/>
    <p:sldId id="1202" r:id="rId15"/>
    <p:sldId id="1203" r:id="rId16"/>
    <p:sldId id="1206" r:id="rId17"/>
    <p:sldId id="1207" r:id="rId18"/>
    <p:sldId id="1208" r:id="rId19"/>
    <p:sldId id="1209" r:id="rId20"/>
    <p:sldId id="1210" r:id="rId21"/>
    <p:sldId id="1211" r:id="rId22"/>
    <p:sldId id="1212" r:id="rId23"/>
    <p:sldId id="1213" r:id="rId24"/>
    <p:sldId id="1214" r:id="rId25"/>
    <p:sldId id="1215" r:id="rId26"/>
    <p:sldId id="1216" r:id="rId27"/>
    <p:sldId id="1217" r:id="rId28"/>
    <p:sldId id="1218" r:id="rId29"/>
    <p:sldId id="1219" r:id="rId30"/>
    <p:sldId id="1220" r:id="rId31"/>
    <p:sldId id="1221" r:id="rId32"/>
    <p:sldId id="1233" r:id="rId33"/>
    <p:sldId id="1223" r:id="rId34"/>
    <p:sldId id="1228" r:id="rId35"/>
    <p:sldId id="1225" r:id="rId36"/>
    <p:sldId id="1226" r:id="rId37"/>
    <p:sldId id="1232" r:id="rId38"/>
  </p:sldIdLst>
  <p:sldSz cx="12192000" cy="6858000"/>
  <p:notesSz cx="6858000" cy="9296400"/>
  <p:defaultTextStyle>
    <a:defPPr>
      <a:defRPr lang="en-US"/>
    </a:defPPr>
    <a:lvl1pPr algn="l" rtl="0" fontAlgn="base">
      <a:spcBef>
        <a:spcPct val="0"/>
      </a:spcBef>
      <a:spcAft>
        <a:spcPct val="0"/>
      </a:spcAft>
      <a:defRPr sz="2000" b="1" kern="1200">
        <a:solidFill>
          <a:srgbClr val="FF0000"/>
        </a:solidFill>
        <a:latin typeface="Arial" pitchFamily="34" charset="0"/>
        <a:ea typeface="+mn-ea"/>
        <a:cs typeface="Arial" pitchFamily="34" charset="0"/>
      </a:defRPr>
    </a:lvl1pPr>
    <a:lvl2pPr marL="457200" algn="l" rtl="0" fontAlgn="base">
      <a:spcBef>
        <a:spcPct val="0"/>
      </a:spcBef>
      <a:spcAft>
        <a:spcPct val="0"/>
      </a:spcAft>
      <a:defRPr sz="2000" b="1" kern="1200">
        <a:solidFill>
          <a:srgbClr val="FF0000"/>
        </a:solidFill>
        <a:latin typeface="Arial" pitchFamily="34" charset="0"/>
        <a:ea typeface="+mn-ea"/>
        <a:cs typeface="Arial" pitchFamily="34" charset="0"/>
      </a:defRPr>
    </a:lvl2pPr>
    <a:lvl3pPr marL="914400" algn="l" rtl="0" fontAlgn="base">
      <a:spcBef>
        <a:spcPct val="0"/>
      </a:spcBef>
      <a:spcAft>
        <a:spcPct val="0"/>
      </a:spcAft>
      <a:defRPr sz="2000" b="1" kern="1200">
        <a:solidFill>
          <a:srgbClr val="FF0000"/>
        </a:solidFill>
        <a:latin typeface="Arial" pitchFamily="34" charset="0"/>
        <a:ea typeface="+mn-ea"/>
        <a:cs typeface="Arial" pitchFamily="34" charset="0"/>
      </a:defRPr>
    </a:lvl3pPr>
    <a:lvl4pPr marL="1371600" algn="l" rtl="0" fontAlgn="base">
      <a:spcBef>
        <a:spcPct val="0"/>
      </a:spcBef>
      <a:spcAft>
        <a:spcPct val="0"/>
      </a:spcAft>
      <a:defRPr sz="2000" b="1" kern="1200">
        <a:solidFill>
          <a:srgbClr val="FF0000"/>
        </a:solidFill>
        <a:latin typeface="Arial" pitchFamily="34" charset="0"/>
        <a:ea typeface="+mn-ea"/>
        <a:cs typeface="Arial" pitchFamily="34" charset="0"/>
      </a:defRPr>
    </a:lvl4pPr>
    <a:lvl5pPr marL="1828800" algn="l" rtl="0" fontAlgn="base">
      <a:spcBef>
        <a:spcPct val="0"/>
      </a:spcBef>
      <a:spcAft>
        <a:spcPct val="0"/>
      </a:spcAft>
      <a:defRPr sz="2000" b="1" kern="1200">
        <a:solidFill>
          <a:srgbClr val="FF0000"/>
        </a:solidFill>
        <a:latin typeface="Arial" pitchFamily="34" charset="0"/>
        <a:ea typeface="+mn-ea"/>
        <a:cs typeface="Arial" pitchFamily="34" charset="0"/>
      </a:defRPr>
    </a:lvl5pPr>
    <a:lvl6pPr marL="2286000" algn="l" defTabSz="914400" rtl="0" eaLnBrk="1" latinLnBrk="0" hangingPunct="1">
      <a:defRPr sz="2000" b="1" kern="1200">
        <a:solidFill>
          <a:srgbClr val="FF0000"/>
        </a:solidFill>
        <a:latin typeface="Arial" pitchFamily="34" charset="0"/>
        <a:ea typeface="+mn-ea"/>
        <a:cs typeface="Arial" pitchFamily="34" charset="0"/>
      </a:defRPr>
    </a:lvl6pPr>
    <a:lvl7pPr marL="2743200" algn="l" defTabSz="914400" rtl="0" eaLnBrk="1" latinLnBrk="0" hangingPunct="1">
      <a:defRPr sz="2000" b="1" kern="1200">
        <a:solidFill>
          <a:srgbClr val="FF0000"/>
        </a:solidFill>
        <a:latin typeface="Arial" pitchFamily="34" charset="0"/>
        <a:ea typeface="+mn-ea"/>
        <a:cs typeface="Arial" pitchFamily="34" charset="0"/>
      </a:defRPr>
    </a:lvl7pPr>
    <a:lvl8pPr marL="3200400" algn="l" defTabSz="914400" rtl="0" eaLnBrk="1" latinLnBrk="0" hangingPunct="1">
      <a:defRPr sz="2000" b="1" kern="1200">
        <a:solidFill>
          <a:srgbClr val="FF0000"/>
        </a:solidFill>
        <a:latin typeface="Arial" pitchFamily="34" charset="0"/>
        <a:ea typeface="+mn-ea"/>
        <a:cs typeface="Arial" pitchFamily="34" charset="0"/>
      </a:defRPr>
    </a:lvl8pPr>
    <a:lvl9pPr marL="3657600" algn="l" defTabSz="914400" rtl="0" eaLnBrk="1" latinLnBrk="0" hangingPunct="1">
      <a:defRPr sz="2000" b="1" kern="1200">
        <a:solidFill>
          <a:srgbClr val="FF0000"/>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FF"/>
    <a:srgbClr val="FFFF99"/>
    <a:srgbClr val="9900FF"/>
    <a:srgbClr val="9900CC"/>
    <a:srgbClr val="FF9933"/>
    <a:srgbClr val="FFFF66"/>
    <a:srgbClr val="F6BB00"/>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82002" autoAdjust="0"/>
  </p:normalViewPr>
  <p:slideViewPr>
    <p:cSldViewPr snapToGrid="0">
      <p:cViewPr varScale="1">
        <p:scale>
          <a:sx n="56" d="100"/>
          <a:sy n="56" d="100"/>
        </p:scale>
        <p:origin x="884" y="52"/>
      </p:cViewPr>
      <p:guideLst>
        <p:guide orient="horz" pos="2160"/>
        <p:guide pos="384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2" d="100"/>
          <a:sy n="52" d="100"/>
        </p:scale>
        <p:origin x="-2678" y="-101"/>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dirty="0">
                <a:solidFill>
                  <a:schemeClr val="tx1"/>
                </a:solidFill>
                <a:latin typeface="Times New Roman" pitchFamily="18" charset="0"/>
                <a:cs typeface="+mn-cs"/>
              </a:defRPr>
            </a:lvl1pPr>
          </a:lstStyle>
          <a:p>
            <a:pPr>
              <a:defRPr/>
            </a:pPr>
            <a:endParaRPr lang="en-US" altLang="en-US" dirty="0"/>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dirty="0">
                <a:solidFill>
                  <a:schemeClr val="tx1"/>
                </a:solidFill>
                <a:latin typeface="Times New Roman" pitchFamily="18" charset="0"/>
                <a:cs typeface="+mn-cs"/>
              </a:defRPr>
            </a:lvl1pPr>
          </a:lstStyle>
          <a:p>
            <a:pPr>
              <a:defRPr/>
            </a:pPr>
            <a:endParaRPr lang="en-US" altLang="en-US" dirty="0"/>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dirty="0">
                <a:solidFill>
                  <a:schemeClr val="tx1"/>
                </a:solidFill>
                <a:latin typeface="Times New Roman" pitchFamily="18" charset="0"/>
                <a:cs typeface="+mn-cs"/>
              </a:defRPr>
            </a:lvl1pPr>
          </a:lstStyle>
          <a:p>
            <a:pPr>
              <a:defRPr/>
            </a:pPr>
            <a:endParaRPr lang="en-US" altLang="en-US" dirty="0"/>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cs typeface="+mn-cs"/>
              </a:defRPr>
            </a:lvl1pPr>
          </a:lstStyle>
          <a:p>
            <a:pPr>
              <a:defRPr/>
            </a:pPr>
            <a:fld id="{324FCAC2-EF4C-4802-86F8-E9C588AE71C9}" type="slidenum">
              <a:rPr lang="en-US" altLang="en-US"/>
              <a:pPr>
                <a:defRPr/>
              </a:pPr>
              <a:t>‹#›</a:t>
            </a:fld>
            <a:endParaRPr lang="en-US" altLang="en-US" dirty="0"/>
          </a:p>
        </p:txBody>
      </p:sp>
    </p:spTree>
    <p:extLst>
      <p:ext uri="{BB962C8B-B14F-4D97-AF65-F5344CB8AC3E}">
        <p14:creationId xmlns:p14="http://schemas.microsoft.com/office/powerpoint/2010/main" val="28939368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Overhead"/>
          <p:cNvSpPr>
            <a:spLocks noGrp="1" noRot="1" noChangeAspect="1" noChangeArrowheads="1" noTextEdit="1"/>
          </p:cNvSpPr>
          <p:nvPr>
            <p:ph type="sldImg" idx="2"/>
          </p:nvPr>
        </p:nvSpPr>
        <p:spPr bwMode="auto">
          <a:xfrm>
            <a:off x="-187325" y="630238"/>
            <a:ext cx="724058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35"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dirty="0">
                <a:solidFill>
                  <a:schemeClr val="tx1"/>
                </a:solidFill>
                <a:latin typeface="Arial" charset="0"/>
                <a:cs typeface="+mn-cs"/>
              </a:defRPr>
            </a:lvl1pPr>
          </a:lstStyle>
          <a:p>
            <a:pPr>
              <a:defRPr/>
            </a:pPr>
            <a:r>
              <a:rPr lang="en-US" altLang="en-US" dirty="0"/>
              <a:t>	 </a:t>
            </a:r>
            <a:r>
              <a:rPr lang="en-US" dirty="0"/>
              <a:t>Introduction to the Guidewire </a:t>
            </a:r>
            <a:r>
              <a:rPr lang="en-US" dirty="0" smtClean="0"/>
              <a:t>8.0 Releases - </a:t>
            </a:r>
            <a:fld id="{05AB904A-817F-4C33-A933-A91E12004AB5}" type="slidenum">
              <a:rPr lang="en-US" altLang="en-US"/>
              <a:pPr>
                <a:defRPr/>
              </a:pPr>
              <a:t>‹#›</a:t>
            </a:fld>
            <a:endParaRPr lang="en-US" altLang="en-US" dirty="0"/>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dirty="0">
                <a:solidFill>
                  <a:schemeClr val="tx1"/>
                </a:solidFill>
                <a:latin typeface="Arial" charset="0"/>
                <a:cs typeface="+mn-cs"/>
              </a:defRPr>
            </a:lvl1pPr>
          </a:lstStyle>
          <a:p>
            <a:pPr>
              <a:defRPr/>
            </a:pPr>
            <a:r>
              <a:rPr lang="en-US" altLang="en-US" dirty="0"/>
              <a:t>	</a:t>
            </a:r>
            <a:endParaRPr lang="en-US" dirty="0"/>
          </a:p>
        </p:txBody>
      </p:sp>
      <p:sp>
        <p:nvSpPr>
          <p:cNvPr id="39942" name="ModuleNumber" hidden="1"/>
          <p:cNvSpPr>
            <a:spLocks noChangeArrowheads="1"/>
          </p:cNvSpPr>
          <p:nvPr/>
        </p:nvSpPr>
        <p:spPr bwMode="auto">
          <a:xfrm>
            <a:off x="4157663" y="320675"/>
            <a:ext cx="2551112"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algn="r" defTabSz="942975" eaLnBrk="0" hangingPunct="0">
              <a:lnSpc>
                <a:spcPts val="1875"/>
              </a:lnSpc>
              <a:spcBef>
                <a:spcPts val="625"/>
              </a:spcBef>
              <a:buFont typeface="Wingdings" pitchFamily="2" charset="2"/>
              <a:buNone/>
            </a:pPr>
            <a:r>
              <a:rPr lang="en-US" sz="1100" b="0" i="1" dirty="0">
                <a:solidFill>
                  <a:srgbClr val="000000"/>
                </a:solidFill>
                <a:latin typeface="Times New Roman" pitchFamily="18" charset="0"/>
                <a:cs typeface="Times New Roman" pitchFamily="18" charset="0"/>
              </a:rPr>
              <a:t>Introduction, 2.</a:t>
            </a:r>
            <a:fld id="{69ED8A94-C922-4719-A8F7-07442BBEFE99}"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buFont typeface="Wingdings" pitchFamily="2" charset="2"/>
                <a:buNone/>
              </a:pPr>
              <a:t>‹#›</a:t>
            </a:fld>
            <a:endParaRPr lang="en-US" sz="1100" b="0" i="1" dirty="0">
              <a:solidFill>
                <a:srgbClr val="000000"/>
              </a:solidFill>
              <a:latin typeface="Times New Roman" pitchFamily="18" charset="0"/>
              <a:cs typeface="Times New Roman" pitchFamily="18" charset="0"/>
            </a:endParaRPr>
          </a:p>
        </p:txBody>
      </p:sp>
      <p:sp>
        <p:nvSpPr>
          <p:cNvPr id="39943" name="Line 18"/>
          <p:cNvSpPr>
            <a:spLocks noChangeShapeType="1"/>
          </p:cNvSpPr>
          <p:nvPr/>
        </p:nvSpPr>
        <p:spPr bwMode="auto">
          <a:xfrm>
            <a:off x="406400" y="8905875"/>
            <a:ext cx="60690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Tree>
    <p:extLst>
      <p:ext uri="{BB962C8B-B14F-4D97-AF65-F5344CB8AC3E}">
        <p14:creationId xmlns:p14="http://schemas.microsoft.com/office/powerpoint/2010/main" val="641448921"/>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euidewire.com/"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pyright"/>
          <p:cNvSpPr>
            <a:spLocks noGrp="1" noChangeArrowheads="1"/>
          </p:cNvSpPr>
          <p:nvPr>
            <p:ph type="sldNum" sz="quarter" idx="5"/>
          </p:nvPr>
        </p:nvSpPr>
        <p:spPr/>
        <p:txBody>
          <a:bodyPr/>
          <a:lstStyle/>
          <a:p>
            <a:pPr>
              <a:defRPr/>
            </a:pPr>
            <a:r>
              <a:rPr lang="en-US" altLang="en-US" dirty="0"/>
              <a:t>	 </a:t>
            </a:r>
            <a:r>
              <a:rPr lang="en-US" dirty="0"/>
              <a:t>Introduction to the Guidewire </a:t>
            </a:r>
            <a:r>
              <a:rPr lang="en-US" dirty="0" smtClean="0"/>
              <a:t>8.0 Releases - </a:t>
            </a:r>
            <a:fld id="{CE597C48-0A3D-47BF-ACCA-E8BC12797D94}" type="slidenum">
              <a:rPr lang="en-US" altLang="en-US"/>
              <a:pPr>
                <a:defRPr/>
              </a:pPr>
              <a:t>2</a:t>
            </a:fld>
            <a:endParaRPr lang="en-US" altLang="en-US" dirty="0"/>
          </a:p>
        </p:txBody>
      </p:sp>
      <p:sp>
        <p:nvSpPr>
          <p:cNvPr id="21507" name="SectionName"/>
          <p:cNvSpPr>
            <a:spLocks noGrp="1" noChangeArrowheads="1"/>
          </p:cNvSpPr>
          <p:nvPr>
            <p:ph type="hdr" sz="quarter"/>
          </p:nvPr>
        </p:nvSpPr>
        <p:spPr/>
        <p:txBody>
          <a:bodyPr/>
          <a:lstStyle/>
          <a:p>
            <a:pPr>
              <a:defRPr/>
            </a:pPr>
            <a:r>
              <a:rPr lang="en-US" altLang="en-US" dirty="0" smtClean="0"/>
              <a:t>	</a:t>
            </a:r>
            <a:endParaRPr lang="en-US" dirty="0" smtClean="0"/>
          </a:p>
        </p:txBody>
      </p:sp>
      <p:sp>
        <p:nvSpPr>
          <p:cNvPr id="41988" name="Rectangle 2"/>
          <p:cNvSpPr>
            <a:spLocks noGrp="1" noRot="1" noChangeAspect="1" noChangeArrowheads="1" noTextEdit="1"/>
          </p:cNvSpPr>
          <p:nvPr>
            <p:ph type="sldImg"/>
          </p:nvPr>
        </p:nvSpPr>
        <p:spPr>
          <a:xfrm>
            <a:off x="-187325" y="630238"/>
            <a:ext cx="7240588" cy="4073525"/>
          </a:xfrm>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latin typeface="Arial" pitchFamily="34" charset="0"/>
            </a:endParaRPr>
          </a:p>
        </p:txBody>
      </p:sp>
    </p:spTree>
    <p:extLst>
      <p:ext uri="{BB962C8B-B14F-4D97-AF65-F5344CB8AC3E}">
        <p14:creationId xmlns:p14="http://schemas.microsoft.com/office/powerpoint/2010/main" val="3197774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10000"/>
              </a:spcBef>
              <a:spcAft>
                <a:spcPct val="0"/>
              </a:spcAft>
              <a:buClrTx/>
              <a:buSzTx/>
              <a:buFontTx/>
              <a:buNone/>
              <a:tabLst/>
              <a:defRPr/>
            </a:pPr>
            <a:r>
              <a:rPr lang="en-US" sz="1000" kern="1200" dirty="0" smtClean="0">
                <a:solidFill>
                  <a:schemeClr val="tx1"/>
                </a:solidFill>
                <a:effectLst/>
                <a:latin typeface="Arial" charset="0"/>
                <a:ea typeface="+mn-ea"/>
                <a:cs typeface="+mn-cs"/>
              </a:rPr>
              <a:t>Integration view will eventually replace XML models.</a:t>
            </a:r>
          </a:p>
          <a:p>
            <a:endParaRPr lang="en-US" dirty="0" smtClean="0">
              <a:latin typeface="Arial" pitchFamily="34" charset="0"/>
            </a:endParaRPr>
          </a:p>
        </p:txBody>
      </p:sp>
      <p:sp>
        <p:nvSpPr>
          <p:cNvPr id="4" name="Slide Number Placeholder 3"/>
          <p:cNvSpPr>
            <a:spLocks noGrp="1"/>
          </p:cNvSpPr>
          <p:nvPr>
            <p:ph type="sldNum" sz="quarter" idx="5"/>
          </p:nvPr>
        </p:nvSpPr>
        <p:spPr/>
        <p:txBody>
          <a:bodyPr/>
          <a:lstStyle/>
          <a:p>
            <a:pPr>
              <a:defRPr/>
            </a:pPr>
            <a:r>
              <a:rPr lang="en-US" altLang="en-US" dirty="0"/>
              <a:t>	  </a:t>
            </a:r>
            <a:r>
              <a:rPr lang="en-US" dirty="0"/>
              <a:t>Introduction to the Guidewire </a:t>
            </a:r>
            <a:r>
              <a:rPr lang="en-US" dirty="0" smtClean="0"/>
              <a:t>8.0 Releases - </a:t>
            </a:r>
            <a:fld id="{A8D045CE-4F6E-4FD7-9EC5-1A8550823B38}" type="slidenum">
              <a:rPr lang="en-US" altLang="en-US"/>
              <a:pPr>
                <a:defRPr/>
              </a:pPr>
              <a:t>3</a:t>
            </a:fld>
            <a:endParaRPr lang="en-US" altLang="en-US" dirty="0"/>
          </a:p>
        </p:txBody>
      </p:sp>
      <p:sp>
        <p:nvSpPr>
          <p:cNvPr id="5" name="Header Placeholder 4"/>
          <p:cNvSpPr>
            <a:spLocks noGrp="1"/>
          </p:cNvSpPr>
          <p:nvPr>
            <p:ph type="hdr" sz="quarter"/>
          </p:nvPr>
        </p:nvSpPr>
        <p:spPr/>
        <p:txBody>
          <a:bodyPr/>
          <a:lstStyle/>
          <a:p>
            <a:pPr>
              <a:defRPr/>
            </a:pPr>
            <a:r>
              <a:rPr lang="en-US" altLang="en-US" dirty="0" smtClean="0"/>
              <a:t>	</a:t>
            </a:r>
            <a:endParaRPr lang="en-US" dirty="0"/>
          </a:p>
        </p:txBody>
      </p:sp>
    </p:spTree>
    <p:extLst>
      <p:ext uri="{BB962C8B-B14F-4D97-AF65-F5344CB8AC3E}">
        <p14:creationId xmlns:p14="http://schemas.microsoft.com/office/powerpoint/2010/main" val="8928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latin typeface="Arial" pitchFamily="34" charset="0"/>
            </a:endParaRPr>
          </a:p>
        </p:txBody>
      </p:sp>
      <p:sp>
        <p:nvSpPr>
          <p:cNvPr id="4" name="Slide Number Placeholder 3"/>
          <p:cNvSpPr>
            <a:spLocks noGrp="1"/>
          </p:cNvSpPr>
          <p:nvPr>
            <p:ph type="sldNum" sz="quarter" idx="5"/>
          </p:nvPr>
        </p:nvSpPr>
        <p:spPr/>
        <p:txBody>
          <a:bodyPr/>
          <a:lstStyle/>
          <a:p>
            <a:pPr>
              <a:defRPr/>
            </a:pPr>
            <a:r>
              <a:rPr lang="en-US" altLang="en-US" dirty="0"/>
              <a:t>	  </a:t>
            </a:r>
            <a:r>
              <a:rPr lang="en-US" dirty="0"/>
              <a:t>Introduction to the Guidewire </a:t>
            </a:r>
            <a:r>
              <a:rPr lang="en-US" dirty="0" smtClean="0"/>
              <a:t>8.0 Releases - </a:t>
            </a:r>
            <a:fld id="{A8D045CE-4F6E-4FD7-9EC5-1A8550823B38}" type="slidenum">
              <a:rPr lang="en-US" altLang="en-US"/>
              <a:pPr>
                <a:defRPr/>
              </a:pPr>
              <a:t>4</a:t>
            </a:fld>
            <a:endParaRPr lang="en-US" altLang="en-US" dirty="0"/>
          </a:p>
        </p:txBody>
      </p:sp>
      <p:sp>
        <p:nvSpPr>
          <p:cNvPr id="5" name="Header Placeholder 4"/>
          <p:cNvSpPr>
            <a:spLocks noGrp="1"/>
          </p:cNvSpPr>
          <p:nvPr>
            <p:ph type="hdr" sz="quarter"/>
          </p:nvPr>
        </p:nvSpPr>
        <p:spPr/>
        <p:txBody>
          <a:bodyPr/>
          <a:lstStyle/>
          <a:p>
            <a:pPr>
              <a:defRPr/>
            </a:pPr>
            <a:r>
              <a:rPr lang="en-US" altLang="en-US" dirty="0" smtClean="0"/>
              <a:t>	</a:t>
            </a:r>
            <a:endParaRPr lang="en-US" dirty="0"/>
          </a:p>
        </p:txBody>
      </p:sp>
    </p:spTree>
    <p:extLst>
      <p:ext uri="{BB962C8B-B14F-4D97-AF65-F5344CB8AC3E}">
        <p14:creationId xmlns:p14="http://schemas.microsoft.com/office/powerpoint/2010/main" val="907672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10000"/>
              </a:spcBef>
              <a:spcAft>
                <a:spcPct val="0"/>
              </a:spcAft>
              <a:buClrTx/>
              <a:buSzTx/>
              <a:buFontTx/>
              <a:buNone/>
              <a:tabLst/>
              <a:defRPr/>
            </a:pPr>
            <a:r>
              <a:rPr lang="en-US" sz="1000" b="1" kern="1200" dirty="0" smtClean="0">
                <a:solidFill>
                  <a:schemeClr val="tx1"/>
                </a:solidFill>
                <a:effectLst/>
                <a:latin typeface="Arial" charset="0"/>
                <a:ea typeface="+mn-ea"/>
                <a:cs typeface="+mn-cs"/>
              </a:rPr>
              <a:t>JSON</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sz="1000" kern="1200" dirty="0" smtClean="0">
                <a:solidFill>
                  <a:schemeClr val="tx1"/>
                </a:solidFill>
                <a:effectLst/>
                <a:latin typeface="Arial" charset="0"/>
                <a:ea typeface="+mn-ea"/>
                <a:cs typeface="+mn-cs"/>
              </a:rPr>
              <a:t>JSON</a:t>
            </a:r>
            <a:r>
              <a:rPr lang="en-US" sz="1000" kern="1200" baseline="0" dirty="0" smtClean="0">
                <a:solidFill>
                  <a:schemeClr val="tx1"/>
                </a:solidFill>
                <a:effectLst/>
                <a:latin typeface="Arial" charset="0"/>
                <a:ea typeface="+mn-ea"/>
                <a:cs typeface="+mn-cs"/>
              </a:rPr>
              <a:t> is acronym for “Java script Object Notation”. It is a simple data interchange format</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sz="1000" kern="1200" baseline="0" dirty="0" smtClean="0">
                <a:solidFill>
                  <a:schemeClr val="tx1"/>
                </a:solidFill>
                <a:effectLst/>
                <a:latin typeface="Arial" charset="0"/>
                <a:ea typeface="+mn-ea"/>
                <a:cs typeface="+mn-cs"/>
              </a:rPr>
              <a:t>It is primarily used to transfer data between server and web application, as an alternative to xml</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sz="1000" kern="1200" baseline="0" dirty="0" smtClean="0">
                <a:solidFill>
                  <a:schemeClr val="tx1"/>
                </a:solidFill>
                <a:effectLst/>
                <a:latin typeface="Arial" charset="0"/>
                <a:ea typeface="+mn-ea"/>
                <a:cs typeface="+mn-cs"/>
              </a:rPr>
              <a:t>It is lighter than xml and it is easier for parse and generate these documents</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sz="1000" kern="1200" baseline="0" dirty="0" smtClean="0">
                <a:solidFill>
                  <a:schemeClr val="tx1"/>
                </a:solidFill>
                <a:effectLst/>
                <a:latin typeface="Arial" charset="0"/>
                <a:ea typeface="+mn-ea"/>
                <a:cs typeface="+mn-cs"/>
              </a:rPr>
              <a:t>It is subset of </a:t>
            </a:r>
            <a:r>
              <a:rPr lang="en-US" sz="1000" kern="1200" baseline="0" dirty="0" err="1" smtClean="0">
                <a:solidFill>
                  <a:schemeClr val="tx1"/>
                </a:solidFill>
                <a:effectLst/>
                <a:latin typeface="Arial" charset="0"/>
                <a:ea typeface="+mn-ea"/>
                <a:cs typeface="+mn-cs"/>
              </a:rPr>
              <a:t>Javascript</a:t>
            </a:r>
            <a:r>
              <a:rPr lang="en-US" sz="1000" kern="1200" baseline="0" dirty="0" smtClean="0">
                <a:solidFill>
                  <a:schemeClr val="tx1"/>
                </a:solidFill>
                <a:effectLst/>
                <a:latin typeface="Arial" charset="0"/>
                <a:ea typeface="+mn-ea"/>
                <a:cs typeface="+mn-cs"/>
              </a:rPr>
              <a:t> language</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sz="1000" kern="1200" baseline="0" dirty="0" smtClean="0">
                <a:solidFill>
                  <a:schemeClr val="tx1"/>
                </a:solidFill>
                <a:effectLst/>
                <a:latin typeface="Arial" charset="0"/>
                <a:ea typeface="+mn-ea"/>
                <a:cs typeface="+mn-cs"/>
              </a:rPr>
              <a:t>For further reference on json schema you may refer to </a:t>
            </a:r>
            <a:r>
              <a:rPr lang="en-US" sz="1000" i="1" kern="1200" baseline="0" dirty="0" smtClean="0">
                <a:solidFill>
                  <a:schemeClr val="tx1"/>
                </a:solidFill>
                <a:effectLst/>
                <a:latin typeface="Arial" charset="0"/>
                <a:ea typeface="+mn-ea"/>
                <a:cs typeface="+mn-cs"/>
              </a:rPr>
              <a:t>https://github.com/spacetelescope/understanding-json-schema</a:t>
            </a:r>
            <a:endParaRPr lang="en-US" sz="1000" i="1" kern="1200" dirty="0" smtClean="0">
              <a:solidFill>
                <a:schemeClr val="tx1"/>
              </a:solidFill>
              <a:effectLst/>
              <a:latin typeface="Arial" charset="0"/>
              <a:ea typeface="+mn-ea"/>
              <a:cs typeface="+mn-cs"/>
            </a:endParaRPr>
          </a:p>
          <a:p>
            <a:endParaRPr lang="en-US" dirty="0" smtClean="0">
              <a:latin typeface="Arial" pitchFamily="34" charset="0"/>
            </a:endParaRPr>
          </a:p>
        </p:txBody>
      </p:sp>
      <p:sp>
        <p:nvSpPr>
          <p:cNvPr id="4" name="Slide Number Placeholder 3"/>
          <p:cNvSpPr>
            <a:spLocks noGrp="1"/>
          </p:cNvSpPr>
          <p:nvPr>
            <p:ph type="sldNum" sz="quarter" idx="5"/>
          </p:nvPr>
        </p:nvSpPr>
        <p:spPr/>
        <p:txBody>
          <a:bodyPr/>
          <a:lstStyle/>
          <a:p>
            <a:pPr>
              <a:defRPr/>
            </a:pPr>
            <a:r>
              <a:rPr lang="en-US" altLang="en-US" dirty="0"/>
              <a:t>	  </a:t>
            </a:r>
            <a:r>
              <a:rPr lang="en-US" dirty="0"/>
              <a:t>Introduction to the Guidewire </a:t>
            </a:r>
            <a:r>
              <a:rPr lang="en-US" dirty="0" smtClean="0"/>
              <a:t>8.0 Releases - </a:t>
            </a:r>
            <a:fld id="{A8D045CE-4F6E-4FD7-9EC5-1A8550823B38}" type="slidenum">
              <a:rPr lang="en-US" altLang="en-US"/>
              <a:pPr>
                <a:defRPr/>
              </a:pPr>
              <a:t>5</a:t>
            </a:fld>
            <a:endParaRPr lang="en-US" altLang="en-US" dirty="0"/>
          </a:p>
        </p:txBody>
      </p:sp>
      <p:sp>
        <p:nvSpPr>
          <p:cNvPr id="5" name="Header Placeholder 4"/>
          <p:cNvSpPr>
            <a:spLocks noGrp="1"/>
          </p:cNvSpPr>
          <p:nvPr>
            <p:ph type="hdr" sz="quarter"/>
          </p:nvPr>
        </p:nvSpPr>
        <p:spPr/>
        <p:txBody>
          <a:bodyPr/>
          <a:lstStyle/>
          <a:p>
            <a:pPr>
              <a:defRPr/>
            </a:pPr>
            <a:r>
              <a:rPr lang="en-US" altLang="en-US" dirty="0" smtClean="0"/>
              <a:t>	</a:t>
            </a:r>
            <a:endParaRPr lang="en-US" dirty="0"/>
          </a:p>
        </p:txBody>
      </p:sp>
    </p:spTree>
    <p:extLst>
      <p:ext uri="{BB962C8B-B14F-4D97-AF65-F5344CB8AC3E}">
        <p14:creationId xmlns:p14="http://schemas.microsoft.com/office/powerpoint/2010/main" val="1882847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latin typeface="Arial" pitchFamily="34" charset="0"/>
            </a:endParaRPr>
          </a:p>
        </p:txBody>
      </p:sp>
      <p:sp>
        <p:nvSpPr>
          <p:cNvPr id="4" name="Slide Number Placeholder 3"/>
          <p:cNvSpPr>
            <a:spLocks noGrp="1"/>
          </p:cNvSpPr>
          <p:nvPr>
            <p:ph type="sldNum" sz="quarter" idx="5"/>
          </p:nvPr>
        </p:nvSpPr>
        <p:spPr/>
        <p:txBody>
          <a:bodyPr/>
          <a:lstStyle/>
          <a:p>
            <a:pPr>
              <a:defRPr/>
            </a:pPr>
            <a:r>
              <a:rPr lang="en-US" altLang="en-US" dirty="0"/>
              <a:t>	  </a:t>
            </a:r>
            <a:r>
              <a:rPr lang="en-US" dirty="0"/>
              <a:t>Introduction to the Guidewire </a:t>
            </a:r>
            <a:r>
              <a:rPr lang="en-US" dirty="0" smtClean="0"/>
              <a:t>8.0 Releases - </a:t>
            </a:r>
            <a:fld id="{A8D045CE-4F6E-4FD7-9EC5-1A8550823B38}" type="slidenum">
              <a:rPr lang="en-US" altLang="en-US"/>
              <a:pPr>
                <a:defRPr/>
              </a:pPr>
              <a:t>6</a:t>
            </a:fld>
            <a:endParaRPr lang="en-US" altLang="en-US" dirty="0"/>
          </a:p>
        </p:txBody>
      </p:sp>
      <p:sp>
        <p:nvSpPr>
          <p:cNvPr id="5" name="Header Placeholder 4"/>
          <p:cNvSpPr>
            <a:spLocks noGrp="1"/>
          </p:cNvSpPr>
          <p:nvPr>
            <p:ph type="hdr" sz="quarter"/>
          </p:nvPr>
        </p:nvSpPr>
        <p:spPr/>
        <p:txBody>
          <a:bodyPr/>
          <a:lstStyle/>
          <a:p>
            <a:pPr>
              <a:defRPr/>
            </a:pPr>
            <a:r>
              <a:rPr lang="en-US" altLang="en-US" dirty="0" smtClean="0"/>
              <a:t>	</a:t>
            </a:r>
            <a:endParaRPr lang="en-US" dirty="0"/>
          </a:p>
        </p:txBody>
      </p:sp>
    </p:spTree>
    <p:extLst>
      <p:ext uri="{BB962C8B-B14F-4D97-AF65-F5344CB8AC3E}">
        <p14:creationId xmlns:p14="http://schemas.microsoft.com/office/powerpoint/2010/main" val="3075583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smtClean="0">
              <a:latin typeface="Arial" pitchFamily="34" charset="0"/>
            </a:endParaRPr>
          </a:p>
        </p:txBody>
      </p:sp>
      <p:sp>
        <p:nvSpPr>
          <p:cNvPr id="4" name="Slide Number Placeholder 3"/>
          <p:cNvSpPr>
            <a:spLocks noGrp="1"/>
          </p:cNvSpPr>
          <p:nvPr>
            <p:ph type="sldNum" sz="quarter" idx="5"/>
          </p:nvPr>
        </p:nvSpPr>
        <p:spPr/>
        <p:txBody>
          <a:bodyPr/>
          <a:lstStyle/>
          <a:p>
            <a:pPr>
              <a:defRPr/>
            </a:pPr>
            <a:r>
              <a:rPr lang="en-US" altLang="en-US" dirty="0"/>
              <a:t>	  </a:t>
            </a:r>
            <a:r>
              <a:rPr lang="en-US" dirty="0"/>
              <a:t>Introduction to the Guidewire </a:t>
            </a:r>
            <a:r>
              <a:rPr lang="en-US" dirty="0" smtClean="0"/>
              <a:t>8.0 Releases - </a:t>
            </a:r>
            <a:fld id="{A8D045CE-4F6E-4FD7-9EC5-1A8550823B38}" type="slidenum">
              <a:rPr lang="en-US" altLang="en-US"/>
              <a:pPr>
                <a:defRPr/>
              </a:pPr>
              <a:t>7</a:t>
            </a:fld>
            <a:endParaRPr lang="en-US" altLang="en-US" dirty="0"/>
          </a:p>
        </p:txBody>
      </p:sp>
      <p:sp>
        <p:nvSpPr>
          <p:cNvPr id="5" name="Header Placeholder 4"/>
          <p:cNvSpPr>
            <a:spLocks noGrp="1"/>
          </p:cNvSpPr>
          <p:nvPr>
            <p:ph type="hdr" sz="quarter"/>
          </p:nvPr>
        </p:nvSpPr>
        <p:spPr/>
        <p:txBody>
          <a:bodyPr/>
          <a:lstStyle/>
          <a:p>
            <a:pPr>
              <a:defRPr/>
            </a:pPr>
            <a:r>
              <a:rPr lang="en-US" altLang="en-US" dirty="0" smtClean="0"/>
              <a:t>	</a:t>
            </a:r>
            <a:endParaRPr lang="en-US" dirty="0"/>
          </a:p>
        </p:txBody>
      </p:sp>
    </p:spTree>
    <p:extLst>
      <p:ext uri="{BB962C8B-B14F-4D97-AF65-F5344CB8AC3E}">
        <p14:creationId xmlns:p14="http://schemas.microsoft.com/office/powerpoint/2010/main" val="715328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latin typeface="Arial" pitchFamily="34" charset="0"/>
              </a:rPr>
              <a:t>Code</a:t>
            </a:r>
            <a:r>
              <a:rPr lang="en-US" b="1" baseline="0" dirty="0" smtClean="0">
                <a:latin typeface="Arial" pitchFamily="34" charset="0"/>
              </a:rPr>
              <a:t> example:</a:t>
            </a:r>
          </a:p>
          <a:p>
            <a:r>
              <a:rPr lang="en-US" b="0" baseline="0" dirty="0" smtClean="0">
                <a:latin typeface="Arial" pitchFamily="34" charset="0"/>
              </a:rPr>
              <a:t>Line 2 : Comments are not technically allowed in JSON, but it is allowed in Guidewires framework</a:t>
            </a:r>
          </a:p>
          <a:p>
            <a:r>
              <a:rPr lang="en-US" b="0" baseline="0" dirty="0" smtClean="0">
                <a:latin typeface="Arial" pitchFamily="34" charset="0"/>
              </a:rPr>
              <a:t>Line 3 :  Every schema file starts with this schema declaration</a:t>
            </a:r>
          </a:p>
          <a:p>
            <a:r>
              <a:rPr lang="en-US" b="0" baseline="0" dirty="0" smtClean="0">
                <a:latin typeface="Arial" pitchFamily="34" charset="0"/>
              </a:rPr>
              <a:t>Line 4: Each definition is defined under definitions</a:t>
            </a:r>
          </a:p>
          <a:p>
            <a:endParaRPr lang="en-US" b="0" baseline="0" dirty="0" smtClean="0">
              <a:latin typeface="Arial" pitchFamily="34" charset="0"/>
            </a:endParaRPr>
          </a:p>
          <a:p>
            <a:r>
              <a:rPr lang="en-US" b="1" baseline="0" dirty="0" smtClean="0">
                <a:latin typeface="Arial" pitchFamily="34" charset="0"/>
              </a:rPr>
              <a:t>Versioning </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b="0" dirty="0" smtClean="0">
                <a:latin typeface="Arial" pitchFamily="34" charset="0"/>
              </a:rPr>
              <a:t>User minor versions for </a:t>
            </a:r>
            <a:r>
              <a:rPr lang="en-US" b="0" baseline="0" dirty="0" smtClean="0">
                <a:latin typeface="Arial" pitchFamily="34" charset="0"/>
              </a:rPr>
              <a:t>backward-compatible changes, in cases where both schemas needs to be used. Use major version for significant and drastic changes. Whether to update the existing version or create a new file is left to the judgement of the developer.</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b="0" baseline="0" dirty="0" smtClean="0">
                <a:latin typeface="Arial" pitchFamily="34" charset="0"/>
              </a:rPr>
              <a:t>The version portion of the schema can have any number of “.” along with option txt suffix, for example these are some of the valid versions 1.0, 1,1,1.0.1,1.0-2- alpha</a:t>
            </a:r>
          </a:p>
          <a:p>
            <a:pPr marL="0" marR="0" lvl="0" indent="0" algn="l" defTabSz="914400" rtl="0" eaLnBrk="0" fontAlgn="base" latinLnBrk="0" hangingPunct="0">
              <a:lnSpc>
                <a:spcPct val="100000"/>
              </a:lnSpc>
              <a:spcBef>
                <a:spcPct val="10000"/>
              </a:spcBef>
              <a:spcAft>
                <a:spcPct val="0"/>
              </a:spcAft>
              <a:buClrTx/>
              <a:buSzTx/>
              <a:buFontTx/>
              <a:buNone/>
              <a:tabLst/>
              <a:defRPr/>
            </a:pPr>
            <a:endParaRPr lang="en-US" b="0" baseline="0" dirty="0" smtClean="0">
              <a:latin typeface="Arial" pitchFamily="34" charset="0"/>
            </a:endParaRPr>
          </a:p>
          <a:p>
            <a:pPr marL="0" marR="0" lvl="0" indent="0" algn="l" defTabSz="914400" rtl="0" eaLnBrk="0" fontAlgn="base" latinLnBrk="0" hangingPunct="0">
              <a:lnSpc>
                <a:spcPct val="100000"/>
              </a:lnSpc>
              <a:spcBef>
                <a:spcPct val="10000"/>
              </a:spcBef>
              <a:spcAft>
                <a:spcPct val="0"/>
              </a:spcAft>
              <a:buClrTx/>
              <a:buSzTx/>
              <a:buFontTx/>
              <a:buNone/>
              <a:tabLst/>
              <a:defRPr/>
            </a:pPr>
            <a:r>
              <a:rPr lang="en-US" b="1" baseline="0" dirty="0" smtClean="0">
                <a:latin typeface="Arial" pitchFamily="34" charset="0"/>
              </a:rPr>
              <a:t>JSON Schema</a:t>
            </a:r>
          </a:p>
          <a:p>
            <a:pPr marL="171450" marR="0" lvl="0"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baseline="0" dirty="0" smtClean="0">
                <a:latin typeface="Arial" pitchFamily="34" charset="0"/>
              </a:rPr>
              <a:t>JSON schema (draft 4) document </a:t>
            </a:r>
            <a:r>
              <a:rPr lang="en-US" sz="2400" dirty="0" smtClean="0">
                <a:solidFill>
                  <a:schemeClr val="bg1"/>
                </a:solidFill>
                <a:latin typeface="+mn-lt"/>
                <a:ea typeface="Calibri" pitchFamily="34" charset="0"/>
                <a:cs typeface="Calibri" pitchFamily="34" charset="0"/>
              </a:rPr>
              <a:t>describes</a:t>
            </a:r>
            <a:r>
              <a:rPr lang="en-US" b="0" baseline="0" dirty="0" smtClean="0">
                <a:latin typeface="Arial" pitchFamily="34" charset="0"/>
              </a:rPr>
              <a:t> how to serialize data, we are using only a subset of the schema</a:t>
            </a:r>
          </a:p>
          <a:p>
            <a:pPr marL="514350" marR="0" lvl="1"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baseline="0" dirty="0" smtClean="0">
                <a:latin typeface="Arial" pitchFamily="34" charset="0"/>
              </a:rPr>
              <a:t>It is used to describe the objects that will be serialized by describing the type of object, &amp; arrays and properties of the object</a:t>
            </a:r>
          </a:p>
          <a:p>
            <a:pPr marL="514350" marR="0" lvl="1"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baseline="0" dirty="0" smtClean="0">
                <a:latin typeface="Arial" pitchFamily="34" charset="0"/>
              </a:rPr>
              <a:t>It can be used in Integration view and in </a:t>
            </a:r>
            <a:r>
              <a:rPr lang="en-US" b="0" baseline="0" dirty="0" err="1" smtClean="0">
                <a:latin typeface="Arial" pitchFamily="34" charset="0"/>
              </a:rPr>
              <a:t>RestAPI’s</a:t>
            </a:r>
            <a:endParaRPr lang="en-US" b="0" baseline="0" dirty="0" smtClean="0">
              <a:latin typeface="Arial" pitchFamily="34" charset="0"/>
            </a:endParaRPr>
          </a:p>
          <a:p>
            <a:pPr marL="171450" marR="0" lvl="0"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baseline="0" dirty="0" smtClean="0">
                <a:latin typeface="Arial" pitchFamily="34" charset="0"/>
              </a:rPr>
              <a:t>A given schema can define any number of objects i.e. can have multiple definitions</a:t>
            </a:r>
          </a:p>
          <a:p>
            <a:pPr marL="171450" marR="0" lvl="0"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baseline="0" dirty="0" smtClean="0">
                <a:latin typeface="Arial" pitchFamily="34" charset="0"/>
              </a:rPr>
              <a:t>Schemas are explicitly named and versioned.</a:t>
            </a:r>
          </a:p>
          <a:p>
            <a:pPr marL="171450" marR="0" lvl="0"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endParaRPr lang="en-US" b="0" baseline="0" dirty="0" smtClean="0">
              <a:latin typeface="Arial" pitchFamily="34" charset="0"/>
            </a:endParaRPr>
          </a:p>
          <a:p>
            <a:pPr marL="171450" marR="0" lvl="0"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1" baseline="0" dirty="0" smtClean="0">
                <a:latin typeface="Arial" pitchFamily="34" charset="0"/>
              </a:rPr>
              <a:t>JSON Schema subset</a:t>
            </a:r>
          </a:p>
          <a:p>
            <a:pPr marL="514350" marR="0" lvl="1"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baseline="0" dirty="0" smtClean="0">
                <a:latin typeface="Arial" pitchFamily="34" charset="0"/>
              </a:rPr>
              <a:t>Limited subset of JSON schema</a:t>
            </a:r>
          </a:p>
          <a:p>
            <a:pPr marL="514350" marR="0" lvl="1"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baseline="0" dirty="0" smtClean="0">
                <a:latin typeface="Arial" pitchFamily="34" charset="0"/>
              </a:rPr>
              <a:t>No nested anonymous object types : only top level named types are supported</a:t>
            </a:r>
          </a:p>
          <a:p>
            <a:pPr marL="514350" marR="0" lvl="1"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baseline="0" dirty="0" smtClean="0">
                <a:latin typeface="Arial" pitchFamily="34" charset="0"/>
              </a:rPr>
              <a:t>No nested arrays are supported i.e. arrays should be scalar or object arrays</a:t>
            </a:r>
          </a:p>
          <a:p>
            <a:pPr marL="514350" marR="0" lvl="1"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baseline="0" dirty="0" smtClean="0">
                <a:latin typeface="Arial" pitchFamily="34" charset="0"/>
              </a:rPr>
              <a:t>Properties should have a single type</a:t>
            </a:r>
          </a:p>
          <a:p>
            <a:pPr marL="514350" marR="0" lvl="1"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baseline="0" dirty="0" smtClean="0">
                <a:latin typeface="Arial" pitchFamily="34" charset="0"/>
              </a:rPr>
              <a:t>JSON schemas composition </a:t>
            </a:r>
            <a:r>
              <a:rPr lang="en-US" b="0" baseline="0" dirty="0" err="1" smtClean="0">
                <a:latin typeface="Arial" pitchFamily="34" charset="0"/>
              </a:rPr>
              <a:t>anyOf</a:t>
            </a:r>
            <a:r>
              <a:rPr lang="en-US" b="0" baseline="0" dirty="0" smtClean="0">
                <a:latin typeface="Arial" pitchFamily="34" charset="0"/>
              </a:rPr>
              <a:t>, </a:t>
            </a:r>
            <a:r>
              <a:rPr lang="en-US" b="1" baseline="0" dirty="0" smtClean="0">
                <a:latin typeface="Arial" pitchFamily="34" charset="0"/>
              </a:rPr>
              <a:t>JSON Schema</a:t>
            </a:r>
          </a:p>
          <a:p>
            <a:pPr marL="514350" marR="0" lvl="1"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baseline="0" dirty="0" err="1" smtClean="0">
                <a:latin typeface="Arial" pitchFamily="34" charset="0"/>
              </a:rPr>
              <a:t>allOf</a:t>
            </a:r>
            <a:r>
              <a:rPr lang="en-US" b="0" baseline="0" dirty="0" smtClean="0">
                <a:latin typeface="Arial" pitchFamily="34" charset="0"/>
              </a:rPr>
              <a:t> and </a:t>
            </a:r>
            <a:r>
              <a:rPr lang="en-US" b="0" baseline="0" dirty="0" err="1" smtClean="0">
                <a:latin typeface="Arial" pitchFamily="34" charset="0"/>
              </a:rPr>
              <a:t>oneOf</a:t>
            </a:r>
            <a:r>
              <a:rPr lang="en-US" b="0" baseline="0" dirty="0" smtClean="0">
                <a:latin typeface="Arial" pitchFamily="34" charset="0"/>
              </a:rPr>
              <a:t> is not supported.</a:t>
            </a:r>
          </a:p>
          <a:p>
            <a:pPr marL="171450" marR="0" lvl="0"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endParaRPr lang="en-US" b="0" baseline="0" dirty="0" smtClean="0">
              <a:latin typeface="Arial" pitchFamily="34" charset="0"/>
            </a:endParaRPr>
          </a:p>
          <a:p>
            <a:pPr marL="514350" marR="0" lvl="1"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endParaRPr lang="en-US" b="0" baseline="0" dirty="0" smtClean="0">
              <a:latin typeface="Arial" pitchFamily="34" charset="0"/>
            </a:endParaRPr>
          </a:p>
          <a:p>
            <a:pPr marL="0" marR="0" lvl="0" indent="0" algn="l" defTabSz="914400" rtl="0" eaLnBrk="0" fontAlgn="base" latinLnBrk="0" hangingPunct="0">
              <a:lnSpc>
                <a:spcPct val="100000"/>
              </a:lnSpc>
              <a:spcBef>
                <a:spcPct val="10000"/>
              </a:spcBef>
              <a:spcAft>
                <a:spcPct val="0"/>
              </a:spcAft>
              <a:buClrTx/>
              <a:buSzTx/>
              <a:buFontTx/>
              <a:buNone/>
              <a:tabLst/>
              <a:defRPr/>
            </a:pPr>
            <a:endParaRPr lang="en-US" b="0" baseline="0" dirty="0" smtClean="0">
              <a:latin typeface="Arial" pitchFamily="34" charset="0"/>
            </a:endParaRPr>
          </a:p>
          <a:p>
            <a:pPr marL="0" marR="0" lvl="0" indent="0" algn="l" defTabSz="914400" rtl="0" eaLnBrk="0" fontAlgn="base" latinLnBrk="0" hangingPunct="0">
              <a:lnSpc>
                <a:spcPct val="100000"/>
              </a:lnSpc>
              <a:spcBef>
                <a:spcPct val="10000"/>
              </a:spcBef>
              <a:spcAft>
                <a:spcPct val="0"/>
              </a:spcAft>
              <a:buClrTx/>
              <a:buSzTx/>
              <a:buFontTx/>
              <a:buNone/>
              <a:tabLst/>
              <a:defRPr/>
            </a:pPr>
            <a:endParaRPr lang="en-US" b="0" baseline="0" dirty="0" smtClean="0">
              <a:latin typeface="Arial" pitchFamily="34" charset="0"/>
            </a:endParaRPr>
          </a:p>
          <a:p>
            <a:pPr marL="0" marR="0" lvl="0" indent="0" algn="l" defTabSz="914400" rtl="0" eaLnBrk="0" fontAlgn="base" latinLnBrk="0" hangingPunct="0">
              <a:lnSpc>
                <a:spcPct val="100000"/>
              </a:lnSpc>
              <a:spcBef>
                <a:spcPct val="10000"/>
              </a:spcBef>
              <a:spcAft>
                <a:spcPct val="0"/>
              </a:spcAft>
              <a:buClrTx/>
              <a:buSzTx/>
              <a:buFontTx/>
              <a:buNone/>
              <a:tabLst/>
              <a:defRPr/>
            </a:pPr>
            <a:endParaRPr lang="en-US" b="0" baseline="0" dirty="0" smtClean="0">
              <a:latin typeface="Arial" pitchFamily="34" charset="0"/>
            </a:endParaRPr>
          </a:p>
          <a:p>
            <a:pPr marL="0" marR="0" lvl="0" indent="0" algn="l" defTabSz="914400" rtl="0" eaLnBrk="0" fontAlgn="base" latinLnBrk="0" hangingPunct="0">
              <a:lnSpc>
                <a:spcPct val="100000"/>
              </a:lnSpc>
              <a:spcBef>
                <a:spcPct val="10000"/>
              </a:spcBef>
              <a:spcAft>
                <a:spcPct val="0"/>
              </a:spcAft>
              <a:buClrTx/>
              <a:buSzTx/>
              <a:buFontTx/>
              <a:buNone/>
              <a:tabLst/>
              <a:defRPr/>
            </a:pPr>
            <a:endParaRPr lang="en-US" b="0" baseline="0" dirty="0" smtClean="0">
              <a:latin typeface="Arial" pitchFamily="34" charset="0"/>
            </a:endParaRPr>
          </a:p>
          <a:p>
            <a:pPr marL="0" marR="0" lvl="0" indent="0" algn="l" defTabSz="914400" rtl="0" eaLnBrk="0" fontAlgn="base" latinLnBrk="0" hangingPunct="0">
              <a:lnSpc>
                <a:spcPct val="100000"/>
              </a:lnSpc>
              <a:spcBef>
                <a:spcPct val="10000"/>
              </a:spcBef>
              <a:spcAft>
                <a:spcPct val="0"/>
              </a:spcAft>
              <a:buClrTx/>
              <a:buSzTx/>
              <a:buFontTx/>
              <a:buNone/>
              <a:tabLst/>
              <a:defRPr/>
            </a:pPr>
            <a:endParaRPr lang="en-US" b="0" baseline="0" dirty="0" smtClean="0">
              <a:latin typeface="Arial" pitchFamily="34" charset="0"/>
            </a:endParaRPr>
          </a:p>
          <a:p>
            <a:pPr marL="0" marR="0" lvl="0" indent="0" algn="l" defTabSz="914400" rtl="0" eaLnBrk="0" fontAlgn="base" latinLnBrk="0" hangingPunct="0">
              <a:lnSpc>
                <a:spcPct val="100000"/>
              </a:lnSpc>
              <a:spcBef>
                <a:spcPct val="10000"/>
              </a:spcBef>
              <a:spcAft>
                <a:spcPct val="0"/>
              </a:spcAft>
              <a:buClrTx/>
              <a:buSzTx/>
              <a:buFontTx/>
              <a:buNone/>
              <a:tabLst/>
              <a:defRPr/>
            </a:pPr>
            <a:endParaRPr lang="en-US" b="0" dirty="0" smtClean="0">
              <a:latin typeface="Arial" pitchFamily="34" charset="0"/>
            </a:endParaRPr>
          </a:p>
        </p:txBody>
      </p:sp>
      <p:sp>
        <p:nvSpPr>
          <p:cNvPr id="4" name="Slide Number Placeholder 3"/>
          <p:cNvSpPr>
            <a:spLocks noGrp="1"/>
          </p:cNvSpPr>
          <p:nvPr>
            <p:ph type="sldNum" sz="quarter" idx="5"/>
          </p:nvPr>
        </p:nvSpPr>
        <p:spPr/>
        <p:txBody>
          <a:bodyPr/>
          <a:lstStyle/>
          <a:p>
            <a:pPr>
              <a:defRPr/>
            </a:pPr>
            <a:r>
              <a:rPr lang="en-US" altLang="en-US" dirty="0"/>
              <a:t>	  </a:t>
            </a:r>
            <a:r>
              <a:rPr lang="en-US" dirty="0"/>
              <a:t>Introduction to the Guidewire </a:t>
            </a:r>
            <a:r>
              <a:rPr lang="en-US" dirty="0" smtClean="0"/>
              <a:t>8.0 Releases - </a:t>
            </a:r>
            <a:fld id="{A8D045CE-4F6E-4FD7-9EC5-1A8550823B38}" type="slidenum">
              <a:rPr lang="en-US" altLang="en-US"/>
              <a:pPr>
                <a:defRPr/>
              </a:pPr>
              <a:t>8</a:t>
            </a:fld>
            <a:endParaRPr lang="en-US" altLang="en-US" dirty="0"/>
          </a:p>
        </p:txBody>
      </p:sp>
      <p:sp>
        <p:nvSpPr>
          <p:cNvPr id="5" name="Header Placeholder 4"/>
          <p:cNvSpPr>
            <a:spLocks noGrp="1"/>
          </p:cNvSpPr>
          <p:nvPr>
            <p:ph type="hdr" sz="quarter"/>
          </p:nvPr>
        </p:nvSpPr>
        <p:spPr/>
        <p:txBody>
          <a:bodyPr/>
          <a:lstStyle/>
          <a:p>
            <a:pPr>
              <a:defRPr/>
            </a:pPr>
            <a:r>
              <a:rPr lang="en-US" altLang="en-US" dirty="0" smtClean="0"/>
              <a:t>	</a:t>
            </a:r>
            <a:endParaRPr lang="en-US" dirty="0"/>
          </a:p>
        </p:txBody>
      </p:sp>
    </p:spTree>
    <p:extLst>
      <p:ext uri="{BB962C8B-B14F-4D97-AF65-F5344CB8AC3E}">
        <p14:creationId xmlns:p14="http://schemas.microsoft.com/office/powerpoint/2010/main" val="3181673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baseline="0" dirty="0" smtClean="0">
                <a:latin typeface="Arial" pitchFamily="34" charset="0"/>
              </a:rPr>
              <a:t>What is swagger?</a:t>
            </a:r>
          </a:p>
          <a:p>
            <a:endParaRPr lang="en-US" baseline="0" dirty="0" smtClean="0">
              <a:latin typeface="Arial" pitchFamily="34" charset="0"/>
            </a:endParaRPr>
          </a:p>
          <a:p>
            <a:r>
              <a:rPr lang="en-US" baseline="0" dirty="0" smtClean="0">
                <a:latin typeface="Arial" pitchFamily="34" charset="0"/>
              </a:rPr>
              <a:t>Swagger is a specification for documenting REST API’s. It is being widely used and a lot of tools understand Swagger schema, including Amazon’s api gateway</a:t>
            </a:r>
          </a:p>
          <a:p>
            <a:endParaRPr lang="en-US" baseline="0" dirty="0" smtClean="0">
              <a:latin typeface="Arial" pitchFamily="34" charset="0"/>
            </a:endParaRPr>
          </a:p>
          <a:p>
            <a:r>
              <a:rPr lang="en-US" baseline="0" dirty="0" smtClean="0">
                <a:latin typeface="Arial" pitchFamily="34" charset="0"/>
              </a:rPr>
              <a:t>Swagger 2.0 defines a number of standard formats that are part of Swagger specification. Insurance suite adopts these and added custom format for data types like fixed-point decimals(i.e. Big Decimals in Java) that weren’t covered. Insurance suite allows special types x-</a:t>
            </a:r>
            <a:r>
              <a:rPr lang="en-US" baseline="0" dirty="0" err="1" smtClean="0">
                <a:latin typeface="Arial" pitchFamily="34" charset="0"/>
              </a:rPr>
              <a:t>gw</a:t>
            </a:r>
            <a:r>
              <a:rPr lang="en-US" baseline="0" dirty="0" smtClean="0">
                <a:latin typeface="Arial" pitchFamily="34" charset="0"/>
              </a:rPr>
              <a:t>-type property in the schema.  This can represent internal Guidewire types like </a:t>
            </a:r>
            <a:r>
              <a:rPr lang="en-US" baseline="0" dirty="0" err="1" smtClean="0">
                <a:latin typeface="Arial" pitchFamily="34" charset="0"/>
              </a:rPr>
              <a:t>typekeys</a:t>
            </a:r>
            <a:r>
              <a:rPr lang="en-US" baseline="0" dirty="0" smtClean="0">
                <a:latin typeface="Arial" pitchFamily="34" charset="0"/>
              </a:rPr>
              <a:t>, Monetary amount and Currency amount.</a:t>
            </a:r>
          </a:p>
          <a:p>
            <a:endParaRPr lang="en-US" b="0" baseline="0" dirty="0" smtClean="0">
              <a:latin typeface="Arial" pitchFamily="34" charset="0"/>
            </a:endParaRPr>
          </a:p>
          <a:p>
            <a:pPr marL="0" marR="0" lvl="0" indent="0" algn="l" defTabSz="914400" rtl="0" eaLnBrk="0" fontAlgn="base" latinLnBrk="0" hangingPunct="0">
              <a:lnSpc>
                <a:spcPct val="100000"/>
              </a:lnSpc>
              <a:spcBef>
                <a:spcPct val="10000"/>
              </a:spcBef>
              <a:spcAft>
                <a:spcPct val="0"/>
              </a:spcAft>
              <a:buClrTx/>
              <a:buSzTx/>
              <a:buFontTx/>
              <a:buNone/>
              <a:tabLst/>
              <a:defRPr/>
            </a:pPr>
            <a:r>
              <a:rPr lang="en-US" sz="1000" b="0" i="0" u="none" strike="noStrike" kern="1200" dirty="0" smtClean="0">
                <a:solidFill>
                  <a:schemeClr val="tx1"/>
                </a:solidFill>
                <a:effectLst/>
                <a:latin typeface="Arial" charset="0"/>
                <a:ea typeface="+mn-ea"/>
                <a:cs typeface="+mn-cs"/>
              </a:rPr>
              <a:t>The combination of type, format, and x-</a:t>
            </a:r>
            <a:r>
              <a:rPr lang="en-US" sz="1000" b="0" i="0" u="none" strike="noStrike" kern="1200" dirty="0" err="1" smtClean="0">
                <a:solidFill>
                  <a:schemeClr val="tx1"/>
                </a:solidFill>
                <a:effectLst/>
                <a:latin typeface="Arial" charset="0"/>
                <a:ea typeface="+mn-ea"/>
                <a:cs typeface="+mn-cs"/>
              </a:rPr>
              <a:t>gw</a:t>
            </a:r>
            <a:r>
              <a:rPr lang="en-US" sz="1000" b="0" i="0" u="none" strike="noStrike" kern="1200" dirty="0" smtClean="0">
                <a:solidFill>
                  <a:schemeClr val="tx1"/>
                </a:solidFill>
                <a:effectLst/>
                <a:latin typeface="Arial" charset="0"/>
                <a:ea typeface="+mn-ea"/>
                <a:cs typeface="+mn-cs"/>
              </a:rPr>
              <a:t>-type determine</a:t>
            </a:r>
            <a:r>
              <a:rPr lang="en-US" sz="1000" b="0" i="0" u="none" strike="noStrike" kern="1200" baseline="0" dirty="0" smtClean="0">
                <a:solidFill>
                  <a:schemeClr val="tx1"/>
                </a:solidFill>
                <a:effectLst/>
                <a:latin typeface="Arial" charset="0"/>
                <a:ea typeface="+mn-ea"/>
                <a:cs typeface="+mn-cs"/>
              </a:rPr>
              <a:t> the serialization format and the POJO type the input </a:t>
            </a:r>
            <a:r>
              <a:rPr lang="en-US" sz="1000" b="0" i="0" u="none" strike="noStrike" kern="1200" baseline="0" dirty="0" err="1" smtClean="0">
                <a:solidFill>
                  <a:schemeClr val="tx1"/>
                </a:solidFill>
                <a:effectLst/>
                <a:latin typeface="Arial" charset="0"/>
                <a:ea typeface="+mn-ea"/>
                <a:cs typeface="+mn-cs"/>
              </a:rPr>
              <a:t>deserializes</a:t>
            </a:r>
            <a:r>
              <a:rPr lang="en-US" sz="1000" b="0" i="0" u="none" strike="noStrike" kern="1200" baseline="0" dirty="0" smtClean="0">
                <a:solidFill>
                  <a:schemeClr val="tx1"/>
                </a:solidFill>
                <a:effectLst/>
                <a:latin typeface="Arial" charset="0"/>
                <a:ea typeface="+mn-ea"/>
                <a:cs typeface="+mn-cs"/>
              </a:rPr>
              <a:t> to.</a:t>
            </a:r>
          </a:p>
          <a:p>
            <a:pPr marL="0" marR="0" lvl="0" indent="0" algn="l" defTabSz="914400" rtl="0" eaLnBrk="0" fontAlgn="base" latinLnBrk="0" hangingPunct="0">
              <a:lnSpc>
                <a:spcPct val="100000"/>
              </a:lnSpc>
              <a:spcBef>
                <a:spcPct val="10000"/>
              </a:spcBef>
              <a:spcAft>
                <a:spcPct val="0"/>
              </a:spcAft>
              <a:buClrTx/>
              <a:buSzTx/>
              <a:buFontTx/>
              <a:buNone/>
              <a:tabLst/>
              <a:defRPr/>
            </a:pPr>
            <a:endParaRPr lang="en-US" sz="1000" b="0" i="0" u="none" strike="noStrike" kern="1200" baseline="0" dirty="0" smtClean="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10000"/>
              </a:spcBef>
              <a:spcAft>
                <a:spcPct val="0"/>
              </a:spcAft>
              <a:buClrTx/>
              <a:buSzTx/>
              <a:buFontTx/>
              <a:buNone/>
              <a:tabLst/>
              <a:defRPr/>
            </a:pPr>
            <a:r>
              <a:rPr lang="en-US" sz="1000" b="0" i="0" u="none" strike="noStrike" kern="1200" baseline="0" dirty="0" smtClean="0">
                <a:solidFill>
                  <a:schemeClr val="tx1"/>
                </a:solidFill>
                <a:effectLst/>
                <a:latin typeface="Arial" charset="0"/>
                <a:ea typeface="+mn-ea"/>
                <a:cs typeface="+mn-cs"/>
              </a:rPr>
              <a:t>POJO: This is a plain old Java object</a:t>
            </a:r>
          </a:p>
          <a:p>
            <a:pPr marL="0" marR="0" lvl="0" indent="0" algn="l" defTabSz="914400" rtl="0" eaLnBrk="0" fontAlgn="base" latinLnBrk="0" hangingPunct="0">
              <a:lnSpc>
                <a:spcPct val="100000"/>
              </a:lnSpc>
              <a:spcBef>
                <a:spcPct val="10000"/>
              </a:spcBef>
              <a:spcAft>
                <a:spcPct val="0"/>
              </a:spcAft>
              <a:buClrTx/>
              <a:buSzTx/>
              <a:buFontTx/>
              <a:buNone/>
              <a:tabLst/>
              <a:defRPr/>
            </a:pPr>
            <a:endParaRPr lang="en-US" sz="1000" b="0" i="0" u="none" strike="noStrike" kern="1200" baseline="0" dirty="0" smtClean="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10000"/>
              </a:spcBef>
              <a:spcAft>
                <a:spcPct val="0"/>
              </a:spcAft>
              <a:buClrTx/>
              <a:buSzTx/>
              <a:buFontTx/>
              <a:buNone/>
              <a:tabLst/>
              <a:defRPr/>
            </a:pPr>
            <a:r>
              <a:rPr lang="en-US" sz="1000" b="0" i="0" u="none" strike="noStrike" kern="1200" baseline="0" dirty="0" smtClean="0">
                <a:solidFill>
                  <a:schemeClr val="tx1"/>
                </a:solidFill>
                <a:effectLst/>
                <a:latin typeface="Arial" charset="0"/>
                <a:ea typeface="+mn-ea"/>
                <a:cs typeface="+mn-cs"/>
              </a:rPr>
              <a:t>Please refer to the integration guide documentation under JSON schema to know all supported JSON data types and format.</a:t>
            </a:r>
            <a:endParaRPr lang="en-US" b="0" dirty="0" smtClean="0">
              <a:latin typeface="Arial" pitchFamily="34" charset="0"/>
            </a:endParaRPr>
          </a:p>
        </p:txBody>
      </p:sp>
      <p:sp>
        <p:nvSpPr>
          <p:cNvPr id="4" name="Slide Number Placeholder 3"/>
          <p:cNvSpPr>
            <a:spLocks noGrp="1"/>
          </p:cNvSpPr>
          <p:nvPr>
            <p:ph type="sldNum" sz="quarter" idx="5"/>
          </p:nvPr>
        </p:nvSpPr>
        <p:spPr/>
        <p:txBody>
          <a:bodyPr/>
          <a:lstStyle/>
          <a:p>
            <a:pPr>
              <a:defRPr/>
            </a:pPr>
            <a:r>
              <a:rPr lang="en-US" altLang="en-US" dirty="0"/>
              <a:t>	  </a:t>
            </a:r>
            <a:r>
              <a:rPr lang="en-US" dirty="0"/>
              <a:t>Introduction to the Guidewire </a:t>
            </a:r>
            <a:r>
              <a:rPr lang="en-US" dirty="0" smtClean="0"/>
              <a:t>8.0 Releases - </a:t>
            </a:r>
            <a:fld id="{A8D045CE-4F6E-4FD7-9EC5-1A8550823B38}" type="slidenum">
              <a:rPr lang="en-US" altLang="en-US"/>
              <a:pPr>
                <a:defRPr/>
              </a:pPr>
              <a:t>9</a:t>
            </a:fld>
            <a:endParaRPr lang="en-US" altLang="en-US" dirty="0"/>
          </a:p>
        </p:txBody>
      </p:sp>
      <p:sp>
        <p:nvSpPr>
          <p:cNvPr id="5" name="Header Placeholder 4"/>
          <p:cNvSpPr>
            <a:spLocks noGrp="1"/>
          </p:cNvSpPr>
          <p:nvPr>
            <p:ph type="hdr" sz="quarter"/>
          </p:nvPr>
        </p:nvSpPr>
        <p:spPr/>
        <p:txBody>
          <a:bodyPr/>
          <a:lstStyle/>
          <a:p>
            <a:pPr>
              <a:defRPr/>
            </a:pPr>
            <a:r>
              <a:rPr lang="en-US" altLang="en-US" dirty="0" smtClean="0"/>
              <a:t>	</a:t>
            </a:r>
            <a:endParaRPr lang="en-US" dirty="0"/>
          </a:p>
        </p:txBody>
      </p:sp>
    </p:spTree>
    <p:extLst>
      <p:ext uri="{BB962C8B-B14F-4D97-AF65-F5344CB8AC3E}">
        <p14:creationId xmlns:p14="http://schemas.microsoft.com/office/powerpoint/2010/main" val="191207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latin typeface="Arial" pitchFamily="34" charset="0"/>
              </a:rPr>
              <a:t>Code Example</a:t>
            </a:r>
          </a:p>
          <a:p>
            <a:r>
              <a:rPr lang="en-US" dirty="0" smtClean="0">
                <a:latin typeface="Arial" pitchFamily="34" charset="0"/>
              </a:rPr>
              <a:t>Line</a:t>
            </a:r>
            <a:r>
              <a:rPr lang="en-US" baseline="0" dirty="0" smtClean="0">
                <a:latin typeface="Arial" pitchFamily="34" charset="0"/>
              </a:rPr>
              <a:t> 8 : Definitions name is defined</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baseline="0" dirty="0" smtClean="0">
                <a:latin typeface="Arial" pitchFamily="34" charset="0"/>
              </a:rPr>
              <a:t>Line 11 ,14 and 18: Scalar properties are defined</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baseline="0" dirty="0" smtClean="0">
                <a:latin typeface="Arial" pitchFamily="34" charset="0"/>
              </a:rPr>
              <a:t>Line 16 : complex property date is defined and its format is also specified</a:t>
            </a:r>
          </a:p>
          <a:p>
            <a:r>
              <a:rPr lang="en-US" baseline="0" dirty="0" smtClean="0">
                <a:latin typeface="Arial" pitchFamily="34" charset="0"/>
              </a:rPr>
              <a:t>Line 20 : Guidewire custom property is used to define type key</a:t>
            </a:r>
          </a:p>
          <a:p>
            <a:endParaRPr lang="en-US" baseline="0" dirty="0" smtClean="0">
              <a:latin typeface="Arial" pitchFamily="34" charset="0"/>
            </a:endParaRPr>
          </a:p>
          <a:p>
            <a:r>
              <a:rPr lang="en-US" b="1" baseline="0" dirty="0" smtClean="0">
                <a:latin typeface="Arial" pitchFamily="34" charset="0"/>
              </a:rPr>
              <a:t>Type-specific Keywords</a:t>
            </a:r>
          </a:p>
          <a:p>
            <a:r>
              <a:rPr lang="en-US" b="0" baseline="0" dirty="0" smtClean="0">
                <a:latin typeface="Arial" pitchFamily="34" charset="0"/>
              </a:rPr>
              <a:t>The type keyword is fundamental to JSON schema. It specifies datatype of schema, json schemas defines following basic types : string, integer, object, array, Boolean, Null, numeric types</a:t>
            </a:r>
          </a:p>
          <a:p>
            <a:endParaRPr lang="en-US" b="0" baseline="0" dirty="0" smtClean="0">
              <a:latin typeface="Arial" pitchFamily="34" charset="0"/>
            </a:endParaRPr>
          </a:p>
          <a:p>
            <a:r>
              <a:rPr lang="en-US" b="1" baseline="0" dirty="0" smtClean="0">
                <a:latin typeface="Arial" pitchFamily="34" charset="0"/>
              </a:rPr>
              <a:t>About Nulls</a:t>
            </a:r>
          </a:p>
          <a:p>
            <a:pPr marL="171450" indent="-171450">
              <a:buFont typeface="Arial" panose="020B0604020202020204" pitchFamily="34" charset="0"/>
              <a:buChar char="•"/>
            </a:pPr>
            <a:r>
              <a:rPr lang="en-US" b="0" baseline="0" dirty="0" smtClean="0">
                <a:latin typeface="Arial" pitchFamily="34" charset="0"/>
              </a:rPr>
              <a:t>JSON has 3 states: null, non-null and undefined. </a:t>
            </a:r>
          </a:p>
          <a:p>
            <a:pPr marL="171450" indent="-171450">
              <a:buFont typeface="Arial" panose="020B0604020202020204" pitchFamily="34" charset="0"/>
              <a:buChar char="•"/>
            </a:pPr>
            <a:r>
              <a:rPr lang="en-US" b="0" baseline="0" dirty="0" smtClean="0">
                <a:latin typeface="Arial" pitchFamily="34" charset="0"/>
              </a:rPr>
              <a:t>As a general rule it considers null value as undefined</a:t>
            </a:r>
          </a:p>
          <a:p>
            <a:pPr marL="171450" indent="-171450">
              <a:buFont typeface="Arial" panose="020B0604020202020204" pitchFamily="34" charset="0"/>
              <a:buChar char="•"/>
            </a:pPr>
            <a:r>
              <a:rPr lang="en-US" b="0" baseline="0" dirty="0" smtClean="0">
                <a:latin typeface="Arial" pitchFamily="34" charset="0"/>
              </a:rPr>
              <a:t>By default,</a:t>
            </a:r>
          </a:p>
          <a:p>
            <a:pPr marL="514350" lvl="1" indent="-171450">
              <a:buFont typeface="Arial" panose="020B0604020202020204" pitchFamily="34" charset="0"/>
              <a:buChar char="•"/>
            </a:pPr>
            <a:r>
              <a:rPr lang="en-US" b="0" baseline="0" dirty="0" smtClean="0">
                <a:latin typeface="Arial" pitchFamily="34" charset="0"/>
              </a:rPr>
              <a:t>JSON schema properties are not nullable.</a:t>
            </a:r>
          </a:p>
          <a:p>
            <a:pPr marL="514350" lvl="1" indent="-171450">
              <a:buFont typeface="Arial" panose="020B0604020202020204" pitchFamily="34" charset="0"/>
              <a:buChar char="•"/>
            </a:pPr>
            <a:r>
              <a:rPr lang="en-US" b="0" baseline="0" dirty="0" smtClean="0">
                <a:latin typeface="Arial" pitchFamily="34" charset="0"/>
              </a:rPr>
              <a:t>On output, null properties are omitted. This can be overridden by </a:t>
            </a:r>
            <a:r>
              <a:rPr lang="en-US" b="0" baseline="0" dirty="0" err="1" smtClean="0">
                <a:latin typeface="Arial" pitchFamily="34" charset="0"/>
              </a:rPr>
              <a:t>JsonSerialization</a:t>
            </a:r>
            <a:r>
              <a:rPr lang="en-US" b="0" baseline="0" dirty="0" smtClean="0">
                <a:latin typeface="Arial" pitchFamily="34" charset="0"/>
              </a:rPr>
              <a:t> options, or by x-</a:t>
            </a:r>
            <a:r>
              <a:rPr lang="en-US" b="0" baseline="0" dirty="0" err="1" smtClean="0">
                <a:latin typeface="Arial" pitchFamily="34" charset="0"/>
              </a:rPr>
              <a:t>gw</a:t>
            </a:r>
            <a:r>
              <a:rPr lang="en-US" b="0" baseline="0" dirty="0" smtClean="0">
                <a:latin typeface="Arial" pitchFamily="34" charset="0"/>
              </a:rPr>
              <a:t>-serialization in Swagger schema. This should be done with care.</a:t>
            </a:r>
          </a:p>
          <a:p>
            <a:pPr marL="514350" lvl="1" indent="-171450">
              <a:buFont typeface="Arial" panose="020B0604020202020204" pitchFamily="34" charset="0"/>
              <a:buChar char="•"/>
            </a:pPr>
            <a:r>
              <a:rPr lang="en-US" b="0" baseline="0" dirty="0" smtClean="0">
                <a:latin typeface="Arial" pitchFamily="34" charset="0"/>
              </a:rPr>
              <a:t>On input, explicitly null properties are not allowed. To allow this you have to specify “x-</a:t>
            </a:r>
            <a:r>
              <a:rPr lang="en-US" b="0" baseline="0" dirty="0" err="1" smtClean="0">
                <a:latin typeface="Arial" pitchFamily="34" charset="0"/>
              </a:rPr>
              <a:t>gw</a:t>
            </a:r>
            <a:r>
              <a:rPr lang="en-US" b="0" baseline="0" dirty="0" smtClean="0">
                <a:latin typeface="Arial" pitchFamily="34" charset="0"/>
              </a:rPr>
              <a:t>-</a:t>
            </a:r>
            <a:r>
              <a:rPr lang="en-US" b="0" baseline="0" dirty="0" err="1" smtClean="0">
                <a:latin typeface="Arial" pitchFamily="34" charset="0"/>
              </a:rPr>
              <a:t>nullable</a:t>
            </a:r>
            <a:r>
              <a:rPr lang="en-US" b="0" baseline="0" dirty="0" smtClean="0">
                <a:latin typeface="Arial" pitchFamily="34" charset="0"/>
              </a:rPr>
              <a:t>” : “true” on the property.</a:t>
            </a:r>
          </a:p>
          <a:p>
            <a:pPr marL="514350" lvl="1" indent="-171450">
              <a:buFont typeface="Arial" panose="020B0604020202020204" pitchFamily="34" charset="0"/>
              <a:buChar char="•"/>
            </a:pPr>
            <a:endParaRPr lang="en-US" b="0" baseline="0" dirty="0" smtClean="0">
              <a:latin typeface="Arial" pitchFamily="34" charset="0"/>
            </a:endParaRPr>
          </a:p>
          <a:p>
            <a:pPr marL="171450" indent="-171450">
              <a:buFont typeface="Arial" panose="020B0604020202020204" pitchFamily="34" charset="0"/>
              <a:buChar char="•"/>
            </a:pPr>
            <a:endParaRPr lang="en-US" b="0" baseline="0" dirty="0" smtClean="0">
              <a:latin typeface="Arial" pitchFamily="34" charset="0"/>
            </a:endParaRPr>
          </a:p>
        </p:txBody>
      </p:sp>
      <p:sp>
        <p:nvSpPr>
          <p:cNvPr id="4" name="Slide Number Placeholder 3"/>
          <p:cNvSpPr>
            <a:spLocks noGrp="1"/>
          </p:cNvSpPr>
          <p:nvPr>
            <p:ph type="sldNum" sz="quarter" idx="5"/>
          </p:nvPr>
        </p:nvSpPr>
        <p:spPr/>
        <p:txBody>
          <a:bodyPr/>
          <a:lstStyle/>
          <a:p>
            <a:pPr>
              <a:defRPr/>
            </a:pPr>
            <a:r>
              <a:rPr lang="en-US" altLang="en-US" dirty="0"/>
              <a:t>	  </a:t>
            </a:r>
            <a:r>
              <a:rPr lang="en-US" dirty="0"/>
              <a:t>Introduction to the Guidewire </a:t>
            </a:r>
            <a:r>
              <a:rPr lang="en-US" dirty="0" smtClean="0"/>
              <a:t>8.0 Releases - </a:t>
            </a:r>
            <a:fld id="{A8D045CE-4F6E-4FD7-9EC5-1A8550823B38}" type="slidenum">
              <a:rPr lang="en-US" altLang="en-US"/>
              <a:pPr>
                <a:defRPr/>
              </a:pPr>
              <a:t>10</a:t>
            </a:fld>
            <a:endParaRPr lang="en-US" altLang="en-US" dirty="0"/>
          </a:p>
        </p:txBody>
      </p:sp>
      <p:sp>
        <p:nvSpPr>
          <p:cNvPr id="5" name="Header Placeholder 4"/>
          <p:cNvSpPr>
            <a:spLocks noGrp="1"/>
          </p:cNvSpPr>
          <p:nvPr>
            <p:ph type="hdr" sz="quarter"/>
          </p:nvPr>
        </p:nvSpPr>
        <p:spPr/>
        <p:txBody>
          <a:bodyPr/>
          <a:lstStyle/>
          <a:p>
            <a:pPr>
              <a:defRPr/>
            </a:pPr>
            <a:r>
              <a:rPr lang="en-US" altLang="en-US" dirty="0" smtClean="0"/>
              <a:t>	</a:t>
            </a:r>
            <a:endParaRPr lang="en-US" dirty="0"/>
          </a:p>
        </p:txBody>
      </p:sp>
    </p:spTree>
    <p:extLst>
      <p:ext uri="{BB962C8B-B14F-4D97-AF65-F5344CB8AC3E}">
        <p14:creationId xmlns:p14="http://schemas.microsoft.com/office/powerpoint/2010/main" val="127581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latin typeface="Arial" pitchFamily="34" charset="0"/>
              </a:rPr>
              <a:t>Code Example</a:t>
            </a:r>
          </a:p>
          <a:p>
            <a:r>
              <a:rPr lang="en-US" b="0" dirty="0" smtClean="0">
                <a:latin typeface="Arial" pitchFamily="34" charset="0"/>
              </a:rPr>
              <a:t>Line 3- Custom import </a:t>
            </a:r>
            <a:r>
              <a:rPr lang="en-US" b="0" baseline="0" dirty="0" smtClean="0">
                <a:latin typeface="Arial" pitchFamily="34" charset="0"/>
              </a:rPr>
              <a:t> property to reference other schemas</a:t>
            </a:r>
          </a:p>
          <a:p>
            <a:r>
              <a:rPr lang="en-US" b="0" baseline="0" dirty="0" smtClean="0">
                <a:latin typeface="Arial" pitchFamily="34" charset="0"/>
              </a:rPr>
              <a:t>Line 4 and 5 – schema aliases and their path</a:t>
            </a:r>
          </a:p>
          <a:p>
            <a:r>
              <a:rPr lang="en-US" b="0" baseline="0" dirty="0" smtClean="0">
                <a:latin typeface="Arial" pitchFamily="34" charset="0"/>
              </a:rPr>
              <a:t>Line 23  : Object property is defined and references the imported schema. Imported schema is reference with #</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b="0" baseline="0" dirty="0" smtClean="0">
                <a:latin typeface="Arial" pitchFamily="34" charset="0"/>
              </a:rPr>
              <a:t>Line 25  : Array property is defined and references the imported schema.</a:t>
            </a:r>
          </a:p>
          <a:p>
            <a:pPr marL="0" marR="0" lvl="0" indent="0" algn="l" defTabSz="914400" rtl="0" eaLnBrk="0" fontAlgn="base" latinLnBrk="0" hangingPunct="0">
              <a:lnSpc>
                <a:spcPct val="100000"/>
              </a:lnSpc>
              <a:spcBef>
                <a:spcPct val="10000"/>
              </a:spcBef>
              <a:spcAft>
                <a:spcPct val="0"/>
              </a:spcAft>
              <a:buClrTx/>
              <a:buSzTx/>
              <a:buFontTx/>
              <a:buNone/>
              <a:tabLst/>
              <a:defRPr/>
            </a:pPr>
            <a:endParaRPr lang="en-US" b="0" baseline="0" dirty="0" smtClean="0">
              <a:latin typeface="Arial" pitchFamily="34" charset="0"/>
            </a:endParaRPr>
          </a:p>
          <a:p>
            <a:pPr marL="0" marR="0" lvl="0" indent="0" algn="l" defTabSz="914400" rtl="0" eaLnBrk="0" fontAlgn="base" latinLnBrk="0" hangingPunct="0">
              <a:lnSpc>
                <a:spcPct val="100000"/>
              </a:lnSpc>
              <a:spcBef>
                <a:spcPct val="10000"/>
              </a:spcBef>
              <a:spcAft>
                <a:spcPct val="0"/>
              </a:spcAft>
              <a:buClrTx/>
              <a:buSzTx/>
              <a:buFontTx/>
              <a:buNone/>
              <a:tabLst/>
              <a:defRPr/>
            </a:pPr>
            <a:r>
              <a:rPr lang="en-US" b="1" baseline="0" dirty="0" smtClean="0">
                <a:latin typeface="Arial" pitchFamily="34" charset="0"/>
              </a:rPr>
              <a:t>Imports and Combine</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sz="1000" b="0" i="0" u="none" strike="noStrike" kern="1200" dirty="0" smtClean="0">
                <a:solidFill>
                  <a:schemeClr val="tx1"/>
                </a:solidFill>
                <a:effectLst/>
                <a:latin typeface="Arial" charset="0"/>
                <a:ea typeface="+mn-ea"/>
                <a:cs typeface="+mn-cs"/>
              </a:rPr>
              <a:t>Import and combine both provide units of reuse. A code analogy would be that the combine instruction is the equivalent of </a:t>
            </a:r>
            <a:r>
              <a:rPr lang="en-US" sz="1000" b="0" i="0" u="none" strike="noStrike" kern="1200" dirty="0" err="1" smtClean="0">
                <a:solidFill>
                  <a:schemeClr val="tx1"/>
                </a:solidFill>
                <a:effectLst/>
                <a:latin typeface="Arial" charset="0"/>
                <a:ea typeface="+mn-ea"/>
                <a:cs typeface="+mn-cs"/>
              </a:rPr>
              <a:t>subclassing</a:t>
            </a:r>
            <a:r>
              <a:rPr lang="en-US" sz="1000" b="0" i="0" u="none" strike="noStrike" kern="1200" dirty="0" smtClean="0">
                <a:solidFill>
                  <a:schemeClr val="tx1"/>
                </a:solidFill>
                <a:effectLst/>
                <a:latin typeface="Arial" charset="0"/>
                <a:ea typeface="+mn-ea"/>
                <a:cs typeface="+mn-cs"/>
              </a:rPr>
              <a:t> a given class while the import instruction is the equivalent of merely referencing that class in arguments or return types. </a:t>
            </a:r>
          </a:p>
          <a:p>
            <a:pPr marL="171450" marR="0" lvl="0"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sz="1000" b="1" i="0" u="none" strike="noStrike" kern="1200" dirty="0" smtClean="0">
                <a:solidFill>
                  <a:schemeClr val="tx1"/>
                </a:solidFill>
                <a:effectLst/>
                <a:latin typeface="Arial" charset="0"/>
                <a:ea typeface="+mn-ea"/>
                <a:cs typeface="+mn-cs"/>
              </a:rPr>
              <a:t>Imports</a:t>
            </a:r>
            <a:r>
              <a:rPr lang="en-US" sz="1000" b="0" i="0" u="none" strike="noStrike" kern="1200" dirty="0" smtClean="0">
                <a:solidFill>
                  <a:schemeClr val="tx1"/>
                </a:solidFill>
                <a:effectLst/>
                <a:latin typeface="Arial" charset="0"/>
                <a:ea typeface="+mn-ea"/>
                <a:cs typeface="+mn-cs"/>
              </a:rPr>
              <a:t> always exist in a separate logical namespace. If A imports B, definitions in A and B that have the same name are still two different types.</a:t>
            </a:r>
          </a:p>
          <a:p>
            <a:pPr marL="171450" marR="0" lvl="0"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sz="1000" b="1" i="0" u="none" strike="noStrike" kern="1200" dirty="0" smtClean="0">
                <a:solidFill>
                  <a:schemeClr val="tx1"/>
                </a:solidFill>
                <a:effectLst/>
                <a:latin typeface="Arial" charset="0"/>
                <a:ea typeface="+mn-ea"/>
                <a:cs typeface="+mn-cs"/>
              </a:rPr>
              <a:t>Combines</a:t>
            </a:r>
            <a:r>
              <a:rPr lang="en-US" sz="1000" b="0" i="0" u="none" strike="noStrike" kern="1200" dirty="0" smtClean="0">
                <a:solidFill>
                  <a:schemeClr val="tx1"/>
                </a:solidFill>
                <a:effectLst/>
                <a:latin typeface="Arial" charset="0"/>
                <a:ea typeface="+mn-ea"/>
                <a:cs typeface="+mn-cs"/>
              </a:rPr>
              <a:t>, on other hand exist in a single namespace. That is, if A combines B, definitions in A that have the same name as definitions in B are combined together to produce a single definition. </a:t>
            </a:r>
          </a:p>
          <a:p>
            <a:pPr marL="0" marR="0" lvl="0" indent="0" algn="l" defTabSz="914400" rtl="0" eaLnBrk="0" fontAlgn="base" latinLnBrk="0" hangingPunct="0">
              <a:lnSpc>
                <a:spcPct val="100000"/>
              </a:lnSpc>
              <a:spcBef>
                <a:spcPct val="10000"/>
              </a:spcBef>
              <a:spcAft>
                <a:spcPct val="0"/>
              </a:spcAft>
              <a:buClrTx/>
              <a:buSzTx/>
              <a:buFont typeface="Arial" panose="020B0604020202020204" pitchFamily="34" charset="0"/>
              <a:buNone/>
              <a:tabLst/>
              <a:defRPr/>
            </a:pPr>
            <a:r>
              <a:rPr lang="en-US" sz="1000" b="0" i="0" u="none" strike="noStrike" kern="1200" dirty="0" smtClean="0">
                <a:solidFill>
                  <a:schemeClr val="tx1"/>
                </a:solidFill>
                <a:effectLst/>
                <a:latin typeface="Arial" charset="0"/>
                <a:ea typeface="+mn-ea"/>
                <a:cs typeface="+mn-cs"/>
              </a:rPr>
              <a:t>From the point of view of downstream systems, everything ends up merged together anyway. Hence, the choice between the import instruction and the combine instruction really comes down to whether you want definitions with the same name to be merged together or not. When you are logically extending a schema, such as creating a customer-specific schema that extends an out of the box schema, you will want the combination behavior. When you are referencing a shared schema authored by another team for another purpose, you probably do not want that behavior. In this case, keep the namespaces separate so that you do not have to worry about name conflicts producing unexpected results.</a:t>
            </a:r>
            <a:endParaRPr lang="en-US" b="1" baseline="0" dirty="0" smtClean="0">
              <a:latin typeface="Arial" pitchFamily="34" charset="0"/>
            </a:endParaRPr>
          </a:p>
          <a:p>
            <a:endParaRPr lang="en-US" b="0" baseline="0" dirty="0" smtClean="0">
              <a:latin typeface="Arial" pitchFamily="34" charset="0"/>
            </a:endParaRPr>
          </a:p>
          <a:p>
            <a:endParaRPr lang="en-US" b="0" dirty="0" smtClean="0">
              <a:latin typeface="Arial" pitchFamily="34" charset="0"/>
            </a:endParaRPr>
          </a:p>
        </p:txBody>
      </p:sp>
      <p:sp>
        <p:nvSpPr>
          <p:cNvPr id="4" name="Slide Number Placeholder 3"/>
          <p:cNvSpPr>
            <a:spLocks noGrp="1"/>
          </p:cNvSpPr>
          <p:nvPr>
            <p:ph type="sldNum" sz="quarter" idx="5"/>
          </p:nvPr>
        </p:nvSpPr>
        <p:spPr/>
        <p:txBody>
          <a:bodyPr/>
          <a:lstStyle/>
          <a:p>
            <a:pPr>
              <a:defRPr/>
            </a:pPr>
            <a:r>
              <a:rPr lang="en-US" altLang="en-US" dirty="0"/>
              <a:t>	  </a:t>
            </a:r>
            <a:r>
              <a:rPr lang="en-US" dirty="0"/>
              <a:t>Introduction to the Guidewire </a:t>
            </a:r>
            <a:r>
              <a:rPr lang="en-US" dirty="0" smtClean="0"/>
              <a:t>8.0 Releases - </a:t>
            </a:r>
            <a:fld id="{A8D045CE-4F6E-4FD7-9EC5-1A8550823B38}" type="slidenum">
              <a:rPr lang="en-US" altLang="en-US"/>
              <a:pPr>
                <a:defRPr/>
              </a:pPr>
              <a:t>11</a:t>
            </a:fld>
            <a:endParaRPr lang="en-US" altLang="en-US" dirty="0"/>
          </a:p>
        </p:txBody>
      </p:sp>
      <p:sp>
        <p:nvSpPr>
          <p:cNvPr id="5" name="Header Placeholder 4"/>
          <p:cNvSpPr>
            <a:spLocks noGrp="1"/>
          </p:cNvSpPr>
          <p:nvPr>
            <p:ph type="hdr" sz="quarter"/>
          </p:nvPr>
        </p:nvSpPr>
        <p:spPr/>
        <p:txBody>
          <a:bodyPr/>
          <a:lstStyle/>
          <a:p>
            <a:pPr>
              <a:defRPr/>
            </a:pPr>
            <a:r>
              <a:rPr lang="en-US" altLang="en-US" dirty="0" smtClean="0"/>
              <a:t>	</a:t>
            </a:r>
            <a:endParaRPr lang="en-US" dirty="0"/>
          </a:p>
        </p:txBody>
      </p:sp>
    </p:spTree>
    <p:extLst>
      <p:ext uri="{BB962C8B-B14F-4D97-AF65-F5344CB8AC3E}">
        <p14:creationId xmlns:p14="http://schemas.microsoft.com/office/powerpoint/2010/main" val="733133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lstStyle/>
          <a:p>
            <a:r>
              <a:rPr lang="en-US" sz="800" dirty="0" smtClean="0">
                <a:latin typeface="+mn-lt"/>
              </a:rPr>
              <a:t>Code example </a:t>
            </a:r>
          </a:p>
          <a:p>
            <a:endParaRPr lang="en-US" sz="800" dirty="0" smtClean="0">
              <a:latin typeface="+mn-lt"/>
            </a:endParaRPr>
          </a:p>
          <a:p>
            <a:r>
              <a:rPr lang="en-US" sz="800" b="1" dirty="0" smtClean="0">
                <a:latin typeface="+mn-lt"/>
              </a:rPr>
              <a:t>Line 2 </a:t>
            </a:r>
          </a:p>
          <a:p>
            <a:pPr marL="171450" indent="-171450">
              <a:buFont typeface="Arial" panose="020B0604020202020204" pitchFamily="34" charset="0"/>
              <a:buChar char="•"/>
            </a:pPr>
            <a:r>
              <a:rPr lang="en-US" sz="800" dirty="0" smtClean="0">
                <a:latin typeface="+mn-lt"/>
              </a:rPr>
              <a:t>Schema used by mapper file</a:t>
            </a:r>
          </a:p>
          <a:p>
            <a:r>
              <a:rPr lang="en-US" sz="800" b="1" dirty="0" smtClean="0">
                <a:latin typeface="+mn-lt"/>
              </a:rPr>
              <a:t>Line 3</a:t>
            </a:r>
          </a:p>
          <a:p>
            <a:pPr marL="171450" indent="-171450">
              <a:buFont typeface="Arial" panose="020B0604020202020204" pitchFamily="34" charset="0"/>
              <a:buChar char="•"/>
            </a:pPr>
            <a:r>
              <a:rPr lang="en-US" sz="800" dirty="0" smtClean="0">
                <a:latin typeface="+mn-lt"/>
              </a:rPr>
              <a:t>Import other mapper files</a:t>
            </a:r>
          </a:p>
          <a:p>
            <a:r>
              <a:rPr lang="en-US" sz="800" b="1" dirty="0" smtClean="0">
                <a:latin typeface="+mn-lt"/>
              </a:rPr>
              <a:t>Line 6</a:t>
            </a:r>
          </a:p>
          <a:p>
            <a:pPr marL="171450" indent="-171450">
              <a:buFont typeface="Arial" panose="020B0604020202020204" pitchFamily="34" charset="0"/>
              <a:buChar char="•"/>
            </a:pPr>
            <a:r>
              <a:rPr lang="en-US" sz="800" dirty="0" smtClean="0">
                <a:latin typeface="+mn-lt"/>
              </a:rPr>
              <a:t>Define each mapper file under </a:t>
            </a:r>
            <a:r>
              <a:rPr lang="en-US" sz="800" b="1" dirty="0" smtClean="0">
                <a:latin typeface="+mn-lt"/>
              </a:rPr>
              <a:t>mappers</a:t>
            </a:r>
          </a:p>
          <a:p>
            <a:endParaRPr lang="en-US" sz="800" dirty="0" smtClean="0">
              <a:latin typeface="+mn-lt"/>
            </a:endParaRPr>
          </a:p>
          <a:p>
            <a:r>
              <a:rPr lang="en-US" sz="800" dirty="0" smtClean="0">
                <a:latin typeface="+mn-lt"/>
              </a:rPr>
              <a:t>Just like schema files, mapping files are also named and versioned, and target a specific schema version</a:t>
            </a:r>
            <a:endParaRPr lang="en-US" sz="800" dirty="0">
              <a:latin typeface="+mn-lt"/>
            </a:endParaRPr>
          </a:p>
        </p:txBody>
      </p:sp>
      <p:sp>
        <p:nvSpPr>
          <p:cNvPr id="4" name="Slide Number Placeholder 3"/>
          <p:cNvSpPr>
            <a:spLocks noGrp="1"/>
          </p:cNvSpPr>
          <p:nvPr>
            <p:ph type="sldNum" sz="quarter" idx="10"/>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55505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lstStyle/>
          <a:p>
            <a:r>
              <a:rPr lang="en-US" sz="800" dirty="0" smtClean="0">
                <a:latin typeface="+mn-lt"/>
              </a:rPr>
              <a:t>Code Example</a:t>
            </a:r>
          </a:p>
          <a:p>
            <a:endParaRPr lang="en-US" sz="800" dirty="0" smtClean="0">
              <a:latin typeface="+mn-lt"/>
            </a:endParaRPr>
          </a:p>
          <a:p>
            <a:r>
              <a:rPr lang="en-US" sz="800" b="1" dirty="0" smtClean="0">
                <a:latin typeface="+mn-lt"/>
              </a:rPr>
              <a:t>Line 8</a:t>
            </a:r>
          </a:p>
          <a:p>
            <a:pPr marL="171450" indent="-171450">
              <a:buFont typeface="Arial" panose="020B0604020202020204" pitchFamily="34" charset="0"/>
              <a:buChar char="•"/>
            </a:pPr>
            <a:r>
              <a:rPr lang="en-US" sz="800" dirty="0" smtClean="0">
                <a:latin typeface="+mn-lt"/>
              </a:rPr>
              <a:t>Mapper name is defined</a:t>
            </a:r>
          </a:p>
          <a:p>
            <a:r>
              <a:rPr lang="en-US" sz="800" b="1" dirty="0" smtClean="0">
                <a:latin typeface="+mn-lt"/>
              </a:rPr>
              <a:t>Line 9</a:t>
            </a:r>
          </a:p>
          <a:p>
            <a:pPr marL="171450" indent="-171450">
              <a:buFont typeface="Arial" panose="020B0604020202020204" pitchFamily="34" charset="0"/>
              <a:buChar char="•"/>
            </a:pPr>
            <a:r>
              <a:rPr lang="en-US" sz="800" dirty="0" smtClean="0">
                <a:latin typeface="+mn-lt"/>
              </a:rPr>
              <a:t>Schema name reference</a:t>
            </a:r>
          </a:p>
          <a:p>
            <a:r>
              <a:rPr lang="en-US" sz="800" b="1" dirty="0" smtClean="0">
                <a:latin typeface="+mn-lt"/>
              </a:rPr>
              <a:t>Line 10</a:t>
            </a:r>
          </a:p>
          <a:p>
            <a:pPr marL="171450" indent="-171450">
              <a:buFont typeface="Arial" panose="020B0604020202020204" pitchFamily="34" charset="0"/>
              <a:buChar char="•"/>
            </a:pPr>
            <a:r>
              <a:rPr lang="en-US" sz="800" dirty="0" smtClean="0">
                <a:latin typeface="+mn-lt"/>
              </a:rPr>
              <a:t>Fully qualified class name where the data comes from</a:t>
            </a:r>
          </a:p>
          <a:p>
            <a:r>
              <a:rPr lang="en-US" sz="800" b="1" dirty="0" smtClean="0">
                <a:latin typeface="+mn-lt"/>
              </a:rPr>
              <a:t>Lines 12,15,19</a:t>
            </a:r>
          </a:p>
          <a:p>
            <a:pPr marL="171450" indent="-171450">
              <a:buFont typeface="Arial" panose="020B0604020202020204" pitchFamily="34" charset="0"/>
              <a:buChar char="•"/>
            </a:pPr>
            <a:r>
              <a:rPr lang="en-US" sz="800" dirty="0" smtClean="0">
                <a:latin typeface="+mn-lt"/>
              </a:rPr>
              <a:t>Scalar properties are defined</a:t>
            </a:r>
          </a:p>
          <a:p>
            <a:r>
              <a:rPr lang="en-US" sz="800" b="1" dirty="0" smtClean="0">
                <a:latin typeface="+mn-lt"/>
              </a:rPr>
              <a:t>Line 21</a:t>
            </a:r>
          </a:p>
          <a:p>
            <a:pPr marL="171450" indent="-171450">
              <a:buFont typeface="Arial" panose="020B0604020202020204" pitchFamily="34" charset="0"/>
              <a:buChar char="•"/>
            </a:pPr>
            <a:r>
              <a:rPr lang="en-US" sz="800" dirty="0" smtClean="0">
                <a:latin typeface="+mn-lt"/>
              </a:rPr>
              <a:t>Predicate property is evaluated before the path expression is evaluated</a:t>
            </a:r>
          </a:p>
          <a:p>
            <a:r>
              <a:rPr lang="en-US" sz="800" b="1" dirty="0" smtClean="0">
                <a:latin typeface="+mn-lt"/>
              </a:rPr>
              <a:t>Line 23</a:t>
            </a:r>
          </a:p>
          <a:p>
            <a:pPr marL="171450" indent="-171450">
              <a:buFont typeface="Arial" panose="020B0604020202020204" pitchFamily="34" charset="0"/>
              <a:buChar char="•"/>
            </a:pPr>
            <a:r>
              <a:rPr lang="en-US" sz="800" dirty="0" smtClean="0">
                <a:latin typeface="+mn-lt"/>
              </a:rPr>
              <a:t>Object property is defined and its corresponding mapper</a:t>
            </a:r>
          </a:p>
          <a:p>
            <a:r>
              <a:rPr lang="en-US" sz="800" b="1" dirty="0" smtClean="0">
                <a:latin typeface="+mn-lt"/>
              </a:rPr>
              <a:t>Line 27</a:t>
            </a:r>
          </a:p>
          <a:p>
            <a:pPr marL="171450" indent="-171450">
              <a:buFont typeface="Arial" panose="020B0604020202020204" pitchFamily="34" charset="0"/>
              <a:buChar char="•"/>
            </a:pPr>
            <a:r>
              <a:rPr lang="en-US" sz="800" dirty="0" smtClean="0">
                <a:latin typeface="+mn-lt"/>
              </a:rPr>
              <a:t>Array property is defined and its corresponding mapper.</a:t>
            </a:r>
          </a:p>
          <a:p>
            <a:endParaRPr lang="en-US" sz="800" dirty="0" smtClean="0">
              <a:latin typeface="+mn-lt"/>
            </a:endParaRPr>
          </a:p>
          <a:p>
            <a:r>
              <a:rPr lang="en-US" sz="800" b="1" dirty="0" smtClean="0">
                <a:latin typeface="+mn-lt"/>
              </a:rPr>
              <a:t>path</a:t>
            </a:r>
          </a:p>
          <a:p>
            <a:r>
              <a:rPr lang="en-US" sz="800" dirty="0" smtClean="0">
                <a:latin typeface="+mn-lt"/>
              </a:rPr>
              <a:t>Each mapping property must specify a "path“ expression, which is a Gosu expression that evaluates to the value that should be used as the output of that schema property. the path expression has a single symbol available to it, with a type equal to the mapper's root type and a name equal to the relative name of that type. For example, if the root type for the mapper is </a:t>
            </a:r>
            <a:r>
              <a:rPr lang="en-US" sz="800" dirty="0" err="1" smtClean="0">
                <a:latin typeface="+mn-lt"/>
              </a:rPr>
              <a:t>entity.Contact</a:t>
            </a:r>
            <a:r>
              <a:rPr lang="en-US" sz="800" dirty="0" smtClean="0">
                <a:latin typeface="+mn-lt"/>
              </a:rPr>
              <a:t>, the path expressions on the mapper's properties will have a single symbol named Contact with a type of </a:t>
            </a:r>
            <a:r>
              <a:rPr lang="en-US" sz="800" dirty="0" err="1" smtClean="0">
                <a:latin typeface="+mn-lt"/>
              </a:rPr>
              <a:t>entity.Contact</a:t>
            </a:r>
            <a:r>
              <a:rPr lang="en-US" sz="800" dirty="0" smtClean="0">
                <a:latin typeface="+mn-lt"/>
              </a:rPr>
              <a:t>. The path expression must evaluate to something appropriate for the referenced schema property:</a:t>
            </a:r>
          </a:p>
          <a:p>
            <a:endParaRPr lang="en-US" sz="800" dirty="0" smtClean="0">
              <a:latin typeface="+mn-lt"/>
            </a:endParaRPr>
          </a:p>
          <a:p>
            <a:r>
              <a:rPr lang="en-US" sz="800" dirty="0" smtClean="0">
                <a:latin typeface="+mn-lt"/>
              </a:rPr>
              <a:t>If the schema property is a scalar property, the path expression must evaluate to something listed as a "java Input Type", based on the schema property's type/format/x-</a:t>
            </a:r>
            <a:r>
              <a:rPr lang="en-US" sz="800" dirty="0" err="1" smtClean="0">
                <a:latin typeface="+mn-lt"/>
              </a:rPr>
              <a:t>gw</a:t>
            </a:r>
            <a:r>
              <a:rPr lang="en-US" sz="800" dirty="0" smtClean="0">
                <a:latin typeface="+mn-lt"/>
              </a:rPr>
              <a:t>-type. For example, if the schema type is "string" and the format is "date-time", the "path" expression must evaluate to something assignable to </a:t>
            </a:r>
            <a:r>
              <a:rPr lang="en-US" sz="800" dirty="0" err="1" smtClean="0">
                <a:latin typeface="+mn-lt"/>
              </a:rPr>
              <a:t>java.util.Date</a:t>
            </a:r>
            <a:endParaRPr lang="en-US" sz="800" dirty="0" smtClean="0">
              <a:latin typeface="+mn-lt"/>
            </a:endParaRPr>
          </a:p>
          <a:p>
            <a:endParaRPr lang="en-US" sz="800" dirty="0" smtClean="0">
              <a:latin typeface="+mn-lt"/>
            </a:endParaRPr>
          </a:p>
          <a:p>
            <a:r>
              <a:rPr lang="en-US" sz="800" dirty="0" smtClean="0">
                <a:latin typeface="+mn-lt"/>
              </a:rPr>
              <a:t>If the schema property is an array of scalars, the path expression must evaluate to an </a:t>
            </a:r>
            <a:r>
              <a:rPr lang="en-US" sz="800" dirty="0" err="1" smtClean="0">
                <a:latin typeface="+mn-lt"/>
              </a:rPr>
              <a:t>iterable</a:t>
            </a:r>
            <a:r>
              <a:rPr lang="en-US" sz="800" dirty="0" smtClean="0">
                <a:latin typeface="+mn-lt"/>
              </a:rPr>
              <a:t> or array whose elements can be inputs to the data conversion for the type of the schema property's items</a:t>
            </a:r>
          </a:p>
          <a:p>
            <a:endParaRPr lang="en-US" sz="800" dirty="0" smtClean="0">
              <a:latin typeface="+mn-lt"/>
            </a:endParaRPr>
          </a:p>
          <a:p>
            <a:r>
              <a:rPr lang="en-US" sz="800" dirty="0" smtClean="0">
                <a:latin typeface="+mn-lt"/>
              </a:rPr>
              <a:t>If the schema property is an object property, then the "mapper" property must be specified, and the path expression's return type must be assigned to the root type of the referenced mapper. For example, if the referenced mapper is address#/mappers/address and the Address mapper has root type of </a:t>
            </a:r>
            <a:r>
              <a:rPr lang="en-US" sz="800" dirty="0" err="1" smtClean="0">
                <a:latin typeface="+mn-lt"/>
              </a:rPr>
              <a:t>entity.Address</a:t>
            </a:r>
            <a:r>
              <a:rPr lang="en-US" sz="800" dirty="0" smtClean="0">
                <a:latin typeface="+mn-lt"/>
              </a:rPr>
              <a:t> , the path expression must evaluate to an </a:t>
            </a:r>
            <a:r>
              <a:rPr lang="en-US" sz="800" dirty="0" err="1" smtClean="0">
                <a:latin typeface="+mn-lt"/>
              </a:rPr>
              <a:t>entity.address</a:t>
            </a:r>
            <a:r>
              <a:rPr lang="en-US" sz="800" dirty="0" smtClean="0">
                <a:latin typeface="+mn-lt"/>
              </a:rPr>
              <a:t> or subtype thereof</a:t>
            </a:r>
          </a:p>
          <a:p>
            <a:endParaRPr lang="en-US" sz="800" dirty="0" smtClean="0">
              <a:latin typeface="+mn-lt"/>
            </a:endParaRPr>
          </a:p>
          <a:p>
            <a:r>
              <a:rPr lang="en-US" sz="800" dirty="0" smtClean="0">
                <a:latin typeface="+mn-lt"/>
              </a:rPr>
              <a:t>If the schema property is an object array property, then the mapper property must be specified, and the path expression must evaluate to an </a:t>
            </a:r>
            <a:r>
              <a:rPr lang="en-US" sz="800" dirty="0" err="1" smtClean="0">
                <a:latin typeface="+mn-lt"/>
              </a:rPr>
              <a:t>iterable</a:t>
            </a:r>
            <a:r>
              <a:rPr lang="en-US" sz="800" dirty="0" smtClean="0">
                <a:latin typeface="+mn-lt"/>
              </a:rPr>
              <a:t> or array whose elements can be assigned can be assigned to the root type of the referenced mapper</a:t>
            </a:r>
          </a:p>
          <a:p>
            <a:endParaRPr lang="en-US" sz="800" dirty="0" smtClean="0">
              <a:latin typeface="+mn-lt"/>
            </a:endParaRPr>
          </a:p>
          <a:p>
            <a:r>
              <a:rPr lang="en-US" sz="800" dirty="0" smtClean="0">
                <a:latin typeface="+mn-lt"/>
              </a:rPr>
              <a:t>There's no automatic coercion performed for path expressions; that means that if a schema property is of type "string" with no format or x-</a:t>
            </a:r>
            <a:r>
              <a:rPr lang="en-US" sz="800" dirty="0" err="1" smtClean="0">
                <a:latin typeface="+mn-lt"/>
              </a:rPr>
              <a:t>gw</a:t>
            </a:r>
            <a:r>
              <a:rPr lang="en-US" sz="800" dirty="0" smtClean="0">
                <a:latin typeface="+mn-lt"/>
              </a:rPr>
              <a:t>-type, the Gosu expression must actually to a </a:t>
            </a:r>
            <a:r>
              <a:rPr lang="en-US" sz="800" dirty="0" err="1" smtClean="0">
                <a:latin typeface="+mn-lt"/>
              </a:rPr>
              <a:t>java.lang.String</a:t>
            </a:r>
            <a:r>
              <a:rPr lang="en-US" sz="800" dirty="0" smtClean="0">
                <a:latin typeface="+mn-lt"/>
              </a:rPr>
              <a:t>, with no implicit of </a:t>
            </a:r>
            <a:r>
              <a:rPr lang="en-US" sz="800" dirty="0" err="1" smtClean="0">
                <a:latin typeface="+mn-lt"/>
              </a:rPr>
              <a:t>toString</a:t>
            </a:r>
            <a:r>
              <a:rPr lang="en-US" sz="800" dirty="0" smtClean="0">
                <a:latin typeface="+mn-lt"/>
              </a:rPr>
              <a:t> or anything similar. The path expression can be an arbitrary Gosu expression, so there's no restriction that it be a simple property path: it could also be a method call or static method call or other complex expression.</a:t>
            </a:r>
          </a:p>
          <a:p>
            <a:endParaRPr lang="en-US" sz="800" dirty="0" smtClean="0">
              <a:latin typeface="+mn-lt"/>
            </a:endParaRPr>
          </a:p>
          <a:p>
            <a:r>
              <a:rPr lang="en-US" sz="800" b="1" dirty="0" smtClean="0">
                <a:latin typeface="+mn-lt"/>
              </a:rPr>
              <a:t>predicate</a:t>
            </a:r>
          </a:p>
          <a:p>
            <a:r>
              <a:rPr lang="en-US" sz="800" dirty="0" smtClean="0">
                <a:latin typeface="+mn-lt"/>
              </a:rPr>
              <a:t>The predicate property is an optional </a:t>
            </a:r>
            <a:r>
              <a:rPr lang="en-US" sz="800" dirty="0" err="1" smtClean="0">
                <a:latin typeface="+mn-lt"/>
              </a:rPr>
              <a:t>boolean</a:t>
            </a:r>
            <a:r>
              <a:rPr lang="en-US" sz="800" dirty="0" smtClean="0">
                <a:latin typeface="+mn-lt"/>
              </a:rPr>
              <a:t> (or Boolean) predicate that will be evaluated before the path expression is evaluated. The "predicate" property can return a </a:t>
            </a:r>
            <a:r>
              <a:rPr lang="en-US" sz="800" dirty="0" err="1" smtClean="0">
                <a:latin typeface="+mn-lt"/>
              </a:rPr>
              <a:t>java.lang.Boolean</a:t>
            </a:r>
            <a:r>
              <a:rPr lang="en-US" sz="800" dirty="0" smtClean="0">
                <a:latin typeface="+mn-lt"/>
              </a:rPr>
              <a:t>, but should never null at runtime. If predicate expression evaluates to false, the path expression will never be evaluated, ant the property will be treated as having a null value. The predicate expression can be used to guard the evaluation of the path expression, which can be useful if the output schema flattens subtype columns onto single object. For example, the output schema for Contact may define properties </a:t>
            </a:r>
            <a:r>
              <a:rPr lang="en-US" sz="800" dirty="0" err="1" smtClean="0">
                <a:latin typeface="+mn-lt"/>
              </a:rPr>
              <a:t>firstName</a:t>
            </a:r>
            <a:r>
              <a:rPr lang="en-US" sz="800" dirty="0" smtClean="0">
                <a:latin typeface="+mn-lt"/>
              </a:rPr>
              <a:t> and </a:t>
            </a:r>
            <a:r>
              <a:rPr lang="en-US" sz="800" dirty="0" err="1" smtClean="0">
                <a:latin typeface="+mn-lt"/>
              </a:rPr>
              <a:t>lastName</a:t>
            </a:r>
            <a:r>
              <a:rPr lang="en-US" sz="800" dirty="0" smtClean="0">
                <a:latin typeface="+mn-lt"/>
              </a:rPr>
              <a:t>; in that case, the predicate expression might Contact </a:t>
            </a:r>
            <a:r>
              <a:rPr lang="en-US" sz="800" dirty="0" err="1" smtClean="0">
                <a:latin typeface="+mn-lt"/>
              </a:rPr>
              <a:t>typeis</a:t>
            </a:r>
            <a:r>
              <a:rPr lang="en-US" sz="800" dirty="0" smtClean="0">
                <a:latin typeface="+mn-lt"/>
              </a:rPr>
              <a:t> Person and the path expression could be (Contact as Person).</a:t>
            </a:r>
            <a:r>
              <a:rPr lang="en-US" sz="800" dirty="0" err="1" smtClean="0">
                <a:latin typeface="+mn-lt"/>
              </a:rPr>
              <a:t>FirstName</a:t>
            </a:r>
            <a:r>
              <a:rPr lang="en-US" sz="800" dirty="0" smtClean="0">
                <a:latin typeface="+mn-lt"/>
              </a:rPr>
              <a:t>. Using the predicate expression in the way allows the path expression to downcast directly instead of using a more awkward ternary expression, i.e. "Contact </a:t>
            </a:r>
            <a:r>
              <a:rPr lang="en-US" sz="800" dirty="0" err="1" smtClean="0">
                <a:latin typeface="+mn-lt"/>
              </a:rPr>
              <a:t>typeis</a:t>
            </a:r>
            <a:r>
              <a:rPr lang="en-US" sz="800" dirty="0" smtClean="0">
                <a:latin typeface="+mn-lt"/>
              </a:rPr>
              <a:t> Person?(Contact as person).</a:t>
            </a:r>
            <a:r>
              <a:rPr lang="en-US" sz="800" dirty="0" err="1" smtClean="0">
                <a:latin typeface="+mn-lt"/>
              </a:rPr>
              <a:t>FirstName:null</a:t>
            </a:r>
            <a:r>
              <a:rPr lang="en-US" sz="800" dirty="0" smtClean="0">
                <a:latin typeface="+mn-lt"/>
              </a:rPr>
              <a:t>".</a:t>
            </a:r>
          </a:p>
          <a:p>
            <a:endParaRPr lang="en-US" sz="800" dirty="0" smtClean="0">
              <a:latin typeface="+mn-lt"/>
            </a:endParaRPr>
          </a:p>
          <a:p>
            <a:r>
              <a:rPr lang="en-US" sz="800" b="1" dirty="0" smtClean="0">
                <a:latin typeface="+mn-lt"/>
              </a:rPr>
              <a:t>mapper</a:t>
            </a:r>
          </a:p>
          <a:p>
            <a:r>
              <a:rPr lang="en-US" sz="800" dirty="0" smtClean="0">
                <a:latin typeface="+mn-lt"/>
              </a:rPr>
              <a:t>The mapper property defines the mapper to use when the schema property is an object or array of objects. Mapper references use a similar syntax to schema property references, and are either of the form #/mappers/&lt;name&gt; when the referenced mapper is defined in the same mapping, or &lt;alias&gt;#/mappers/&gt;name&gt; when mapper is in the mapping imported as &lt;alias&gt;.the referenced mapper must have a </a:t>
            </a:r>
            <a:r>
              <a:rPr lang="en-US" sz="800" dirty="0" err="1" smtClean="0">
                <a:latin typeface="+mn-lt"/>
              </a:rPr>
              <a:t>schemaDefinition</a:t>
            </a:r>
            <a:r>
              <a:rPr lang="en-US" sz="800" dirty="0" smtClean="0">
                <a:latin typeface="+mn-lt"/>
              </a:rPr>
              <a:t> property that matches the $ref on the schema property. For example, supposed that the Contact JSON Schema definition has a </a:t>
            </a:r>
            <a:r>
              <a:rPr lang="en-US" sz="800" dirty="0" err="1" smtClean="0">
                <a:latin typeface="+mn-lt"/>
              </a:rPr>
              <a:t>primaryAddress</a:t>
            </a:r>
            <a:r>
              <a:rPr lang="en-US" sz="800" dirty="0" smtClean="0">
                <a:latin typeface="+mn-lt"/>
              </a:rPr>
              <a:t> schema property with a $ref of address#/definitions/Address. In that case, the </a:t>
            </a:r>
            <a:r>
              <a:rPr lang="en-US" sz="800" dirty="0" err="1" smtClean="0">
                <a:latin typeface="+mn-lt"/>
              </a:rPr>
              <a:t>primaryAddress</a:t>
            </a:r>
            <a:r>
              <a:rPr lang="en-US" sz="800" dirty="0" smtClean="0">
                <a:latin typeface="+mn-lt"/>
              </a:rPr>
              <a:t> property on the Contact Integration Mapper should have a mapper import reference </a:t>
            </a:r>
            <a:r>
              <a:rPr lang="en-US" sz="800" dirty="0" err="1" smtClean="0">
                <a:latin typeface="+mn-lt"/>
              </a:rPr>
              <a:t>schemaDefinition</a:t>
            </a:r>
            <a:r>
              <a:rPr lang="en-US" sz="800" dirty="0" smtClean="0">
                <a:latin typeface="+mn-lt"/>
              </a:rPr>
              <a:t> as address. </a:t>
            </a:r>
          </a:p>
        </p:txBody>
      </p:sp>
      <p:sp>
        <p:nvSpPr>
          <p:cNvPr id="4" name="Slide Number Placeholder 3"/>
          <p:cNvSpPr>
            <a:spLocks noGrp="1"/>
          </p:cNvSpPr>
          <p:nvPr>
            <p:ph type="sldNum" sz="quarter" idx="10"/>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22506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lstStyle/>
          <a:p>
            <a:r>
              <a:rPr lang="en-US" sz="800" dirty="0" smtClean="0">
                <a:latin typeface="+mn-lt"/>
              </a:rPr>
              <a:t>It's often the case that two different external systems need substantially similar views of the same data, but not exactly the same thing. This could be two different downstream systems that both need policy information, but which might need different levels of detail about coverage options or transaction data, or it could be two different client systems that want to display a different subset of the data to their end-users. A developer putting together an integration message or building a REST API thus has to decide if they want to create a single schema that represents the superset of data that all such systems might want, or if they should create separate, more targeted schemas that only contain exactly what a particular system or use case requires. Having a single shared schema reduces implementation and maintenance costs, potentially dramatically, but comes at the cost of fetching, processing , and serializing out data that a given client is simply going to ignore.</a:t>
            </a:r>
          </a:p>
          <a:p>
            <a:endParaRPr lang="en-US" sz="800" dirty="0" smtClean="0">
              <a:latin typeface="+mn-lt"/>
            </a:endParaRPr>
          </a:p>
          <a:p>
            <a:r>
              <a:rPr lang="en-US" sz="800" dirty="0" smtClean="0">
                <a:latin typeface="+mn-lt"/>
              </a:rPr>
              <a:t>The Integration Views feature attempts to meet these competing needs by allowing you to specify a filter that gets applied to a schema and mapping file, which serves as a whitelist of the properties that should be included for a given invocation of a mapping file. Properties that are not included as part of a given filter never have their associate path or predicate expressions executed and will not end up in the resulting </a:t>
            </a:r>
            <a:r>
              <a:rPr lang="en-US" sz="800" dirty="0" err="1" smtClean="0">
                <a:latin typeface="+mn-lt"/>
              </a:rPr>
              <a:t>TransformResult</a:t>
            </a:r>
            <a:r>
              <a:rPr lang="en-US" sz="800" dirty="0" smtClean="0">
                <a:latin typeface="+mn-lt"/>
              </a:rPr>
              <a:t> object at all, saving the cost of fetching, processing, and serializing the associated data.</a:t>
            </a:r>
          </a:p>
          <a:p>
            <a:endParaRPr lang="en-US" sz="800" dirty="0" smtClean="0">
              <a:latin typeface="+mn-lt"/>
            </a:endParaRPr>
          </a:p>
          <a:p>
            <a:r>
              <a:rPr lang="en-US" sz="800" dirty="0" smtClean="0">
                <a:latin typeface="+mn-lt"/>
              </a:rPr>
              <a:t>Filters can also be used to create a stable "view" on top of a given schema; by whitelisting the properties desired, newly-added properties will never show up unless the filter is explicitly changed.</a:t>
            </a:r>
          </a:p>
          <a:p>
            <a:endParaRPr lang="en-US" sz="800" dirty="0" smtClean="0">
              <a:latin typeface="+mn-lt"/>
            </a:endParaRPr>
          </a:p>
          <a:p>
            <a:r>
              <a:rPr lang="en-US" sz="800" b="1" dirty="0" smtClean="0">
                <a:latin typeface="+mn-lt"/>
              </a:rPr>
              <a:t>Differences from </a:t>
            </a:r>
            <a:r>
              <a:rPr lang="en-US" sz="800" b="1" dirty="0" err="1" smtClean="0">
                <a:latin typeface="+mn-lt"/>
              </a:rPr>
              <a:t>GraphQL</a:t>
            </a:r>
            <a:r>
              <a:rPr lang="en-US" sz="800" b="1" dirty="0" smtClean="0">
                <a:latin typeface="+mn-lt"/>
              </a:rPr>
              <a:t> Proper</a:t>
            </a:r>
          </a:p>
          <a:p>
            <a:endParaRPr lang="en-US" sz="800" dirty="0" smtClean="0">
              <a:latin typeface="+mn-lt"/>
            </a:endParaRPr>
          </a:p>
          <a:p>
            <a:r>
              <a:rPr lang="en-US" sz="800" dirty="0" smtClean="0">
                <a:latin typeface="+mn-lt"/>
              </a:rPr>
              <a:t>While our filter syntax leverages the basics of </a:t>
            </a:r>
            <a:r>
              <a:rPr lang="en-US" sz="800" dirty="0" err="1" smtClean="0">
                <a:latin typeface="+mn-lt"/>
              </a:rPr>
              <a:t>GraphQL</a:t>
            </a:r>
            <a:r>
              <a:rPr lang="en-US" sz="800" dirty="0" smtClean="0">
                <a:latin typeface="+mn-lt"/>
              </a:rPr>
              <a:t> for the syntax of basic field selection, nested objects/arrays, and fragments, it differs from </a:t>
            </a:r>
            <a:r>
              <a:rPr lang="en-US" sz="800" dirty="0" err="1" smtClean="0">
                <a:latin typeface="+mn-lt"/>
              </a:rPr>
              <a:t>GraphQL</a:t>
            </a:r>
            <a:r>
              <a:rPr lang="en-US" sz="800" dirty="0" smtClean="0">
                <a:latin typeface="+mn-lt"/>
              </a:rPr>
              <a:t> proper in some important ways:</a:t>
            </a:r>
          </a:p>
          <a:p>
            <a:endParaRPr lang="en-US" sz="800" dirty="0" smtClean="0">
              <a:latin typeface="+mn-lt"/>
            </a:endParaRPr>
          </a:p>
          <a:p>
            <a:pPr marL="171450" indent="-171450">
              <a:buFont typeface="Arial" panose="020B0604020202020204" pitchFamily="34" charset="0"/>
              <a:buChar char="•"/>
            </a:pPr>
            <a:r>
              <a:rPr lang="en-US" sz="800" dirty="0" smtClean="0">
                <a:latin typeface="+mn-lt"/>
              </a:rPr>
              <a:t>There's no query operation, the query operation is always implied</a:t>
            </a:r>
          </a:p>
          <a:p>
            <a:pPr marL="171450" indent="-171450">
              <a:buFont typeface="Arial" panose="020B0604020202020204" pitchFamily="34" charset="0"/>
              <a:buChar char="•"/>
            </a:pPr>
            <a:r>
              <a:rPr lang="en-US" sz="800" dirty="0" smtClean="0">
                <a:latin typeface="+mn-lt"/>
              </a:rPr>
              <a:t>No mutations are supported</a:t>
            </a:r>
          </a:p>
          <a:p>
            <a:pPr marL="171450" indent="-171450">
              <a:buFont typeface="Arial" panose="020B0604020202020204" pitchFamily="34" charset="0"/>
              <a:buChar char="•"/>
            </a:pPr>
            <a:r>
              <a:rPr lang="en-US" sz="800" dirty="0" smtClean="0">
                <a:latin typeface="+mn-lt"/>
              </a:rPr>
              <a:t>None of our fields accept arguments</a:t>
            </a:r>
          </a:p>
          <a:p>
            <a:pPr marL="171450" indent="-171450">
              <a:buFont typeface="Arial" panose="020B0604020202020204" pitchFamily="34" charset="0"/>
              <a:buChar char="•"/>
            </a:pPr>
            <a:r>
              <a:rPr lang="en-US" sz="800" dirty="0" smtClean="0">
                <a:latin typeface="+mn-lt"/>
              </a:rPr>
              <a:t>Fields cannot be aliased to change the result property's name</a:t>
            </a:r>
          </a:p>
          <a:p>
            <a:endParaRPr lang="en-US" sz="800" dirty="0" smtClean="0">
              <a:latin typeface="+mn-lt"/>
            </a:endParaRPr>
          </a:p>
          <a:p>
            <a:r>
              <a:rPr lang="en-US" sz="800" dirty="0" smtClean="0">
                <a:latin typeface="+mn-lt"/>
              </a:rPr>
              <a:t>Our </a:t>
            </a:r>
            <a:r>
              <a:rPr lang="en-US" sz="800" dirty="0" err="1" smtClean="0">
                <a:latin typeface="+mn-lt"/>
              </a:rPr>
              <a:t>GraphQL</a:t>
            </a:r>
            <a:r>
              <a:rPr lang="en-US" sz="800" dirty="0" smtClean="0">
                <a:latin typeface="+mn-lt"/>
              </a:rPr>
              <a:t> syntax allows for using the original </a:t>
            </a:r>
            <a:r>
              <a:rPr lang="en-US" sz="800" dirty="0" err="1" smtClean="0">
                <a:latin typeface="+mn-lt"/>
              </a:rPr>
              <a:t>unicode</a:t>
            </a:r>
            <a:r>
              <a:rPr lang="en-US" sz="800" dirty="0" smtClean="0">
                <a:latin typeface="+mn-lt"/>
              </a:rPr>
              <a:t> name of schema property, rather than restricting everything to a limited ASCII subset</a:t>
            </a:r>
          </a:p>
          <a:p>
            <a:endParaRPr lang="en-US" sz="800" dirty="0" smtClean="0">
              <a:latin typeface="+mn-lt"/>
            </a:endParaRPr>
          </a:p>
          <a:p>
            <a:r>
              <a:rPr lang="en-US" sz="800" dirty="0" smtClean="0">
                <a:latin typeface="+mn-lt"/>
              </a:rPr>
              <a:t>See https://graphql.org/ and http://facebook.github.io/graphql/October2016/ for more details about the specification.</a:t>
            </a:r>
          </a:p>
          <a:p>
            <a:endParaRPr lang="en-US" sz="800" dirty="0" smtClean="0">
              <a:latin typeface="+mn-lt"/>
            </a:endParaRPr>
          </a:p>
          <a:p>
            <a:endParaRPr lang="en-US" sz="800" dirty="0" smtClean="0">
              <a:latin typeface="+mn-lt"/>
            </a:endParaRPr>
          </a:p>
        </p:txBody>
      </p:sp>
      <p:sp>
        <p:nvSpPr>
          <p:cNvPr id="4" name="Slide Number Placeholder 3"/>
          <p:cNvSpPr>
            <a:spLocks noGrp="1"/>
          </p:cNvSpPr>
          <p:nvPr>
            <p:ph type="sldNum" sz="quarter" idx="10"/>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79393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lstStyle/>
          <a:p>
            <a:r>
              <a:rPr lang="en-US" sz="800" b="1" dirty="0" smtClean="0">
                <a:latin typeface="+mn-lt"/>
              </a:rPr>
              <a:t>Code example 1 - exclude contact notes</a:t>
            </a:r>
          </a:p>
          <a:p>
            <a:endParaRPr lang="en-US" sz="800" dirty="0" smtClean="0">
              <a:latin typeface="+mn-lt"/>
            </a:endParaRPr>
          </a:p>
          <a:p>
            <a:r>
              <a:rPr lang="en-US" sz="800" b="1" dirty="0" smtClean="0">
                <a:latin typeface="+mn-lt"/>
              </a:rPr>
              <a:t>Line 2-4</a:t>
            </a:r>
          </a:p>
          <a:p>
            <a:pPr marL="171450" indent="-171450">
              <a:buFont typeface="Arial" panose="020B0604020202020204" pitchFamily="34" charset="0"/>
              <a:buChar char="•"/>
            </a:pPr>
            <a:r>
              <a:rPr lang="en-US" sz="800" dirty="0" smtClean="0">
                <a:latin typeface="+mn-lt"/>
              </a:rPr>
              <a:t>Properties to include from the Contact object.</a:t>
            </a:r>
          </a:p>
          <a:p>
            <a:r>
              <a:rPr lang="en-US" sz="800" b="1" dirty="0" smtClean="0">
                <a:latin typeface="+mn-lt"/>
              </a:rPr>
              <a:t>Line 6</a:t>
            </a:r>
          </a:p>
          <a:p>
            <a:pPr marL="171450" indent="-171450">
              <a:buFont typeface="Arial" panose="020B0604020202020204" pitchFamily="34" charset="0"/>
              <a:buChar char="•"/>
            </a:pPr>
            <a:r>
              <a:rPr lang="en-US" sz="800" dirty="0" smtClean="0">
                <a:latin typeface="+mn-lt"/>
              </a:rPr>
              <a:t>Property to include from the address object.</a:t>
            </a:r>
          </a:p>
          <a:p>
            <a:endParaRPr lang="en-US" sz="800" dirty="0" smtClean="0">
              <a:latin typeface="+mn-lt"/>
            </a:endParaRPr>
          </a:p>
          <a:p>
            <a:r>
              <a:rPr lang="en-US" sz="800" b="1" dirty="0" smtClean="0">
                <a:latin typeface="+mn-lt"/>
              </a:rPr>
              <a:t>Code example 2 - only contact notes</a:t>
            </a:r>
          </a:p>
          <a:p>
            <a:endParaRPr lang="en-US" sz="800" dirty="0" smtClean="0">
              <a:latin typeface="+mn-lt"/>
            </a:endParaRPr>
          </a:p>
          <a:p>
            <a:r>
              <a:rPr lang="en-US" sz="800" b="1" dirty="0" smtClean="0">
                <a:latin typeface="+mn-lt"/>
              </a:rPr>
              <a:t>Line 3-6</a:t>
            </a:r>
          </a:p>
          <a:p>
            <a:pPr marL="171450" indent="-171450">
              <a:buFont typeface="Arial" panose="020B0604020202020204" pitchFamily="34" charset="0"/>
              <a:buChar char="•"/>
            </a:pPr>
            <a:r>
              <a:rPr lang="en-US" sz="800" dirty="0" smtClean="0">
                <a:latin typeface="+mn-lt"/>
              </a:rPr>
              <a:t>Properties to include from the </a:t>
            </a:r>
            <a:r>
              <a:rPr lang="en-US" sz="800" dirty="0" err="1" smtClean="0">
                <a:latin typeface="+mn-lt"/>
              </a:rPr>
              <a:t>contactNotes</a:t>
            </a:r>
            <a:r>
              <a:rPr lang="en-US" sz="800" dirty="0" smtClean="0">
                <a:latin typeface="+mn-lt"/>
              </a:rPr>
              <a:t> array object.</a:t>
            </a:r>
          </a:p>
          <a:p>
            <a:endParaRPr lang="en-US" sz="800" dirty="0" smtClean="0">
              <a:latin typeface="+mn-lt"/>
            </a:endParaRPr>
          </a:p>
          <a:p>
            <a:r>
              <a:rPr lang="en-US" sz="800" dirty="0" smtClean="0">
                <a:latin typeface="+mn-lt"/>
              </a:rPr>
              <a:t>A filter is simple declarative whitelist - just type the properties that you want to export</a:t>
            </a:r>
          </a:p>
        </p:txBody>
      </p:sp>
      <p:sp>
        <p:nvSpPr>
          <p:cNvPr id="4" name="Slide Number Placeholder 3"/>
          <p:cNvSpPr>
            <a:spLocks noGrp="1"/>
          </p:cNvSpPr>
          <p:nvPr>
            <p:ph type="sldNum" sz="quarter" idx="10"/>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833802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514350"/>
            <a:ext cx="4572000" cy="2571750"/>
          </a:xfrm>
        </p:spPr>
      </p:sp>
      <p:sp>
        <p:nvSpPr>
          <p:cNvPr id="3" name="Notes Placeholder 2"/>
          <p:cNvSpPr>
            <a:spLocks noGrp="1"/>
          </p:cNvSpPr>
          <p:nvPr>
            <p:ph type="body" idx="1"/>
          </p:nvPr>
        </p:nvSpPr>
        <p:spPr/>
        <p:txBody>
          <a:bodyPr/>
          <a:lstStyle/>
          <a:p>
            <a:r>
              <a:rPr lang="en-US" sz="800" dirty="0" smtClean="0">
                <a:latin typeface="+mn-lt"/>
              </a:rPr>
              <a:t>Code example</a:t>
            </a:r>
          </a:p>
          <a:p>
            <a:endParaRPr lang="en-US" sz="800" dirty="0" smtClean="0">
              <a:latin typeface="+mn-lt"/>
            </a:endParaRPr>
          </a:p>
          <a:p>
            <a:r>
              <a:rPr lang="en-US" sz="800" b="1" dirty="0" smtClean="0">
                <a:latin typeface="+mn-lt"/>
              </a:rPr>
              <a:t>Line 2</a:t>
            </a:r>
          </a:p>
          <a:p>
            <a:pPr marL="171450" indent="-171450">
              <a:buFont typeface="Arial" panose="020B0604020202020204" pitchFamily="34" charset="0"/>
              <a:buChar char="•"/>
            </a:pPr>
            <a:r>
              <a:rPr lang="en-US" sz="800" dirty="0" smtClean="0">
                <a:latin typeface="+mn-lt"/>
              </a:rPr>
              <a:t>Referencing </a:t>
            </a:r>
            <a:r>
              <a:rPr lang="en-US" sz="800" dirty="0" err="1" smtClean="0">
                <a:latin typeface="+mn-lt"/>
              </a:rPr>
              <a:t>PrimaryAddress</a:t>
            </a:r>
            <a:r>
              <a:rPr lang="en-US" sz="800" dirty="0" smtClean="0">
                <a:latin typeface="+mn-lt"/>
              </a:rPr>
              <a:t> properties to include using the </a:t>
            </a:r>
            <a:r>
              <a:rPr lang="en-US" sz="800" dirty="0" err="1" smtClean="0">
                <a:latin typeface="+mn-lt"/>
              </a:rPr>
              <a:t>addressParts</a:t>
            </a:r>
            <a:r>
              <a:rPr lang="en-US" sz="800" dirty="0" smtClean="0">
                <a:latin typeface="+mn-lt"/>
              </a:rPr>
              <a:t> fragment.</a:t>
            </a:r>
          </a:p>
          <a:p>
            <a:r>
              <a:rPr lang="en-US" sz="800" b="1" dirty="0" smtClean="0">
                <a:latin typeface="+mn-lt"/>
              </a:rPr>
              <a:t>Line 5</a:t>
            </a:r>
          </a:p>
          <a:p>
            <a:pPr marL="171450" indent="-171450">
              <a:buFont typeface="Arial" panose="020B0604020202020204" pitchFamily="34" charset="0"/>
              <a:buChar char="•"/>
            </a:pPr>
            <a:r>
              <a:rPr lang="en-US" sz="800" dirty="0" smtClean="0">
                <a:latin typeface="+mn-lt"/>
              </a:rPr>
              <a:t>Referencing </a:t>
            </a:r>
            <a:r>
              <a:rPr lang="en-US" sz="800" dirty="0" err="1" smtClean="0">
                <a:latin typeface="+mn-lt"/>
              </a:rPr>
              <a:t>AllAddresses</a:t>
            </a:r>
            <a:r>
              <a:rPr lang="en-US" sz="800" dirty="0" smtClean="0">
                <a:latin typeface="+mn-lt"/>
              </a:rPr>
              <a:t> properties to include using the </a:t>
            </a:r>
            <a:r>
              <a:rPr lang="en-US" sz="800" dirty="0" err="1" smtClean="0">
                <a:latin typeface="+mn-lt"/>
              </a:rPr>
              <a:t>addressParts</a:t>
            </a:r>
            <a:r>
              <a:rPr lang="en-US" sz="800" dirty="0" smtClean="0">
                <a:latin typeface="+mn-lt"/>
              </a:rPr>
              <a:t> fragment.</a:t>
            </a:r>
          </a:p>
          <a:p>
            <a:r>
              <a:rPr lang="en-US" sz="800" b="1" dirty="0" smtClean="0">
                <a:latin typeface="+mn-lt"/>
              </a:rPr>
              <a:t>Line 9</a:t>
            </a:r>
          </a:p>
          <a:p>
            <a:pPr marL="171450" indent="-171450">
              <a:buFont typeface="Arial" panose="020B0604020202020204" pitchFamily="34" charset="0"/>
              <a:buChar char="•"/>
            </a:pPr>
            <a:r>
              <a:rPr lang="en-US" sz="800" dirty="0" err="1" smtClean="0">
                <a:latin typeface="+mn-lt"/>
              </a:rPr>
              <a:t>addressParts</a:t>
            </a:r>
            <a:r>
              <a:rPr lang="en-US" sz="800" dirty="0" smtClean="0">
                <a:latin typeface="+mn-lt"/>
              </a:rPr>
              <a:t> fragment defined.</a:t>
            </a:r>
          </a:p>
          <a:p>
            <a:endParaRPr lang="en-US" sz="800" dirty="0" smtClean="0">
              <a:latin typeface="+mn-lt"/>
            </a:endParaRPr>
          </a:p>
        </p:txBody>
      </p:sp>
      <p:sp>
        <p:nvSpPr>
          <p:cNvPr id="4" name="Slide Number Placeholder 3"/>
          <p:cNvSpPr>
            <a:spLocks noGrp="1"/>
          </p:cNvSpPr>
          <p:nvPr>
            <p:ph type="sldNum" sz="quarter" idx="10"/>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038725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latin typeface="Arial" pitchFamily="34" charset="0"/>
              </a:rPr>
              <a:t>Generate</a:t>
            </a:r>
            <a:r>
              <a:rPr lang="en-US" b="1" baseline="0" dirty="0" smtClean="0">
                <a:latin typeface="Arial" pitchFamily="34" charset="0"/>
              </a:rPr>
              <a:t> wrapper classes</a:t>
            </a:r>
          </a:p>
          <a:p>
            <a:r>
              <a:rPr lang="en-US" b="0" baseline="0" dirty="0" smtClean="0">
                <a:latin typeface="Arial" pitchFamily="34" charset="0"/>
              </a:rPr>
              <a:t>The codegen-schemas.txt file defines, the schemas that </a:t>
            </a:r>
            <a:r>
              <a:rPr lang="en-US" b="0" baseline="0" dirty="0" err="1" smtClean="0">
                <a:latin typeface="Arial" pitchFamily="34" charset="0"/>
              </a:rPr>
              <a:t>JsconSchemaCodegen</a:t>
            </a:r>
            <a:r>
              <a:rPr lang="en-US" b="0" baseline="0" dirty="0" smtClean="0">
                <a:latin typeface="Arial" pitchFamily="34" charset="0"/>
              </a:rPr>
              <a:t> will process.</a:t>
            </a:r>
          </a:p>
          <a:p>
            <a:pPr marL="171450" indent="-171450">
              <a:buFont typeface="Arial" panose="020B0604020202020204" pitchFamily="34" charset="0"/>
              <a:buChar char="•"/>
            </a:pPr>
            <a:r>
              <a:rPr lang="en-US" b="0" baseline="0" dirty="0" smtClean="0">
                <a:latin typeface="Arial" pitchFamily="34" charset="0"/>
              </a:rPr>
              <a:t>Client-side errors (bad types, unknown properties, constraint violations) are detected at parse time and reported. Parsing, deserialization and validation are done in a single step.</a:t>
            </a:r>
          </a:p>
          <a:p>
            <a:pPr marL="171450" indent="-171450">
              <a:buFont typeface="Arial" panose="020B0604020202020204" pitchFamily="34" charset="0"/>
              <a:buChar char="•"/>
            </a:pPr>
            <a:r>
              <a:rPr lang="en-US" b="0" baseline="0" dirty="0" smtClean="0">
                <a:latin typeface="Arial" pitchFamily="34" charset="0"/>
              </a:rPr>
              <a:t>Server-side errors (i.e. bad output) will be (optionally) detected during serialization.</a:t>
            </a:r>
          </a:p>
          <a:p>
            <a:endParaRPr lang="en-US" b="0" dirty="0" smtClean="0">
              <a:latin typeface="Arial" pitchFamily="34" charset="0"/>
            </a:endParaRPr>
          </a:p>
          <a:p>
            <a:r>
              <a:rPr lang="en-US" b="0" dirty="0" smtClean="0">
                <a:latin typeface="Arial" pitchFamily="34" charset="0"/>
              </a:rPr>
              <a:t>The framework works in terms of a </a:t>
            </a:r>
            <a:r>
              <a:rPr lang="en-US" b="0" dirty="0" err="1" smtClean="0">
                <a:latin typeface="Arial" pitchFamily="34" charset="0"/>
              </a:rPr>
              <a:t>JsonObject</a:t>
            </a:r>
            <a:r>
              <a:rPr lang="en-US" b="0" dirty="0" smtClean="0">
                <a:latin typeface="Arial" pitchFamily="34" charset="0"/>
              </a:rPr>
              <a:t>, which is basically just a Map&lt;String, Object&gt;</a:t>
            </a:r>
          </a:p>
          <a:p>
            <a:pPr marL="171450" indent="-171450">
              <a:buFont typeface="Arial" panose="020B0604020202020204" pitchFamily="34" charset="0"/>
              <a:buChar char="•"/>
            </a:pPr>
            <a:r>
              <a:rPr lang="en-US" b="0" dirty="0" err="1" smtClean="0">
                <a:latin typeface="Arial" pitchFamily="34" charset="0"/>
              </a:rPr>
              <a:t>JsonObject</a:t>
            </a:r>
            <a:r>
              <a:rPr lang="en-US" b="0" dirty="0" smtClean="0">
                <a:latin typeface="Arial" pitchFamily="34" charset="0"/>
              </a:rPr>
              <a:t> contains </a:t>
            </a:r>
            <a:r>
              <a:rPr lang="en-US" b="0" dirty="0" err="1" smtClean="0">
                <a:latin typeface="Arial" pitchFamily="34" charset="0"/>
              </a:rPr>
              <a:t>deserialized</a:t>
            </a:r>
            <a:r>
              <a:rPr lang="en-US" b="0" dirty="0" smtClean="0">
                <a:latin typeface="Arial" pitchFamily="34" charset="0"/>
              </a:rPr>
              <a:t> scalars and objects, i.e. Date,</a:t>
            </a:r>
            <a:r>
              <a:rPr lang="en-US" b="0" baseline="0" dirty="0" smtClean="0">
                <a:latin typeface="Arial" pitchFamily="34" charset="0"/>
              </a:rPr>
              <a:t> </a:t>
            </a:r>
            <a:r>
              <a:rPr lang="en-US" b="0" baseline="0" dirty="0" err="1" smtClean="0">
                <a:latin typeface="Arial" pitchFamily="34" charset="0"/>
              </a:rPr>
              <a:t>BigDecimal</a:t>
            </a:r>
            <a:r>
              <a:rPr lang="en-US" b="0" baseline="0" dirty="0" smtClean="0">
                <a:latin typeface="Arial" pitchFamily="34" charset="0"/>
              </a:rPr>
              <a:t> and </a:t>
            </a:r>
            <a:r>
              <a:rPr lang="en-US" b="0" baseline="0" dirty="0" err="1" smtClean="0">
                <a:latin typeface="Arial" pitchFamily="34" charset="0"/>
              </a:rPr>
              <a:t>typekeys</a:t>
            </a:r>
            <a:r>
              <a:rPr lang="en-US" b="0" baseline="0" dirty="0" smtClean="0">
                <a:latin typeface="Arial" pitchFamily="34" charset="0"/>
              </a:rPr>
              <a:t>, not just </a:t>
            </a:r>
            <a:r>
              <a:rPr lang="en-US" b="0" baseline="0" dirty="0" err="1" smtClean="0">
                <a:latin typeface="Arial" pitchFamily="34" charset="0"/>
              </a:rPr>
              <a:t>javascript</a:t>
            </a:r>
            <a:r>
              <a:rPr lang="en-US" b="0" baseline="0" dirty="0" smtClean="0">
                <a:latin typeface="Arial" pitchFamily="34" charset="0"/>
              </a:rPr>
              <a:t> primitives</a:t>
            </a:r>
          </a:p>
          <a:p>
            <a:pPr marL="171450" indent="-171450">
              <a:buFont typeface="Arial" panose="020B0604020202020204" pitchFamily="34" charset="0"/>
              <a:buChar char="•"/>
            </a:pPr>
            <a:r>
              <a:rPr lang="en-US" b="0" baseline="0" dirty="0" smtClean="0">
                <a:latin typeface="Arial" pitchFamily="34" charset="0"/>
              </a:rPr>
              <a:t>Lists are used for JSON arrays</a:t>
            </a:r>
          </a:p>
          <a:p>
            <a:pPr marL="171450" indent="-171450">
              <a:buFont typeface="Arial" panose="020B0604020202020204" pitchFamily="34" charset="0"/>
              <a:buChar char="•"/>
            </a:pPr>
            <a:endParaRPr lang="en-US" b="0" baseline="0" dirty="0" smtClean="0">
              <a:latin typeface="Arial" pitchFamily="34" charset="0"/>
            </a:endParaRPr>
          </a:p>
          <a:p>
            <a:r>
              <a:rPr lang="en-US" sz="1000" b="1" kern="1200" dirty="0" smtClean="0">
                <a:solidFill>
                  <a:schemeClr val="tx1"/>
                </a:solidFill>
                <a:effectLst/>
                <a:latin typeface="Arial" charset="0"/>
                <a:ea typeface="+mn-ea"/>
                <a:cs typeface="+mn-cs"/>
              </a:rPr>
              <a:t>Wrapper classes</a:t>
            </a:r>
          </a:p>
          <a:p>
            <a:r>
              <a:rPr lang="en-US" sz="1000" kern="1200" dirty="0" smtClean="0">
                <a:solidFill>
                  <a:schemeClr val="tx1"/>
                </a:solidFill>
                <a:effectLst/>
                <a:latin typeface="Arial" charset="0"/>
                <a:ea typeface="+mn-ea"/>
                <a:cs typeface="+mn-cs"/>
              </a:rPr>
              <a:t>Optionally generated statically-typed classes can wrap the </a:t>
            </a:r>
            <a:r>
              <a:rPr lang="en-US" sz="1000" kern="1200" dirty="0" err="1" smtClean="0">
                <a:solidFill>
                  <a:schemeClr val="tx1"/>
                </a:solidFill>
                <a:effectLst/>
                <a:latin typeface="Arial" charset="0"/>
                <a:ea typeface="+mn-ea"/>
                <a:cs typeface="+mn-cs"/>
              </a:rPr>
              <a:t>JsonObiect</a:t>
            </a:r>
            <a:endParaRPr lang="en-US" sz="1000" kern="1200" dirty="0" smtClean="0">
              <a:solidFill>
                <a:schemeClr val="tx1"/>
              </a:solidFill>
              <a:effectLst/>
              <a:latin typeface="Arial" charset="0"/>
              <a:ea typeface="+mn-ea"/>
              <a:cs typeface="+mn-cs"/>
            </a:endParaRP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The framework layers on statically-typed getters and setters</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The framework knows how to automatically wrap unwrap them </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Wrap a </a:t>
            </a:r>
            <a:r>
              <a:rPr lang="en-US" sz="1000" kern="1200" dirty="0" err="1" smtClean="0">
                <a:solidFill>
                  <a:schemeClr val="tx1"/>
                </a:solidFill>
                <a:effectLst/>
                <a:latin typeface="Arial" charset="0"/>
                <a:ea typeface="+mn-ea"/>
                <a:cs typeface="+mn-cs"/>
              </a:rPr>
              <a:t>json</a:t>
            </a:r>
            <a:r>
              <a:rPr lang="en-US" sz="1000" kern="1200" dirty="0" smtClean="0">
                <a:solidFill>
                  <a:schemeClr val="tx1"/>
                </a:solidFill>
                <a:effectLst/>
                <a:latin typeface="Arial" charset="0"/>
                <a:ea typeface="+mn-ea"/>
                <a:cs typeface="+mn-cs"/>
              </a:rPr>
              <a:t> Object with the static wrap method</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Unwrap it back with the instance .unwrap</a:t>
            </a:r>
            <a:r>
              <a:rPr lang="en-US" sz="1000" kern="1200" baseline="0" dirty="0" smtClean="0">
                <a:solidFill>
                  <a:schemeClr val="tx1"/>
                </a:solidFill>
                <a:effectLst/>
                <a:latin typeface="Arial" charset="0"/>
                <a:ea typeface="+mn-ea"/>
                <a:cs typeface="+mn-cs"/>
              </a:rPr>
              <a:t> </a:t>
            </a:r>
            <a:r>
              <a:rPr lang="en-US" sz="1000" kern="1200" dirty="0" smtClean="0">
                <a:solidFill>
                  <a:schemeClr val="tx1"/>
                </a:solidFill>
                <a:effectLst/>
                <a:latin typeface="Arial" charset="0"/>
                <a:ea typeface="+mn-ea"/>
                <a:cs typeface="+mn-cs"/>
              </a:rPr>
              <a:t>method</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You can also parse directly into the wrapper classes via static parse methods</a:t>
            </a:r>
          </a:p>
          <a:p>
            <a:pPr marL="0" indent="0">
              <a:buFont typeface="Arial" panose="020B0604020202020204" pitchFamily="34" charset="0"/>
              <a:buNone/>
            </a:pPr>
            <a:endParaRPr lang="en-US" b="0" dirty="0" smtClean="0">
              <a:latin typeface="Arial" pitchFamily="34" charset="0"/>
            </a:endParaRPr>
          </a:p>
          <a:p>
            <a:r>
              <a:rPr lang="en-US" sz="1000" kern="1200" dirty="0" smtClean="0">
                <a:solidFill>
                  <a:schemeClr val="tx1"/>
                </a:solidFill>
                <a:effectLst/>
                <a:latin typeface="Arial" charset="0"/>
                <a:ea typeface="+mn-ea"/>
                <a:cs typeface="+mn-cs"/>
              </a:rPr>
              <a:t>Wrapper classes can also be generated by running </a:t>
            </a:r>
            <a:r>
              <a:rPr lang="en-US" sz="1000" b="1" kern="1200" dirty="0" err="1" smtClean="0">
                <a:solidFill>
                  <a:schemeClr val="tx1"/>
                </a:solidFill>
                <a:effectLst/>
                <a:latin typeface="Arial" charset="0"/>
                <a:ea typeface="+mn-ea"/>
                <a:cs typeface="+mn-cs"/>
              </a:rPr>
              <a:t>gwb</a:t>
            </a:r>
            <a:r>
              <a:rPr lang="en-US" sz="1000" b="1" kern="1200" dirty="0" smtClean="0">
                <a:solidFill>
                  <a:schemeClr val="tx1"/>
                </a:solidFill>
                <a:effectLst/>
                <a:latin typeface="Arial" charset="0"/>
                <a:ea typeface="+mn-ea"/>
                <a:cs typeface="+mn-cs"/>
              </a:rPr>
              <a:t> </a:t>
            </a:r>
            <a:r>
              <a:rPr lang="en-US" sz="1000" b="1" kern="1200" dirty="0" err="1" smtClean="0">
                <a:solidFill>
                  <a:schemeClr val="tx1"/>
                </a:solidFill>
                <a:effectLst/>
                <a:latin typeface="Arial" charset="0"/>
                <a:ea typeface="+mn-ea"/>
                <a:cs typeface="+mn-cs"/>
              </a:rPr>
              <a:t>jsonSchemaCodegen</a:t>
            </a:r>
            <a:r>
              <a:rPr lang="en-US" sz="1000" b="1" kern="1200" dirty="0" smtClean="0">
                <a:solidFill>
                  <a:schemeClr val="tx1"/>
                </a:solidFill>
                <a:effectLst/>
                <a:latin typeface="Arial" charset="0"/>
                <a:ea typeface="+mn-ea"/>
                <a:cs typeface="+mn-cs"/>
              </a:rPr>
              <a:t> </a:t>
            </a:r>
            <a:r>
              <a:rPr lang="en-US" sz="1000" kern="1200" dirty="0" smtClean="0">
                <a:solidFill>
                  <a:schemeClr val="tx1"/>
                </a:solidFill>
                <a:effectLst/>
                <a:latin typeface="Arial" charset="0"/>
                <a:ea typeface="+mn-ea"/>
                <a:cs typeface="+mn-cs"/>
              </a:rPr>
              <a:t>in a command prompt window.</a:t>
            </a:r>
          </a:p>
          <a:p>
            <a:r>
              <a:rPr lang="en-US" sz="1000" b="1" kern="1200" dirty="0" smtClean="0">
                <a:solidFill>
                  <a:schemeClr val="tx1"/>
                </a:solidFill>
                <a:effectLst/>
                <a:latin typeface="Arial" charset="0"/>
                <a:ea typeface="+mn-ea"/>
                <a:cs typeface="+mn-cs"/>
              </a:rPr>
              <a:t>How to configure </a:t>
            </a:r>
            <a:r>
              <a:rPr lang="en-US" sz="1000" b="1" kern="1200" dirty="0" err="1" smtClean="0">
                <a:solidFill>
                  <a:schemeClr val="tx1"/>
                </a:solidFill>
                <a:effectLst/>
                <a:latin typeface="Arial" charset="0"/>
                <a:ea typeface="+mn-ea"/>
                <a:cs typeface="+mn-cs"/>
              </a:rPr>
              <a:t>JsonSchemaCodegen</a:t>
            </a:r>
            <a:r>
              <a:rPr lang="en-US" sz="1000" b="1" kern="1200" dirty="0" smtClean="0">
                <a:solidFill>
                  <a:schemeClr val="tx1"/>
                </a:solidFill>
                <a:effectLst/>
                <a:latin typeface="Arial" charset="0"/>
                <a:ea typeface="+mn-ea"/>
                <a:cs typeface="+mn-cs"/>
              </a:rPr>
              <a:t> server in Studio</a:t>
            </a:r>
          </a:p>
          <a:p>
            <a:pPr marL="228600" indent="-228600">
              <a:buFont typeface="+mj-lt"/>
              <a:buAutoNum type="arabicPeriod"/>
            </a:pPr>
            <a:r>
              <a:rPr lang="en-US" sz="1000" kern="1200" dirty="0" smtClean="0">
                <a:solidFill>
                  <a:schemeClr val="tx1"/>
                </a:solidFill>
                <a:effectLst/>
                <a:latin typeface="Arial" charset="0"/>
                <a:ea typeface="+mn-ea"/>
                <a:cs typeface="+mn-cs"/>
              </a:rPr>
              <a:t>In Studio, click Run Edit Configuration</a:t>
            </a:r>
          </a:p>
          <a:p>
            <a:pPr marL="228600" indent="-228600">
              <a:buFont typeface="+mj-lt"/>
              <a:buAutoNum type="arabicPeriod"/>
            </a:pPr>
            <a:r>
              <a:rPr lang="en-US" sz="1000" kern="1200" dirty="0" smtClean="0">
                <a:solidFill>
                  <a:schemeClr val="tx1"/>
                </a:solidFill>
                <a:effectLst/>
                <a:latin typeface="Arial" charset="0"/>
                <a:ea typeface="+mn-ea"/>
                <a:cs typeface="+mn-cs"/>
              </a:rPr>
              <a:t>Select Server and click Copy Configuration icon</a:t>
            </a:r>
          </a:p>
          <a:p>
            <a:pPr marL="228600" indent="-228600">
              <a:buFont typeface="+mj-lt"/>
              <a:buAutoNum type="arabicPeriod"/>
            </a:pPr>
            <a:r>
              <a:rPr lang="en-US" sz="1000" kern="1200" dirty="0" smtClean="0">
                <a:solidFill>
                  <a:schemeClr val="tx1"/>
                </a:solidFill>
                <a:effectLst/>
                <a:latin typeface="Arial" charset="0"/>
                <a:ea typeface="+mn-ea"/>
                <a:cs typeface="+mn-cs"/>
              </a:rPr>
              <a:t>Modify the </a:t>
            </a:r>
            <a:r>
              <a:rPr lang="en-US" sz="1000" b="1" kern="1200" dirty="0" smtClean="0">
                <a:solidFill>
                  <a:schemeClr val="tx1"/>
                </a:solidFill>
                <a:effectLst/>
                <a:latin typeface="Arial" charset="0"/>
                <a:ea typeface="+mn-ea"/>
                <a:cs typeface="+mn-cs"/>
              </a:rPr>
              <a:t>Name</a:t>
            </a:r>
            <a:r>
              <a:rPr lang="en-US" sz="1000" kern="1200" dirty="0" smtClean="0">
                <a:solidFill>
                  <a:schemeClr val="tx1"/>
                </a:solidFill>
                <a:effectLst/>
                <a:latin typeface="Arial" charset="0"/>
                <a:ea typeface="+mn-ea"/>
                <a:cs typeface="+mn-cs"/>
              </a:rPr>
              <a:t> and </a:t>
            </a:r>
            <a:r>
              <a:rPr lang="en-US" sz="1000" b="1" kern="1200" dirty="0" smtClean="0">
                <a:solidFill>
                  <a:schemeClr val="tx1"/>
                </a:solidFill>
                <a:effectLst/>
                <a:latin typeface="Arial" charset="0"/>
                <a:ea typeface="+mn-ea"/>
                <a:cs typeface="+mn-cs"/>
              </a:rPr>
              <a:t>Main</a:t>
            </a:r>
            <a:r>
              <a:rPr lang="en-US" sz="1000" kern="1200" dirty="0" smtClean="0">
                <a:solidFill>
                  <a:schemeClr val="tx1"/>
                </a:solidFill>
                <a:effectLst/>
                <a:latin typeface="Arial" charset="0"/>
                <a:ea typeface="+mn-ea"/>
                <a:cs typeface="+mn-cs"/>
              </a:rPr>
              <a:t> class fields</a:t>
            </a:r>
          </a:p>
          <a:p>
            <a:pPr marL="571500" lvl="1" indent="-228600">
              <a:buFont typeface="Arial" panose="020B0604020202020204" pitchFamily="34" charset="0"/>
              <a:buChar char="•"/>
            </a:pPr>
            <a:r>
              <a:rPr lang="en-US" sz="1000" b="0" kern="1200" dirty="0" smtClean="0">
                <a:solidFill>
                  <a:schemeClr val="tx1"/>
                </a:solidFill>
                <a:effectLst/>
                <a:latin typeface="Arial" charset="0"/>
                <a:ea typeface="+mn-ea"/>
                <a:cs typeface="+mn-cs"/>
              </a:rPr>
              <a:t>Name = </a:t>
            </a:r>
            <a:r>
              <a:rPr lang="en-US" sz="1000" b="0" kern="1200" dirty="0" err="1" smtClean="0">
                <a:solidFill>
                  <a:schemeClr val="tx1"/>
                </a:solidFill>
                <a:effectLst/>
                <a:latin typeface="Arial" charset="0"/>
                <a:ea typeface="+mn-ea"/>
                <a:cs typeface="+mn-cs"/>
              </a:rPr>
              <a:t>JsonSchemaCodegen</a:t>
            </a:r>
            <a:endParaRPr lang="en-US" sz="1000" b="0" kern="1200" dirty="0" smtClean="0">
              <a:solidFill>
                <a:schemeClr val="tx1"/>
              </a:solidFill>
              <a:effectLst/>
              <a:latin typeface="Arial" charset="0"/>
              <a:ea typeface="+mn-ea"/>
              <a:cs typeface="+mn-cs"/>
            </a:endParaRPr>
          </a:p>
          <a:p>
            <a:pPr marL="571500" lvl="1" indent="-228600">
              <a:buFont typeface="Arial" panose="020B0604020202020204" pitchFamily="34" charset="0"/>
              <a:buChar char="•"/>
            </a:pPr>
            <a:r>
              <a:rPr lang="en-US" sz="1000" b="0" kern="1200" dirty="0" smtClean="0">
                <a:solidFill>
                  <a:schemeClr val="tx1"/>
                </a:solidFill>
                <a:effectLst/>
                <a:latin typeface="Arial" charset="0"/>
                <a:ea typeface="+mn-ea"/>
                <a:cs typeface="+mn-cs"/>
              </a:rPr>
              <a:t>Main class = </a:t>
            </a:r>
            <a:r>
              <a:rPr lang="en-US" sz="1000" b="0" kern="1200" dirty="0" err="1" smtClean="0">
                <a:solidFill>
                  <a:schemeClr val="tx1"/>
                </a:solidFill>
                <a:effectLst/>
                <a:latin typeface="Arial" charset="0"/>
                <a:ea typeface="+mn-ea"/>
                <a:cs typeface="+mn-cs"/>
              </a:rPr>
              <a:t>com.guidewire.tools.json.JsonSchemaWraperCodegenTool</a:t>
            </a:r>
            <a:endParaRPr lang="en-US" sz="1000" b="0" kern="1200" dirty="0" smtClean="0">
              <a:solidFill>
                <a:schemeClr val="tx1"/>
              </a:solidFill>
              <a:effectLst/>
              <a:latin typeface="Arial" charset="0"/>
              <a:ea typeface="+mn-ea"/>
              <a:cs typeface="+mn-cs"/>
            </a:endParaRPr>
          </a:p>
          <a:p>
            <a:pPr marL="0" indent="0">
              <a:buFont typeface="Arial" panose="020B0604020202020204" pitchFamily="34" charset="0"/>
              <a:buNone/>
            </a:pPr>
            <a:endParaRPr lang="en-US" b="0" dirty="0" smtClean="0">
              <a:latin typeface="Arial" pitchFamily="34" charset="0"/>
            </a:endParaRPr>
          </a:p>
        </p:txBody>
      </p:sp>
      <p:sp>
        <p:nvSpPr>
          <p:cNvPr id="4" name="Slide Number Placeholder 3"/>
          <p:cNvSpPr>
            <a:spLocks noGrp="1"/>
          </p:cNvSpPr>
          <p:nvPr>
            <p:ph type="sldNum" sz="quarter" idx="5"/>
          </p:nvPr>
        </p:nvSpPr>
        <p:spPr/>
        <p:txBody>
          <a:bodyPr/>
          <a:lstStyle/>
          <a:p>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r>
              <a:rPr kumimoji="0" lang="en-US" altLang="en-US" sz="12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1200" b="0" i="0" u="none" strike="noStrike" kern="1200" cap="none" spc="0" normalizeH="0" baseline="0" noProof="0" dirty="0">
                <a:ln>
                  <a:noFill/>
                </a:ln>
                <a:solidFill>
                  <a:srgbClr val="000000"/>
                </a:solidFill>
                <a:effectLst/>
                <a:uLnTx/>
                <a:uFillTx/>
                <a:latin typeface="Arial" charset="0"/>
                <a:ea typeface="+mn-ea"/>
                <a:cs typeface="+mn-cs"/>
              </a:rPr>
              <a:t>Introduction to the Guidewire </a:t>
            </a:r>
            <a:r>
              <a:rPr kumimoji="0" lang="en-US" sz="1200" b="0" i="0" u="none" strike="noStrike" kern="1200" cap="none" spc="0" normalizeH="0" baseline="0" noProof="0" dirty="0" smtClean="0">
                <a:ln>
                  <a:noFill/>
                </a:ln>
                <a:solidFill>
                  <a:srgbClr val="000000"/>
                </a:solidFill>
                <a:effectLst/>
                <a:uLnTx/>
                <a:uFillTx/>
                <a:latin typeface="Arial" charset="0"/>
                <a:ea typeface="+mn-ea"/>
                <a:cs typeface="+mn-cs"/>
              </a:rPr>
              <a:t>8.0 Releases - </a:t>
            </a:r>
            <a:fld id="{A8D045CE-4F6E-4FD7-9EC5-1A8550823B38}" type="slidenum">
              <a:rPr kumimoji="0" lang="en-US" alt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t>19</a:t>
            </a:fld>
            <a:endParaRPr kumimoji="0" lang="en-US" alt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5" name="Header Placeholder 4"/>
          <p:cNvSpPr>
            <a:spLocks noGrp="1"/>
          </p:cNvSpPr>
          <p:nvPr>
            <p:ph type="hdr" sz="quarter"/>
          </p:nvPr>
        </p:nvSpPr>
        <p:spPr/>
        <p:txBody>
          <a:bodyPr/>
          <a:lstStyle/>
          <a:p>
            <a:pPr marL="0" marR="0" lvl="0" indent="0" algn="l" defTabSz="942975" rtl="0" eaLnBrk="0" fontAlgn="base" latinLnBrk="0" hangingPunct="0">
              <a:lnSpc>
                <a:spcPts val="1875"/>
              </a:lnSpc>
              <a:spcBef>
                <a:spcPts val="625"/>
              </a:spcBef>
              <a:spcAft>
                <a:spcPct val="0"/>
              </a:spcAft>
              <a:buClrTx/>
              <a:buSzTx/>
              <a:buFont typeface="Wingdings" pitchFamily="2" charset="2"/>
              <a:buNone/>
              <a:tabLst>
                <a:tab pos="5591175" algn="r"/>
              </a:tabLst>
              <a:defRPr/>
            </a:pPr>
            <a:r>
              <a:rPr kumimoji="0" lang="en-US" altLang="en-US" sz="1200" b="0" i="0" u="none" strike="noStrike" kern="1200" cap="none" spc="0" normalizeH="0" baseline="0" noProof="0" dirty="0" smtClean="0">
                <a:ln>
                  <a:noFill/>
                </a:ln>
                <a:solidFill>
                  <a:srgbClr val="000000"/>
                </a:solidFill>
                <a:effectLst/>
                <a:uLnTx/>
                <a:uFillTx/>
                <a:latin typeface="Arial"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006159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000" b="1" kern="1200" dirty="0" smtClean="0">
                <a:solidFill>
                  <a:schemeClr val="tx1"/>
                </a:solidFill>
                <a:effectLst/>
                <a:latin typeface="Arial" charset="0"/>
                <a:ea typeface="+mn-ea"/>
                <a:cs typeface="+mn-cs"/>
              </a:rPr>
              <a:t>Code example</a:t>
            </a:r>
          </a:p>
          <a:p>
            <a:r>
              <a:rPr lang="en-US" sz="1000" b="1" kern="1200" dirty="0" smtClean="0">
                <a:solidFill>
                  <a:schemeClr val="tx1"/>
                </a:solidFill>
                <a:effectLst/>
                <a:latin typeface="Arial" charset="0"/>
                <a:ea typeface="+mn-ea"/>
                <a:cs typeface="+mn-cs"/>
              </a:rPr>
              <a:t>Line 10</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Create the </a:t>
            </a:r>
            <a:r>
              <a:rPr lang="en-US" sz="1000" kern="1200" dirty="0" err="1" smtClean="0">
                <a:solidFill>
                  <a:schemeClr val="tx1"/>
                </a:solidFill>
                <a:effectLst/>
                <a:latin typeface="Arial" charset="0"/>
                <a:ea typeface="+mn-ea"/>
                <a:cs typeface="+mn-cs"/>
              </a:rPr>
              <a:t>Json</a:t>
            </a:r>
            <a:r>
              <a:rPr lang="en-US" sz="1000" kern="1200" dirty="0" smtClean="0">
                <a:solidFill>
                  <a:schemeClr val="tx1"/>
                </a:solidFill>
                <a:effectLst/>
                <a:latin typeface="Arial" charset="0"/>
                <a:ea typeface="+mn-ea"/>
                <a:cs typeface="+mn-cs"/>
              </a:rPr>
              <a:t> Mapper object.</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Define the fully qualified path to the mapper file.</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Define the mapper name.</a:t>
            </a:r>
          </a:p>
          <a:p>
            <a:r>
              <a:rPr lang="en-US" sz="1000" b="1" kern="1200" dirty="0" smtClean="0">
                <a:solidFill>
                  <a:schemeClr val="tx1"/>
                </a:solidFill>
                <a:effectLst/>
                <a:latin typeface="Arial" charset="0"/>
                <a:ea typeface="+mn-ea"/>
                <a:cs typeface="+mn-cs"/>
              </a:rPr>
              <a:t>Line 12</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Create the Transform Result object.</a:t>
            </a:r>
          </a:p>
          <a:p>
            <a:r>
              <a:rPr lang="en-US" sz="1000" b="1" kern="1200" dirty="0" smtClean="0">
                <a:solidFill>
                  <a:schemeClr val="tx1"/>
                </a:solidFill>
                <a:effectLst/>
                <a:latin typeface="Arial" charset="0"/>
                <a:ea typeface="+mn-ea"/>
                <a:cs typeface="+mn-cs"/>
              </a:rPr>
              <a:t>Line 14</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Create the JSON payload.</a:t>
            </a:r>
          </a:p>
          <a:p>
            <a:pPr marL="171450" indent="-171450">
              <a:buFont typeface="Arial" panose="020B0604020202020204" pitchFamily="34" charset="0"/>
              <a:buChar char="•"/>
            </a:pPr>
            <a:r>
              <a:rPr lang="en-US" sz="1000" kern="1200" dirty="0" err="1" smtClean="0">
                <a:solidFill>
                  <a:schemeClr val="tx1"/>
                </a:solidFill>
                <a:effectLst/>
                <a:latin typeface="Arial" charset="0"/>
                <a:ea typeface="+mn-ea"/>
                <a:cs typeface="+mn-cs"/>
              </a:rPr>
              <a:t>toPrettyisonString</a:t>
            </a:r>
            <a:r>
              <a:rPr lang="en-US" sz="1000" kern="1200" dirty="0" smtClean="0">
                <a:solidFill>
                  <a:schemeClr val="tx1"/>
                </a:solidFill>
                <a:effectLst/>
                <a:latin typeface="Arial" charset="0"/>
                <a:ea typeface="+mn-ea"/>
                <a:cs typeface="+mn-cs"/>
              </a:rPr>
              <a:t> formats the output in multiple rows.</a:t>
            </a:r>
          </a:p>
          <a:p>
            <a:endParaRPr lang="en-US" sz="1000" kern="1200" dirty="0" smtClean="0">
              <a:solidFill>
                <a:schemeClr val="tx1"/>
              </a:solidFill>
              <a:effectLst/>
              <a:latin typeface="Arial" charset="0"/>
              <a:ea typeface="+mn-ea"/>
              <a:cs typeface="+mn-cs"/>
            </a:endParaRPr>
          </a:p>
          <a:p>
            <a:r>
              <a:rPr lang="en-US" sz="1000" b="1" kern="1200" dirty="0" err="1" smtClean="0">
                <a:solidFill>
                  <a:schemeClr val="tx1"/>
                </a:solidFill>
                <a:effectLst/>
                <a:latin typeface="Arial" charset="0"/>
                <a:ea typeface="+mn-ea"/>
                <a:cs typeface="+mn-cs"/>
              </a:rPr>
              <a:t>Json</a:t>
            </a:r>
            <a:r>
              <a:rPr lang="en-US" sz="1000" b="1" kern="1200" dirty="0" smtClean="0">
                <a:solidFill>
                  <a:schemeClr val="tx1"/>
                </a:solidFill>
                <a:effectLst/>
                <a:latin typeface="Arial" charset="0"/>
                <a:ea typeface="+mn-ea"/>
                <a:cs typeface="+mn-cs"/>
              </a:rPr>
              <a:t> Mapper</a:t>
            </a:r>
          </a:p>
          <a:p>
            <a:r>
              <a:rPr lang="en-US" sz="1000" kern="1200" dirty="0" smtClean="0">
                <a:solidFill>
                  <a:schemeClr val="tx1"/>
                </a:solidFill>
                <a:effectLst/>
                <a:latin typeface="Arial" charset="0"/>
                <a:ea typeface="+mn-ea"/>
                <a:cs typeface="+mn-cs"/>
              </a:rPr>
              <a:t>The </a:t>
            </a:r>
            <a:r>
              <a:rPr lang="en-US" sz="1000" kern="1200" dirty="0" err="1" smtClean="0">
                <a:solidFill>
                  <a:schemeClr val="tx1"/>
                </a:solidFill>
                <a:effectLst/>
                <a:latin typeface="Arial" charset="0"/>
                <a:ea typeface="+mn-ea"/>
                <a:cs typeface="+mn-cs"/>
              </a:rPr>
              <a:t>Json</a:t>
            </a:r>
            <a:r>
              <a:rPr lang="en-US" sz="1000" kern="1200" dirty="0" smtClean="0">
                <a:solidFill>
                  <a:schemeClr val="tx1"/>
                </a:solidFill>
                <a:effectLst/>
                <a:latin typeface="Arial" charset="0"/>
                <a:ea typeface="+mn-ea"/>
                <a:cs typeface="+mn-cs"/>
              </a:rPr>
              <a:t> Mapper interface provides runtime access to actually execute the mapper. The general way to obtain a </a:t>
            </a:r>
            <a:r>
              <a:rPr lang="en-US" sz="1000" kern="1200" dirty="0" err="1" smtClean="0">
                <a:solidFill>
                  <a:schemeClr val="tx1"/>
                </a:solidFill>
                <a:effectLst/>
                <a:latin typeface="Arial" charset="0"/>
                <a:ea typeface="+mn-ea"/>
                <a:cs typeface="+mn-cs"/>
              </a:rPr>
              <a:t>Json</a:t>
            </a:r>
            <a:r>
              <a:rPr lang="en-US" sz="1000" kern="1200" dirty="0" smtClean="0">
                <a:solidFill>
                  <a:schemeClr val="tx1"/>
                </a:solidFill>
                <a:effectLst/>
                <a:latin typeface="Arial" charset="0"/>
                <a:ea typeface="+mn-ea"/>
                <a:cs typeface="+mn-cs"/>
              </a:rPr>
              <a:t> Mapper instance is by using the </a:t>
            </a:r>
            <a:r>
              <a:rPr lang="en-US" sz="1000" kern="1200" dirty="0" err="1" smtClean="0">
                <a:solidFill>
                  <a:schemeClr val="tx1"/>
                </a:solidFill>
                <a:effectLst/>
                <a:latin typeface="Arial" charset="0"/>
                <a:ea typeface="+mn-ea"/>
                <a:cs typeface="+mn-cs"/>
              </a:rPr>
              <a:t>JsonConfigAccess</a:t>
            </a:r>
            <a:r>
              <a:rPr lang="en-US" sz="1000" kern="1200" dirty="0" smtClean="0">
                <a:solidFill>
                  <a:schemeClr val="tx1"/>
                </a:solidFill>
                <a:effectLst/>
                <a:latin typeface="Arial" charset="0"/>
                <a:ea typeface="+mn-ea"/>
                <a:cs typeface="+mn-cs"/>
              </a:rPr>
              <a:t> class to get a handle to the </a:t>
            </a:r>
            <a:r>
              <a:rPr lang="en-US" sz="1000" kern="1200" dirty="0" err="1" smtClean="0">
                <a:solidFill>
                  <a:schemeClr val="tx1"/>
                </a:solidFill>
                <a:effectLst/>
                <a:latin typeface="Arial" charset="0"/>
                <a:ea typeface="+mn-ea"/>
                <a:cs typeface="+mn-cs"/>
              </a:rPr>
              <a:t>JsonMapping</a:t>
            </a:r>
            <a:r>
              <a:rPr lang="en-US" sz="1000" kern="1200" dirty="0" smtClean="0">
                <a:solidFill>
                  <a:schemeClr val="tx1"/>
                </a:solidFill>
                <a:effectLst/>
                <a:latin typeface="Arial" charset="0"/>
                <a:ea typeface="+mn-ea"/>
                <a:cs typeface="+mn-cs"/>
              </a:rPr>
              <a:t>. </a:t>
            </a:r>
          </a:p>
          <a:p>
            <a:r>
              <a:rPr lang="en-US" sz="1000" kern="1200" dirty="0" smtClean="0">
                <a:solidFill>
                  <a:schemeClr val="tx1"/>
                </a:solidFill>
                <a:effectLst/>
                <a:latin typeface="Arial" charset="0"/>
                <a:ea typeface="+mn-ea"/>
                <a:cs typeface="+mn-cs"/>
              </a:rPr>
              <a:t>Once you have access to a </a:t>
            </a:r>
            <a:r>
              <a:rPr lang="en-US" sz="1000" kern="1200" dirty="0" err="1" smtClean="0">
                <a:solidFill>
                  <a:schemeClr val="tx1"/>
                </a:solidFill>
                <a:effectLst/>
                <a:latin typeface="Arial" charset="0"/>
                <a:ea typeface="+mn-ea"/>
                <a:cs typeface="+mn-cs"/>
              </a:rPr>
              <a:t>JsonMapper</a:t>
            </a:r>
            <a:r>
              <a:rPr lang="en-US" sz="1000" kern="1200" dirty="0" smtClean="0">
                <a:solidFill>
                  <a:schemeClr val="tx1"/>
                </a:solidFill>
                <a:effectLst/>
                <a:latin typeface="Arial" charset="0"/>
                <a:ea typeface="+mn-ea"/>
                <a:cs typeface="+mn-cs"/>
              </a:rPr>
              <a:t> instance, you can then invoke one of the </a:t>
            </a:r>
            <a:r>
              <a:rPr lang="en-US" sz="1000" kern="1200" dirty="0" err="1" smtClean="0">
                <a:solidFill>
                  <a:schemeClr val="tx1"/>
                </a:solidFill>
                <a:effectLst/>
                <a:latin typeface="Arial" charset="0"/>
                <a:ea typeface="+mn-ea"/>
                <a:cs typeface="+mn-cs"/>
              </a:rPr>
              <a:t>transformObject</a:t>
            </a:r>
            <a:r>
              <a:rPr lang="en-US" sz="1000" kern="1200" dirty="0" smtClean="0">
                <a:solidFill>
                  <a:schemeClr val="tx1"/>
                </a:solidFill>
                <a:effectLst/>
                <a:latin typeface="Arial" charset="0"/>
                <a:ea typeface="+mn-ea"/>
                <a:cs typeface="+mn-cs"/>
              </a:rPr>
              <a:t> or </a:t>
            </a:r>
            <a:r>
              <a:rPr lang="en-US" sz="1000" kern="1200" dirty="0" err="1" smtClean="0">
                <a:solidFill>
                  <a:schemeClr val="tx1"/>
                </a:solidFill>
                <a:effectLst/>
                <a:latin typeface="Arial" charset="0"/>
                <a:ea typeface="+mn-ea"/>
                <a:cs typeface="+mn-cs"/>
              </a:rPr>
              <a:t>transformObjects</a:t>
            </a:r>
            <a:r>
              <a:rPr lang="en-US" sz="1000" kern="1200" dirty="0" smtClean="0">
                <a:solidFill>
                  <a:schemeClr val="tx1"/>
                </a:solidFill>
                <a:effectLst/>
                <a:latin typeface="Arial" charset="0"/>
                <a:ea typeface="+mn-ea"/>
                <a:cs typeface="+mn-cs"/>
              </a:rPr>
              <a:t> method variants to obtain a </a:t>
            </a:r>
            <a:r>
              <a:rPr lang="en-US" sz="1000" kern="1200" dirty="0" err="1" smtClean="0">
                <a:solidFill>
                  <a:schemeClr val="tx1"/>
                </a:solidFill>
                <a:effectLst/>
                <a:latin typeface="Arial" charset="0"/>
                <a:ea typeface="+mn-ea"/>
                <a:cs typeface="+mn-cs"/>
              </a:rPr>
              <a:t>TransformResult</a:t>
            </a:r>
            <a:r>
              <a:rPr lang="en-US" sz="1000" kern="1200" dirty="0" smtClean="0">
                <a:solidFill>
                  <a:schemeClr val="tx1"/>
                </a:solidFill>
                <a:effectLst/>
                <a:latin typeface="Arial" charset="0"/>
                <a:ea typeface="+mn-ea"/>
                <a:cs typeface="+mn-cs"/>
              </a:rPr>
              <a:t> object.</a:t>
            </a:r>
          </a:p>
          <a:p>
            <a:endParaRPr lang="en-US" sz="1000" kern="1200" dirty="0" smtClean="0">
              <a:solidFill>
                <a:schemeClr val="tx1"/>
              </a:solidFill>
              <a:effectLst/>
              <a:latin typeface="Arial" charset="0"/>
              <a:ea typeface="+mn-ea"/>
              <a:cs typeface="+mn-cs"/>
            </a:endParaRPr>
          </a:p>
          <a:p>
            <a:r>
              <a:rPr lang="en-US" sz="1000" b="1" kern="1200" dirty="0" err="1" smtClean="0">
                <a:solidFill>
                  <a:schemeClr val="tx1"/>
                </a:solidFill>
                <a:effectLst/>
                <a:latin typeface="Arial" charset="0"/>
                <a:ea typeface="+mn-ea"/>
                <a:cs typeface="+mn-cs"/>
              </a:rPr>
              <a:t>TransformResult</a:t>
            </a:r>
            <a:endParaRPr lang="en-US" sz="1000" b="1" kern="1200" dirty="0" smtClean="0">
              <a:solidFill>
                <a:schemeClr val="tx1"/>
              </a:solidFill>
              <a:effectLst/>
              <a:latin typeface="Arial" charset="0"/>
              <a:ea typeface="+mn-ea"/>
              <a:cs typeface="+mn-cs"/>
            </a:endParaRPr>
          </a:p>
          <a:p>
            <a:r>
              <a:rPr lang="en-US" sz="1000" kern="1200" dirty="0" smtClean="0">
                <a:solidFill>
                  <a:schemeClr val="tx1"/>
                </a:solidFill>
                <a:effectLst/>
                <a:latin typeface="Arial" charset="0"/>
                <a:ea typeface="+mn-ea"/>
                <a:cs typeface="+mn-cs"/>
              </a:rPr>
              <a:t>The Transform Result object represents the results of a completed transform call: it contains the result of executing each of the path expressions against the supplied root object. The Transform Result is an</a:t>
            </a:r>
          </a:p>
          <a:p>
            <a:r>
              <a:rPr lang="en-US" sz="1000" kern="1200" dirty="0" smtClean="0">
                <a:solidFill>
                  <a:schemeClr val="tx1"/>
                </a:solidFill>
                <a:effectLst/>
                <a:latin typeface="Arial" charset="0"/>
                <a:ea typeface="+mn-ea"/>
                <a:cs typeface="+mn-cs"/>
              </a:rPr>
              <a:t>intermediate representation of the data that can then be serialized out to either JSON or XML. The Transform Result object is similar to a </a:t>
            </a:r>
            <a:r>
              <a:rPr lang="en-US" sz="1000" kern="1200" dirty="0" err="1" smtClean="0">
                <a:solidFill>
                  <a:schemeClr val="tx1"/>
                </a:solidFill>
                <a:effectLst/>
                <a:latin typeface="Arial" charset="0"/>
                <a:ea typeface="+mn-ea"/>
                <a:cs typeface="+mn-cs"/>
              </a:rPr>
              <a:t>Json</a:t>
            </a:r>
            <a:r>
              <a:rPr lang="en-US" sz="1000" kern="1200" dirty="0" smtClean="0">
                <a:solidFill>
                  <a:schemeClr val="tx1"/>
                </a:solidFill>
                <a:effectLst/>
                <a:latin typeface="Arial" charset="0"/>
                <a:ea typeface="+mn-ea"/>
                <a:cs typeface="+mn-cs"/>
              </a:rPr>
              <a:t> Object, in that it's mainly a map of property names to values,</a:t>
            </a:r>
          </a:p>
          <a:p>
            <a:r>
              <a:rPr lang="en-US" sz="1000" kern="1200" dirty="0" smtClean="0">
                <a:solidFill>
                  <a:schemeClr val="tx1"/>
                </a:solidFill>
                <a:effectLst/>
                <a:latin typeface="Arial" charset="0"/>
                <a:ea typeface="+mn-ea"/>
                <a:cs typeface="+mn-cs"/>
              </a:rPr>
              <a:t>but it differs in that each property value embeds information about the JSON Schema property it represents. Serializing out a </a:t>
            </a:r>
            <a:r>
              <a:rPr lang="en-US" sz="1000" kern="1200" dirty="0" err="1" smtClean="0">
                <a:solidFill>
                  <a:schemeClr val="tx1"/>
                </a:solidFill>
                <a:effectLst/>
                <a:latin typeface="Arial" charset="0"/>
                <a:ea typeface="+mn-ea"/>
                <a:cs typeface="+mn-cs"/>
              </a:rPr>
              <a:t>Json</a:t>
            </a:r>
            <a:r>
              <a:rPr lang="en-US" sz="1000" kern="1200" dirty="0" smtClean="0">
                <a:solidFill>
                  <a:schemeClr val="tx1"/>
                </a:solidFill>
                <a:effectLst/>
                <a:latin typeface="Arial" charset="0"/>
                <a:ea typeface="+mn-ea"/>
                <a:cs typeface="+mn-cs"/>
              </a:rPr>
              <a:t> Object requires passing the JSON Schema definition as an argument during</a:t>
            </a:r>
          </a:p>
          <a:p>
            <a:r>
              <a:rPr lang="en-US" sz="1000" kern="1200" dirty="0" smtClean="0">
                <a:solidFill>
                  <a:schemeClr val="tx1"/>
                </a:solidFill>
                <a:effectLst/>
                <a:latin typeface="Arial" charset="0"/>
                <a:ea typeface="+mn-ea"/>
                <a:cs typeface="+mn-cs"/>
              </a:rPr>
              <a:t>serialization, whereas the </a:t>
            </a:r>
            <a:r>
              <a:rPr lang="en-US" sz="1000" kern="1200" dirty="0" err="1" smtClean="0">
                <a:solidFill>
                  <a:schemeClr val="tx1"/>
                </a:solidFill>
                <a:effectLst/>
                <a:latin typeface="Arial" charset="0"/>
                <a:ea typeface="+mn-ea"/>
                <a:cs typeface="+mn-cs"/>
              </a:rPr>
              <a:t>TransformResult</a:t>
            </a:r>
            <a:r>
              <a:rPr lang="en-US" sz="1000" kern="1200" dirty="0" smtClean="0">
                <a:solidFill>
                  <a:schemeClr val="tx1"/>
                </a:solidFill>
                <a:effectLst/>
                <a:latin typeface="Arial" charset="0"/>
                <a:ea typeface="+mn-ea"/>
                <a:cs typeface="+mn-cs"/>
              </a:rPr>
              <a:t> has schema information already embedded in it and always serializes based on that schema. So you can just invoke methods like </a:t>
            </a:r>
            <a:r>
              <a:rPr lang="en-US" sz="1000" kern="1200" dirty="0" err="1" smtClean="0">
                <a:solidFill>
                  <a:schemeClr val="tx1"/>
                </a:solidFill>
                <a:effectLst/>
                <a:latin typeface="Arial" charset="0"/>
                <a:ea typeface="+mn-ea"/>
                <a:cs typeface="+mn-cs"/>
              </a:rPr>
              <a:t>toPrettyJsonString</a:t>
            </a:r>
            <a:r>
              <a:rPr lang="en-US" sz="1000" kern="1200" dirty="0" smtClean="0">
                <a:solidFill>
                  <a:schemeClr val="tx1"/>
                </a:solidFill>
                <a:effectLst/>
                <a:latin typeface="Arial" charset="0"/>
                <a:ea typeface="+mn-ea"/>
                <a:cs typeface="+mn-cs"/>
              </a:rPr>
              <a:t> or </a:t>
            </a:r>
            <a:r>
              <a:rPr lang="en-US" sz="1000" kern="1200" dirty="0" err="1" smtClean="0">
                <a:solidFill>
                  <a:schemeClr val="tx1"/>
                </a:solidFill>
                <a:effectLst/>
                <a:latin typeface="Arial" charset="0"/>
                <a:ea typeface="+mn-ea"/>
                <a:cs typeface="+mn-cs"/>
              </a:rPr>
              <a:t>toXmlString</a:t>
            </a:r>
            <a:r>
              <a:rPr lang="en-US" sz="1000" kern="1200" dirty="0" smtClean="0">
                <a:solidFill>
                  <a:schemeClr val="tx1"/>
                </a:solidFill>
                <a:effectLst/>
                <a:latin typeface="Arial" charset="0"/>
                <a:ea typeface="+mn-ea"/>
                <a:cs typeface="+mn-cs"/>
              </a:rPr>
              <a:t> directly.</a:t>
            </a:r>
          </a:p>
          <a:p>
            <a:endParaRPr lang="en-US" sz="1000" kern="1200" dirty="0" smtClean="0">
              <a:solidFill>
                <a:schemeClr val="tx1"/>
              </a:solidFill>
              <a:effectLst/>
              <a:latin typeface="Arial" charset="0"/>
              <a:ea typeface="+mn-ea"/>
              <a:cs typeface="+mn-cs"/>
            </a:endParaRPr>
          </a:p>
          <a:p>
            <a:r>
              <a:rPr lang="en-US" sz="1000" b="1" kern="1200" dirty="0" smtClean="0">
                <a:solidFill>
                  <a:schemeClr val="tx1"/>
                </a:solidFill>
                <a:effectLst/>
                <a:latin typeface="Arial" charset="0"/>
                <a:ea typeface="+mn-ea"/>
                <a:cs typeface="+mn-cs"/>
              </a:rPr>
              <a:t>Serialization Options</a:t>
            </a:r>
          </a:p>
          <a:p>
            <a:r>
              <a:rPr lang="en-US" sz="1000" kern="1200" dirty="0" smtClean="0">
                <a:solidFill>
                  <a:schemeClr val="tx1"/>
                </a:solidFill>
                <a:effectLst/>
                <a:latin typeface="Arial" charset="0"/>
                <a:ea typeface="+mn-ea"/>
                <a:cs typeface="+mn-cs"/>
              </a:rPr>
              <a:t>The various serialization methods on </a:t>
            </a:r>
            <a:r>
              <a:rPr lang="en-US" sz="1000" kern="1200" dirty="0" err="1" smtClean="0">
                <a:solidFill>
                  <a:schemeClr val="tx1"/>
                </a:solidFill>
                <a:effectLst/>
                <a:latin typeface="Arial" charset="0"/>
                <a:ea typeface="+mn-ea"/>
                <a:cs typeface="+mn-cs"/>
              </a:rPr>
              <a:t>TransformResult</a:t>
            </a:r>
            <a:r>
              <a:rPr lang="en-US" sz="1000" kern="1200" dirty="0" smtClean="0">
                <a:solidFill>
                  <a:schemeClr val="tx1"/>
                </a:solidFill>
                <a:effectLst/>
                <a:latin typeface="Arial" charset="0"/>
                <a:ea typeface="+mn-ea"/>
                <a:cs typeface="+mn-cs"/>
              </a:rPr>
              <a:t> objects can take an optional </a:t>
            </a:r>
            <a:r>
              <a:rPr lang="en-US" sz="1000" kern="1200" dirty="0" err="1" smtClean="0">
                <a:solidFill>
                  <a:schemeClr val="tx1"/>
                </a:solidFill>
                <a:effectLst/>
                <a:latin typeface="Arial" charset="0"/>
                <a:ea typeface="+mn-ea"/>
                <a:cs typeface="+mn-cs"/>
              </a:rPr>
              <a:t>JsonSerializationOptions</a:t>
            </a:r>
            <a:r>
              <a:rPr lang="en-US" sz="1000" kern="1200" dirty="0" smtClean="0">
                <a:solidFill>
                  <a:schemeClr val="tx1"/>
                </a:solidFill>
                <a:effectLst/>
                <a:latin typeface="Arial" charset="0"/>
                <a:ea typeface="+mn-ea"/>
                <a:cs typeface="+mn-cs"/>
              </a:rPr>
              <a:t> object, which controls aspects of how the serialization works. By default, serializing a </a:t>
            </a:r>
            <a:r>
              <a:rPr lang="en-US" sz="1000" kern="1200" dirty="0" err="1" smtClean="0">
                <a:solidFill>
                  <a:schemeClr val="tx1"/>
                </a:solidFill>
                <a:effectLst/>
                <a:latin typeface="Arial" charset="0"/>
                <a:ea typeface="+mn-ea"/>
                <a:cs typeface="+mn-cs"/>
              </a:rPr>
              <a:t>TransformResult</a:t>
            </a:r>
            <a:r>
              <a:rPr lang="en-US" sz="1000" kern="1200" dirty="0" smtClean="0">
                <a:solidFill>
                  <a:schemeClr val="tx1"/>
                </a:solidFill>
                <a:effectLst/>
                <a:latin typeface="Arial" charset="0"/>
                <a:ea typeface="+mn-ea"/>
                <a:cs typeface="+mn-cs"/>
              </a:rPr>
              <a:t> will ignore</a:t>
            </a:r>
          </a:p>
          <a:p>
            <a:r>
              <a:rPr lang="en-US" sz="1000" kern="1200" dirty="0" smtClean="0">
                <a:solidFill>
                  <a:schemeClr val="tx1"/>
                </a:solidFill>
                <a:effectLst/>
                <a:latin typeface="Arial" charset="0"/>
                <a:ea typeface="+mn-ea"/>
                <a:cs typeface="+mn-cs"/>
              </a:rPr>
              <a:t>null properties, null list items, and empty arrays. (Note that this last default is different from default </a:t>
            </a:r>
            <a:r>
              <a:rPr lang="en-US" sz="1000" kern="1200" dirty="0" err="1" smtClean="0">
                <a:solidFill>
                  <a:schemeClr val="tx1"/>
                </a:solidFill>
                <a:effectLst/>
                <a:latin typeface="Arial" charset="0"/>
                <a:ea typeface="+mn-ea"/>
                <a:cs typeface="+mn-cs"/>
              </a:rPr>
              <a:t>JsonObject</a:t>
            </a:r>
            <a:r>
              <a:rPr lang="en-US" sz="1000" kern="1200" dirty="0" smtClean="0">
                <a:solidFill>
                  <a:schemeClr val="tx1"/>
                </a:solidFill>
                <a:effectLst/>
                <a:latin typeface="Arial" charset="0"/>
                <a:ea typeface="+mn-ea"/>
                <a:cs typeface="+mn-cs"/>
              </a:rPr>
              <a:t> serialization. The reason is that entity arrays are never null, and mappings will often be used with entities. You can use the</a:t>
            </a:r>
          </a:p>
          <a:p>
            <a:r>
              <a:rPr lang="en-US" sz="1000" kern="1200" dirty="0" err="1" smtClean="0">
                <a:solidFill>
                  <a:schemeClr val="tx1"/>
                </a:solidFill>
                <a:effectLst/>
                <a:latin typeface="Arial" charset="0"/>
                <a:ea typeface="+mn-ea"/>
                <a:cs typeface="+mn-cs"/>
              </a:rPr>
              <a:t>JsonSerializationOptions</a:t>
            </a:r>
            <a:r>
              <a:rPr lang="en-US" sz="1000" kern="1200" dirty="0" smtClean="0">
                <a:solidFill>
                  <a:schemeClr val="tx1"/>
                </a:solidFill>
                <a:effectLst/>
                <a:latin typeface="Arial" charset="0"/>
                <a:ea typeface="+mn-ea"/>
                <a:cs typeface="+mn-cs"/>
              </a:rPr>
              <a:t> to change that serialization behavior, though note that including null properties or elements will require that the associated JSON Schema properties or items be marked as x-</a:t>
            </a:r>
            <a:r>
              <a:rPr lang="en-US" sz="1000" kern="1200" dirty="0" err="1" smtClean="0">
                <a:solidFill>
                  <a:schemeClr val="tx1"/>
                </a:solidFill>
                <a:effectLst/>
                <a:latin typeface="Arial" charset="0"/>
                <a:ea typeface="+mn-ea"/>
                <a:cs typeface="+mn-cs"/>
              </a:rPr>
              <a:t>gw</a:t>
            </a:r>
            <a:r>
              <a:rPr lang="en-US" sz="1000" kern="1200" dirty="0" smtClean="0">
                <a:solidFill>
                  <a:schemeClr val="tx1"/>
                </a:solidFill>
                <a:effectLst/>
                <a:latin typeface="Arial" charset="0"/>
                <a:ea typeface="+mn-ea"/>
                <a:cs typeface="+mn-cs"/>
              </a:rPr>
              <a:t>-</a:t>
            </a:r>
            <a:r>
              <a:rPr lang="en-US" sz="1000" kern="1200" dirty="0" err="1" smtClean="0">
                <a:solidFill>
                  <a:schemeClr val="tx1"/>
                </a:solidFill>
                <a:effectLst/>
                <a:latin typeface="Arial" charset="0"/>
                <a:ea typeface="+mn-ea"/>
                <a:cs typeface="+mn-cs"/>
              </a:rPr>
              <a:t>nullable</a:t>
            </a:r>
            <a:r>
              <a:rPr lang="en-US" sz="1000" kern="1200" dirty="0" smtClean="0">
                <a:solidFill>
                  <a:schemeClr val="tx1"/>
                </a:solidFill>
                <a:effectLst/>
                <a:latin typeface="Arial" charset="0"/>
                <a:ea typeface="+mn-ea"/>
                <a:cs typeface="+mn-cs"/>
              </a:rPr>
              <a:t>.</a:t>
            </a:r>
          </a:p>
          <a:p>
            <a:endParaRPr lang="en-US" sz="1000" kern="1200" dirty="0" smtClean="0">
              <a:solidFill>
                <a:schemeClr val="tx1"/>
              </a:solidFill>
              <a:effectLst/>
              <a:latin typeface="Arial" charset="0"/>
              <a:ea typeface="+mn-ea"/>
              <a:cs typeface="+mn-cs"/>
            </a:endParaRPr>
          </a:p>
          <a:p>
            <a:r>
              <a:rPr lang="en-US" sz="1000" kern="1200" dirty="0" smtClean="0">
                <a:solidFill>
                  <a:schemeClr val="tx1"/>
                </a:solidFill>
                <a:effectLst/>
                <a:latin typeface="Arial" charset="0"/>
                <a:ea typeface="+mn-ea"/>
                <a:cs typeface="+mn-cs"/>
              </a:rPr>
              <a:t>The </a:t>
            </a:r>
            <a:r>
              <a:rPr lang="en-US" sz="1000" kern="1200" dirty="0" err="1" smtClean="0">
                <a:solidFill>
                  <a:schemeClr val="tx1"/>
                </a:solidFill>
                <a:effectLst/>
                <a:latin typeface="Arial" charset="0"/>
                <a:ea typeface="+mn-ea"/>
                <a:cs typeface="+mn-cs"/>
              </a:rPr>
              <a:t>JsonSerialization</a:t>
            </a:r>
            <a:r>
              <a:rPr lang="en-US" sz="1000" kern="1200" dirty="0" smtClean="0">
                <a:solidFill>
                  <a:schemeClr val="tx1"/>
                </a:solidFill>
                <a:effectLst/>
                <a:latin typeface="Arial" charset="0"/>
                <a:ea typeface="+mn-ea"/>
                <a:cs typeface="+mn-cs"/>
              </a:rPr>
              <a:t> Options can also be used to include some special properties on the root object when the data is serialized, for example the fully-qualified name of the schema. definition, the correlation ID of the current request (if</a:t>
            </a:r>
          </a:p>
          <a:p>
            <a:r>
              <a:rPr lang="en-US" sz="1000" kern="1200" dirty="0" smtClean="0">
                <a:solidFill>
                  <a:schemeClr val="tx1"/>
                </a:solidFill>
                <a:effectLst/>
                <a:latin typeface="Arial" charset="0"/>
                <a:ea typeface="+mn-ea"/>
                <a:cs typeface="+mn-cs"/>
              </a:rPr>
              <a:t>any), or the timestamp at which the transform was executed. These options are only valid for serialization to JSON. See the </a:t>
            </a:r>
            <a:r>
              <a:rPr lang="en-US" sz="1000" kern="1200" dirty="0" err="1" smtClean="0">
                <a:solidFill>
                  <a:schemeClr val="tx1"/>
                </a:solidFill>
                <a:effectLst/>
                <a:latin typeface="Arial" charset="0"/>
                <a:ea typeface="+mn-ea"/>
                <a:cs typeface="+mn-cs"/>
              </a:rPr>
              <a:t>javadoc</a:t>
            </a:r>
            <a:r>
              <a:rPr lang="en-US" sz="1000" kern="1200" dirty="0" smtClean="0">
                <a:solidFill>
                  <a:schemeClr val="tx1"/>
                </a:solidFill>
                <a:effectLst/>
                <a:latin typeface="Arial" charset="0"/>
                <a:ea typeface="+mn-ea"/>
                <a:cs typeface="+mn-cs"/>
              </a:rPr>
              <a:t> on </a:t>
            </a:r>
            <a:r>
              <a:rPr lang="en-US" sz="1000" kern="1200" dirty="0" err="1" smtClean="0">
                <a:solidFill>
                  <a:schemeClr val="tx1"/>
                </a:solidFill>
                <a:effectLst/>
                <a:latin typeface="Arial" charset="0"/>
                <a:ea typeface="+mn-ea"/>
                <a:cs typeface="+mn-cs"/>
              </a:rPr>
              <a:t>JsonSerialization</a:t>
            </a:r>
            <a:r>
              <a:rPr lang="en-US" sz="1000" kern="1200" dirty="0" smtClean="0">
                <a:solidFill>
                  <a:schemeClr val="tx1"/>
                </a:solidFill>
                <a:effectLst/>
                <a:latin typeface="Arial" charset="0"/>
                <a:ea typeface="+mn-ea"/>
                <a:cs typeface="+mn-cs"/>
              </a:rPr>
              <a:t> Options for more details.</a:t>
            </a:r>
          </a:p>
          <a:p>
            <a:endParaRPr lang="en-US" sz="1000" kern="1200" dirty="0" smtClean="0">
              <a:solidFill>
                <a:schemeClr val="tx1"/>
              </a:solidFill>
              <a:effectLst/>
              <a:latin typeface="Arial" charset="0"/>
              <a:ea typeface="+mn-ea"/>
              <a:cs typeface="+mn-cs"/>
            </a:endParaRPr>
          </a:p>
          <a:p>
            <a:r>
              <a:rPr lang="en-US" sz="1000" b="1" kern="1200" dirty="0" smtClean="0">
                <a:solidFill>
                  <a:schemeClr val="tx1"/>
                </a:solidFill>
                <a:effectLst/>
                <a:latin typeface="Arial" charset="0"/>
                <a:ea typeface="+mn-ea"/>
                <a:cs typeface="+mn-cs"/>
              </a:rPr>
              <a:t>Usage in REST</a:t>
            </a:r>
          </a:p>
          <a:p>
            <a:r>
              <a:rPr lang="en-US" sz="1000" kern="1200" dirty="0" smtClean="0">
                <a:solidFill>
                  <a:schemeClr val="tx1"/>
                </a:solidFill>
                <a:effectLst/>
                <a:latin typeface="Arial" charset="0"/>
                <a:ea typeface="+mn-ea"/>
                <a:cs typeface="+mn-cs"/>
              </a:rPr>
              <a:t>In REST API implementations, a Transform Result can be returned directly by a handler method or embedded as the entity in a Response object. There's no need to explicitly call any of the serialization methods like </a:t>
            </a:r>
            <a:r>
              <a:rPr lang="en-US" sz="1000" kern="1200" dirty="0" err="1" smtClean="0">
                <a:solidFill>
                  <a:schemeClr val="tx1"/>
                </a:solidFill>
                <a:effectLst/>
                <a:latin typeface="Arial" charset="0"/>
                <a:ea typeface="+mn-ea"/>
                <a:cs typeface="+mn-cs"/>
              </a:rPr>
              <a:t>toJsonString</a:t>
            </a:r>
            <a:r>
              <a:rPr lang="en-US" sz="1000" kern="1200" dirty="0" smtClean="0">
                <a:solidFill>
                  <a:schemeClr val="tx1"/>
                </a:solidFill>
                <a:effectLst/>
                <a:latin typeface="Arial" charset="0"/>
                <a:ea typeface="+mn-ea"/>
                <a:cs typeface="+mn-cs"/>
              </a:rPr>
              <a:t>; the REST</a:t>
            </a:r>
          </a:p>
          <a:p>
            <a:r>
              <a:rPr lang="en-US" sz="1000" kern="1200" dirty="0" smtClean="0">
                <a:solidFill>
                  <a:schemeClr val="tx1"/>
                </a:solidFill>
                <a:effectLst/>
                <a:latin typeface="Arial" charset="0"/>
                <a:ea typeface="+mn-ea"/>
                <a:cs typeface="+mn-cs"/>
              </a:rPr>
              <a:t>API Framework itself will serialize the Transform Result appropriately based on the negotiated content type of the response.</a:t>
            </a:r>
          </a:p>
          <a:p>
            <a:endParaRPr lang="en-US" sz="1000" kern="1200" dirty="0" smtClean="0">
              <a:solidFill>
                <a:schemeClr val="tx1"/>
              </a:solidFill>
              <a:effectLst/>
              <a:latin typeface="Arial" charset="0"/>
              <a:ea typeface="+mn-ea"/>
              <a:cs typeface="+mn-cs"/>
            </a:endParaRPr>
          </a:p>
          <a:p>
            <a:endParaRPr lang="en-US" dirty="0" smtClean="0">
              <a:latin typeface="Arial" pitchFamily="34" charset="0"/>
            </a:endParaRPr>
          </a:p>
        </p:txBody>
      </p:sp>
      <p:sp>
        <p:nvSpPr>
          <p:cNvPr id="4" name="Slide Number Placeholder 3"/>
          <p:cNvSpPr>
            <a:spLocks noGrp="1"/>
          </p:cNvSpPr>
          <p:nvPr>
            <p:ph type="sldNum" sz="quarter" idx="5"/>
          </p:nvPr>
        </p:nvSpPr>
        <p:spPr/>
        <p:txBody>
          <a:bodyPr/>
          <a:lstStyle/>
          <a:p>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r>
              <a:rPr kumimoji="0" lang="en-US" altLang="en-US" sz="12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1200" b="0" i="0" u="none" strike="noStrike" kern="1200" cap="none" spc="0" normalizeH="0" baseline="0" noProof="0" dirty="0">
                <a:ln>
                  <a:noFill/>
                </a:ln>
                <a:solidFill>
                  <a:srgbClr val="000000"/>
                </a:solidFill>
                <a:effectLst/>
                <a:uLnTx/>
                <a:uFillTx/>
                <a:latin typeface="Arial" charset="0"/>
                <a:ea typeface="+mn-ea"/>
                <a:cs typeface="+mn-cs"/>
              </a:rPr>
              <a:t>Introduction to the Guidewire </a:t>
            </a:r>
            <a:r>
              <a:rPr kumimoji="0" lang="en-US" sz="1200" b="0" i="0" u="none" strike="noStrike" kern="1200" cap="none" spc="0" normalizeH="0" baseline="0" noProof="0" dirty="0" smtClean="0">
                <a:ln>
                  <a:noFill/>
                </a:ln>
                <a:solidFill>
                  <a:srgbClr val="000000"/>
                </a:solidFill>
                <a:effectLst/>
                <a:uLnTx/>
                <a:uFillTx/>
                <a:latin typeface="Arial" charset="0"/>
                <a:ea typeface="+mn-ea"/>
                <a:cs typeface="+mn-cs"/>
              </a:rPr>
              <a:t>8.0 Releases - </a:t>
            </a:r>
            <a:fld id="{A8D045CE-4F6E-4FD7-9EC5-1A8550823B38}" type="slidenum">
              <a:rPr kumimoji="0" lang="en-US" alt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t>20</a:t>
            </a:fld>
            <a:endParaRPr kumimoji="0" lang="en-US" alt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5" name="Header Placeholder 4"/>
          <p:cNvSpPr>
            <a:spLocks noGrp="1"/>
          </p:cNvSpPr>
          <p:nvPr>
            <p:ph type="hdr" sz="quarter"/>
          </p:nvPr>
        </p:nvSpPr>
        <p:spPr/>
        <p:txBody>
          <a:bodyPr/>
          <a:lstStyle/>
          <a:p>
            <a:pPr marL="0" marR="0" lvl="0" indent="0" algn="l" defTabSz="942975" rtl="0" eaLnBrk="0" fontAlgn="base" latinLnBrk="0" hangingPunct="0">
              <a:lnSpc>
                <a:spcPts val="1875"/>
              </a:lnSpc>
              <a:spcBef>
                <a:spcPts val="625"/>
              </a:spcBef>
              <a:spcAft>
                <a:spcPct val="0"/>
              </a:spcAft>
              <a:buClrTx/>
              <a:buSzTx/>
              <a:buFont typeface="Wingdings" pitchFamily="2" charset="2"/>
              <a:buNone/>
              <a:tabLst>
                <a:tab pos="5591175" algn="r"/>
              </a:tabLst>
              <a:defRPr/>
            </a:pPr>
            <a:r>
              <a:rPr kumimoji="0" lang="en-US" altLang="en-US" sz="1200" b="0" i="0" u="none" strike="noStrike" kern="1200" cap="none" spc="0" normalizeH="0" baseline="0" noProof="0" dirty="0" smtClean="0">
                <a:ln>
                  <a:noFill/>
                </a:ln>
                <a:solidFill>
                  <a:srgbClr val="000000"/>
                </a:solidFill>
                <a:effectLst/>
                <a:uLnTx/>
                <a:uFillTx/>
                <a:latin typeface="Arial"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8410094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000" b="1" kern="1200" dirty="0" smtClean="0">
                <a:solidFill>
                  <a:schemeClr val="tx1"/>
                </a:solidFill>
                <a:effectLst/>
                <a:latin typeface="Arial" charset="0"/>
                <a:ea typeface="+mn-ea"/>
                <a:cs typeface="+mn-cs"/>
              </a:rPr>
              <a:t>Code example</a:t>
            </a:r>
          </a:p>
          <a:p>
            <a:r>
              <a:rPr lang="en-US" sz="1000" b="1" kern="1200" dirty="0" smtClean="0">
                <a:solidFill>
                  <a:schemeClr val="tx1"/>
                </a:solidFill>
                <a:effectLst/>
                <a:latin typeface="Arial" charset="0"/>
                <a:ea typeface="+mn-ea"/>
                <a:cs typeface="+mn-cs"/>
              </a:rPr>
              <a:t>Line 14</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Create XML payload</a:t>
            </a:r>
          </a:p>
          <a:p>
            <a:endParaRPr lang="en-US" sz="1000" kern="1200" dirty="0" smtClean="0">
              <a:solidFill>
                <a:schemeClr val="tx1"/>
              </a:solidFill>
              <a:effectLst/>
              <a:latin typeface="Arial" charset="0"/>
              <a:ea typeface="+mn-ea"/>
              <a:cs typeface="+mn-cs"/>
            </a:endParaRPr>
          </a:p>
          <a:p>
            <a:r>
              <a:rPr lang="en-US" sz="1000" b="1" kern="1200" dirty="0" smtClean="0">
                <a:solidFill>
                  <a:schemeClr val="tx1"/>
                </a:solidFill>
                <a:effectLst/>
                <a:latin typeface="Arial" charset="0"/>
                <a:ea typeface="+mn-ea"/>
                <a:cs typeface="+mn-cs"/>
              </a:rPr>
              <a:t>XML Output</a:t>
            </a:r>
          </a:p>
          <a:p>
            <a:r>
              <a:rPr lang="en-US" sz="1000" kern="1200" dirty="0" smtClean="0">
                <a:solidFill>
                  <a:schemeClr val="tx1"/>
                </a:solidFill>
                <a:effectLst/>
                <a:latin typeface="Arial" charset="0"/>
                <a:ea typeface="+mn-ea"/>
                <a:cs typeface="+mn-cs"/>
              </a:rPr>
              <a:t>The </a:t>
            </a:r>
            <a:r>
              <a:rPr lang="en-US" sz="1000" kern="1200" dirty="0" err="1" smtClean="0">
                <a:solidFill>
                  <a:schemeClr val="tx1"/>
                </a:solidFill>
                <a:effectLst/>
                <a:latin typeface="Arial" charset="0"/>
                <a:ea typeface="+mn-ea"/>
                <a:cs typeface="+mn-cs"/>
              </a:rPr>
              <a:t>JsonObject</a:t>
            </a:r>
            <a:r>
              <a:rPr lang="en-US" sz="1000" kern="1200" dirty="0" smtClean="0">
                <a:solidFill>
                  <a:schemeClr val="tx1"/>
                </a:solidFill>
                <a:effectLst/>
                <a:latin typeface="Arial" charset="0"/>
                <a:ea typeface="+mn-ea"/>
                <a:cs typeface="+mn-cs"/>
              </a:rPr>
              <a:t> and Transform Result classes both support serialization to XML rather than serialization to JSON. In both cases, exactly the same serialization and validation rules apply to serializing out to XML as to</a:t>
            </a:r>
          </a:p>
          <a:p>
            <a:r>
              <a:rPr lang="en-US" sz="1000" kern="1200" dirty="0" smtClean="0">
                <a:solidFill>
                  <a:schemeClr val="tx1"/>
                </a:solidFill>
                <a:effectLst/>
                <a:latin typeface="Arial" charset="0"/>
                <a:ea typeface="+mn-ea"/>
                <a:cs typeface="+mn-cs"/>
              </a:rPr>
              <a:t>JSON, it is merely the output format that differs. </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To serialize a </a:t>
            </a:r>
            <a:r>
              <a:rPr lang="en-US" sz="1000" kern="1200" dirty="0" err="1" smtClean="0">
                <a:solidFill>
                  <a:schemeClr val="tx1"/>
                </a:solidFill>
                <a:effectLst/>
                <a:latin typeface="Arial" charset="0"/>
                <a:ea typeface="+mn-ea"/>
                <a:cs typeface="+mn-cs"/>
              </a:rPr>
              <a:t>JsonObject</a:t>
            </a:r>
            <a:r>
              <a:rPr lang="en-US" sz="1000" kern="1200" dirty="0" smtClean="0">
                <a:solidFill>
                  <a:schemeClr val="tx1"/>
                </a:solidFill>
                <a:effectLst/>
                <a:latin typeface="Arial" charset="0"/>
                <a:ea typeface="+mn-ea"/>
                <a:cs typeface="+mn-cs"/>
              </a:rPr>
              <a:t> to XML invoke one of the </a:t>
            </a:r>
            <a:r>
              <a:rPr lang="en-US" sz="1000" kern="1200" dirty="0" err="1" smtClean="0">
                <a:solidFill>
                  <a:schemeClr val="tx1"/>
                </a:solidFill>
                <a:effectLst/>
                <a:latin typeface="Arial" charset="0"/>
                <a:ea typeface="+mn-ea"/>
                <a:cs typeface="+mn-cs"/>
              </a:rPr>
              <a:t>toXmlElement</a:t>
            </a:r>
            <a:r>
              <a:rPr lang="en-US" sz="1000" kern="1200" dirty="0" smtClean="0">
                <a:solidFill>
                  <a:schemeClr val="tx1"/>
                </a:solidFill>
                <a:effectLst/>
                <a:latin typeface="Arial" charset="0"/>
                <a:ea typeface="+mn-ea"/>
                <a:cs typeface="+mn-cs"/>
              </a:rPr>
              <a:t> methods and then serialize the </a:t>
            </a:r>
            <a:r>
              <a:rPr lang="en-US" sz="1000" kern="1200" dirty="0" err="1" smtClean="0">
                <a:solidFill>
                  <a:schemeClr val="tx1"/>
                </a:solidFill>
                <a:effectLst/>
                <a:latin typeface="Arial" charset="0"/>
                <a:ea typeface="+mn-ea"/>
                <a:cs typeface="+mn-cs"/>
              </a:rPr>
              <a:t>XmlElement</a:t>
            </a:r>
            <a:r>
              <a:rPr lang="en-US" sz="1000" kern="1200" dirty="0" smtClean="0">
                <a:solidFill>
                  <a:schemeClr val="tx1"/>
                </a:solidFill>
                <a:effectLst/>
                <a:latin typeface="Arial" charset="0"/>
                <a:ea typeface="+mn-ea"/>
                <a:cs typeface="+mn-cs"/>
              </a:rPr>
              <a:t> as desired </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To serialize a </a:t>
            </a:r>
            <a:r>
              <a:rPr lang="en-US" sz="1000" kern="1200" dirty="0" err="1" smtClean="0">
                <a:solidFill>
                  <a:schemeClr val="tx1"/>
                </a:solidFill>
                <a:effectLst/>
                <a:latin typeface="Arial" charset="0"/>
                <a:ea typeface="+mn-ea"/>
                <a:cs typeface="+mn-cs"/>
              </a:rPr>
              <a:t>TransformResult</a:t>
            </a:r>
            <a:r>
              <a:rPr lang="en-US" sz="1000" kern="1200" dirty="0" smtClean="0">
                <a:solidFill>
                  <a:schemeClr val="tx1"/>
                </a:solidFill>
                <a:effectLst/>
                <a:latin typeface="Arial" charset="0"/>
                <a:ea typeface="+mn-ea"/>
                <a:cs typeface="+mn-cs"/>
              </a:rPr>
              <a:t> to XML, invoke one of the </a:t>
            </a:r>
            <a:r>
              <a:rPr lang="en-US" sz="1000" kern="1200" dirty="0" err="1" smtClean="0">
                <a:solidFill>
                  <a:schemeClr val="tx1"/>
                </a:solidFill>
                <a:effectLst/>
                <a:latin typeface="Arial" charset="0"/>
                <a:ea typeface="+mn-ea"/>
                <a:cs typeface="+mn-cs"/>
              </a:rPr>
              <a:t>toXmlElement</a:t>
            </a:r>
            <a:r>
              <a:rPr lang="en-US" sz="1000" kern="1200" dirty="0" smtClean="0">
                <a:solidFill>
                  <a:schemeClr val="tx1"/>
                </a:solidFill>
                <a:effectLst/>
                <a:latin typeface="Arial" charset="0"/>
                <a:ea typeface="+mn-ea"/>
                <a:cs typeface="+mn-cs"/>
              </a:rPr>
              <a:t> methods and then serialize the </a:t>
            </a:r>
            <a:r>
              <a:rPr lang="en-US" sz="1000" kern="1200" dirty="0" err="1" smtClean="0">
                <a:solidFill>
                  <a:schemeClr val="tx1"/>
                </a:solidFill>
                <a:effectLst/>
                <a:latin typeface="Arial" charset="0"/>
                <a:ea typeface="+mn-ea"/>
                <a:cs typeface="+mn-cs"/>
              </a:rPr>
              <a:t>XmlElement</a:t>
            </a:r>
            <a:r>
              <a:rPr lang="en-US" sz="1000" kern="1200" dirty="0" smtClean="0">
                <a:solidFill>
                  <a:schemeClr val="tx1"/>
                </a:solidFill>
                <a:effectLst/>
                <a:latin typeface="Arial" charset="0"/>
                <a:ea typeface="+mn-ea"/>
                <a:cs typeface="+mn-cs"/>
              </a:rPr>
              <a:t> as desired, or call one of the </a:t>
            </a:r>
            <a:r>
              <a:rPr lang="en-US" sz="1000" kern="1200" dirty="0" err="1" smtClean="0">
                <a:solidFill>
                  <a:schemeClr val="tx1"/>
                </a:solidFill>
                <a:effectLst/>
                <a:latin typeface="Arial" charset="0"/>
                <a:ea typeface="+mn-ea"/>
                <a:cs typeface="+mn-cs"/>
              </a:rPr>
              <a:t>toXmlString</a:t>
            </a:r>
            <a:r>
              <a:rPr lang="en-US" sz="1000" kern="1200" dirty="0" smtClean="0">
                <a:solidFill>
                  <a:schemeClr val="tx1"/>
                </a:solidFill>
                <a:effectLst/>
                <a:latin typeface="Arial" charset="0"/>
                <a:ea typeface="+mn-ea"/>
                <a:cs typeface="+mn-cs"/>
              </a:rPr>
              <a:t> convenience method</a:t>
            </a:r>
          </a:p>
          <a:p>
            <a:r>
              <a:rPr lang="en-US" sz="1000" kern="1200" dirty="0" smtClean="0">
                <a:solidFill>
                  <a:schemeClr val="tx1"/>
                </a:solidFill>
                <a:effectLst/>
                <a:latin typeface="Arial" charset="0"/>
                <a:ea typeface="+mn-ea"/>
                <a:cs typeface="+mn-cs"/>
              </a:rPr>
              <a:t>In addition, if a </a:t>
            </a:r>
            <a:r>
              <a:rPr lang="en-US" sz="1000" kern="1200" dirty="0" err="1" smtClean="0">
                <a:solidFill>
                  <a:schemeClr val="tx1"/>
                </a:solidFill>
                <a:effectLst/>
                <a:latin typeface="Arial" charset="0"/>
                <a:ea typeface="+mn-ea"/>
                <a:cs typeface="+mn-cs"/>
              </a:rPr>
              <a:t>TransformResult</a:t>
            </a:r>
            <a:r>
              <a:rPr lang="en-US" sz="1000" kern="1200" dirty="0" smtClean="0">
                <a:solidFill>
                  <a:schemeClr val="tx1"/>
                </a:solidFill>
                <a:effectLst/>
                <a:latin typeface="Arial" charset="0"/>
                <a:ea typeface="+mn-ea"/>
                <a:cs typeface="+mn-cs"/>
              </a:rPr>
              <a:t> on </a:t>
            </a:r>
            <a:r>
              <a:rPr lang="en-US" sz="1000" kern="1200" dirty="0" err="1" smtClean="0">
                <a:solidFill>
                  <a:schemeClr val="tx1"/>
                </a:solidFill>
                <a:effectLst/>
                <a:latin typeface="Arial" charset="0"/>
                <a:ea typeface="+mn-ea"/>
                <a:cs typeface="+mn-cs"/>
              </a:rPr>
              <a:t>JsonObject</a:t>
            </a:r>
            <a:r>
              <a:rPr lang="en-US" sz="1000" kern="1200" dirty="0" smtClean="0">
                <a:solidFill>
                  <a:schemeClr val="tx1"/>
                </a:solidFill>
                <a:effectLst/>
                <a:latin typeface="Arial" charset="0"/>
                <a:ea typeface="+mn-ea"/>
                <a:cs typeface="+mn-cs"/>
              </a:rPr>
              <a:t> is returned from a REST API handler, the REST API Framework will automatically serialize the data to XML if the negotiated content type is "application/xml" or "text/xml".</a:t>
            </a:r>
          </a:p>
          <a:p>
            <a:endParaRPr lang="en-US" sz="1000" kern="1200" dirty="0" smtClean="0">
              <a:solidFill>
                <a:schemeClr val="tx1"/>
              </a:solidFill>
              <a:effectLst/>
              <a:latin typeface="Arial" charset="0"/>
              <a:ea typeface="+mn-ea"/>
              <a:cs typeface="+mn-cs"/>
            </a:endParaRPr>
          </a:p>
          <a:p>
            <a:pPr marL="0" indent="0">
              <a:buFont typeface="Arial" panose="020B0604020202020204" pitchFamily="34" charset="0"/>
              <a:buNone/>
            </a:pPr>
            <a:r>
              <a:rPr lang="en-US" sz="1000" b="1" kern="1200" dirty="0" smtClean="0">
                <a:solidFill>
                  <a:schemeClr val="tx1"/>
                </a:solidFill>
                <a:effectLst/>
                <a:latin typeface="Arial" charset="0"/>
                <a:ea typeface="+mn-ea"/>
                <a:cs typeface="+mn-cs"/>
              </a:rPr>
              <a:t>XSD Translation</a:t>
            </a:r>
            <a:r>
              <a:rPr lang="en-US" sz="1000" kern="1200" dirty="0" smtClean="0">
                <a:solidFill>
                  <a:schemeClr val="tx1"/>
                </a:solidFill>
                <a:effectLst/>
                <a:latin typeface="Arial" charset="0"/>
                <a:ea typeface="+mn-ea"/>
                <a:cs typeface="+mn-cs"/>
              </a:rPr>
              <a:t/>
            </a:r>
            <a:br>
              <a:rPr lang="en-US" sz="1000" kern="1200" dirty="0" smtClean="0">
                <a:solidFill>
                  <a:schemeClr val="tx1"/>
                </a:solidFill>
                <a:effectLst/>
                <a:latin typeface="Arial" charset="0"/>
                <a:ea typeface="+mn-ea"/>
                <a:cs typeface="+mn-cs"/>
              </a:rPr>
            </a:br>
            <a:r>
              <a:rPr lang="en-US" sz="1000" kern="1200" dirty="0" smtClean="0">
                <a:solidFill>
                  <a:schemeClr val="tx1"/>
                </a:solidFill>
                <a:effectLst/>
                <a:latin typeface="Arial" charset="0"/>
                <a:ea typeface="+mn-ea"/>
                <a:cs typeface="+mn-cs"/>
              </a:rPr>
              <a:t>The XML that is output from serializing a </a:t>
            </a:r>
            <a:r>
              <a:rPr lang="en-US" sz="1000" kern="1200" dirty="0" err="1" smtClean="0">
                <a:solidFill>
                  <a:schemeClr val="tx1"/>
                </a:solidFill>
                <a:effectLst/>
                <a:latin typeface="Arial" charset="0"/>
                <a:ea typeface="+mn-ea"/>
                <a:cs typeface="+mn-cs"/>
              </a:rPr>
              <a:t>JsonObject</a:t>
            </a:r>
            <a:r>
              <a:rPr lang="en-US" sz="1000" kern="1200" dirty="0" smtClean="0">
                <a:solidFill>
                  <a:schemeClr val="tx1"/>
                </a:solidFill>
                <a:effectLst/>
                <a:latin typeface="Arial" charset="0"/>
                <a:ea typeface="+mn-ea"/>
                <a:cs typeface="+mn-cs"/>
              </a:rPr>
              <a:t> with a schema, or </a:t>
            </a:r>
            <a:r>
              <a:rPr lang="en-US" sz="1000" kern="1200" dirty="0" err="1" smtClean="0">
                <a:solidFill>
                  <a:schemeClr val="tx1"/>
                </a:solidFill>
                <a:effectLst/>
                <a:latin typeface="Arial" charset="0"/>
                <a:ea typeface="+mn-ea"/>
                <a:cs typeface="+mn-cs"/>
              </a:rPr>
              <a:t>TransformResult</a:t>
            </a:r>
            <a:r>
              <a:rPr lang="en-US" sz="1000" kern="1200" dirty="0" smtClean="0">
                <a:solidFill>
                  <a:schemeClr val="tx1"/>
                </a:solidFill>
                <a:effectLst/>
                <a:latin typeface="Arial" charset="0"/>
                <a:ea typeface="+mn-ea"/>
                <a:cs typeface="+mn-cs"/>
              </a:rPr>
              <a:t> (which always has a schema), will conform to the XSD that is produced as a transformation on the JSON Schema. In general, the translation to an XSD follows the following rules:</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The generated XSD will have a single namespace of </a:t>
            </a:r>
            <a:r>
              <a:rPr lang="en-US" sz="1000" b="1" u="sng" kern="1200" dirty="0" smtClean="0">
                <a:solidFill>
                  <a:schemeClr val="tx1"/>
                </a:solidFill>
                <a:effectLst/>
                <a:latin typeface="Arial" charset="0"/>
                <a:ea typeface="+mn-ea"/>
                <a:cs typeface="+mn-cs"/>
                <a:hlinkClick r:id="rId3"/>
              </a:rPr>
              <a:t>http://guidewire.com</a:t>
            </a:r>
            <a:r>
              <a:rPr lang="en-US" sz="1000" b="1" kern="1200" dirty="0" smtClean="0">
                <a:solidFill>
                  <a:schemeClr val="tx1"/>
                </a:solidFill>
                <a:effectLst/>
                <a:latin typeface="Arial" charset="0"/>
                <a:ea typeface="+mn-ea"/>
                <a:cs typeface="+mn-cs"/>
              </a:rPr>
              <a:t>/xsd/&lt;schema-fqn&gt;</a:t>
            </a:r>
            <a:r>
              <a:rPr lang="en-US" sz="1000" kern="1200" dirty="0" smtClean="0">
                <a:solidFill>
                  <a:schemeClr val="tx1"/>
                </a:solidFill>
                <a:effectLst/>
                <a:latin typeface="Arial" charset="0"/>
                <a:ea typeface="+mn-ea"/>
                <a:cs typeface="+mn-cs"/>
              </a:rPr>
              <a:t> by default; this can be overridden by specifying the x-</a:t>
            </a:r>
            <a:r>
              <a:rPr lang="en-US" sz="1000" kern="1200" dirty="0" err="1" smtClean="0">
                <a:solidFill>
                  <a:schemeClr val="tx1"/>
                </a:solidFill>
                <a:effectLst/>
                <a:latin typeface="Arial" charset="0"/>
                <a:ea typeface="+mn-ea"/>
                <a:cs typeface="+mn-cs"/>
              </a:rPr>
              <a:t>gw</a:t>
            </a:r>
            <a:r>
              <a:rPr lang="en-US" sz="1000" kern="1200" dirty="0" smtClean="0">
                <a:solidFill>
                  <a:schemeClr val="tx1"/>
                </a:solidFill>
                <a:effectLst/>
                <a:latin typeface="Arial" charset="0"/>
                <a:ea typeface="+mn-ea"/>
                <a:cs typeface="+mn-cs"/>
              </a:rPr>
              <a:t>-xml property on the root of the JSON Schema, and setting the </a:t>
            </a:r>
            <a:r>
              <a:rPr lang="en-US" sz="1000" b="1" kern="1200" dirty="0" smtClean="0">
                <a:solidFill>
                  <a:schemeClr val="tx1"/>
                </a:solidFill>
                <a:effectLst/>
                <a:latin typeface="Arial" charset="0"/>
                <a:ea typeface="+mn-ea"/>
                <a:cs typeface="+mn-cs"/>
              </a:rPr>
              <a:t>namespace</a:t>
            </a:r>
            <a:r>
              <a:rPr lang="en-US" sz="1000" kern="1200" dirty="0" smtClean="0">
                <a:solidFill>
                  <a:schemeClr val="tx1"/>
                </a:solidFill>
                <a:effectLst/>
                <a:latin typeface="Arial" charset="0"/>
                <a:ea typeface="+mn-ea"/>
                <a:cs typeface="+mn-cs"/>
              </a:rPr>
              <a:t> attribute</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All JSON Schema definitions are translated into XSD complex Types as well as top-level elements that reference those types, i.e. any such element is a legal document root</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By default, definition properties are mapped to sub-elements rather than attributes, unless the schema property specifies the x-</a:t>
            </a:r>
            <a:r>
              <a:rPr lang="en-US" sz="1000" kern="1200" dirty="0" err="1" smtClean="0">
                <a:solidFill>
                  <a:schemeClr val="tx1"/>
                </a:solidFill>
                <a:effectLst/>
                <a:latin typeface="Arial" charset="0"/>
                <a:ea typeface="+mn-ea"/>
                <a:cs typeface="+mn-cs"/>
              </a:rPr>
              <a:t>gw</a:t>
            </a:r>
            <a:r>
              <a:rPr lang="en-US" sz="1000" kern="1200" dirty="0" smtClean="0">
                <a:solidFill>
                  <a:schemeClr val="tx1"/>
                </a:solidFill>
                <a:effectLst/>
                <a:latin typeface="Arial" charset="0"/>
                <a:ea typeface="+mn-ea"/>
                <a:cs typeface="+mn-cs"/>
              </a:rPr>
              <a:t>-xml element and sets the attribute property to true</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Properties under an</a:t>
            </a:r>
            <a:r>
              <a:rPr lang="en-US" sz="1000" kern="1200" baseline="0" dirty="0" smtClean="0">
                <a:solidFill>
                  <a:schemeClr val="tx1"/>
                </a:solidFill>
                <a:effectLst/>
                <a:latin typeface="Arial" charset="0"/>
                <a:ea typeface="+mn-ea"/>
                <a:cs typeface="+mn-cs"/>
              </a:rPr>
              <a:t> </a:t>
            </a:r>
            <a:r>
              <a:rPr lang="en-US" sz="1000" kern="1200" dirty="0" smtClean="0">
                <a:solidFill>
                  <a:schemeClr val="tx1"/>
                </a:solidFill>
                <a:effectLst/>
                <a:latin typeface="Arial" charset="0"/>
                <a:ea typeface="+mn-ea"/>
                <a:cs typeface="+mn-cs"/>
              </a:rPr>
              <a:t>element will be unordered in the XML and given an </a:t>
            </a:r>
            <a:r>
              <a:rPr lang="en-US" sz="1000" b="1" kern="1200" dirty="0" err="1" smtClean="0">
                <a:solidFill>
                  <a:schemeClr val="tx1"/>
                </a:solidFill>
                <a:effectLst/>
                <a:latin typeface="Arial" charset="0"/>
                <a:ea typeface="+mn-ea"/>
                <a:cs typeface="+mn-cs"/>
              </a:rPr>
              <a:t>xs:all</a:t>
            </a:r>
            <a:r>
              <a:rPr lang="en-US" sz="1000" kern="1200" dirty="0" smtClean="0">
                <a:solidFill>
                  <a:schemeClr val="tx1"/>
                </a:solidFill>
                <a:effectLst/>
                <a:latin typeface="Arial" charset="0"/>
                <a:ea typeface="+mn-ea"/>
                <a:cs typeface="+mn-cs"/>
              </a:rPr>
              <a:t> in the XSD rather than an </a:t>
            </a:r>
            <a:r>
              <a:rPr lang="en-US" sz="1000" b="1" kern="1200" dirty="0" err="1" smtClean="0">
                <a:solidFill>
                  <a:schemeClr val="tx1"/>
                </a:solidFill>
                <a:effectLst/>
                <a:latin typeface="Arial" charset="0"/>
                <a:ea typeface="+mn-ea"/>
                <a:cs typeface="+mn-cs"/>
              </a:rPr>
              <a:t>xs:sequence</a:t>
            </a:r>
            <a:endParaRPr lang="en-US" sz="1000" b="1" kern="1200" dirty="0" smtClean="0">
              <a:solidFill>
                <a:schemeClr val="tx1"/>
              </a:solidFill>
              <a:effectLst/>
              <a:latin typeface="Arial" charset="0"/>
              <a:ea typeface="+mn-ea"/>
              <a:cs typeface="+mn-cs"/>
            </a:endParaRP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The element or attribute</a:t>
            </a:r>
            <a:r>
              <a:rPr lang="en-US" sz="1000" kern="1200" baseline="0" dirty="0" smtClean="0">
                <a:solidFill>
                  <a:schemeClr val="tx1"/>
                </a:solidFill>
                <a:effectLst/>
                <a:latin typeface="Arial" charset="0"/>
                <a:ea typeface="+mn-ea"/>
                <a:cs typeface="+mn-cs"/>
              </a:rPr>
              <a:t> </a:t>
            </a:r>
            <a:r>
              <a:rPr lang="en-US" sz="1000" kern="1200" dirty="0" smtClean="0">
                <a:solidFill>
                  <a:schemeClr val="tx1"/>
                </a:solidFill>
                <a:effectLst/>
                <a:latin typeface="Arial" charset="0"/>
                <a:ea typeface="+mn-ea"/>
                <a:cs typeface="+mn-cs"/>
              </a:rPr>
              <a:t>name for a property name will have the same name in an XSD as the JSON Schema property, but the name will be adjusted if it is not a legal XML element or attribute name</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Arrays will always be wrapped in a container element, with individual elements of the array wrapped in elements. The item elements will default to having a name based on the referenced object definition (if the elements are objects) or have the same  name as the containing property (if the elements are scalars). The x-</a:t>
            </a:r>
            <a:r>
              <a:rPr lang="en-US" sz="1000" kern="1200" dirty="0" err="1" smtClean="0">
                <a:solidFill>
                  <a:schemeClr val="tx1"/>
                </a:solidFill>
                <a:effectLst/>
                <a:latin typeface="Arial" charset="0"/>
                <a:ea typeface="+mn-ea"/>
                <a:cs typeface="+mn-cs"/>
              </a:rPr>
              <a:t>gw</a:t>
            </a:r>
            <a:r>
              <a:rPr lang="en-US" sz="1000" kern="1200" dirty="0" smtClean="0">
                <a:solidFill>
                  <a:schemeClr val="tx1"/>
                </a:solidFill>
                <a:effectLst/>
                <a:latin typeface="Arial" charset="0"/>
                <a:ea typeface="+mn-ea"/>
                <a:cs typeface="+mn-cs"/>
              </a:rPr>
              <a:t>-xml element can be specified on the items and given a name</a:t>
            </a:r>
            <a:r>
              <a:rPr lang="en-US" sz="1000" kern="1200" baseline="0" dirty="0" smtClean="0">
                <a:solidFill>
                  <a:schemeClr val="tx1"/>
                </a:solidFill>
                <a:effectLst/>
                <a:latin typeface="Arial" charset="0"/>
                <a:ea typeface="+mn-ea"/>
                <a:cs typeface="+mn-cs"/>
              </a:rPr>
              <a:t> </a:t>
            </a:r>
            <a:r>
              <a:rPr lang="en-US" sz="1000" kern="1200" dirty="0" smtClean="0">
                <a:solidFill>
                  <a:schemeClr val="tx1"/>
                </a:solidFill>
                <a:effectLst/>
                <a:latin typeface="Arial" charset="0"/>
                <a:ea typeface="+mn-ea"/>
                <a:cs typeface="+mn-cs"/>
              </a:rPr>
              <a:t>property to explicitly name the child elements.</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JSON data types will map to equivalent XSD data types, when available</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Validation constraints like </a:t>
            </a:r>
            <a:r>
              <a:rPr lang="en-US" sz="1000" kern="1200" dirty="0" err="1" smtClean="0">
                <a:solidFill>
                  <a:schemeClr val="tx1"/>
                </a:solidFill>
                <a:effectLst/>
                <a:latin typeface="Arial" charset="0"/>
                <a:ea typeface="+mn-ea"/>
                <a:cs typeface="+mn-cs"/>
              </a:rPr>
              <a:t>minLength</a:t>
            </a:r>
            <a:r>
              <a:rPr lang="en-US" sz="1000" kern="1200" dirty="0" smtClean="0">
                <a:solidFill>
                  <a:schemeClr val="tx1"/>
                </a:solidFill>
                <a:effectLst/>
                <a:latin typeface="Arial" charset="0"/>
                <a:ea typeface="+mn-ea"/>
                <a:cs typeface="+mn-cs"/>
              </a:rPr>
              <a:t> or  </a:t>
            </a:r>
            <a:r>
              <a:rPr lang="en-US" sz="1000" kern="1200" dirty="0" err="1" smtClean="0">
                <a:solidFill>
                  <a:schemeClr val="tx1"/>
                </a:solidFill>
                <a:effectLst/>
                <a:latin typeface="Arial" charset="0"/>
                <a:ea typeface="+mn-ea"/>
                <a:cs typeface="+mn-cs"/>
              </a:rPr>
              <a:t>maxLength</a:t>
            </a:r>
            <a:r>
              <a:rPr lang="en-US" sz="1000" kern="1200" dirty="0" smtClean="0">
                <a:solidFill>
                  <a:schemeClr val="tx1"/>
                </a:solidFill>
                <a:effectLst/>
                <a:latin typeface="Arial" charset="0"/>
                <a:ea typeface="+mn-ea"/>
                <a:cs typeface="+mn-cs"/>
              </a:rPr>
              <a:t> on </a:t>
            </a:r>
            <a:r>
              <a:rPr lang="en-US" sz="1000" kern="1200" dirty="0" err="1" smtClean="0">
                <a:solidFill>
                  <a:schemeClr val="tx1"/>
                </a:solidFill>
                <a:effectLst/>
                <a:latin typeface="Arial" charset="0"/>
                <a:ea typeface="+mn-ea"/>
                <a:cs typeface="+mn-cs"/>
              </a:rPr>
              <a:t>theproperty</a:t>
            </a:r>
            <a:r>
              <a:rPr lang="en-US" sz="1000" kern="1200" dirty="0" smtClean="0">
                <a:solidFill>
                  <a:schemeClr val="tx1"/>
                </a:solidFill>
                <a:effectLst/>
                <a:latin typeface="Arial" charset="0"/>
                <a:ea typeface="+mn-ea"/>
                <a:cs typeface="+mn-cs"/>
              </a:rPr>
              <a:t> will be reproduced in the XSD where possible</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A schema definition that contains additional Properties will be mapped into an XSD if no explicitly-named properties are defined on the definition, but will be represented as an </a:t>
            </a:r>
            <a:r>
              <a:rPr lang="en-US" sz="1000" kern="1200" dirty="0" err="1" smtClean="0">
                <a:solidFill>
                  <a:schemeClr val="tx1"/>
                </a:solidFill>
                <a:effectLst/>
                <a:latin typeface="Arial" charset="0"/>
                <a:ea typeface="+mn-ea"/>
                <a:cs typeface="+mn-cs"/>
              </a:rPr>
              <a:t>xs:any</a:t>
            </a:r>
            <a:r>
              <a:rPr lang="en-US" sz="1000" kern="1200" dirty="0" smtClean="0">
                <a:solidFill>
                  <a:schemeClr val="tx1"/>
                </a:solidFill>
                <a:effectLst/>
                <a:latin typeface="Arial" charset="0"/>
                <a:ea typeface="+mn-ea"/>
                <a:cs typeface="+mn-cs"/>
              </a:rPr>
              <a:t> if </a:t>
            </a:r>
            <a:r>
              <a:rPr lang="en-US" sz="1000" kern="1200" dirty="0" err="1" smtClean="0">
                <a:solidFill>
                  <a:schemeClr val="tx1"/>
                </a:solidFill>
                <a:effectLst/>
                <a:latin typeface="Arial" charset="0"/>
                <a:ea typeface="+mn-ea"/>
                <a:cs typeface="+mn-cs"/>
              </a:rPr>
              <a:t>additionalProperties</a:t>
            </a:r>
            <a:r>
              <a:rPr lang="en-US" sz="1000" kern="1200" dirty="0" smtClean="0">
                <a:solidFill>
                  <a:schemeClr val="tx1"/>
                </a:solidFill>
                <a:effectLst/>
                <a:latin typeface="Arial" charset="0"/>
                <a:ea typeface="+mn-ea"/>
                <a:cs typeface="+mn-cs"/>
              </a:rPr>
              <a:t> is mixed with explicitly-named elements</a:t>
            </a:r>
            <a:br>
              <a:rPr lang="en-US" sz="1000" kern="1200" dirty="0" smtClean="0">
                <a:solidFill>
                  <a:schemeClr val="tx1"/>
                </a:solidFill>
                <a:effectLst/>
                <a:latin typeface="Arial" charset="0"/>
                <a:ea typeface="+mn-ea"/>
                <a:cs typeface="+mn-cs"/>
              </a:rPr>
            </a:br>
            <a:r>
              <a:rPr lang="en-US" sz="1000" kern="1200" dirty="0" smtClean="0">
                <a:solidFill>
                  <a:schemeClr val="tx1"/>
                </a:solidFill>
                <a:effectLst/>
                <a:latin typeface="Arial" charset="0"/>
                <a:ea typeface="+mn-ea"/>
                <a:cs typeface="+mn-cs"/>
              </a:rPr>
              <a:t/>
            </a:r>
            <a:br>
              <a:rPr lang="en-US" sz="1000" kern="1200" dirty="0" smtClean="0">
                <a:solidFill>
                  <a:schemeClr val="tx1"/>
                </a:solidFill>
                <a:effectLst/>
                <a:latin typeface="Arial" charset="0"/>
                <a:ea typeface="+mn-ea"/>
                <a:cs typeface="+mn-cs"/>
              </a:rPr>
            </a:br>
            <a:endParaRPr lang="en-US" sz="1000" kern="1200" dirty="0" smtClean="0">
              <a:solidFill>
                <a:schemeClr val="tx1"/>
              </a:solidFill>
              <a:effectLst/>
              <a:latin typeface="Arial" charset="0"/>
              <a:ea typeface="+mn-ea"/>
              <a:cs typeface="+mn-cs"/>
            </a:endParaRPr>
          </a:p>
          <a:p>
            <a:endParaRPr lang="en-US" dirty="0" smtClean="0">
              <a:latin typeface="Arial" pitchFamily="34" charset="0"/>
            </a:endParaRPr>
          </a:p>
        </p:txBody>
      </p:sp>
      <p:sp>
        <p:nvSpPr>
          <p:cNvPr id="4" name="Slide Number Placeholder 3"/>
          <p:cNvSpPr>
            <a:spLocks noGrp="1"/>
          </p:cNvSpPr>
          <p:nvPr>
            <p:ph type="sldNum" sz="quarter" idx="5"/>
          </p:nvPr>
        </p:nvSpPr>
        <p:spPr/>
        <p:txBody>
          <a:bodyPr/>
          <a:lstStyle/>
          <a:p>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r>
              <a:rPr kumimoji="0" lang="en-US" altLang="en-US" sz="12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1200" b="0" i="0" u="none" strike="noStrike" kern="1200" cap="none" spc="0" normalizeH="0" baseline="0" noProof="0" dirty="0">
                <a:ln>
                  <a:noFill/>
                </a:ln>
                <a:solidFill>
                  <a:srgbClr val="000000"/>
                </a:solidFill>
                <a:effectLst/>
                <a:uLnTx/>
                <a:uFillTx/>
                <a:latin typeface="Arial" charset="0"/>
                <a:ea typeface="+mn-ea"/>
                <a:cs typeface="+mn-cs"/>
              </a:rPr>
              <a:t>Introduction to the Guidewire </a:t>
            </a:r>
            <a:r>
              <a:rPr kumimoji="0" lang="en-US" sz="1200" b="0" i="0" u="none" strike="noStrike" kern="1200" cap="none" spc="0" normalizeH="0" baseline="0" noProof="0" dirty="0" smtClean="0">
                <a:ln>
                  <a:noFill/>
                </a:ln>
                <a:solidFill>
                  <a:srgbClr val="000000"/>
                </a:solidFill>
                <a:effectLst/>
                <a:uLnTx/>
                <a:uFillTx/>
                <a:latin typeface="Arial" charset="0"/>
                <a:ea typeface="+mn-ea"/>
                <a:cs typeface="+mn-cs"/>
              </a:rPr>
              <a:t>8.0 Releases - </a:t>
            </a:r>
            <a:fld id="{A8D045CE-4F6E-4FD7-9EC5-1A8550823B38}" type="slidenum">
              <a:rPr kumimoji="0" lang="en-US" alt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t>21</a:t>
            </a:fld>
            <a:endParaRPr kumimoji="0" lang="en-US" alt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5" name="Header Placeholder 4"/>
          <p:cNvSpPr>
            <a:spLocks noGrp="1"/>
          </p:cNvSpPr>
          <p:nvPr>
            <p:ph type="hdr" sz="quarter"/>
          </p:nvPr>
        </p:nvSpPr>
        <p:spPr/>
        <p:txBody>
          <a:bodyPr/>
          <a:lstStyle/>
          <a:p>
            <a:pPr marL="0" marR="0" lvl="0" indent="0" algn="l" defTabSz="942975" rtl="0" eaLnBrk="0" fontAlgn="base" latinLnBrk="0" hangingPunct="0">
              <a:lnSpc>
                <a:spcPts val="1875"/>
              </a:lnSpc>
              <a:spcBef>
                <a:spcPts val="625"/>
              </a:spcBef>
              <a:spcAft>
                <a:spcPct val="0"/>
              </a:spcAft>
              <a:buClrTx/>
              <a:buSzTx/>
              <a:buFont typeface="Wingdings" pitchFamily="2" charset="2"/>
              <a:buNone/>
              <a:tabLst>
                <a:tab pos="5591175" algn="r"/>
              </a:tabLst>
              <a:defRPr/>
            </a:pPr>
            <a:r>
              <a:rPr kumimoji="0" lang="en-US" altLang="en-US" sz="1200" b="0" i="0" u="none" strike="noStrike" kern="1200" cap="none" spc="0" normalizeH="0" baseline="0" noProof="0" dirty="0" smtClean="0">
                <a:ln>
                  <a:noFill/>
                </a:ln>
                <a:solidFill>
                  <a:srgbClr val="000000"/>
                </a:solidFill>
                <a:effectLst/>
                <a:uLnTx/>
                <a:uFillTx/>
                <a:latin typeface="Arial"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026569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000" b="1" kern="1200" dirty="0" smtClean="0">
                <a:solidFill>
                  <a:schemeClr val="tx1"/>
                </a:solidFill>
                <a:effectLst/>
                <a:latin typeface="Arial" charset="0"/>
                <a:ea typeface="+mn-ea"/>
                <a:cs typeface="+mn-cs"/>
              </a:rPr>
              <a:t>Code example</a:t>
            </a:r>
          </a:p>
          <a:p>
            <a:r>
              <a:rPr lang="en-US" sz="1000" b="1" kern="1200" dirty="0" smtClean="0">
                <a:solidFill>
                  <a:schemeClr val="tx1"/>
                </a:solidFill>
                <a:effectLst/>
                <a:latin typeface="Arial" charset="0"/>
                <a:ea typeface="+mn-ea"/>
                <a:cs typeface="+mn-cs"/>
              </a:rPr>
              <a:t>Line 13</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Create the </a:t>
            </a:r>
            <a:r>
              <a:rPr lang="en-US" sz="1000" kern="1200" dirty="0" err="1" smtClean="0">
                <a:solidFill>
                  <a:schemeClr val="tx1"/>
                </a:solidFill>
                <a:effectLst/>
                <a:latin typeface="Arial" charset="0"/>
                <a:ea typeface="+mn-ea"/>
                <a:cs typeface="+mn-cs"/>
              </a:rPr>
              <a:t>JsonMappingOptions</a:t>
            </a:r>
            <a:r>
              <a:rPr lang="en-US" sz="1000" kern="1200" dirty="0" smtClean="0">
                <a:solidFill>
                  <a:schemeClr val="tx1"/>
                </a:solidFill>
                <a:effectLst/>
                <a:latin typeface="Arial" charset="0"/>
                <a:ea typeface="+mn-ea"/>
                <a:cs typeface="+mn-cs"/>
              </a:rPr>
              <a:t> object.</a:t>
            </a:r>
          </a:p>
          <a:p>
            <a:r>
              <a:rPr lang="en-US" sz="1000" b="1" kern="1200" dirty="0" smtClean="0">
                <a:solidFill>
                  <a:schemeClr val="tx1"/>
                </a:solidFill>
                <a:effectLst/>
                <a:latin typeface="Arial" charset="0"/>
                <a:ea typeface="+mn-ea"/>
                <a:cs typeface="+mn-cs"/>
              </a:rPr>
              <a:t>Line 14</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Add the filter fully qualified path.</a:t>
            </a:r>
          </a:p>
          <a:p>
            <a:r>
              <a:rPr lang="en-US" sz="1000" b="1" kern="1200" dirty="0" smtClean="0">
                <a:solidFill>
                  <a:schemeClr val="tx1"/>
                </a:solidFill>
                <a:effectLst/>
                <a:latin typeface="Arial" charset="0"/>
                <a:ea typeface="+mn-ea"/>
                <a:cs typeface="+mn-cs"/>
              </a:rPr>
              <a:t>Line 16</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Create the </a:t>
            </a:r>
            <a:r>
              <a:rPr lang="en-US" sz="1000" kern="1200" dirty="0" err="1" smtClean="0">
                <a:solidFill>
                  <a:schemeClr val="tx1"/>
                </a:solidFill>
                <a:effectLst/>
                <a:latin typeface="Arial" charset="0"/>
                <a:ea typeface="+mn-ea"/>
                <a:cs typeface="+mn-cs"/>
              </a:rPr>
              <a:t>TransformResult</a:t>
            </a:r>
            <a:r>
              <a:rPr lang="en-US" sz="1000" kern="1200" dirty="0" smtClean="0">
                <a:solidFill>
                  <a:schemeClr val="tx1"/>
                </a:solidFill>
                <a:effectLst/>
                <a:latin typeface="Arial" charset="0"/>
                <a:ea typeface="+mn-ea"/>
                <a:cs typeface="+mn-cs"/>
              </a:rPr>
              <a:t> object with filter applied.</a:t>
            </a:r>
          </a:p>
          <a:p>
            <a:r>
              <a:rPr lang="en-US" sz="1000" b="1" kern="1200" dirty="0" smtClean="0">
                <a:solidFill>
                  <a:schemeClr val="tx1"/>
                </a:solidFill>
                <a:effectLst/>
                <a:latin typeface="Arial" charset="0"/>
                <a:ea typeface="+mn-ea"/>
                <a:cs typeface="+mn-cs"/>
              </a:rPr>
              <a:t>Output</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Only filtered fields are exported.</a:t>
            </a:r>
          </a:p>
          <a:p>
            <a:endParaRPr lang="en-US" sz="1000" kern="1200" dirty="0" smtClean="0">
              <a:solidFill>
                <a:schemeClr val="tx1"/>
              </a:solidFill>
              <a:effectLst/>
              <a:latin typeface="Arial" charset="0"/>
              <a:ea typeface="+mn-ea"/>
              <a:cs typeface="+mn-cs"/>
            </a:endParaRPr>
          </a:p>
          <a:p>
            <a:r>
              <a:rPr lang="en-US" sz="1000" b="1" kern="1200" dirty="0" err="1" smtClean="0">
                <a:solidFill>
                  <a:schemeClr val="tx1"/>
                </a:solidFill>
                <a:effectLst/>
                <a:latin typeface="Arial" charset="0"/>
                <a:ea typeface="+mn-ea"/>
                <a:cs typeface="+mn-cs"/>
              </a:rPr>
              <a:t>Json</a:t>
            </a:r>
            <a:r>
              <a:rPr lang="en-US" sz="1000" b="1" kern="1200" dirty="0" smtClean="0">
                <a:solidFill>
                  <a:schemeClr val="tx1"/>
                </a:solidFill>
                <a:effectLst/>
                <a:latin typeface="Arial" charset="0"/>
                <a:ea typeface="+mn-ea"/>
                <a:cs typeface="+mn-cs"/>
              </a:rPr>
              <a:t> Mapping Options</a:t>
            </a:r>
          </a:p>
          <a:p>
            <a:r>
              <a:rPr lang="en-US" sz="1000" kern="1200" dirty="0" smtClean="0">
                <a:solidFill>
                  <a:schemeClr val="tx1"/>
                </a:solidFill>
                <a:effectLst/>
                <a:latin typeface="Arial" charset="0"/>
                <a:ea typeface="+mn-ea"/>
                <a:cs typeface="+mn-cs"/>
              </a:rPr>
              <a:t>The </a:t>
            </a:r>
            <a:r>
              <a:rPr lang="en-US" sz="1000" kern="1200" dirty="0" err="1" smtClean="0">
                <a:solidFill>
                  <a:schemeClr val="tx1"/>
                </a:solidFill>
                <a:effectLst/>
                <a:latin typeface="Arial" charset="0"/>
                <a:ea typeface="+mn-ea"/>
                <a:cs typeface="+mn-cs"/>
              </a:rPr>
              <a:t>transformObject</a:t>
            </a:r>
            <a:r>
              <a:rPr lang="en-US" sz="1000" kern="1200" dirty="0" smtClean="0">
                <a:solidFill>
                  <a:schemeClr val="tx1"/>
                </a:solidFill>
                <a:effectLst/>
                <a:latin typeface="Arial" charset="0"/>
                <a:ea typeface="+mn-ea"/>
                <a:cs typeface="+mn-cs"/>
              </a:rPr>
              <a:t> methods can optionally take a </a:t>
            </a:r>
            <a:r>
              <a:rPr lang="en-US" sz="1000" kern="1200" dirty="0" err="1" smtClean="0">
                <a:solidFill>
                  <a:schemeClr val="tx1"/>
                </a:solidFill>
                <a:effectLst/>
                <a:latin typeface="Arial" charset="0"/>
                <a:ea typeface="+mn-ea"/>
                <a:cs typeface="+mn-cs"/>
              </a:rPr>
              <a:t>JsonMappingOptions</a:t>
            </a:r>
            <a:r>
              <a:rPr lang="en-US" sz="1000" kern="1200" dirty="0" smtClean="0">
                <a:solidFill>
                  <a:schemeClr val="tx1"/>
                </a:solidFill>
                <a:effectLst/>
                <a:latin typeface="Arial" charset="0"/>
                <a:ea typeface="+mn-ea"/>
                <a:cs typeface="+mn-cs"/>
              </a:rPr>
              <a:t> object that can change some aspects of how the transform is performed. The </a:t>
            </a:r>
            <a:r>
              <a:rPr lang="en-US" sz="1000" kern="1200" dirty="0" err="1" smtClean="0">
                <a:solidFill>
                  <a:schemeClr val="tx1"/>
                </a:solidFill>
                <a:effectLst/>
                <a:latin typeface="Arial" charset="0"/>
                <a:ea typeface="+mn-ea"/>
                <a:cs typeface="+mn-cs"/>
              </a:rPr>
              <a:t>JsonMappingOptions</a:t>
            </a:r>
            <a:r>
              <a:rPr lang="en-US" sz="1000" kern="1200" dirty="0" smtClean="0">
                <a:solidFill>
                  <a:schemeClr val="tx1"/>
                </a:solidFill>
                <a:effectLst/>
                <a:latin typeface="Arial" charset="0"/>
                <a:ea typeface="+mn-ea"/>
                <a:cs typeface="+mn-cs"/>
              </a:rPr>
              <a:t> object is the mechanism for applying a </a:t>
            </a:r>
            <a:r>
              <a:rPr lang="en-US" sz="1000" kern="1200" dirty="0" err="1" smtClean="0">
                <a:solidFill>
                  <a:schemeClr val="tx1"/>
                </a:solidFill>
                <a:effectLst/>
                <a:latin typeface="Arial" charset="0"/>
                <a:ea typeface="+mn-ea"/>
                <a:cs typeface="+mn-cs"/>
              </a:rPr>
              <a:t>GraphQL</a:t>
            </a:r>
            <a:r>
              <a:rPr lang="en-US" sz="1000" kern="1200" dirty="0" smtClean="0">
                <a:solidFill>
                  <a:schemeClr val="tx1"/>
                </a:solidFill>
                <a:effectLst/>
                <a:latin typeface="Arial" charset="0"/>
                <a:ea typeface="+mn-ea"/>
                <a:cs typeface="+mn-cs"/>
              </a:rPr>
              <a:t> filter to the mapping.</a:t>
            </a:r>
          </a:p>
          <a:p>
            <a:endParaRPr lang="en-US" dirty="0" smtClean="0">
              <a:latin typeface="Arial" pitchFamily="34" charset="0"/>
            </a:endParaRPr>
          </a:p>
        </p:txBody>
      </p:sp>
      <p:sp>
        <p:nvSpPr>
          <p:cNvPr id="4" name="Slide Number Placeholder 3"/>
          <p:cNvSpPr>
            <a:spLocks noGrp="1"/>
          </p:cNvSpPr>
          <p:nvPr>
            <p:ph type="sldNum" sz="quarter" idx="5"/>
          </p:nvPr>
        </p:nvSpPr>
        <p:spPr/>
        <p:txBody>
          <a:bodyPr/>
          <a:lstStyle/>
          <a:p>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r>
              <a:rPr kumimoji="0" lang="en-US" altLang="en-US" sz="12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1200" b="0" i="0" u="none" strike="noStrike" kern="1200" cap="none" spc="0" normalizeH="0" baseline="0" noProof="0" dirty="0">
                <a:ln>
                  <a:noFill/>
                </a:ln>
                <a:solidFill>
                  <a:srgbClr val="000000"/>
                </a:solidFill>
                <a:effectLst/>
                <a:uLnTx/>
                <a:uFillTx/>
                <a:latin typeface="Arial" charset="0"/>
                <a:ea typeface="+mn-ea"/>
                <a:cs typeface="+mn-cs"/>
              </a:rPr>
              <a:t>Introduction to the Guidewire </a:t>
            </a:r>
            <a:r>
              <a:rPr kumimoji="0" lang="en-US" sz="1200" b="0" i="0" u="none" strike="noStrike" kern="1200" cap="none" spc="0" normalizeH="0" baseline="0" noProof="0" dirty="0" smtClean="0">
                <a:ln>
                  <a:noFill/>
                </a:ln>
                <a:solidFill>
                  <a:srgbClr val="000000"/>
                </a:solidFill>
                <a:effectLst/>
                <a:uLnTx/>
                <a:uFillTx/>
                <a:latin typeface="Arial" charset="0"/>
                <a:ea typeface="+mn-ea"/>
                <a:cs typeface="+mn-cs"/>
              </a:rPr>
              <a:t>8.0 Releases - </a:t>
            </a:r>
            <a:fld id="{A8D045CE-4F6E-4FD7-9EC5-1A8550823B38}" type="slidenum">
              <a:rPr kumimoji="0" lang="en-US" alt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t>22</a:t>
            </a:fld>
            <a:endParaRPr kumimoji="0" lang="en-US" alt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5" name="Header Placeholder 4"/>
          <p:cNvSpPr>
            <a:spLocks noGrp="1"/>
          </p:cNvSpPr>
          <p:nvPr>
            <p:ph type="hdr" sz="quarter"/>
          </p:nvPr>
        </p:nvSpPr>
        <p:spPr/>
        <p:txBody>
          <a:bodyPr/>
          <a:lstStyle/>
          <a:p>
            <a:pPr marL="0" marR="0" lvl="0" indent="0" algn="l" defTabSz="942975" rtl="0" eaLnBrk="0" fontAlgn="base" latinLnBrk="0" hangingPunct="0">
              <a:lnSpc>
                <a:spcPts val="1875"/>
              </a:lnSpc>
              <a:spcBef>
                <a:spcPts val="625"/>
              </a:spcBef>
              <a:spcAft>
                <a:spcPct val="0"/>
              </a:spcAft>
              <a:buClrTx/>
              <a:buSzTx/>
              <a:buFont typeface="Wingdings" pitchFamily="2" charset="2"/>
              <a:buNone/>
              <a:tabLst>
                <a:tab pos="5591175" algn="r"/>
              </a:tabLst>
              <a:defRPr/>
            </a:pPr>
            <a:r>
              <a:rPr kumimoji="0" lang="en-US" altLang="en-US" sz="1200" b="0" i="0" u="none" strike="noStrike" kern="1200" cap="none" spc="0" normalizeH="0" baseline="0" noProof="0" dirty="0" smtClean="0">
                <a:ln>
                  <a:noFill/>
                </a:ln>
                <a:solidFill>
                  <a:srgbClr val="000000"/>
                </a:solidFill>
                <a:effectLst/>
                <a:uLnTx/>
                <a:uFillTx/>
                <a:latin typeface="Arial"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67220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000" b="1" kern="1200" dirty="0" smtClean="0">
                <a:solidFill>
                  <a:schemeClr val="tx1"/>
                </a:solidFill>
                <a:effectLst/>
                <a:latin typeface="Arial" charset="0"/>
                <a:ea typeface="+mn-ea"/>
                <a:cs typeface="+mn-cs"/>
              </a:rPr>
              <a:t>Code example – Succeed Insurance is extending the </a:t>
            </a:r>
            <a:r>
              <a:rPr lang="en-US" sz="1000" b="1" kern="1200" dirty="0" err="1" smtClean="0">
                <a:solidFill>
                  <a:schemeClr val="tx1"/>
                </a:solidFill>
                <a:effectLst/>
                <a:latin typeface="Arial" charset="0"/>
                <a:ea typeface="+mn-ea"/>
                <a:cs typeface="+mn-cs"/>
              </a:rPr>
              <a:t>TrainingApp</a:t>
            </a:r>
            <a:r>
              <a:rPr lang="en-US" sz="1000" b="1" kern="1200" dirty="0" smtClean="0">
                <a:solidFill>
                  <a:schemeClr val="tx1"/>
                </a:solidFill>
                <a:effectLst/>
                <a:latin typeface="Arial" charset="0"/>
                <a:ea typeface="+mn-ea"/>
                <a:cs typeface="+mn-cs"/>
              </a:rPr>
              <a:t> contact schema</a:t>
            </a:r>
          </a:p>
          <a:p>
            <a:r>
              <a:rPr lang="en-US" sz="1000" b="1" kern="1200" dirty="0" smtClean="0">
                <a:solidFill>
                  <a:schemeClr val="tx1"/>
                </a:solidFill>
                <a:effectLst/>
                <a:latin typeface="Arial" charset="0"/>
                <a:ea typeface="+mn-ea"/>
                <a:cs typeface="+mn-cs"/>
              </a:rPr>
              <a:t>Line 3</a:t>
            </a:r>
          </a:p>
          <a:p>
            <a:r>
              <a:rPr lang="en-US" sz="1000" kern="1200" dirty="0" smtClean="0">
                <a:solidFill>
                  <a:schemeClr val="tx1"/>
                </a:solidFill>
                <a:effectLst/>
                <a:latin typeface="Arial" charset="0"/>
                <a:ea typeface="+mn-ea"/>
                <a:cs typeface="+mn-cs"/>
              </a:rPr>
              <a:t>Custom combine property used to combine contact schemas.</a:t>
            </a:r>
          </a:p>
          <a:p>
            <a:r>
              <a:rPr lang="en-US" sz="1000" b="1" kern="1200" dirty="0" smtClean="0">
                <a:solidFill>
                  <a:schemeClr val="tx1"/>
                </a:solidFill>
                <a:effectLst/>
                <a:latin typeface="Arial" charset="0"/>
                <a:ea typeface="+mn-ea"/>
                <a:cs typeface="+mn-cs"/>
              </a:rPr>
              <a:t>Lines 10,15</a:t>
            </a:r>
          </a:p>
          <a:p>
            <a:r>
              <a:rPr lang="en-US" sz="1000" kern="1200" dirty="0" smtClean="0">
                <a:solidFill>
                  <a:schemeClr val="tx1"/>
                </a:solidFill>
                <a:effectLst/>
                <a:latin typeface="Arial" charset="0"/>
                <a:ea typeface="+mn-ea"/>
                <a:cs typeface="+mn-cs"/>
              </a:rPr>
              <a:t>New object property is defined and its corresponding definition.</a:t>
            </a:r>
          </a:p>
          <a:p>
            <a:endParaRPr lang="en-US" sz="1000" kern="1200" dirty="0" smtClean="0">
              <a:solidFill>
                <a:schemeClr val="tx1"/>
              </a:solidFill>
              <a:effectLst/>
              <a:latin typeface="Arial" charset="0"/>
              <a:ea typeface="+mn-ea"/>
              <a:cs typeface="+mn-cs"/>
            </a:endParaRPr>
          </a:p>
          <a:p>
            <a:r>
              <a:rPr lang="en-US" sz="1000" b="1" kern="1200" dirty="0" smtClean="0">
                <a:solidFill>
                  <a:schemeClr val="tx1"/>
                </a:solidFill>
                <a:effectLst/>
                <a:latin typeface="Arial" charset="0"/>
                <a:ea typeface="+mn-ea"/>
                <a:cs typeface="+mn-cs"/>
              </a:rPr>
              <a:t>Composition</a:t>
            </a:r>
            <a:r>
              <a:rPr lang="en-US" sz="1000" kern="1200" dirty="0" smtClean="0">
                <a:solidFill>
                  <a:schemeClr val="tx1"/>
                </a:solidFill>
                <a:effectLst/>
                <a:latin typeface="Arial" charset="0"/>
                <a:ea typeface="+mn-ea"/>
                <a:cs typeface="+mn-cs"/>
              </a:rPr>
              <a:t> for Swagger schemas, JSON schemas, and Integration Mappings all works similarly. The combination mechanism for Swagger schemas allows for creating Swagger schemas that combine together</a:t>
            </a:r>
          </a:p>
          <a:p>
            <a:r>
              <a:rPr lang="en-US" sz="1000" kern="1200" dirty="0" smtClean="0">
                <a:solidFill>
                  <a:schemeClr val="tx1"/>
                </a:solidFill>
                <a:effectLst/>
                <a:latin typeface="Arial" charset="0"/>
                <a:ea typeface="+mn-ea"/>
                <a:cs typeface="+mn-cs"/>
              </a:rPr>
              <a:t>multiple pieces to form a single, logical resulting schema document. The combination mechanism can be used for a number of different purposes:</a:t>
            </a:r>
          </a:p>
          <a:p>
            <a:pPr marL="171450" indent="-171450">
              <a:buFont typeface="Arial" panose="020B0604020202020204" pitchFamily="34" charset="0"/>
              <a:buChar char="•"/>
            </a:pPr>
            <a:r>
              <a:rPr lang="en-US" sz="1000" b="1" kern="1200" dirty="0" smtClean="0">
                <a:solidFill>
                  <a:schemeClr val="tx1"/>
                </a:solidFill>
                <a:effectLst/>
                <a:latin typeface="Arial" charset="0"/>
                <a:ea typeface="+mn-ea"/>
                <a:cs typeface="+mn-cs"/>
              </a:rPr>
              <a:t>Simple hierarchical extension</a:t>
            </a:r>
            <a:r>
              <a:rPr lang="en-US" sz="1000" kern="1200" dirty="0" smtClean="0">
                <a:solidFill>
                  <a:schemeClr val="tx1"/>
                </a:solidFill>
                <a:effectLst/>
                <a:latin typeface="Arial" charset="0"/>
                <a:ea typeface="+mn-ea"/>
                <a:cs typeface="+mn-cs"/>
              </a:rPr>
              <a:t> – Customers can extend an application schema, which in turn might extend a platform schema.</a:t>
            </a:r>
          </a:p>
          <a:p>
            <a:pPr marL="171450" indent="-171450">
              <a:buFont typeface="Arial" panose="020B0604020202020204" pitchFamily="34" charset="0"/>
              <a:buChar char="•"/>
            </a:pPr>
            <a:r>
              <a:rPr lang="en-US" sz="1000" b="1" kern="1200" dirty="0" smtClean="0">
                <a:solidFill>
                  <a:schemeClr val="tx1"/>
                </a:solidFill>
                <a:effectLst/>
                <a:latin typeface="Arial" charset="0"/>
                <a:ea typeface="+mn-ea"/>
                <a:cs typeface="+mn-cs"/>
              </a:rPr>
              <a:t>Content composition - </a:t>
            </a:r>
            <a:r>
              <a:rPr lang="en-US" sz="1000" kern="1200" dirty="0" smtClean="0">
                <a:solidFill>
                  <a:schemeClr val="tx1"/>
                </a:solidFill>
                <a:effectLst/>
                <a:latin typeface="Arial" charset="0"/>
                <a:ea typeface="+mn-ea"/>
                <a:cs typeface="+mn-cs"/>
              </a:rPr>
              <a:t>Customers might combine together several different content pieces, for example LOB-specific schemas (Line-Of-Business), along with their own extensions and perhaps a base</a:t>
            </a:r>
          </a:p>
          <a:p>
            <a:r>
              <a:rPr lang="en-US" sz="1000" kern="1200" dirty="0" smtClean="0">
                <a:solidFill>
                  <a:schemeClr val="tx1"/>
                </a:solidFill>
                <a:effectLst/>
                <a:latin typeface="Arial" charset="0"/>
                <a:ea typeface="+mn-ea"/>
                <a:cs typeface="+mn-cs"/>
              </a:rPr>
              <a:t>schema, i.e. customer extensions + Personal Auto LOB + Business Owner Policy LOB + base policy schema.</a:t>
            </a:r>
          </a:p>
          <a:p>
            <a:pPr marL="171450" indent="-171450">
              <a:buFont typeface="Arial" panose="020B0604020202020204" pitchFamily="34" charset="0"/>
              <a:buChar char="•"/>
            </a:pPr>
            <a:r>
              <a:rPr lang="en-US" sz="1000" b="1" kern="1200" dirty="0" smtClean="0">
                <a:solidFill>
                  <a:schemeClr val="tx1"/>
                </a:solidFill>
                <a:effectLst/>
                <a:latin typeface="Arial" charset="0"/>
                <a:ea typeface="+mn-ea"/>
                <a:cs typeface="+mn-cs"/>
              </a:rPr>
              <a:t>Schema aggregation –</a:t>
            </a:r>
            <a:r>
              <a:rPr lang="en-US" sz="1000" kern="1200" dirty="0" smtClean="0">
                <a:solidFill>
                  <a:schemeClr val="tx1"/>
                </a:solidFill>
                <a:effectLst/>
                <a:latin typeface="Arial" charset="0"/>
                <a:ea typeface="+mn-ea"/>
                <a:cs typeface="+mn-cs"/>
              </a:rPr>
              <a:t> A large, complex schema can be broken into multiple files that are maintained by different teams, and then aggregated together for publishing as a single logical API with a single,</a:t>
            </a:r>
          </a:p>
          <a:p>
            <a:r>
              <a:rPr lang="en-US" sz="1000" kern="1200" dirty="0" smtClean="0">
                <a:solidFill>
                  <a:schemeClr val="tx1"/>
                </a:solidFill>
                <a:effectLst/>
                <a:latin typeface="Arial" charset="0"/>
                <a:ea typeface="+mn-ea"/>
                <a:cs typeface="+mn-cs"/>
              </a:rPr>
              <a:t>consistent </a:t>
            </a:r>
            <a:r>
              <a:rPr lang="en-US" sz="1000" kern="1200" dirty="0" err="1" smtClean="0">
                <a:solidFill>
                  <a:schemeClr val="tx1"/>
                </a:solidFill>
                <a:effectLst/>
                <a:latin typeface="Arial" charset="0"/>
                <a:ea typeface="+mn-ea"/>
                <a:cs typeface="+mn-cs"/>
              </a:rPr>
              <a:t>baseUrl</a:t>
            </a:r>
            <a:r>
              <a:rPr lang="en-US" sz="1000" kern="1200" dirty="0" smtClean="0">
                <a:solidFill>
                  <a:schemeClr val="tx1"/>
                </a:solidFill>
                <a:effectLst/>
                <a:latin typeface="Arial" charset="0"/>
                <a:ea typeface="+mn-ea"/>
                <a:cs typeface="+mn-cs"/>
              </a:rPr>
              <a:t> and version.</a:t>
            </a:r>
          </a:p>
          <a:p>
            <a:pPr marL="171450" indent="-171450">
              <a:buFont typeface="Arial" panose="020B0604020202020204" pitchFamily="34" charset="0"/>
              <a:buChar char="•"/>
            </a:pPr>
            <a:r>
              <a:rPr lang="en-US" sz="1000" b="1" kern="1200" dirty="0" smtClean="0">
                <a:solidFill>
                  <a:schemeClr val="tx1"/>
                </a:solidFill>
                <a:effectLst/>
                <a:latin typeface="Arial" charset="0"/>
                <a:ea typeface="+mn-ea"/>
                <a:cs typeface="+mn-cs"/>
              </a:rPr>
              <a:t>Minor version changes - </a:t>
            </a:r>
            <a:r>
              <a:rPr lang="en-US" sz="1000" kern="1200" dirty="0" smtClean="0">
                <a:solidFill>
                  <a:schemeClr val="tx1"/>
                </a:solidFill>
                <a:effectLst/>
                <a:latin typeface="Arial" charset="0"/>
                <a:ea typeface="+mn-ea"/>
                <a:cs typeface="+mn-cs"/>
              </a:rPr>
              <a:t>A new minor version of 5 schema can use combination to extend the previous major or minor version, minimizing schema duplication and ensuring the changes are backwards-</a:t>
            </a:r>
            <a:r>
              <a:rPr lang="en-US" sz="1000" kern="1200" dirty="0" err="1" smtClean="0">
                <a:solidFill>
                  <a:schemeClr val="tx1"/>
                </a:solidFill>
                <a:effectLst/>
                <a:latin typeface="Arial" charset="0"/>
                <a:ea typeface="+mn-ea"/>
                <a:cs typeface="+mn-cs"/>
              </a:rPr>
              <a:t>compatiable</a:t>
            </a:r>
            <a:r>
              <a:rPr lang="en-US" sz="1000" kern="1200" dirty="0" smtClean="0">
                <a:solidFill>
                  <a:schemeClr val="tx1"/>
                </a:solidFill>
                <a:effectLst/>
                <a:latin typeface="Arial" charset="0"/>
                <a:ea typeface="+mn-ea"/>
                <a:cs typeface="+mn-cs"/>
              </a:rPr>
              <a:t>.</a:t>
            </a:r>
          </a:p>
          <a:p>
            <a:pPr marL="171450" indent="-171450">
              <a:buFont typeface="Arial" panose="020B0604020202020204" pitchFamily="34" charset="0"/>
              <a:buChar char="•"/>
            </a:pPr>
            <a:r>
              <a:rPr lang="en-US" sz="1000" b="1" kern="1200" dirty="0" smtClean="0">
                <a:solidFill>
                  <a:schemeClr val="tx1"/>
                </a:solidFill>
                <a:effectLst/>
                <a:latin typeface="Arial" charset="0"/>
                <a:ea typeface="+mn-ea"/>
                <a:cs typeface="+mn-cs"/>
              </a:rPr>
              <a:t>API templates -</a:t>
            </a:r>
            <a:r>
              <a:rPr lang="en-US" sz="1000" kern="1200" dirty="0" smtClean="0">
                <a:solidFill>
                  <a:schemeClr val="tx1"/>
                </a:solidFill>
                <a:effectLst/>
                <a:latin typeface="Arial" charset="0"/>
                <a:ea typeface="+mn-ea"/>
                <a:cs typeface="+mn-cs"/>
              </a:rPr>
              <a:t> The API template mechanism implicitly works via combination by implicitly adding the template to the list of combined schemas for a given published schema. </a:t>
            </a:r>
          </a:p>
          <a:p>
            <a:pPr marL="0" indent="0">
              <a:buFont typeface="Arial" panose="020B0604020202020204" pitchFamily="34" charset="0"/>
              <a:buNone/>
            </a:pPr>
            <a:r>
              <a:rPr lang="en-US" sz="1000" b="1" kern="1200" dirty="0" smtClean="0">
                <a:solidFill>
                  <a:schemeClr val="tx1"/>
                </a:solidFill>
                <a:effectLst/>
                <a:latin typeface="Arial" charset="0"/>
                <a:ea typeface="+mn-ea"/>
                <a:cs typeface="+mn-cs"/>
              </a:rPr>
              <a:t>Combination Ordering </a:t>
            </a:r>
          </a:p>
          <a:p>
            <a:r>
              <a:rPr lang="en-US" sz="1000" kern="1200" dirty="0" smtClean="0">
                <a:solidFill>
                  <a:schemeClr val="tx1"/>
                </a:solidFill>
                <a:effectLst/>
                <a:latin typeface="Arial" charset="0"/>
                <a:ea typeface="+mn-ea"/>
                <a:cs typeface="+mn-cs"/>
              </a:rPr>
              <a:t>The combination mechanism allows for theoretically arbitrary chains of combination, though the combinations must not have any cycles in the graph, i.e. you can't have A combine B </a:t>
            </a:r>
            <a:r>
              <a:rPr lang="en-US" sz="1000" kern="1200" dirty="0" err="1" smtClean="0">
                <a:solidFill>
                  <a:schemeClr val="tx1"/>
                </a:solidFill>
                <a:effectLst/>
                <a:latin typeface="Arial" charset="0"/>
                <a:ea typeface="+mn-ea"/>
                <a:cs typeface="+mn-cs"/>
              </a:rPr>
              <a:t>B</a:t>
            </a:r>
            <a:r>
              <a:rPr lang="en-US" sz="1000" kern="1200" dirty="0" smtClean="0">
                <a:solidFill>
                  <a:schemeClr val="tx1"/>
                </a:solidFill>
                <a:effectLst/>
                <a:latin typeface="Arial" charset="0"/>
                <a:ea typeface="+mn-ea"/>
                <a:cs typeface="+mn-cs"/>
              </a:rPr>
              <a:t> combine C, and C combine</a:t>
            </a:r>
          </a:p>
          <a:p>
            <a:r>
              <a:rPr lang="en-US" sz="1000" kern="1200" dirty="0" smtClean="0">
                <a:solidFill>
                  <a:schemeClr val="tx1"/>
                </a:solidFill>
                <a:effectLst/>
                <a:latin typeface="Arial" charset="0"/>
                <a:ea typeface="+mn-ea"/>
                <a:cs typeface="+mn-cs"/>
              </a:rPr>
              <a:t>A. Schemas are combined in the order they appear in the x-</a:t>
            </a:r>
            <a:r>
              <a:rPr lang="en-US" sz="1000" kern="1200" dirty="0" err="1" smtClean="0">
                <a:solidFill>
                  <a:schemeClr val="tx1"/>
                </a:solidFill>
                <a:effectLst/>
                <a:latin typeface="Arial" charset="0"/>
                <a:ea typeface="+mn-ea"/>
                <a:cs typeface="+mn-cs"/>
              </a:rPr>
              <a:t>gw</a:t>
            </a:r>
            <a:r>
              <a:rPr lang="en-US" sz="1000" kern="1200" dirty="0" smtClean="0">
                <a:solidFill>
                  <a:schemeClr val="tx1"/>
                </a:solidFill>
                <a:effectLst/>
                <a:latin typeface="Arial" charset="0"/>
                <a:ea typeface="+mn-ea"/>
                <a:cs typeface="+mn-cs"/>
              </a:rPr>
              <a:t>-combine property, and referenced schemas are themselves loaded and combined before processing. To make that more concrete, suppose we</a:t>
            </a:r>
          </a:p>
          <a:p>
            <a:r>
              <a:rPr lang="en-US" sz="1000" kern="1200" dirty="0" smtClean="0">
                <a:solidFill>
                  <a:schemeClr val="tx1"/>
                </a:solidFill>
                <a:effectLst/>
                <a:latin typeface="Arial" charset="0"/>
                <a:ea typeface="+mn-ea"/>
                <a:cs typeface="+mn-cs"/>
              </a:rPr>
              <a:t>designate Schema A to mean </a:t>
            </a:r>
            <a:r>
              <a:rPr lang="en-US" sz="1000" b="1" kern="1200" dirty="0" smtClean="0">
                <a:solidFill>
                  <a:schemeClr val="tx1"/>
                </a:solidFill>
                <a:effectLst/>
                <a:latin typeface="Arial" charset="0"/>
                <a:ea typeface="+mn-ea"/>
                <a:cs typeface="+mn-cs"/>
              </a:rPr>
              <a:t>the file as it is on disk </a:t>
            </a:r>
            <a:r>
              <a:rPr lang="en-US" sz="1000" kern="1200" dirty="0" smtClean="0">
                <a:solidFill>
                  <a:schemeClr val="tx1"/>
                </a:solidFill>
                <a:effectLst/>
                <a:latin typeface="Arial" charset="0"/>
                <a:ea typeface="+mn-ea"/>
                <a:cs typeface="+mn-cs"/>
              </a:rPr>
              <a:t>and Schema A' to mean the logical schema after it's been combined with everything it references via x-</a:t>
            </a:r>
            <a:r>
              <a:rPr lang="en-US" sz="1000" kern="1200" dirty="0" err="1" smtClean="0">
                <a:solidFill>
                  <a:schemeClr val="tx1"/>
                </a:solidFill>
                <a:effectLst/>
                <a:latin typeface="Arial" charset="0"/>
                <a:ea typeface="+mn-ea"/>
                <a:cs typeface="+mn-cs"/>
              </a:rPr>
              <a:t>gw</a:t>
            </a:r>
            <a:r>
              <a:rPr lang="en-US" sz="1000" kern="1200" dirty="0" smtClean="0">
                <a:solidFill>
                  <a:schemeClr val="tx1"/>
                </a:solidFill>
                <a:effectLst/>
                <a:latin typeface="Arial" charset="0"/>
                <a:ea typeface="+mn-ea"/>
                <a:cs typeface="+mn-cs"/>
              </a:rPr>
              <a:t>-combine. If schema A combines [B, C] and B and C both combine D, we produce A’ from A as follows:</a:t>
            </a:r>
          </a:p>
          <a:p>
            <a:r>
              <a:rPr lang="en-US" sz="1000" kern="1200" dirty="0" smtClean="0">
                <a:solidFill>
                  <a:schemeClr val="tx1"/>
                </a:solidFill>
                <a:effectLst/>
                <a:latin typeface="Arial" charset="0"/>
                <a:ea typeface="+mn-ea"/>
                <a:cs typeface="+mn-cs"/>
              </a:rPr>
              <a:t>We</a:t>
            </a:r>
            <a:r>
              <a:rPr lang="en-US" sz="1000" kern="1200" baseline="0" dirty="0" smtClean="0">
                <a:solidFill>
                  <a:schemeClr val="tx1"/>
                </a:solidFill>
                <a:effectLst/>
                <a:latin typeface="Arial" charset="0"/>
                <a:ea typeface="+mn-ea"/>
                <a:cs typeface="+mn-cs"/>
              </a:rPr>
              <a:t> first load B’ and C’ by combining B with D’ and C with D’</a:t>
            </a:r>
          </a:p>
          <a:p>
            <a:r>
              <a:rPr lang="en-US" sz="1000" kern="1200" baseline="0" dirty="0" smtClean="0">
                <a:solidFill>
                  <a:schemeClr val="tx1"/>
                </a:solidFill>
                <a:effectLst/>
                <a:latin typeface="Arial" charset="0"/>
                <a:ea typeface="+mn-ea"/>
                <a:cs typeface="+mn-cs"/>
              </a:rPr>
              <a:t>We create a list of the root objects from A, B’ and C’, in that order</a:t>
            </a:r>
          </a:p>
          <a:p>
            <a:r>
              <a:rPr lang="en-US" sz="1000" kern="1200" baseline="0" dirty="0" smtClean="0">
                <a:solidFill>
                  <a:schemeClr val="tx1"/>
                </a:solidFill>
                <a:effectLst/>
                <a:latin typeface="Arial" charset="0"/>
                <a:ea typeface="+mn-ea"/>
                <a:cs typeface="+mn-cs"/>
              </a:rPr>
              <a:t>We walk the full document tree according to the merge rules defined in 2.1 Swagger Schema File Specification, starting with those root objects. The root objects always exists in all three schemas, but from there it’s possible that a given logical object will appear in one, two or all three of the schemas. For each collection of matching objects, we always consider A (if present), then B’ (if present), then C’ (if present). For example suppose C’ defines a path “/contacts/{</a:t>
            </a:r>
            <a:r>
              <a:rPr lang="en-US" sz="1000" kern="1200" baseline="0" dirty="0" err="1" smtClean="0">
                <a:solidFill>
                  <a:schemeClr val="tx1"/>
                </a:solidFill>
                <a:effectLst/>
                <a:latin typeface="Arial" charset="0"/>
                <a:ea typeface="+mn-ea"/>
                <a:cs typeface="+mn-cs"/>
              </a:rPr>
              <a:t>contactId</a:t>
            </a:r>
            <a:r>
              <a:rPr lang="en-US" sz="1000" kern="1200" baseline="0" dirty="0" smtClean="0">
                <a:solidFill>
                  <a:schemeClr val="tx1"/>
                </a:solidFill>
                <a:effectLst/>
                <a:latin typeface="Arial" charset="0"/>
                <a:ea typeface="+mn-ea"/>
                <a:cs typeface="+mn-cs"/>
              </a:rPr>
              <a:t>}” with a GET operation. If C’ is the only schema that defines that operation, A will inherit the definition from C’ exactly as-is. If B’ also defines that operation, it’s definitions of properties will override the definitions in C’. If A’ also defines that operation, it will override any properties also specified in B’ or C’.</a:t>
            </a:r>
            <a:endParaRPr lang="en-US" sz="1000" kern="1200" dirty="0" smtClean="0">
              <a:solidFill>
                <a:schemeClr val="tx1"/>
              </a:solidFill>
              <a:effectLst/>
              <a:latin typeface="Arial" charset="0"/>
              <a:ea typeface="+mn-ea"/>
              <a:cs typeface="+mn-cs"/>
            </a:endParaRPr>
          </a:p>
          <a:p>
            <a:endParaRPr lang="en-US" sz="1000" kern="1200" dirty="0" smtClean="0">
              <a:solidFill>
                <a:schemeClr val="tx1"/>
              </a:solidFill>
              <a:effectLst/>
              <a:latin typeface="Arial" charset="0"/>
              <a:ea typeface="+mn-ea"/>
              <a:cs typeface="+mn-cs"/>
            </a:endParaRPr>
          </a:p>
          <a:p>
            <a:r>
              <a:rPr lang="en-US" sz="1000" b="1" kern="1200" dirty="0" smtClean="0">
                <a:solidFill>
                  <a:schemeClr val="tx1"/>
                </a:solidFill>
                <a:effectLst/>
                <a:latin typeface="Arial" charset="0"/>
                <a:ea typeface="+mn-ea"/>
                <a:cs typeface="+mn-cs"/>
              </a:rPr>
              <a:t>Combination Validation</a:t>
            </a:r>
          </a:p>
          <a:p>
            <a:r>
              <a:rPr lang="en-US" sz="1000" kern="1200" dirty="0" smtClean="0">
                <a:solidFill>
                  <a:schemeClr val="tx1"/>
                </a:solidFill>
                <a:effectLst/>
                <a:latin typeface="Arial" charset="0"/>
                <a:ea typeface="+mn-ea"/>
                <a:cs typeface="+mn-cs"/>
              </a:rPr>
              <a:t>The combination validation algorithm is fairly complicated to describe; this document won't attempt a full specification of all the validation rules. The general philosophy, however, is that the schema resulting from a</a:t>
            </a:r>
          </a:p>
          <a:p>
            <a:r>
              <a:rPr lang="en-US" sz="1000" kern="1200" dirty="0" smtClean="0">
                <a:solidFill>
                  <a:schemeClr val="tx1"/>
                </a:solidFill>
                <a:effectLst/>
                <a:latin typeface="Arial" charset="0"/>
                <a:ea typeface="+mn-ea"/>
                <a:cs typeface="+mn-cs"/>
              </a:rPr>
              <a:t>combination should be a logical, backwards-compatible extension of the combined pieces. So if schema A combines schema B, that means:</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Schema A should not change the type of a parameter defined in Schema B.</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Schema A should not introduce new required parameters to operations defined in Schema B.</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Schema A can remove or loosen validation constraints on input parameters defined in Schema B, but shouldn't add or tighten validation constraints.</a:t>
            </a:r>
          </a:p>
          <a:p>
            <a:endParaRPr lang="en-US" dirty="0" smtClean="0">
              <a:latin typeface="Arial" pitchFamily="34" charset="0"/>
            </a:endParaRPr>
          </a:p>
        </p:txBody>
      </p:sp>
      <p:sp>
        <p:nvSpPr>
          <p:cNvPr id="4" name="Slide Number Placeholder 3"/>
          <p:cNvSpPr>
            <a:spLocks noGrp="1"/>
          </p:cNvSpPr>
          <p:nvPr>
            <p:ph type="sldNum" sz="quarter" idx="5"/>
          </p:nvPr>
        </p:nvSpPr>
        <p:spPr/>
        <p:txBody>
          <a:bodyPr/>
          <a:lstStyle/>
          <a:p>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r>
              <a:rPr kumimoji="0" lang="en-US" altLang="en-US" sz="12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1200" b="0" i="0" u="none" strike="noStrike" kern="1200" cap="none" spc="0" normalizeH="0" baseline="0" noProof="0" dirty="0">
                <a:ln>
                  <a:noFill/>
                </a:ln>
                <a:solidFill>
                  <a:srgbClr val="000000"/>
                </a:solidFill>
                <a:effectLst/>
                <a:uLnTx/>
                <a:uFillTx/>
                <a:latin typeface="Arial" charset="0"/>
                <a:ea typeface="+mn-ea"/>
                <a:cs typeface="+mn-cs"/>
              </a:rPr>
              <a:t>Introduction to the Guidewire </a:t>
            </a:r>
            <a:r>
              <a:rPr kumimoji="0" lang="en-US" sz="1200" b="0" i="0" u="none" strike="noStrike" kern="1200" cap="none" spc="0" normalizeH="0" baseline="0" noProof="0" dirty="0" smtClean="0">
                <a:ln>
                  <a:noFill/>
                </a:ln>
                <a:solidFill>
                  <a:srgbClr val="000000"/>
                </a:solidFill>
                <a:effectLst/>
                <a:uLnTx/>
                <a:uFillTx/>
                <a:latin typeface="Arial" charset="0"/>
                <a:ea typeface="+mn-ea"/>
                <a:cs typeface="+mn-cs"/>
              </a:rPr>
              <a:t>8.0 Releases - </a:t>
            </a:r>
            <a:fld id="{A8D045CE-4F6E-4FD7-9EC5-1A8550823B38}" type="slidenum">
              <a:rPr kumimoji="0" lang="en-US" alt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t>23</a:t>
            </a:fld>
            <a:endParaRPr kumimoji="0" lang="en-US" alt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5" name="Header Placeholder 4"/>
          <p:cNvSpPr>
            <a:spLocks noGrp="1"/>
          </p:cNvSpPr>
          <p:nvPr>
            <p:ph type="hdr" sz="quarter"/>
          </p:nvPr>
        </p:nvSpPr>
        <p:spPr/>
        <p:txBody>
          <a:bodyPr/>
          <a:lstStyle/>
          <a:p>
            <a:pPr marL="0" marR="0" lvl="0" indent="0" algn="l" defTabSz="942975" rtl="0" eaLnBrk="0" fontAlgn="base" latinLnBrk="0" hangingPunct="0">
              <a:lnSpc>
                <a:spcPts val="1875"/>
              </a:lnSpc>
              <a:spcBef>
                <a:spcPts val="625"/>
              </a:spcBef>
              <a:spcAft>
                <a:spcPct val="0"/>
              </a:spcAft>
              <a:buClrTx/>
              <a:buSzTx/>
              <a:buFont typeface="Wingdings" pitchFamily="2" charset="2"/>
              <a:buNone/>
              <a:tabLst>
                <a:tab pos="5591175" algn="r"/>
              </a:tabLst>
              <a:defRPr/>
            </a:pPr>
            <a:r>
              <a:rPr kumimoji="0" lang="en-US" altLang="en-US" sz="1200" b="0" i="0" u="none" strike="noStrike" kern="1200" cap="none" spc="0" normalizeH="0" baseline="0" noProof="0" dirty="0" smtClean="0">
                <a:ln>
                  <a:noFill/>
                </a:ln>
                <a:solidFill>
                  <a:srgbClr val="000000"/>
                </a:solidFill>
                <a:effectLst/>
                <a:uLnTx/>
                <a:uFillTx/>
                <a:latin typeface="Arial"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3313456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000" b="1" kern="1200" dirty="0" smtClean="0">
                <a:solidFill>
                  <a:schemeClr val="tx1"/>
                </a:solidFill>
                <a:effectLst/>
                <a:latin typeface="Arial" charset="0"/>
                <a:ea typeface="+mn-ea"/>
                <a:cs typeface="+mn-cs"/>
              </a:rPr>
              <a:t>Code example – Succeed Insurance is extending the Training App contact mapper </a:t>
            </a:r>
          </a:p>
          <a:p>
            <a:r>
              <a:rPr lang="en-US" sz="1000" b="1" kern="1200" dirty="0" smtClean="0">
                <a:solidFill>
                  <a:schemeClr val="tx1"/>
                </a:solidFill>
                <a:effectLst/>
                <a:latin typeface="Arial" charset="0"/>
                <a:ea typeface="+mn-ea"/>
                <a:cs typeface="+mn-cs"/>
              </a:rPr>
              <a:t>Line 3</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Combine property used to combine contact mappers.</a:t>
            </a:r>
          </a:p>
          <a:p>
            <a:r>
              <a:rPr lang="en-US" sz="1000" b="1" kern="1200" dirty="0" smtClean="0">
                <a:solidFill>
                  <a:schemeClr val="tx1"/>
                </a:solidFill>
                <a:effectLst/>
                <a:latin typeface="Arial" charset="0"/>
                <a:ea typeface="+mn-ea"/>
                <a:cs typeface="+mn-cs"/>
              </a:rPr>
              <a:t>Lines 10,17</a:t>
            </a:r>
          </a:p>
          <a:p>
            <a:pPr marL="171450" indent="-171450">
              <a:buFont typeface="Arial" panose="020B0604020202020204" pitchFamily="34" charset="0"/>
              <a:buChar char="•"/>
            </a:pPr>
            <a:r>
              <a:rPr lang="en-US" sz="1000" kern="1200" dirty="0" smtClean="0">
                <a:solidFill>
                  <a:schemeClr val="tx1"/>
                </a:solidFill>
                <a:effectLst/>
                <a:latin typeface="Arial" charset="0"/>
                <a:ea typeface="+mn-ea"/>
                <a:cs typeface="+mn-cs"/>
              </a:rPr>
              <a:t>New object property is defined and its corresponding mapper.</a:t>
            </a:r>
          </a:p>
          <a:p>
            <a:pPr marL="0" marR="0" lvl="0" indent="0" algn="l" defTabSz="914400" rtl="0" eaLnBrk="0" fontAlgn="base" latinLnBrk="0" hangingPunct="0">
              <a:lnSpc>
                <a:spcPct val="100000"/>
              </a:lnSpc>
              <a:spcBef>
                <a:spcPct val="10000"/>
              </a:spcBef>
              <a:spcAft>
                <a:spcPct val="0"/>
              </a:spcAft>
              <a:buClrTx/>
              <a:buSzTx/>
              <a:buFontTx/>
              <a:buNone/>
              <a:tabLst/>
              <a:defRPr/>
            </a:pPr>
            <a:endParaRPr lang="en-US" b="0" dirty="0" smtClean="0">
              <a:latin typeface="Arial" pitchFamily="34" charset="0"/>
            </a:endParaRPr>
          </a:p>
        </p:txBody>
      </p:sp>
      <p:sp>
        <p:nvSpPr>
          <p:cNvPr id="4" name="Slide Number Placeholder 3"/>
          <p:cNvSpPr>
            <a:spLocks noGrp="1"/>
          </p:cNvSpPr>
          <p:nvPr>
            <p:ph type="sldNum" sz="quarter" idx="5"/>
          </p:nvPr>
        </p:nvSpPr>
        <p:spPr/>
        <p:txBody>
          <a:bodyPr/>
          <a:lstStyle/>
          <a:p>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r>
              <a:rPr kumimoji="0" lang="en-US" altLang="en-US" sz="12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1200" b="0" i="0" u="none" strike="noStrike" kern="1200" cap="none" spc="0" normalizeH="0" baseline="0" noProof="0" dirty="0">
                <a:ln>
                  <a:noFill/>
                </a:ln>
                <a:solidFill>
                  <a:srgbClr val="000000"/>
                </a:solidFill>
                <a:effectLst/>
                <a:uLnTx/>
                <a:uFillTx/>
                <a:latin typeface="Arial" charset="0"/>
                <a:ea typeface="+mn-ea"/>
                <a:cs typeface="+mn-cs"/>
              </a:rPr>
              <a:t>Introduction to the Guidewire </a:t>
            </a:r>
            <a:r>
              <a:rPr kumimoji="0" lang="en-US" sz="1200" b="0" i="0" u="none" strike="noStrike" kern="1200" cap="none" spc="0" normalizeH="0" baseline="0" noProof="0" dirty="0" smtClean="0">
                <a:ln>
                  <a:noFill/>
                </a:ln>
                <a:solidFill>
                  <a:srgbClr val="000000"/>
                </a:solidFill>
                <a:effectLst/>
                <a:uLnTx/>
                <a:uFillTx/>
                <a:latin typeface="Arial" charset="0"/>
                <a:ea typeface="+mn-ea"/>
                <a:cs typeface="+mn-cs"/>
              </a:rPr>
              <a:t>8.0 Releases - </a:t>
            </a:r>
            <a:fld id="{A8D045CE-4F6E-4FD7-9EC5-1A8550823B38}" type="slidenum">
              <a:rPr kumimoji="0" lang="en-US" alt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t>24</a:t>
            </a:fld>
            <a:endParaRPr kumimoji="0" lang="en-US" alt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5" name="Header Placeholder 4"/>
          <p:cNvSpPr>
            <a:spLocks noGrp="1"/>
          </p:cNvSpPr>
          <p:nvPr>
            <p:ph type="hdr" sz="quarter"/>
          </p:nvPr>
        </p:nvSpPr>
        <p:spPr/>
        <p:txBody>
          <a:bodyPr/>
          <a:lstStyle/>
          <a:p>
            <a:pPr marL="0" marR="0" lvl="0" indent="0" algn="l" defTabSz="942975" rtl="0" eaLnBrk="0" fontAlgn="base" latinLnBrk="0" hangingPunct="0">
              <a:lnSpc>
                <a:spcPts val="1875"/>
              </a:lnSpc>
              <a:spcBef>
                <a:spcPts val="625"/>
              </a:spcBef>
              <a:spcAft>
                <a:spcPct val="0"/>
              </a:spcAft>
              <a:buClrTx/>
              <a:buSzTx/>
              <a:buFont typeface="Wingdings" pitchFamily="2" charset="2"/>
              <a:buNone/>
              <a:tabLst>
                <a:tab pos="5591175" algn="r"/>
              </a:tabLst>
              <a:defRPr/>
            </a:pPr>
            <a:r>
              <a:rPr kumimoji="0" lang="en-US" altLang="en-US" sz="1200" b="0" i="0" u="none" strike="noStrike" kern="1200" cap="none" spc="0" normalizeH="0" baseline="0" noProof="0" dirty="0" smtClean="0">
                <a:ln>
                  <a:noFill/>
                </a:ln>
                <a:solidFill>
                  <a:srgbClr val="000000"/>
                </a:solidFill>
                <a:effectLst/>
                <a:uLnTx/>
                <a:uFillTx/>
                <a:latin typeface="Arial"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791879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10000"/>
              </a:spcBef>
              <a:spcAft>
                <a:spcPct val="0"/>
              </a:spcAft>
              <a:buClrTx/>
              <a:buSzTx/>
              <a:buFontTx/>
              <a:buNone/>
              <a:tabLst/>
              <a:defRPr/>
            </a:pPr>
            <a:r>
              <a:rPr lang="en-US" b="1" dirty="0" smtClean="0">
                <a:latin typeface="Arial" pitchFamily="34" charset="0"/>
              </a:rPr>
              <a:t>Code example</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b="1" dirty="0" smtClean="0">
                <a:latin typeface="Arial" pitchFamily="34" charset="0"/>
              </a:rPr>
              <a:t>Line 10</a:t>
            </a:r>
          </a:p>
          <a:p>
            <a:pPr marL="171450" marR="0" lvl="0"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dirty="0" err="1" smtClean="0">
                <a:latin typeface="Arial" pitchFamily="34" charset="0"/>
              </a:rPr>
              <a:t>JsonMapper</a:t>
            </a:r>
            <a:r>
              <a:rPr lang="en-US" b="0" dirty="0" smtClean="0">
                <a:latin typeface="Arial" pitchFamily="34" charset="0"/>
              </a:rPr>
              <a:t> object using the new combined schema.</a:t>
            </a:r>
          </a:p>
          <a:p>
            <a:pPr marL="0" marR="0" lvl="0" indent="0" algn="l" defTabSz="914400" rtl="0" eaLnBrk="0" fontAlgn="base" latinLnBrk="0" hangingPunct="0">
              <a:lnSpc>
                <a:spcPct val="100000"/>
              </a:lnSpc>
              <a:spcBef>
                <a:spcPct val="10000"/>
              </a:spcBef>
              <a:spcAft>
                <a:spcPct val="0"/>
              </a:spcAft>
              <a:buClrTx/>
              <a:buSzTx/>
              <a:buFontTx/>
              <a:buNone/>
              <a:tabLst/>
              <a:defRPr/>
            </a:pPr>
            <a:r>
              <a:rPr lang="en-US" b="1" dirty="0" smtClean="0">
                <a:latin typeface="Arial" pitchFamily="34" charset="0"/>
              </a:rPr>
              <a:t>Output</a:t>
            </a:r>
          </a:p>
          <a:p>
            <a:pPr marL="171450" marR="0" lvl="0" indent="-171450" algn="l" defTabSz="914400" rtl="0" eaLnBrk="0" fontAlgn="base" latinLnBrk="0" hangingPunct="0">
              <a:lnSpc>
                <a:spcPct val="100000"/>
              </a:lnSpc>
              <a:spcBef>
                <a:spcPct val="10000"/>
              </a:spcBef>
              <a:spcAft>
                <a:spcPct val="0"/>
              </a:spcAft>
              <a:buClrTx/>
              <a:buSzTx/>
              <a:buFont typeface="Arial" panose="020B0604020202020204" pitchFamily="34" charset="0"/>
              <a:buChar char="•"/>
              <a:tabLst/>
              <a:defRPr/>
            </a:pPr>
            <a:r>
              <a:rPr lang="en-US" b="0" dirty="0" err="1" smtClean="0">
                <a:latin typeface="Arial" pitchFamily="34" charset="0"/>
              </a:rPr>
              <a:t>AssignedUser</a:t>
            </a:r>
            <a:r>
              <a:rPr lang="en-US" b="0" dirty="0" smtClean="0">
                <a:latin typeface="Arial" pitchFamily="34" charset="0"/>
              </a:rPr>
              <a:t> property</a:t>
            </a:r>
            <a:r>
              <a:rPr lang="en-US" b="0" baseline="0" dirty="0" smtClean="0">
                <a:latin typeface="Arial" pitchFamily="34" charset="0"/>
              </a:rPr>
              <a:t> is combined to JSON output.</a:t>
            </a:r>
            <a:endParaRPr lang="en-US" b="0" dirty="0" smtClean="0">
              <a:latin typeface="Arial" pitchFamily="34" charset="0"/>
            </a:endParaRPr>
          </a:p>
        </p:txBody>
      </p:sp>
      <p:sp>
        <p:nvSpPr>
          <p:cNvPr id="4" name="Slide Number Placeholder 3"/>
          <p:cNvSpPr>
            <a:spLocks noGrp="1"/>
          </p:cNvSpPr>
          <p:nvPr>
            <p:ph type="sldNum" sz="quarter" idx="5"/>
          </p:nvPr>
        </p:nvSpPr>
        <p:spPr/>
        <p:txBody>
          <a:bodyPr/>
          <a:lstStyle/>
          <a:p>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r>
              <a:rPr kumimoji="0" lang="en-US" altLang="en-US" sz="12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1200" b="0" i="0" u="none" strike="noStrike" kern="1200" cap="none" spc="0" normalizeH="0" baseline="0" noProof="0" dirty="0">
                <a:ln>
                  <a:noFill/>
                </a:ln>
                <a:solidFill>
                  <a:srgbClr val="000000"/>
                </a:solidFill>
                <a:effectLst/>
                <a:uLnTx/>
                <a:uFillTx/>
                <a:latin typeface="Arial" charset="0"/>
                <a:ea typeface="+mn-ea"/>
                <a:cs typeface="+mn-cs"/>
              </a:rPr>
              <a:t>Introduction to the Guidewire </a:t>
            </a:r>
            <a:r>
              <a:rPr kumimoji="0" lang="en-US" sz="1200" b="0" i="0" u="none" strike="noStrike" kern="1200" cap="none" spc="0" normalizeH="0" baseline="0" noProof="0" dirty="0" smtClean="0">
                <a:ln>
                  <a:noFill/>
                </a:ln>
                <a:solidFill>
                  <a:srgbClr val="000000"/>
                </a:solidFill>
                <a:effectLst/>
                <a:uLnTx/>
                <a:uFillTx/>
                <a:latin typeface="Arial" charset="0"/>
                <a:ea typeface="+mn-ea"/>
                <a:cs typeface="+mn-cs"/>
              </a:rPr>
              <a:t>8.0 Releases - </a:t>
            </a:r>
            <a:fld id="{A8D045CE-4F6E-4FD7-9EC5-1A8550823B38}" type="slidenum">
              <a:rPr kumimoji="0" lang="en-US" alt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t>25</a:t>
            </a:fld>
            <a:endParaRPr kumimoji="0" lang="en-US" alt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5" name="Header Placeholder 4"/>
          <p:cNvSpPr>
            <a:spLocks noGrp="1"/>
          </p:cNvSpPr>
          <p:nvPr>
            <p:ph type="hdr" sz="quarter"/>
          </p:nvPr>
        </p:nvSpPr>
        <p:spPr/>
        <p:txBody>
          <a:bodyPr/>
          <a:lstStyle/>
          <a:p>
            <a:pPr marL="0" marR="0" lvl="0" indent="0" algn="l" defTabSz="942975" rtl="0" eaLnBrk="0" fontAlgn="base" latinLnBrk="0" hangingPunct="0">
              <a:lnSpc>
                <a:spcPts val="1875"/>
              </a:lnSpc>
              <a:spcBef>
                <a:spcPts val="625"/>
              </a:spcBef>
              <a:spcAft>
                <a:spcPct val="0"/>
              </a:spcAft>
              <a:buClrTx/>
              <a:buSzTx/>
              <a:buFont typeface="Wingdings" pitchFamily="2" charset="2"/>
              <a:buNone/>
              <a:tabLst>
                <a:tab pos="5591175" algn="r"/>
              </a:tabLst>
              <a:defRPr/>
            </a:pPr>
            <a:r>
              <a:rPr kumimoji="0" lang="en-US" altLang="en-US" sz="1200" b="0" i="0" u="none" strike="noStrike" kern="1200" cap="none" spc="0" normalizeH="0" baseline="0" noProof="0" dirty="0" smtClean="0">
                <a:ln>
                  <a:noFill/>
                </a:ln>
                <a:solidFill>
                  <a:srgbClr val="000000"/>
                </a:solidFill>
                <a:effectLst/>
                <a:uLnTx/>
                <a:uFillTx/>
                <a:latin typeface="Arial"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0117574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10000"/>
              </a:spcBef>
              <a:spcAft>
                <a:spcPct val="0"/>
              </a:spcAft>
              <a:buClrTx/>
              <a:buSzTx/>
              <a:buFontTx/>
              <a:buNone/>
              <a:tabLst/>
              <a:defRPr/>
            </a:pPr>
            <a:r>
              <a:rPr lang="en-US" b="0" dirty="0" smtClean="0">
                <a:latin typeface="Arial" pitchFamily="34" charset="0"/>
              </a:rPr>
              <a:t>Answer:</a:t>
            </a:r>
            <a:r>
              <a:rPr lang="en-US" b="0" baseline="0" dirty="0" smtClean="0">
                <a:latin typeface="Arial" pitchFamily="34" charset="0"/>
              </a:rPr>
              <a:t> True</a:t>
            </a:r>
            <a:endParaRPr lang="en-US" b="0" dirty="0" smtClean="0">
              <a:latin typeface="Arial" pitchFamily="34" charset="0"/>
            </a:endParaRPr>
          </a:p>
        </p:txBody>
      </p:sp>
      <p:sp>
        <p:nvSpPr>
          <p:cNvPr id="4" name="Slide Number Placeholder 3"/>
          <p:cNvSpPr>
            <a:spLocks noGrp="1"/>
          </p:cNvSpPr>
          <p:nvPr>
            <p:ph type="sldNum" sz="quarter" idx="5"/>
          </p:nvPr>
        </p:nvSpPr>
        <p:spPr/>
        <p:txBody>
          <a:bodyPr/>
          <a:lstStyle/>
          <a:p>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r>
              <a:rPr kumimoji="0" lang="en-US" altLang="en-US" sz="12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1200" b="0" i="0" u="none" strike="noStrike" kern="1200" cap="none" spc="0" normalizeH="0" baseline="0" noProof="0" dirty="0">
                <a:ln>
                  <a:noFill/>
                </a:ln>
                <a:solidFill>
                  <a:srgbClr val="000000"/>
                </a:solidFill>
                <a:effectLst/>
                <a:uLnTx/>
                <a:uFillTx/>
                <a:latin typeface="Arial" charset="0"/>
                <a:ea typeface="+mn-ea"/>
                <a:cs typeface="+mn-cs"/>
              </a:rPr>
              <a:t>Introduction to the Guidewire </a:t>
            </a:r>
            <a:r>
              <a:rPr kumimoji="0" lang="en-US" sz="1200" b="0" i="0" u="none" strike="noStrike" kern="1200" cap="none" spc="0" normalizeH="0" baseline="0" noProof="0" dirty="0" smtClean="0">
                <a:ln>
                  <a:noFill/>
                </a:ln>
                <a:solidFill>
                  <a:srgbClr val="000000"/>
                </a:solidFill>
                <a:effectLst/>
                <a:uLnTx/>
                <a:uFillTx/>
                <a:latin typeface="Arial" charset="0"/>
                <a:ea typeface="+mn-ea"/>
                <a:cs typeface="+mn-cs"/>
              </a:rPr>
              <a:t>8.0 Releases - </a:t>
            </a:r>
            <a:fld id="{A8D045CE-4F6E-4FD7-9EC5-1A8550823B38}" type="slidenum">
              <a:rPr kumimoji="0" lang="en-US" alt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t>26</a:t>
            </a:fld>
            <a:endParaRPr kumimoji="0" lang="en-US" alt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5" name="Header Placeholder 4"/>
          <p:cNvSpPr>
            <a:spLocks noGrp="1"/>
          </p:cNvSpPr>
          <p:nvPr>
            <p:ph type="hdr" sz="quarter"/>
          </p:nvPr>
        </p:nvSpPr>
        <p:spPr/>
        <p:txBody>
          <a:bodyPr/>
          <a:lstStyle/>
          <a:p>
            <a:pPr marL="0" marR="0" lvl="0" indent="0" algn="l" defTabSz="942975" rtl="0" eaLnBrk="0" fontAlgn="base" latinLnBrk="0" hangingPunct="0">
              <a:lnSpc>
                <a:spcPts val="1875"/>
              </a:lnSpc>
              <a:spcBef>
                <a:spcPts val="625"/>
              </a:spcBef>
              <a:spcAft>
                <a:spcPct val="0"/>
              </a:spcAft>
              <a:buClrTx/>
              <a:buSzTx/>
              <a:buFont typeface="Wingdings" pitchFamily="2" charset="2"/>
              <a:buNone/>
              <a:tabLst>
                <a:tab pos="5591175" algn="r"/>
              </a:tabLst>
              <a:defRPr/>
            </a:pPr>
            <a:r>
              <a:rPr kumimoji="0" lang="en-US" altLang="en-US" sz="1200" b="0" i="0" u="none" strike="noStrike" kern="1200" cap="none" spc="0" normalizeH="0" baseline="0" noProof="0" dirty="0" smtClean="0">
                <a:ln>
                  <a:noFill/>
                </a:ln>
                <a:solidFill>
                  <a:srgbClr val="000000"/>
                </a:solidFill>
                <a:effectLst/>
                <a:uLnTx/>
                <a:uFillTx/>
                <a:latin typeface="Arial"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822363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21338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876832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297418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45149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10000"/>
              </a:spcBef>
              <a:spcAft>
                <a:spcPct val="0"/>
              </a:spcAft>
              <a:buClrTx/>
              <a:buSzTx/>
              <a:buFontTx/>
              <a:buNone/>
              <a:tabLst/>
              <a:defRPr/>
            </a:pPr>
            <a:r>
              <a:rPr lang="en-US" b="0" dirty="0" smtClean="0">
                <a:latin typeface="Arial" pitchFamily="34" charset="0"/>
              </a:rPr>
              <a:t>Answer:</a:t>
            </a:r>
          </a:p>
          <a:p>
            <a:pPr marL="228600" marR="0" lvl="0" indent="-228600" algn="l" defTabSz="914400" rtl="0" eaLnBrk="0" fontAlgn="base" latinLnBrk="0" hangingPunct="0">
              <a:lnSpc>
                <a:spcPct val="100000"/>
              </a:lnSpc>
              <a:spcBef>
                <a:spcPct val="10000"/>
              </a:spcBef>
              <a:spcAft>
                <a:spcPct val="0"/>
              </a:spcAft>
              <a:buClrTx/>
              <a:buSzTx/>
              <a:buFont typeface="+mj-lt"/>
              <a:buAutoNum type="arabicPeriod"/>
              <a:tabLst/>
              <a:defRPr/>
            </a:pPr>
            <a:r>
              <a:rPr lang="en-US" b="0" dirty="0" smtClean="0">
                <a:latin typeface="Arial" pitchFamily="34" charset="0"/>
              </a:rPr>
              <a:t>Add a new Run/Debug configuration whose main class is defined as : </a:t>
            </a:r>
            <a:r>
              <a:rPr lang="en-US" b="0" dirty="0" err="1" smtClean="0">
                <a:latin typeface="Arial" pitchFamily="34" charset="0"/>
              </a:rPr>
              <a:t>com.guidewire.tools.json.JsonSchemaWrapperCodegenTool</a:t>
            </a:r>
            <a:endParaRPr lang="en-US" b="0" dirty="0" smtClean="0">
              <a:latin typeface="Arial" pitchFamily="34" charset="0"/>
            </a:endParaRPr>
          </a:p>
          <a:p>
            <a:pPr marL="228600" marR="0" lvl="0" indent="-228600" algn="l" defTabSz="914400" rtl="0" eaLnBrk="0" fontAlgn="base" latinLnBrk="0" hangingPunct="0">
              <a:lnSpc>
                <a:spcPct val="100000"/>
              </a:lnSpc>
              <a:spcBef>
                <a:spcPct val="10000"/>
              </a:spcBef>
              <a:spcAft>
                <a:spcPct val="0"/>
              </a:spcAft>
              <a:buClrTx/>
              <a:buSzTx/>
              <a:buFont typeface="+mj-lt"/>
              <a:buAutoNum type="arabicPeriod"/>
              <a:tabLst/>
              <a:defRPr/>
            </a:pPr>
            <a:r>
              <a:rPr lang="en-US" b="0" dirty="0" smtClean="0">
                <a:latin typeface="Arial" pitchFamily="34" charset="0"/>
              </a:rPr>
              <a:t>Run</a:t>
            </a:r>
            <a:r>
              <a:rPr lang="en-US" b="0" baseline="0" dirty="0" smtClean="0">
                <a:latin typeface="Arial" pitchFamily="34" charset="0"/>
              </a:rPr>
              <a:t> the </a:t>
            </a:r>
            <a:r>
              <a:rPr lang="en-US" b="0" baseline="0" dirty="0" err="1" smtClean="0">
                <a:latin typeface="Arial" pitchFamily="34" charset="0"/>
              </a:rPr>
              <a:t>JSONSchemaWrapperCodegenTool</a:t>
            </a:r>
            <a:endParaRPr lang="en-US" b="0" baseline="0" dirty="0" smtClean="0">
              <a:latin typeface="Arial" pitchFamily="34" charset="0"/>
            </a:endParaRPr>
          </a:p>
          <a:p>
            <a:pPr marL="228600" marR="0" lvl="0" indent="-228600" algn="l" defTabSz="914400" rtl="0" eaLnBrk="0" fontAlgn="base" latinLnBrk="0" hangingPunct="0">
              <a:lnSpc>
                <a:spcPct val="100000"/>
              </a:lnSpc>
              <a:spcBef>
                <a:spcPct val="10000"/>
              </a:spcBef>
              <a:spcAft>
                <a:spcPct val="0"/>
              </a:spcAft>
              <a:buClrTx/>
              <a:buSzTx/>
              <a:buFont typeface="+mj-lt"/>
              <a:buAutoNum type="arabicPeriod"/>
              <a:tabLst/>
              <a:defRPr/>
            </a:pPr>
            <a:r>
              <a:rPr lang="en-US" b="0" baseline="0" dirty="0" smtClean="0">
                <a:latin typeface="Arial" pitchFamily="34" charset="0"/>
              </a:rPr>
              <a:t>Add the schema fully qualified name to the codegen-schemas.txt</a:t>
            </a:r>
            <a:endParaRPr lang="en-US" b="0" dirty="0" smtClean="0">
              <a:latin typeface="Arial" pitchFamily="34" charset="0"/>
            </a:endParaRPr>
          </a:p>
        </p:txBody>
      </p:sp>
      <p:sp>
        <p:nvSpPr>
          <p:cNvPr id="4" name="Slide Number Placeholder 3"/>
          <p:cNvSpPr>
            <a:spLocks noGrp="1"/>
          </p:cNvSpPr>
          <p:nvPr>
            <p:ph type="sldNum" sz="quarter" idx="5"/>
          </p:nvPr>
        </p:nvSpPr>
        <p:spPr/>
        <p:txBody>
          <a:bodyPr/>
          <a:lstStyle/>
          <a:p>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r>
              <a:rPr kumimoji="0" lang="en-US" altLang="en-US" sz="12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1200" b="0" i="0" u="none" strike="noStrike" kern="1200" cap="none" spc="0" normalizeH="0" baseline="0" noProof="0" dirty="0">
                <a:ln>
                  <a:noFill/>
                </a:ln>
                <a:solidFill>
                  <a:srgbClr val="000000"/>
                </a:solidFill>
                <a:effectLst/>
                <a:uLnTx/>
                <a:uFillTx/>
                <a:latin typeface="Arial" charset="0"/>
                <a:ea typeface="+mn-ea"/>
                <a:cs typeface="+mn-cs"/>
              </a:rPr>
              <a:t>Introduction to the Guidewire </a:t>
            </a:r>
            <a:r>
              <a:rPr kumimoji="0" lang="en-US" sz="1200" b="0" i="0" u="none" strike="noStrike" kern="1200" cap="none" spc="0" normalizeH="0" baseline="0" noProof="0" dirty="0" smtClean="0">
                <a:ln>
                  <a:noFill/>
                </a:ln>
                <a:solidFill>
                  <a:srgbClr val="000000"/>
                </a:solidFill>
                <a:effectLst/>
                <a:uLnTx/>
                <a:uFillTx/>
                <a:latin typeface="Arial" charset="0"/>
                <a:ea typeface="+mn-ea"/>
                <a:cs typeface="+mn-cs"/>
              </a:rPr>
              <a:t>8.0 Releases - </a:t>
            </a:r>
            <a:fld id="{A8D045CE-4F6E-4FD7-9EC5-1A8550823B38}" type="slidenum">
              <a:rPr kumimoji="0" lang="en-US" alt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t>31</a:t>
            </a:fld>
            <a:endParaRPr kumimoji="0" lang="en-US" alt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5" name="Header Placeholder 4"/>
          <p:cNvSpPr>
            <a:spLocks noGrp="1"/>
          </p:cNvSpPr>
          <p:nvPr>
            <p:ph type="hdr" sz="quarter"/>
          </p:nvPr>
        </p:nvSpPr>
        <p:spPr/>
        <p:txBody>
          <a:bodyPr/>
          <a:lstStyle/>
          <a:p>
            <a:pPr marL="0" marR="0" lvl="0" indent="0" algn="l" defTabSz="942975" rtl="0" eaLnBrk="0" fontAlgn="base" latinLnBrk="0" hangingPunct="0">
              <a:lnSpc>
                <a:spcPts val="1875"/>
              </a:lnSpc>
              <a:spcBef>
                <a:spcPts val="625"/>
              </a:spcBef>
              <a:spcAft>
                <a:spcPct val="0"/>
              </a:spcAft>
              <a:buClrTx/>
              <a:buSzTx/>
              <a:buFont typeface="Wingdings" pitchFamily="2" charset="2"/>
              <a:buNone/>
              <a:tabLst>
                <a:tab pos="5591175" algn="r"/>
              </a:tabLst>
              <a:defRPr/>
            </a:pPr>
            <a:r>
              <a:rPr kumimoji="0" lang="en-US" altLang="en-US" sz="1200" b="0" i="0" u="none" strike="noStrike" kern="1200" cap="none" spc="0" normalizeH="0" baseline="0" noProof="0" dirty="0" smtClean="0">
                <a:ln>
                  <a:noFill/>
                </a:ln>
                <a:solidFill>
                  <a:srgbClr val="000000"/>
                </a:solidFill>
                <a:effectLst/>
                <a:uLnTx/>
                <a:uFillTx/>
                <a:latin typeface="Arial"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3053912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xfrm>
            <a:off x="-187325" y="630238"/>
            <a:ext cx="7240588" cy="4073525"/>
          </a:xfrm>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10000"/>
              </a:spcBef>
              <a:spcAft>
                <a:spcPct val="0"/>
              </a:spcAft>
              <a:buClrTx/>
              <a:buSzTx/>
              <a:buFontTx/>
              <a:buNone/>
              <a:tabLst/>
              <a:defRPr/>
            </a:pPr>
            <a:r>
              <a:rPr lang="en-US" b="0" dirty="0" smtClean="0">
                <a:latin typeface="Arial" pitchFamily="34" charset="0"/>
              </a:rPr>
              <a:t>Answer:</a:t>
            </a:r>
            <a:r>
              <a:rPr lang="en-US" b="0" baseline="0" dirty="0" smtClean="0">
                <a:latin typeface="Arial" pitchFamily="34" charset="0"/>
              </a:rPr>
              <a:t> True</a:t>
            </a:r>
            <a:endParaRPr lang="en-US" b="0" dirty="0" smtClean="0">
              <a:latin typeface="Arial" pitchFamily="34" charset="0"/>
            </a:endParaRPr>
          </a:p>
        </p:txBody>
      </p:sp>
      <p:sp>
        <p:nvSpPr>
          <p:cNvPr id="4" name="Slide Number Placeholder 3"/>
          <p:cNvSpPr>
            <a:spLocks noGrp="1"/>
          </p:cNvSpPr>
          <p:nvPr>
            <p:ph type="sldNum" sz="quarter" idx="5"/>
          </p:nvPr>
        </p:nvSpPr>
        <p:spPr/>
        <p:txBody>
          <a:bodyPr/>
          <a:lstStyle/>
          <a:p>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r>
              <a:rPr kumimoji="0" lang="en-US" altLang="en-US" sz="1200" b="0" i="0" u="none" strike="noStrike" kern="1200" cap="none" spc="0" normalizeH="0" baseline="0" noProof="0" dirty="0">
                <a:ln>
                  <a:noFill/>
                </a:ln>
                <a:solidFill>
                  <a:srgbClr val="000000"/>
                </a:solidFill>
                <a:effectLst/>
                <a:uLnTx/>
                <a:uFillTx/>
                <a:latin typeface="Arial" charset="0"/>
                <a:ea typeface="+mn-ea"/>
                <a:cs typeface="+mn-cs"/>
              </a:rPr>
              <a:t>	  </a:t>
            </a:r>
            <a:r>
              <a:rPr kumimoji="0" lang="en-US" sz="1200" b="0" i="0" u="none" strike="noStrike" kern="1200" cap="none" spc="0" normalizeH="0" baseline="0" noProof="0" dirty="0">
                <a:ln>
                  <a:noFill/>
                </a:ln>
                <a:solidFill>
                  <a:srgbClr val="000000"/>
                </a:solidFill>
                <a:effectLst/>
                <a:uLnTx/>
                <a:uFillTx/>
                <a:latin typeface="Arial" charset="0"/>
                <a:ea typeface="+mn-ea"/>
                <a:cs typeface="+mn-cs"/>
              </a:rPr>
              <a:t>Introduction to the Guidewire </a:t>
            </a:r>
            <a:r>
              <a:rPr kumimoji="0" lang="en-US" sz="1200" b="0" i="0" u="none" strike="noStrike" kern="1200" cap="none" spc="0" normalizeH="0" baseline="0" noProof="0" dirty="0" smtClean="0">
                <a:ln>
                  <a:noFill/>
                </a:ln>
                <a:solidFill>
                  <a:srgbClr val="000000"/>
                </a:solidFill>
                <a:effectLst/>
                <a:uLnTx/>
                <a:uFillTx/>
                <a:latin typeface="Arial" charset="0"/>
                <a:ea typeface="+mn-ea"/>
                <a:cs typeface="+mn-cs"/>
              </a:rPr>
              <a:t>8.0 Releases - </a:t>
            </a:r>
            <a:fld id="{A8D045CE-4F6E-4FD7-9EC5-1A8550823B38}" type="slidenum">
              <a:rPr kumimoji="0" lang="en-US" altLang="en-US" sz="12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31863" rtl="0" eaLnBrk="1" fontAlgn="base" latinLnBrk="0" hangingPunct="1">
                <a:lnSpc>
                  <a:spcPct val="100000"/>
                </a:lnSpc>
                <a:spcBef>
                  <a:spcPct val="0"/>
                </a:spcBef>
                <a:spcAft>
                  <a:spcPct val="0"/>
                </a:spcAft>
                <a:buClrTx/>
                <a:buSzTx/>
                <a:buFontTx/>
                <a:buNone/>
                <a:tabLst>
                  <a:tab pos="2743200" algn="ctr"/>
                </a:tabLst>
                <a:defRPr/>
              </a:pPr>
              <a:t>32</a:t>
            </a:fld>
            <a:endParaRPr kumimoji="0" lang="en-US" alt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5" name="Header Placeholder 4"/>
          <p:cNvSpPr>
            <a:spLocks noGrp="1"/>
          </p:cNvSpPr>
          <p:nvPr>
            <p:ph type="hdr" sz="quarter"/>
          </p:nvPr>
        </p:nvSpPr>
        <p:spPr/>
        <p:txBody>
          <a:bodyPr/>
          <a:lstStyle/>
          <a:p>
            <a:pPr marL="0" marR="0" lvl="0" indent="0" algn="l" defTabSz="942975" rtl="0" eaLnBrk="0" fontAlgn="base" latinLnBrk="0" hangingPunct="0">
              <a:lnSpc>
                <a:spcPts val="1875"/>
              </a:lnSpc>
              <a:spcBef>
                <a:spcPts val="625"/>
              </a:spcBef>
              <a:spcAft>
                <a:spcPct val="0"/>
              </a:spcAft>
              <a:buClrTx/>
              <a:buSzTx/>
              <a:buFont typeface="Wingdings" pitchFamily="2" charset="2"/>
              <a:buNone/>
              <a:tabLst>
                <a:tab pos="5591175" algn="r"/>
              </a:tabLst>
              <a:defRPr/>
            </a:pPr>
            <a:r>
              <a:rPr kumimoji="0" lang="en-US" altLang="en-US" sz="1200" b="0" i="0" u="none" strike="noStrike" kern="1200" cap="none" spc="0" normalizeH="0" baseline="0" noProof="0" dirty="0" smtClean="0">
                <a:ln>
                  <a:noFill/>
                </a:ln>
                <a:solidFill>
                  <a:srgbClr val="000000"/>
                </a:solidFill>
                <a:effectLst/>
                <a:uLnTx/>
                <a:uFillTx/>
                <a:latin typeface="Arial" charset="0"/>
                <a:ea typeface="+mn-ea"/>
                <a:cs typeface="+mn-cs"/>
              </a:rPr>
              <a:t>	</a:t>
            </a:r>
            <a:endParaRPr kumimoji="0" lang="en-US" sz="1200" b="0"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974770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Blue Cover Slid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475560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3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endParaRPr lang="en-US" dirty="0"/>
          </a:p>
        </p:txBody>
      </p:sp>
    </p:spTree>
    <p:extLst>
      <p:ext uri="{BB962C8B-B14F-4D97-AF65-F5344CB8AC3E}">
        <p14:creationId xmlns:p14="http://schemas.microsoft.com/office/powerpoint/2010/main" val="4097011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56429" y="979055"/>
            <a:ext cx="11091333"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40377677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smtClean="0"/>
              <a:t>Edit Master text styles</a:t>
            </a:r>
          </a:p>
        </p:txBody>
      </p:sp>
    </p:spTree>
    <p:extLst>
      <p:ext uri="{BB962C8B-B14F-4D97-AF65-F5344CB8AC3E}">
        <p14:creationId xmlns:p14="http://schemas.microsoft.com/office/powerpoint/2010/main" val="158792213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156809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9947BC-C135-4AF9-80CB-7EC49EFAF7EE}"/>
              </a:ext>
            </a:extLst>
          </p:cNvPr>
          <p:cNvSpPr>
            <a:spLocks noGrp="1"/>
          </p:cNvSpPr>
          <p:nvPr>
            <p:ph type="title"/>
          </p:nvPr>
        </p:nvSpPr>
        <p:spPr>
          <a:xfrm>
            <a:off x="512064" y="365760"/>
            <a:ext cx="11180064" cy="1060704"/>
          </a:xfrm>
          <a:prstGeom prst="rect">
            <a:avLst/>
          </a:prstGeom>
        </p:spPr>
        <p:txBody>
          <a:bodyPr vert="horz" lIns="0" tIns="0" rIns="0" bIns="0" rtlCol="0" anchor="t" anchorCtr="0">
            <a:normAutofit/>
          </a:bodyPr>
          <a:lstStyle/>
          <a:p>
            <a:r>
              <a:rPr lang="en-US" smtClean="0"/>
              <a:t>Click to edit Master title style</a:t>
            </a:r>
            <a:endParaRPr lang="en-US" dirty="0"/>
          </a:p>
        </p:txBody>
      </p:sp>
      <p:sp>
        <p:nvSpPr>
          <p:cNvPr id="3" name="Text Placeholder 2">
            <a:extLst>
              <a:ext uri="{FF2B5EF4-FFF2-40B4-BE49-F238E27FC236}">
                <a16:creationId xmlns:a16="http://schemas.microsoft.com/office/drawing/2014/main" id="{178C3981-E47F-4B94-A56D-1A8F4B3B3863}"/>
              </a:ext>
            </a:extLst>
          </p:cNvPr>
          <p:cNvSpPr>
            <a:spLocks noGrp="1"/>
          </p:cNvSpPr>
          <p:nvPr>
            <p:ph type="body" idx="1"/>
          </p:nvPr>
        </p:nvSpPr>
        <p:spPr>
          <a:xfrm>
            <a:off x="512064" y="1682496"/>
            <a:ext cx="11180064" cy="4425696"/>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417B5ED4-B674-4C32-9514-6C6A986BC37F}"/>
              </a:ext>
            </a:extLst>
          </p:cNvPr>
          <p:cNvSpPr>
            <a:spLocks noGrp="1"/>
          </p:cNvSpPr>
          <p:nvPr>
            <p:ph type="dt" sz="half" idx="2"/>
          </p:nvPr>
        </p:nvSpPr>
        <p:spPr>
          <a:xfrm>
            <a:off x="7315200" y="6400800"/>
            <a:ext cx="1219200" cy="207264"/>
          </a:xfrm>
          <a:prstGeom prst="rect">
            <a:avLst/>
          </a:prstGeom>
        </p:spPr>
        <p:txBody>
          <a:bodyPr vert="horz" lIns="0" tIns="0" rIns="0" bIns="0" rtlCol="0" anchor="ctr"/>
          <a:lstStyle>
            <a:lvl1pPr algn="r">
              <a:defRPr sz="1000">
                <a:solidFill>
                  <a:schemeClr val="tx1"/>
                </a:solidFill>
              </a:defRPr>
            </a:lvl1pPr>
          </a:lstStyle>
          <a:p>
            <a:endParaRPr lang="en-US" dirty="0"/>
          </a:p>
        </p:txBody>
      </p:sp>
      <p:sp>
        <p:nvSpPr>
          <p:cNvPr id="9" name="Footer Placeholder 8">
            <a:extLst>
              <a:ext uri="{FF2B5EF4-FFF2-40B4-BE49-F238E27FC236}">
                <a16:creationId xmlns:a16="http://schemas.microsoft.com/office/drawing/2014/main" id="{AB68013F-8083-4869-B1B8-42E270F30CB8}"/>
              </a:ext>
            </a:extLst>
          </p:cNvPr>
          <p:cNvSpPr>
            <a:spLocks noGrp="1"/>
          </p:cNvSpPr>
          <p:nvPr>
            <p:ph type="ftr" sz="quarter" idx="3"/>
          </p:nvPr>
        </p:nvSpPr>
        <p:spPr>
          <a:xfrm>
            <a:off x="853440" y="6400800"/>
            <a:ext cx="6096000" cy="207264"/>
          </a:xfrm>
          <a:prstGeom prst="rect">
            <a:avLst/>
          </a:prstGeom>
        </p:spPr>
        <p:txBody>
          <a:bodyPr vert="horz" lIns="0" tIns="0" rIns="0" bIns="0" rtlCol="0" anchor="ctr"/>
          <a:lstStyle>
            <a:lvl1pPr algn="l">
              <a:defRPr sz="1000">
                <a:solidFill>
                  <a:schemeClr val="tx1"/>
                </a:solidFill>
              </a:defRPr>
            </a:lvl1pPr>
            <a:lvl2pPr marL="0" indent="0">
              <a:defRPr sz="1000"/>
            </a:lvl2pPr>
            <a:lvl3pPr marL="0" indent="0">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r>
              <a:rPr lang="en-US" dirty="0" smtClean="0"/>
              <a:t>© 2020 Cognizant</a:t>
            </a:r>
            <a:endParaRPr lang="en-US" dirty="0"/>
          </a:p>
        </p:txBody>
      </p:sp>
      <p:sp>
        <p:nvSpPr>
          <p:cNvPr id="10" name="Slide Number Placeholder 9">
            <a:extLst>
              <a:ext uri="{FF2B5EF4-FFF2-40B4-BE49-F238E27FC236}">
                <a16:creationId xmlns:a16="http://schemas.microsoft.com/office/drawing/2014/main" id="{42EC2F54-FE71-419F-B3E9-62861D2AA5EE}"/>
              </a:ext>
            </a:extLst>
          </p:cNvPr>
          <p:cNvSpPr>
            <a:spLocks noGrp="1"/>
          </p:cNvSpPr>
          <p:nvPr>
            <p:ph type="sldNum" sz="quarter" idx="4"/>
          </p:nvPr>
        </p:nvSpPr>
        <p:spPr>
          <a:xfrm>
            <a:off x="512064" y="6400800"/>
            <a:ext cx="304800" cy="207264"/>
          </a:xfrm>
          <a:prstGeom prst="rect">
            <a:avLst/>
          </a:prstGeom>
        </p:spPr>
        <p:txBody>
          <a:bodyPr vert="horz" lIns="0" tIns="0" rIns="0" bIns="0" rtlCol="0" anchor="ctr"/>
          <a:lstStyle>
            <a:lvl1pPr algn="l">
              <a:defRPr sz="1200" b="1">
                <a:solidFill>
                  <a:schemeClr val="accent6"/>
                </a:solidFill>
              </a:defRPr>
            </a:lvl1pPr>
          </a:lstStyle>
          <a:p>
            <a:endParaRPr lang="en-US" dirty="0"/>
          </a:p>
        </p:txBody>
      </p:sp>
    </p:spTree>
    <p:extLst>
      <p:ext uri="{BB962C8B-B14F-4D97-AF65-F5344CB8AC3E}">
        <p14:creationId xmlns:p14="http://schemas.microsoft.com/office/powerpoint/2010/main" val="3256679072"/>
      </p:ext>
    </p:extLst>
  </p:cSld>
  <p:clrMap bg1="lt1" tx1="dk1" bg2="lt2" tx2="dk2" accent1="accent1" accent2="accent2" accent3="accent3" accent4="accent4" accent5="accent5" accent6="accent6" hlink="hlink" folHlink="folHlink"/>
  <p:sldLayoutIdLst>
    <p:sldLayoutId id="2147484078" r:id="rId1"/>
    <p:sldLayoutId id="2147484083" r:id="rId2"/>
    <p:sldLayoutId id="2147484084" r:id="rId3"/>
    <p:sldLayoutId id="2147484085" r:id="rId4"/>
  </p:sldLayoutIdLst>
  <p:timing>
    <p:tnLst>
      <p:par>
        <p:cTn id="1" dur="indefinite" restart="never" nodeType="tmRoot"/>
      </p:par>
    </p:tnLst>
  </p:timing>
  <p:hf hdr="0" dt="0"/>
  <p:txStyles>
    <p:titleStyle>
      <a:lvl1pPr algn="l" defTabSz="121917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1219170" rtl="0" eaLnBrk="1" latinLnBrk="0" hangingPunct="1">
        <a:lnSpc>
          <a:spcPct val="100000"/>
        </a:lnSpc>
        <a:spcBef>
          <a:spcPts val="800"/>
        </a:spcBef>
        <a:buFont typeface="Arial" panose="020B0604020202020204" pitchFamily="34" charset="0"/>
        <a:buNone/>
        <a:defRPr sz="2400" kern="1200">
          <a:solidFill>
            <a:schemeClr val="tx2"/>
          </a:solidFill>
          <a:latin typeface="Arial" panose="020B0604020202020204" pitchFamily="34" charset="0"/>
          <a:ea typeface="+mn-ea"/>
          <a:cs typeface="Arial" panose="020B0604020202020204" pitchFamily="34" charset="0"/>
        </a:defRPr>
      </a:lvl1pPr>
      <a:lvl2pPr marL="304792" indent="-304792" algn="l" defTabSz="1219170" rtl="0" eaLnBrk="1" latinLnBrk="0" hangingPunct="1">
        <a:lnSpc>
          <a:spcPct val="100000"/>
        </a:lnSpc>
        <a:spcBef>
          <a:spcPts val="800"/>
        </a:spcBef>
        <a:buClrTx/>
        <a:buSzPct val="125000"/>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609585"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3pPr>
      <a:lvl4pPr marL="914377" indent="-304792" algn="l" defTabSz="1219170" rtl="0" eaLnBrk="1" latinLnBrk="0" hangingPunct="1">
        <a:lnSpc>
          <a:spcPct val="100000"/>
        </a:lnSpc>
        <a:spcBef>
          <a:spcPts val="533"/>
        </a:spcBef>
        <a:buClrTx/>
        <a:buSzPct val="100000"/>
        <a:buFont typeface="Courier New" panose="02070309020205020404" pitchFamily="49" charset="0"/>
        <a:buChar char="o"/>
        <a:defRPr sz="2133" kern="1200">
          <a:solidFill>
            <a:schemeClr val="tx2"/>
          </a:solidFill>
          <a:latin typeface="Arial" panose="020B0604020202020204" pitchFamily="34" charset="0"/>
          <a:ea typeface="+mn-ea"/>
          <a:cs typeface="Arial" panose="020B0604020202020204" pitchFamily="34" charset="0"/>
        </a:defRPr>
      </a:lvl4pPr>
      <a:lvl5pPr marL="1219170"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5pPr>
      <a:lvl6pPr marL="1523962" indent="-304792" algn="l" defTabSz="1219170" rtl="0" eaLnBrk="1" latinLnBrk="0" hangingPunct="1">
        <a:lnSpc>
          <a:spcPct val="100000"/>
        </a:lnSpc>
        <a:spcBef>
          <a:spcPts val="533"/>
        </a:spcBef>
        <a:buClr>
          <a:schemeClr val="accent2"/>
        </a:buClr>
        <a:buSzPct val="125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6pPr>
      <a:lvl7pPr marL="1828754" indent="-304792" algn="l" defTabSz="1219170" rtl="0" eaLnBrk="1" latinLnBrk="0" hangingPunct="1">
        <a:lnSpc>
          <a:spcPct val="100000"/>
        </a:lnSpc>
        <a:spcBef>
          <a:spcPts val="533"/>
        </a:spcBef>
        <a:buClr>
          <a:schemeClr val="accent2"/>
        </a:buClr>
        <a:buSzPct val="90000"/>
        <a:buFont typeface="Arial" panose="020B0604020202020204" pitchFamily="34" charset="0"/>
        <a:buChar char="–"/>
        <a:defRPr sz="2133" kern="1200">
          <a:solidFill>
            <a:schemeClr val="tx2"/>
          </a:solidFill>
          <a:latin typeface="+mn-lt"/>
          <a:ea typeface="+mn-ea"/>
          <a:cs typeface="+mn-cs"/>
        </a:defRPr>
      </a:lvl7pPr>
      <a:lvl8pPr marL="2133547" indent="-304792" algn="l" defTabSz="1219170" rtl="0" eaLnBrk="1" latinLnBrk="0" hangingPunct="1">
        <a:lnSpc>
          <a:spcPct val="100000"/>
        </a:lnSpc>
        <a:spcBef>
          <a:spcPts val="533"/>
        </a:spcBef>
        <a:buClr>
          <a:schemeClr val="accent2"/>
        </a:buClr>
        <a:buSzPct val="90000"/>
        <a:buFont typeface="Courier New" panose="02070309020205020404" pitchFamily="49" charset="0"/>
        <a:buChar char="o"/>
        <a:defRPr sz="2133" kern="1200">
          <a:solidFill>
            <a:schemeClr val="tx2"/>
          </a:solidFill>
          <a:latin typeface="+mn-lt"/>
          <a:ea typeface="+mn-ea"/>
          <a:cs typeface="+mn-cs"/>
        </a:defRPr>
      </a:lvl8pPr>
      <a:lvl9pPr marL="2133547" indent="-304792" algn="l" defTabSz="1219170" rtl="0" eaLnBrk="1" latinLnBrk="0" hangingPunct="1">
        <a:lnSpc>
          <a:spcPct val="100000"/>
        </a:lnSpc>
        <a:spcBef>
          <a:spcPts val="533"/>
        </a:spcBef>
        <a:buClrTx/>
        <a:buSzPct val="90000"/>
        <a:buFont typeface="Courier New" panose="02070309020205020404" pitchFamily="49" charset="0"/>
        <a:buChar char="o"/>
        <a:defRPr sz="2133" kern="1200">
          <a:solidFill>
            <a:schemeClr val="tx2"/>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4"/>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a:solidFill>
                  <a:srgbClr val="B2B2B2"/>
                </a:solidFill>
                <a:latin typeface="+mn-lt"/>
              </a:rPr>
              <a:t>© Guidewire Software, Inc. </a:t>
            </a:r>
            <a:r>
              <a:rPr lang="en-US" sz="600" smtClean="0">
                <a:solidFill>
                  <a:srgbClr val="B2B2B2"/>
                </a:solidFill>
                <a:latin typeface="+mn-lt"/>
              </a:rPr>
              <a:t> 2001-2014. All </a:t>
            </a:r>
            <a:r>
              <a:rPr lang="en-US" sz="600">
                <a:solidFill>
                  <a:srgbClr val="B2B2B2"/>
                </a:solidFill>
                <a:latin typeface="+mn-lt"/>
              </a:rPr>
              <a:t>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grpSp>
      <p:pic>
        <p:nvPicPr>
          <p:cNvPr id="1031" name="pic Logo Text" descr="guidewir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8272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spTree>
    <p:extLst>
      <p:ext uri="{BB962C8B-B14F-4D97-AF65-F5344CB8AC3E}">
        <p14:creationId xmlns:p14="http://schemas.microsoft.com/office/powerpoint/2010/main" val="3662329552"/>
      </p:ext>
    </p:extLst>
  </p:cSld>
  <p:clrMap bg1="dk2" tx1="lt1" bg2="dk1" tx2="lt2" accent1="accent1" accent2="accent2" accent3="accent3" accent4="accent4" accent5="accent5" accent6="accent6" hlink="hlink" folHlink="folHlink"/>
  <p:sldLayoutIdLst>
    <p:sldLayoutId id="2147484088" r:id="rId1"/>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smtClean="0">
                <a:solidFill>
                  <a:srgbClr val="04628C"/>
                </a:solidFill>
              </a:rPr>
              <a:t>InsuranceSuite 10 Integration</a:t>
            </a:r>
            <a:endParaRPr lang="en-US" dirty="0">
              <a:solidFill>
                <a:srgbClr val="04628C"/>
              </a:solidFill>
            </a:endParaRPr>
          </a:p>
        </p:txBody>
      </p:sp>
      <p:sp>
        <p:nvSpPr>
          <p:cNvPr id="8" name="Title 2"/>
          <p:cNvSpPr txBox="1">
            <a:spLocks/>
          </p:cNvSpPr>
          <p:nvPr/>
        </p:nvSpPr>
        <p:spPr bwMode="white">
          <a:xfrm>
            <a:off x="913853" y="5177070"/>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smtClean="0">
                <a:solidFill>
                  <a:srgbClr val="00B0F0"/>
                </a:solidFill>
                <a:ea typeface="+mn-ea"/>
              </a:rPr>
              <a:t>INTEGRATION VIEW</a:t>
            </a:r>
            <a:endParaRPr lang="en-US" sz="2400" b="0" dirty="0">
              <a:solidFill>
                <a:srgbClr val="00B0F0"/>
              </a:solidFill>
              <a:ea typeface="+mn-ea"/>
            </a:endParaRPr>
          </a:p>
        </p:txBody>
      </p:sp>
    </p:spTree>
    <p:extLst>
      <p:ext uri="{BB962C8B-B14F-4D97-AF65-F5344CB8AC3E}">
        <p14:creationId xmlns:p14="http://schemas.microsoft.com/office/powerpoint/2010/main" val="22800121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dirty="0" smtClean="0"/>
              <a:t>Lesson objectives</a:t>
            </a:r>
          </a:p>
        </p:txBody>
      </p:sp>
      <p:sp>
        <p:nvSpPr>
          <p:cNvPr id="4099" name="Rectangle 3"/>
          <p:cNvSpPr>
            <a:spLocks noGrp="1" noChangeArrowheads="1"/>
          </p:cNvSpPr>
          <p:nvPr>
            <p:ph idx="1"/>
          </p:nvPr>
        </p:nvSpPr>
        <p:spPr/>
        <p:txBody>
          <a:bodyPr/>
          <a:lstStyle/>
          <a:p>
            <a:r>
              <a:rPr lang="en-US" dirty="0" smtClean="0"/>
              <a:t>By the end of this lesson, you should be able to:</a:t>
            </a:r>
          </a:p>
          <a:p>
            <a:pPr lvl="1" eaLnBrk="1" hangingPunct="1"/>
            <a:r>
              <a:rPr lang="en-US" dirty="0" smtClean="0"/>
              <a:t>Define purpose of integration view</a:t>
            </a:r>
          </a:p>
          <a:p>
            <a:pPr lvl="1" eaLnBrk="1" hangingPunct="1"/>
            <a:r>
              <a:rPr lang="en-US" dirty="0" smtClean="0"/>
              <a:t>Configure integration view schema mapping file and filter</a:t>
            </a:r>
          </a:p>
          <a:p>
            <a:pPr lvl="1" eaLnBrk="1" hangingPunct="1"/>
            <a:r>
              <a:rPr lang="en-US" dirty="0" smtClean="0"/>
              <a:t>Generate JSON output</a:t>
            </a:r>
          </a:p>
          <a:p>
            <a:pPr lvl="1" eaLnBrk="1" hangingPunct="1"/>
            <a:r>
              <a:rPr lang="en-US" dirty="0" smtClean="0"/>
              <a:t>Generate Xml output</a:t>
            </a:r>
          </a:p>
          <a:p>
            <a:pPr lvl="1" eaLnBrk="1" hangingPunct="1"/>
            <a:endParaRPr lang="en-US" dirty="0" smtClean="0"/>
          </a:p>
        </p:txBody>
      </p:sp>
    </p:spTree>
    <p:extLst>
      <p:ext uri="{BB962C8B-B14F-4D97-AF65-F5344CB8AC3E}">
        <p14:creationId xmlns:p14="http://schemas.microsoft.com/office/powerpoint/2010/main" val="174350510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a:t>Why use an integration view?</a:t>
            </a:r>
          </a:p>
        </p:txBody>
      </p:sp>
      <p:sp>
        <p:nvSpPr>
          <p:cNvPr id="7173" name="Content Placeholder 2"/>
          <p:cNvSpPr>
            <a:spLocks noGrp="1"/>
          </p:cNvSpPr>
          <p:nvPr>
            <p:ph idx="1"/>
          </p:nvPr>
        </p:nvSpPr>
        <p:spPr/>
        <p:txBody>
          <a:bodyPr/>
          <a:lstStyle/>
          <a:p>
            <a:pPr lvl="0"/>
            <a:r>
              <a:rPr lang="en-US" dirty="0"/>
              <a:t>Produce external view of Guidewire domain model</a:t>
            </a:r>
          </a:p>
          <a:p>
            <a:pPr lvl="0"/>
            <a:r>
              <a:rPr lang="en-US" dirty="0"/>
              <a:t>Schema and mapping are explicitly named and versioned </a:t>
            </a:r>
          </a:p>
          <a:p>
            <a:pPr lvl="1"/>
            <a:r>
              <a:rPr lang="en-US" sz="2400" dirty="0"/>
              <a:t>Different version of the same schema and mapping can co-exists</a:t>
            </a:r>
          </a:p>
          <a:p>
            <a:pPr lvl="0"/>
            <a:r>
              <a:rPr lang="en-US" dirty="0"/>
              <a:t>Output format is specified in the schema</a:t>
            </a:r>
          </a:p>
          <a:p>
            <a:pPr lvl="0"/>
            <a:r>
              <a:rPr lang="en-US" dirty="0"/>
              <a:t>Simple design approach</a:t>
            </a:r>
          </a:p>
          <a:p>
            <a:pPr lvl="1"/>
            <a:r>
              <a:rPr lang="en-US" sz="2400" dirty="0"/>
              <a:t>Define output schema first and then map the data to output</a:t>
            </a:r>
          </a:p>
          <a:p>
            <a:pPr marL="0" indent="0">
              <a:buNone/>
            </a:pPr>
            <a:endParaRPr lang="en-US" dirty="0"/>
          </a:p>
        </p:txBody>
      </p:sp>
    </p:spTree>
    <p:extLst>
      <p:ext uri="{BB962C8B-B14F-4D97-AF65-F5344CB8AC3E}">
        <p14:creationId xmlns:p14="http://schemas.microsoft.com/office/powerpoint/2010/main" val="373487662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Components involved</a:t>
            </a:r>
            <a:endParaRPr lang="en-US" dirty="0"/>
          </a:p>
        </p:txBody>
      </p:sp>
      <p:pic>
        <p:nvPicPr>
          <p:cNvPr id="5" name="Content Placeholder 4"/>
          <p:cNvPicPr>
            <a:picLocks noGrp="1"/>
          </p:cNvPicPr>
          <p:nvPr>
            <p:ph idx="1"/>
          </p:nvPr>
        </p:nvPicPr>
        <p:blipFill>
          <a:blip r:embed="rId3"/>
          <a:stretch>
            <a:fillRect/>
          </a:stretch>
        </p:blipFill>
        <p:spPr>
          <a:xfrm>
            <a:off x="2696818" y="1143001"/>
            <a:ext cx="6530009" cy="4472609"/>
          </a:xfrm>
          <a:prstGeom prst="rect">
            <a:avLst/>
          </a:prstGeom>
        </p:spPr>
      </p:pic>
    </p:spTree>
    <p:extLst>
      <p:ext uri="{BB962C8B-B14F-4D97-AF65-F5344CB8AC3E}">
        <p14:creationId xmlns:p14="http://schemas.microsoft.com/office/powerpoint/2010/main" val="339345224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Integration view components</a:t>
            </a:r>
            <a:endParaRPr lang="en-US" dirty="0"/>
          </a:p>
        </p:txBody>
      </p:sp>
      <p:sp>
        <p:nvSpPr>
          <p:cNvPr id="7173" name="Content Placeholder 2"/>
          <p:cNvSpPr>
            <a:spLocks noGrp="1"/>
          </p:cNvSpPr>
          <p:nvPr>
            <p:ph idx="1"/>
          </p:nvPr>
        </p:nvSpPr>
        <p:spPr/>
        <p:txBody>
          <a:bodyPr/>
          <a:lstStyle/>
          <a:p>
            <a:pPr lvl="0"/>
            <a:r>
              <a:rPr lang="en-US" dirty="0" smtClean="0"/>
              <a:t>Integration view has following components</a:t>
            </a:r>
          </a:p>
          <a:p>
            <a:pPr lvl="1"/>
            <a:r>
              <a:rPr lang="en-US" dirty="0" smtClean="0"/>
              <a:t>Schemas</a:t>
            </a:r>
          </a:p>
          <a:p>
            <a:pPr lvl="2"/>
            <a:r>
              <a:rPr lang="en-US" dirty="0" smtClean="0"/>
              <a:t>JSON schema defines structure of the data.</a:t>
            </a:r>
          </a:p>
          <a:p>
            <a:pPr lvl="2"/>
            <a:r>
              <a:rPr lang="en-US" dirty="0" smtClean="0"/>
              <a:t>Can be targeted my multiple mapping</a:t>
            </a:r>
          </a:p>
          <a:p>
            <a:pPr lvl="1"/>
            <a:r>
              <a:rPr lang="en-US" dirty="0" smtClean="0"/>
              <a:t>Mappers</a:t>
            </a:r>
          </a:p>
          <a:p>
            <a:pPr lvl="2"/>
            <a:r>
              <a:rPr lang="en-US" dirty="0" smtClean="0"/>
              <a:t>Describes how to transform the object such as entity to JSON or xml document conforming to that schema</a:t>
            </a:r>
          </a:p>
          <a:p>
            <a:pPr lvl="2"/>
            <a:r>
              <a:rPr lang="en-US" dirty="0" smtClean="0"/>
              <a:t>Can target only one JSON schema</a:t>
            </a:r>
          </a:p>
          <a:p>
            <a:pPr lvl="1"/>
            <a:r>
              <a:rPr lang="en-US" dirty="0" smtClean="0"/>
              <a:t>Filters</a:t>
            </a:r>
          </a:p>
          <a:p>
            <a:pPr lvl="2"/>
            <a:r>
              <a:rPr lang="en-US" dirty="0" smtClean="0"/>
              <a:t>Optional GraphQL-style filter that whitelist the fields to be materialized and serialized</a:t>
            </a:r>
          </a:p>
          <a:p>
            <a:pPr lvl="2"/>
            <a:r>
              <a:rPr lang="en-US" dirty="0" smtClean="0"/>
              <a:t>These can include virtual fields too</a:t>
            </a:r>
            <a:endParaRPr lang="en-US" dirty="0"/>
          </a:p>
          <a:p>
            <a:pPr marL="0" indent="0">
              <a:buNone/>
            </a:pPr>
            <a:endParaRPr lang="en-US" dirty="0"/>
          </a:p>
        </p:txBody>
      </p:sp>
    </p:spTree>
    <p:extLst>
      <p:ext uri="{BB962C8B-B14F-4D97-AF65-F5344CB8AC3E}">
        <p14:creationId xmlns:p14="http://schemas.microsoft.com/office/powerpoint/2010/main" val="3585505200"/>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Use Case</a:t>
            </a:r>
            <a:endParaRPr lang="en-US" dirty="0"/>
          </a:p>
        </p:txBody>
      </p:sp>
      <p:sp>
        <p:nvSpPr>
          <p:cNvPr id="2" name="Content Placeholder 1"/>
          <p:cNvSpPr>
            <a:spLocks noGrp="1"/>
          </p:cNvSpPr>
          <p:nvPr>
            <p:ph idx="1"/>
          </p:nvPr>
        </p:nvSpPr>
        <p:spPr>
          <a:xfrm>
            <a:off x="1104000" y="863600"/>
            <a:ext cx="8406226" cy="5655365"/>
          </a:xfrm>
        </p:spPr>
        <p:txBody>
          <a:bodyPr>
            <a:normAutofit lnSpcReduction="10000"/>
          </a:bodyPr>
          <a:lstStyle/>
          <a:p>
            <a:r>
              <a:rPr lang="en-US" b="1" dirty="0" smtClean="0"/>
              <a:t>Requirements</a:t>
            </a:r>
          </a:p>
          <a:p>
            <a:r>
              <a:rPr lang="en-US" dirty="0" smtClean="0"/>
              <a:t>Export the below contact data in either JSON or Xml format</a:t>
            </a:r>
          </a:p>
          <a:p>
            <a:pPr lvl="1"/>
            <a:r>
              <a:rPr lang="en-US" dirty="0" smtClean="0"/>
              <a:t>Name, DOB, Gender, Primary address and its field</a:t>
            </a:r>
          </a:p>
          <a:p>
            <a:r>
              <a:rPr lang="en-US" dirty="0"/>
              <a:t>Export </a:t>
            </a:r>
            <a:r>
              <a:rPr lang="en-US" dirty="0" smtClean="0"/>
              <a:t>a subset of data</a:t>
            </a:r>
            <a:endParaRPr lang="en-US" dirty="0"/>
          </a:p>
          <a:p>
            <a:pPr lvl="1"/>
            <a:r>
              <a:rPr lang="en-US" dirty="0" smtClean="0"/>
              <a:t>Without contact notes</a:t>
            </a:r>
          </a:p>
          <a:p>
            <a:pPr lvl="1"/>
            <a:r>
              <a:rPr lang="en-US" dirty="0" smtClean="0"/>
              <a:t>Contact notes only</a:t>
            </a:r>
          </a:p>
          <a:p>
            <a:r>
              <a:rPr lang="en-US" b="1" dirty="0" smtClean="0"/>
              <a:t>Design approach</a:t>
            </a:r>
            <a:endParaRPr lang="en-US" b="1" dirty="0"/>
          </a:p>
          <a:p>
            <a:r>
              <a:rPr lang="en-US" dirty="0" smtClean="0"/>
              <a:t>Define schemas: Create necessary schema file to describe structure of data</a:t>
            </a:r>
          </a:p>
          <a:p>
            <a:r>
              <a:rPr lang="en-US" dirty="0" smtClean="0"/>
              <a:t>Define mappings : Create mapping files to define domain fields to export</a:t>
            </a:r>
          </a:p>
          <a:p>
            <a:r>
              <a:rPr lang="en-US" dirty="0" smtClean="0"/>
              <a:t>Define filters : Create filter files to export subset of contact data</a:t>
            </a:r>
            <a:endParaRPr lang="en-US" dirty="0"/>
          </a:p>
          <a:p>
            <a:pPr lvl="1"/>
            <a:endParaRPr lang="en-US" dirty="0"/>
          </a:p>
        </p:txBody>
      </p:sp>
    </p:spTree>
    <p:extLst>
      <p:ext uri="{BB962C8B-B14F-4D97-AF65-F5344CB8AC3E}">
        <p14:creationId xmlns:p14="http://schemas.microsoft.com/office/powerpoint/2010/main" val="918767931"/>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a:t>Use </a:t>
            </a:r>
            <a:r>
              <a:rPr lang="en-US" dirty="0" smtClean="0"/>
              <a:t>Case- Sample output</a:t>
            </a:r>
            <a:endParaRPr lang="en-US" dirty="0"/>
          </a:p>
        </p:txBody>
      </p:sp>
      <p:pic>
        <p:nvPicPr>
          <p:cNvPr id="5" name="Content Placeholder 4"/>
          <p:cNvPicPr>
            <a:picLocks noGrp="1" noChangeAspect="1"/>
          </p:cNvPicPr>
          <p:nvPr>
            <p:ph idx="1"/>
          </p:nvPr>
        </p:nvPicPr>
        <p:blipFill>
          <a:blip r:embed="rId3"/>
          <a:stretch>
            <a:fillRect/>
          </a:stretch>
        </p:blipFill>
        <p:spPr>
          <a:xfrm>
            <a:off x="2835966" y="863601"/>
            <a:ext cx="5210731" cy="5767331"/>
          </a:xfrm>
          <a:prstGeom prst="rect">
            <a:avLst/>
          </a:prstGeom>
        </p:spPr>
      </p:pic>
    </p:spTree>
    <p:extLst>
      <p:ext uri="{BB962C8B-B14F-4D97-AF65-F5344CB8AC3E}">
        <p14:creationId xmlns:p14="http://schemas.microsoft.com/office/powerpoint/2010/main" val="1539307142"/>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Create a JSON schema</a:t>
            </a:r>
            <a:endParaRPr lang="en-US" dirty="0"/>
          </a:p>
        </p:txBody>
      </p:sp>
      <p:sp>
        <p:nvSpPr>
          <p:cNvPr id="7173" name="Content Placeholder 2"/>
          <p:cNvSpPr>
            <a:spLocks noGrp="1"/>
          </p:cNvSpPr>
          <p:nvPr>
            <p:ph idx="1"/>
          </p:nvPr>
        </p:nvSpPr>
        <p:spPr>
          <a:xfrm>
            <a:off x="512064" y="914400"/>
            <a:ext cx="9897519" cy="5486400"/>
          </a:xfrm>
        </p:spPr>
        <p:txBody>
          <a:bodyPr/>
          <a:lstStyle/>
          <a:p>
            <a:pPr lvl="0"/>
            <a:r>
              <a:rPr lang="en-US" dirty="0" smtClean="0"/>
              <a:t>Create a new package under </a:t>
            </a:r>
            <a:r>
              <a:rPr lang="en-US" b="1" dirty="0" err="1" smtClean="0"/>
              <a:t>integration.schemas</a:t>
            </a:r>
            <a:endParaRPr lang="en-US" b="1" dirty="0" smtClean="0"/>
          </a:p>
          <a:p>
            <a:pPr lvl="1"/>
            <a:r>
              <a:rPr lang="en-US" dirty="0" err="1"/>
              <a:t>c</a:t>
            </a:r>
            <a:r>
              <a:rPr lang="en-US" dirty="0" err="1" smtClean="0"/>
              <a:t>onfig.integration.schemas</a:t>
            </a:r>
            <a:r>
              <a:rPr lang="en-US" dirty="0" smtClean="0"/>
              <a:t>.&lt;</a:t>
            </a:r>
            <a:r>
              <a:rPr lang="en-US" dirty="0" err="1" smtClean="0"/>
              <a:t>company_code</a:t>
            </a:r>
            <a:r>
              <a:rPr lang="en-US" dirty="0" smtClean="0"/>
              <a:t>&gt;.&lt;</a:t>
            </a:r>
            <a:r>
              <a:rPr lang="en-US" dirty="0" err="1" smtClean="0"/>
              <a:t>product_code</a:t>
            </a:r>
            <a:r>
              <a:rPr lang="en-US" dirty="0" smtClean="0"/>
              <a:t>&gt;</a:t>
            </a:r>
            <a:endParaRPr lang="en-US" dirty="0"/>
          </a:p>
          <a:p>
            <a:pPr lvl="0"/>
            <a:r>
              <a:rPr lang="en-US" dirty="0"/>
              <a:t>Create a new </a:t>
            </a:r>
            <a:r>
              <a:rPr lang="en-US" dirty="0" smtClean="0"/>
              <a:t>file with following syntax</a:t>
            </a:r>
            <a:endParaRPr lang="en-US" b="1" dirty="0"/>
          </a:p>
          <a:p>
            <a:pPr lvl="1"/>
            <a:r>
              <a:rPr lang="en-US" dirty="0" smtClean="0"/>
              <a:t>&lt;mechanism&gt;-{version}.</a:t>
            </a:r>
            <a:r>
              <a:rPr lang="en-US" dirty="0" err="1" smtClean="0"/>
              <a:t>schema.json</a:t>
            </a:r>
            <a:endParaRPr lang="en-US" dirty="0"/>
          </a:p>
          <a:p>
            <a:pPr lvl="0"/>
            <a:endParaRPr lang="en-US" dirty="0" smtClean="0"/>
          </a:p>
          <a:p>
            <a:pPr marL="0" indent="0">
              <a:buNone/>
            </a:pPr>
            <a:endParaRPr lang="en-US" dirty="0"/>
          </a:p>
        </p:txBody>
      </p:sp>
      <p:pic>
        <p:nvPicPr>
          <p:cNvPr id="3" name="Picture 2"/>
          <p:cNvPicPr>
            <a:picLocks noChangeAspect="1"/>
          </p:cNvPicPr>
          <p:nvPr/>
        </p:nvPicPr>
        <p:blipFill>
          <a:blip r:embed="rId3"/>
          <a:stretch>
            <a:fillRect/>
          </a:stretch>
        </p:blipFill>
        <p:spPr>
          <a:xfrm>
            <a:off x="3277933" y="3181845"/>
            <a:ext cx="5648325" cy="2933700"/>
          </a:xfrm>
          <a:prstGeom prst="rect">
            <a:avLst/>
          </a:prstGeom>
        </p:spPr>
      </p:pic>
    </p:spTree>
    <p:extLst>
      <p:ext uri="{BB962C8B-B14F-4D97-AF65-F5344CB8AC3E}">
        <p14:creationId xmlns:p14="http://schemas.microsoft.com/office/powerpoint/2010/main" val="2407987143"/>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Supported data type</a:t>
            </a:r>
            <a:endParaRPr lang="en-US" dirty="0"/>
          </a:p>
        </p:txBody>
      </p:sp>
      <p:sp>
        <p:nvSpPr>
          <p:cNvPr id="7173" name="Content Placeholder 2"/>
          <p:cNvSpPr>
            <a:spLocks noGrp="1"/>
          </p:cNvSpPr>
          <p:nvPr>
            <p:ph idx="1"/>
          </p:nvPr>
        </p:nvSpPr>
        <p:spPr>
          <a:xfrm>
            <a:off x="731520" y="914400"/>
            <a:ext cx="9678063" cy="5486400"/>
          </a:xfrm>
        </p:spPr>
        <p:txBody>
          <a:bodyPr/>
          <a:lstStyle/>
          <a:p>
            <a:pPr lvl="0"/>
            <a:r>
              <a:rPr lang="en-US" dirty="0" smtClean="0"/>
              <a:t>JSON natively supports primitive types : string, number (interpreted as doubles)  Boolean, object and array.</a:t>
            </a:r>
          </a:p>
          <a:p>
            <a:pPr lvl="1"/>
            <a:r>
              <a:rPr lang="en-US" dirty="0" smtClean="0"/>
              <a:t>JSON schema (and Swagger) defines an integer type which is nothing but a number with a decimal component of .0</a:t>
            </a:r>
            <a:endParaRPr lang="en-US" dirty="0"/>
          </a:p>
          <a:p>
            <a:r>
              <a:rPr lang="en-US" dirty="0" smtClean="0"/>
              <a:t>JSON </a:t>
            </a:r>
            <a:r>
              <a:rPr lang="en-US" dirty="0"/>
              <a:t>schema (and Swagger) </a:t>
            </a:r>
            <a:r>
              <a:rPr lang="en-US" dirty="0" smtClean="0"/>
              <a:t>has a format property to describe complex data types: date, numeric types requiring precision, binary data etc.</a:t>
            </a:r>
          </a:p>
          <a:p>
            <a:r>
              <a:rPr lang="en-US" dirty="0" smtClean="0"/>
              <a:t>Custom </a:t>
            </a:r>
            <a:r>
              <a:rPr lang="en-US" i="1" dirty="0" smtClean="0">
                <a:latin typeface="Arial" pitchFamily="34" charset="0"/>
              </a:rPr>
              <a:t>x-</a:t>
            </a:r>
            <a:r>
              <a:rPr lang="en-US" i="1" dirty="0" err="1" smtClean="0">
                <a:latin typeface="Arial" pitchFamily="34" charset="0"/>
              </a:rPr>
              <a:t>gw</a:t>
            </a:r>
            <a:r>
              <a:rPr lang="en-US" i="1" dirty="0" smtClean="0">
                <a:latin typeface="Arial" pitchFamily="34" charset="0"/>
              </a:rPr>
              <a:t>-type</a:t>
            </a:r>
            <a:r>
              <a:rPr lang="en-US" dirty="0" smtClean="0">
                <a:latin typeface="Arial" pitchFamily="34" charset="0"/>
              </a:rPr>
              <a:t> </a:t>
            </a:r>
            <a:r>
              <a:rPr lang="en-US" dirty="0">
                <a:latin typeface="Arial" pitchFamily="34" charset="0"/>
              </a:rPr>
              <a:t>property </a:t>
            </a:r>
            <a:r>
              <a:rPr lang="en-US" dirty="0" smtClean="0">
                <a:latin typeface="Arial" pitchFamily="34" charset="0"/>
              </a:rPr>
              <a:t>is used to represent </a:t>
            </a:r>
            <a:r>
              <a:rPr lang="en-US" dirty="0">
                <a:latin typeface="Arial" pitchFamily="34" charset="0"/>
              </a:rPr>
              <a:t>internal Guidewire types like </a:t>
            </a:r>
            <a:r>
              <a:rPr lang="en-US" dirty="0" err="1">
                <a:latin typeface="Arial" pitchFamily="34" charset="0"/>
              </a:rPr>
              <a:t>typekeys</a:t>
            </a:r>
            <a:r>
              <a:rPr lang="en-US" dirty="0">
                <a:latin typeface="Arial" pitchFamily="34" charset="0"/>
              </a:rPr>
              <a:t>, Monetary amount and </a:t>
            </a:r>
            <a:r>
              <a:rPr lang="en-US" dirty="0" smtClean="0">
                <a:latin typeface="Arial" pitchFamily="34" charset="0"/>
              </a:rPr>
              <a:t>Currency </a:t>
            </a:r>
            <a:r>
              <a:rPr lang="en-US" dirty="0">
                <a:latin typeface="Arial" pitchFamily="34" charset="0"/>
              </a:rPr>
              <a:t>amount</a:t>
            </a:r>
          </a:p>
          <a:p>
            <a:pPr lvl="0"/>
            <a:endParaRPr lang="en-US" dirty="0" smtClean="0"/>
          </a:p>
          <a:p>
            <a:pPr marL="0" indent="0">
              <a:buNone/>
            </a:pPr>
            <a:endParaRPr lang="en-US" dirty="0"/>
          </a:p>
        </p:txBody>
      </p:sp>
      <p:pic>
        <p:nvPicPr>
          <p:cNvPr id="2" name="Picture 1"/>
          <p:cNvPicPr>
            <a:picLocks noChangeAspect="1"/>
          </p:cNvPicPr>
          <p:nvPr/>
        </p:nvPicPr>
        <p:blipFill>
          <a:blip r:embed="rId3"/>
          <a:stretch>
            <a:fillRect/>
          </a:stretch>
        </p:blipFill>
        <p:spPr>
          <a:xfrm>
            <a:off x="3659979" y="5032058"/>
            <a:ext cx="6199638" cy="1419543"/>
          </a:xfrm>
          <a:prstGeom prst="rect">
            <a:avLst/>
          </a:prstGeom>
        </p:spPr>
      </p:pic>
    </p:spTree>
    <p:extLst>
      <p:ext uri="{BB962C8B-B14F-4D97-AF65-F5344CB8AC3E}">
        <p14:creationId xmlns:p14="http://schemas.microsoft.com/office/powerpoint/2010/main" val="3693531370"/>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Add Schema definition</a:t>
            </a:r>
            <a:endParaRPr lang="en-US" dirty="0"/>
          </a:p>
        </p:txBody>
      </p:sp>
      <p:sp>
        <p:nvSpPr>
          <p:cNvPr id="2" name="Content Placeholder 1"/>
          <p:cNvSpPr>
            <a:spLocks noGrp="1"/>
          </p:cNvSpPr>
          <p:nvPr>
            <p:ph idx="1"/>
          </p:nvPr>
        </p:nvSpPr>
        <p:spPr>
          <a:xfrm>
            <a:off x="512064" y="914400"/>
            <a:ext cx="9937275" cy="5655365"/>
          </a:xfrm>
        </p:spPr>
        <p:txBody>
          <a:bodyPr/>
          <a:lstStyle/>
          <a:p>
            <a:pPr lvl="1"/>
            <a:r>
              <a:rPr lang="en-US" dirty="0" smtClean="0"/>
              <a:t>Each definition should define its name, type and properties</a:t>
            </a:r>
          </a:p>
          <a:p>
            <a:pPr lvl="1"/>
            <a:r>
              <a:rPr lang="en-US" dirty="0" smtClean="0"/>
              <a:t>By default JSON schema properties are not null able. On output null properties on JSON object are omitted.</a:t>
            </a:r>
            <a:endParaRPr lang="en-US" dirty="0"/>
          </a:p>
        </p:txBody>
      </p:sp>
      <p:pic>
        <p:nvPicPr>
          <p:cNvPr id="3" name="Picture 2"/>
          <p:cNvPicPr>
            <a:picLocks noChangeAspect="1"/>
          </p:cNvPicPr>
          <p:nvPr/>
        </p:nvPicPr>
        <p:blipFill>
          <a:blip r:embed="rId3"/>
          <a:stretch>
            <a:fillRect/>
          </a:stretch>
        </p:blipFill>
        <p:spPr>
          <a:xfrm>
            <a:off x="3101880" y="2050687"/>
            <a:ext cx="6626320" cy="4569876"/>
          </a:xfrm>
          <a:prstGeom prst="rect">
            <a:avLst/>
          </a:prstGeom>
        </p:spPr>
      </p:pic>
    </p:spTree>
    <p:extLst>
      <p:ext uri="{BB962C8B-B14F-4D97-AF65-F5344CB8AC3E}">
        <p14:creationId xmlns:p14="http://schemas.microsoft.com/office/powerpoint/2010/main" val="760770288"/>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Schema file import</a:t>
            </a:r>
            <a:endParaRPr lang="en-US" dirty="0"/>
          </a:p>
        </p:txBody>
      </p:sp>
      <p:sp>
        <p:nvSpPr>
          <p:cNvPr id="2" name="Content Placeholder 1"/>
          <p:cNvSpPr>
            <a:spLocks noGrp="1"/>
          </p:cNvSpPr>
          <p:nvPr>
            <p:ph idx="1"/>
          </p:nvPr>
        </p:nvSpPr>
        <p:spPr>
          <a:xfrm>
            <a:off x="685800" y="914400"/>
            <a:ext cx="9763539" cy="5655365"/>
          </a:xfrm>
        </p:spPr>
        <p:txBody>
          <a:bodyPr/>
          <a:lstStyle/>
          <a:p>
            <a:r>
              <a:rPr lang="en-US" dirty="0" smtClean="0"/>
              <a:t>Schema file import allows schema reusability. A shared schema can be defined for common pieces, and that schema can be imported to reference its references.</a:t>
            </a:r>
          </a:p>
          <a:p>
            <a:pPr lvl="1"/>
            <a:r>
              <a:rPr lang="en-US" dirty="0" smtClean="0"/>
              <a:t>If A imports B, the definitions in A and B which has the same name are still two different types.</a:t>
            </a:r>
          </a:p>
          <a:p>
            <a:pPr lvl="1"/>
            <a:endParaRPr lang="en-US" dirty="0"/>
          </a:p>
        </p:txBody>
      </p:sp>
      <p:pic>
        <p:nvPicPr>
          <p:cNvPr id="3" name="Picture 2"/>
          <p:cNvPicPr>
            <a:picLocks noChangeAspect="1"/>
          </p:cNvPicPr>
          <p:nvPr/>
        </p:nvPicPr>
        <p:blipFill rotWithShape="1">
          <a:blip r:embed="rId3"/>
          <a:srcRect b="5955"/>
          <a:stretch/>
        </p:blipFill>
        <p:spPr>
          <a:xfrm>
            <a:off x="2019300" y="2964231"/>
            <a:ext cx="8094519" cy="3390849"/>
          </a:xfrm>
          <a:prstGeom prst="rect">
            <a:avLst/>
          </a:prstGeom>
        </p:spPr>
      </p:pic>
    </p:spTree>
    <p:extLst>
      <p:ext uri="{BB962C8B-B14F-4D97-AF65-F5344CB8AC3E}">
        <p14:creationId xmlns:p14="http://schemas.microsoft.com/office/powerpoint/2010/main" val="1153656990"/>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630392" y="3311431"/>
            <a:ext cx="5178661" cy="861774"/>
          </a:xfrm>
          <a:prstGeom prst="rect">
            <a:avLst/>
          </a:prstGeom>
          <a:noFill/>
        </p:spPr>
        <p:txBody>
          <a:bodyPr wrap="none" lIns="121920" tIns="60960" rIns="121920" bIns="60960">
            <a:spAutoFit/>
          </a:bodyPr>
          <a:lstStyle/>
          <a:p>
            <a:pPr algn="ctr" defTabSz="812760" fontAlgn="auto">
              <a:spcBef>
                <a:spcPts val="0"/>
              </a:spcBef>
              <a:spcAft>
                <a:spcPts val="0"/>
              </a:spcAft>
            </a:pPr>
            <a:r>
              <a:rPr lang="en-US" sz="4800" dirty="0">
                <a:ln w="10160">
                  <a:solidFill>
                    <a:srgbClr val="BDCFFF"/>
                  </a:solidFill>
                  <a:prstDash val="solid"/>
                </a:ln>
                <a:solidFill>
                  <a:srgbClr val="0033B4"/>
                </a:solidFill>
                <a:effectLst>
                  <a:outerShdw blurRad="38100" dist="22860" dir="5400000" algn="tl" rotWithShape="0">
                    <a:srgbClr val="000000">
                      <a:alpha val="30000"/>
                    </a:srgbClr>
                  </a:outerShdw>
                </a:effectLst>
                <a:latin typeface="Arial" panose="020B0604020202020204"/>
                <a:cs typeface="+mn-cs"/>
              </a:rPr>
              <a:t>Define Mappings</a:t>
            </a:r>
          </a:p>
        </p:txBody>
      </p:sp>
    </p:spTree>
    <p:extLst>
      <p:ext uri="{BB962C8B-B14F-4D97-AF65-F5344CB8AC3E}">
        <p14:creationId xmlns:p14="http://schemas.microsoft.com/office/powerpoint/2010/main" val="19977889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Content Placeholder 3"/>
          <p:cNvSpPr txBox="1">
            <a:spLocks/>
          </p:cNvSpPr>
          <p:nvPr/>
        </p:nvSpPr>
        <p:spPr>
          <a:xfrm>
            <a:off x="339591" y="1262650"/>
            <a:ext cx="11180064" cy="4863831"/>
          </a:xfrm>
          <a:prstGeom prst="rect">
            <a:avLst/>
          </a:prstGeom>
        </p:spPr>
        <p:txBody>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2"/>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100000"/>
              </a:lnSpc>
              <a:spcBef>
                <a:spcPts val="600"/>
              </a:spcBef>
              <a:buClrTx/>
              <a:buSzPct val="125000"/>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2pPr>
            <a:lvl3pPr marL="4572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3pPr>
            <a:lvl4pPr marL="685800" indent="-228600" algn="l" defTabSz="914400" rtl="0" eaLnBrk="1" latinLnBrk="0" hangingPunct="1">
              <a:lnSpc>
                <a:spcPct val="100000"/>
              </a:lnSpc>
              <a:spcBef>
                <a:spcPts val="400"/>
              </a:spcBef>
              <a:buClrTx/>
              <a:buSzPct val="100000"/>
              <a:buFont typeface="Courier New" panose="02070309020205020404" pitchFamily="49" charset="0"/>
              <a:buChar char="o"/>
              <a:defRPr sz="1600" kern="1200">
                <a:solidFill>
                  <a:schemeClr val="tx2"/>
                </a:solidFill>
                <a:latin typeface="Arial" panose="020B0604020202020204" pitchFamily="34" charset="0"/>
                <a:ea typeface="+mn-ea"/>
                <a:cs typeface="Arial" panose="020B0604020202020204" pitchFamily="34" charset="0"/>
              </a:defRPr>
            </a:lvl4pPr>
            <a:lvl5pPr marL="9144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5pPr>
            <a:lvl6pPr marL="1143000" indent="-228600" algn="l" defTabSz="914400"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600" indent="-228600" algn="l" defTabSz="914400"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200" indent="-228600" algn="l" defTabSz="914400"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200" indent="-228600" algn="l" defTabSz="914400"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a:lstStyle>
          <a:p>
            <a:pPr marL="380990" indent="-380990" defTabSz="1219170" fontAlgn="auto">
              <a:spcBef>
                <a:spcPts val="800"/>
              </a:spcBef>
              <a:spcAft>
                <a:spcPts val="0"/>
              </a:spcAft>
              <a:buFont typeface="Arial" panose="020B0604020202020204" pitchFamily="34" charset="0"/>
              <a:buChar char="•"/>
            </a:pPr>
            <a:r>
              <a:rPr lang="en-US" sz="2400" b="0" dirty="0">
                <a:solidFill>
                  <a:srgbClr val="000000"/>
                </a:solidFill>
              </a:rPr>
              <a:t>Create a new package under integration.mapping</a:t>
            </a:r>
          </a:p>
          <a:p>
            <a:pPr marL="990575" lvl="2" indent="-380990" defTabSz="1219170" fontAlgn="auto">
              <a:spcBef>
                <a:spcPts val="533"/>
              </a:spcBef>
              <a:spcAft>
                <a:spcPts val="0"/>
              </a:spcAft>
            </a:pPr>
            <a:r>
              <a:rPr lang="en-US" sz="2133" b="0" dirty="0">
                <a:solidFill>
                  <a:srgbClr val="000000"/>
                </a:solidFill>
              </a:rPr>
              <a:t>config.integration.mappings.&lt;company_code&gt;.&lt;product_code&gt;</a:t>
            </a:r>
          </a:p>
          <a:p>
            <a:pPr marL="380990" indent="-380990" defTabSz="1219170" fontAlgn="auto">
              <a:spcBef>
                <a:spcPts val="800"/>
              </a:spcBef>
              <a:spcAft>
                <a:spcPts val="0"/>
              </a:spcAft>
              <a:buFont typeface="Arial" panose="020B0604020202020204" pitchFamily="34" charset="0"/>
              <a:buChar char="•"/>
            </a:pPr>
            <a:r>
              <a:rPr lang="en-US" sz="2400" b="0" dirty="0">
                <a:solidFill>
                  <a:srgbClr val="000000"/>
                </a:solidFill>
              </a:rPr>
              <a:t>Create a new file with following syntax:</a:t>
            </a:r>
          </a:p>
          <a:p>
            <a:pPr marL="990575" lvl="2" indent="-380990" defTabSz="1219170" fontAlgn="auto">
              <a:spcBef>
                <a:spcPts val="533"/>
              </a:spcBef>
              <a:spcAft>
                <a:spcPts val="0"/>
              </a:spcAft>
            </a:pPr>
            <a:r>
              <a:rPr lang="en-US" sz="2133" b="0" dirty="0">
                <a:solidFill>
                  <a:srgbClr val="000000"/>
                </a:solidFill>
              </a:rPr>
              <a:t>&lt;mechanism&gt;-{version}.mapping.json</a:t>
            </a:r>
          </a:p>
          <a:p>
            <a:pPr marL="380990" indent="-380990" defTabSz="1219170" fontAlgn="auto">
              <a:spcBef>
                <a:spcPts val="800"/>
              </a:spcBef>
              <a:spcAft>
                <a:spcPts val="0"/>
              </a:spcAft>
              <a:buFont typeface="Arial" panose="020B0604020202020204" pitchFamily="34" charset="0"/>
              <a:buChar char="•"/>
            </a:pPr>
            <a:endParaRPr lang="en-US" sz="2400" b="0" dirty="0">
              <a:solidFill>
                <a:srgbClr val="FFFFFF"/>
              </a:solidFill>
            </a:endParaRPr>
          </a:p>
          <a:p>
            <a:pPr defTabSz="1219170" fontAlgn="auto">
              <a:spcBef>
                <a:spcPts val="800"/>
              </a:spcBef>
              <a:spcAft>
                <a:spcPts val="0"/>
              </a:spcAft>
            </a:pPr>
            <a:endParaRPr lang="en-US" sz="2400" b="0" dirty="0">
              <a:solidFill>
                <a:srgbClr val="FFFFFF"/>
              </a:solidFill>
            </a:endParaRPr>
          </a:p>
        </p:txBody>
      </p:sp>
      <p:sp>
        <p:nvSpPr>
          <p:cNvPr id="7" name="Title 6">
            <a:extLst>
              <a:ext uri="{FF2B5EF4-FFF2-40B4-BE49-F238E27FC236}">
                <a16:creationId xmlns:a16="http://schemas.microsoft.com/office/drawing/2014/main" id="{EA0D6B93-CE79-4088-9EA6-938915E2F70B}"/>
              </a:ext>
            </a:extLst>
          </p:cNvPr>
          <p:cNvSpPr txBox="1">
            <a:spLocks/>
          </p:cNvSpPr>
          <p:nvPr/>
        </p:nvSpPr>
        <p:spPr>
          <a:xfrm>
            <a:off x="339591" y="385144"/>
            <a:ext cx="11180064" cy="437128"/>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Arial" panose="020B0604020202020204" pitchFamily="34" charset="0"/>
                <a:ea typeface="+mj-ea"/>
                <a:cs typeface="Arial" panose="020B0604020202020204" pitchFamily="34" charset="0"/>
              </a:defRPr>
            </a:lvl1pPr>
          </a:lstStyle>
          <a:p>
            <a:pPr defTabSz="1219170" fontAlgn="auto">
              <a:spcAft>
                <a:spcPts val="0"/>
              </a:spcAft>
            </a:pPr>
            <a:r>
              <a:rPr lang="en-US" sz="3400" dirty="0">
                <a:solidFill>
                  <a:srgbClr val="04628C"/>
                </a:solidFill>
                <a:latin typeface="Calibri" pitchFamily="34" charset="0"/>
                <a:ea typeface="Calibri" pitchFamily="34" charset="0"/>
                <a:cs typeface="Calibri" pitchFamily="34" charset="0"/>
              </a:rPr>
              <a:t>Create</a:t>
            </a:r>
            <a:r>
              <a:rPr lang="en-US" sz="3400" dirty="0">
                <a:solidFill>
                  <a:srgbClr val="000000"/>
                </a:solidFill>
              </a:rPr>
              <a:t> </a:t>
            </a:r>
            <a:r>
              <a:rPr lang="en-US" sz="3400" dirty="0">
                <a:solidFill>
                  <a:srgbClr val="04628C"/>
                </a:solidFill>
                <a:latin typeface="Calibri" pitchFamily="34" charset="0"/>
                <a:ea typeface="Calibri" pitchFamily="34" charset="0"/>
                <a:cs typeface="Calibri" pitchFamily="34" charset="0"/>
              </a:rPr>
              <a:t>a mapping file</a:t>
            </a:r>
          </a:p>
        </p:txBody>
      </p:sp>
      <p:pic>
        <p:nvPicPr>
          <p:cNvPr id="2" name="Picture 1"/>
          <p:cNvPicPr>
            <a:picLocks noChangeAspect="1"/>
          </p:cNvPicPr>
          <p:nvPr/>
        </p:nvPicPr>
        <p:blipFill>
          <a:blip r:embed="rId3"/>
          <a:stretch>
            <a:fillRect/>
          </a:stretch>
        </p:blipFill>
        <p:spPr>
          <a:xfrm>
            <a:off x="7706709" y="2305716"/>
            <a:ext cx="4082955" cy="1845616"/>
          </a:xfrm>
          <a:prstGeom prst="rect">
            <a:avLst/>
          </a:prstGeom>
        </p:spPr>
      </p:pic>
      <p:pic>
        <p:nvPicPr>
          <p:cNvPr id="4" name="Picture 3"/>
          <p:cNvPicPr>
            <a:picLocks noChangeAspect="1"/>
          </p:cNvPicPr>
          <p:nvPr/>
        </p:nvPicPr>
        <p:blipFill>
          <a:blip r:embed="rId4"/>
          <a:stretch>
            <a:fillRect/>
          </a:stretch>
        </p:blipFill>
        <p:spPr>
          <a:xfrm>
            <a:off x="771581" y="3466813"/>
            <a:ext cx="6800124" cy="2659668"/>
          </a:xfrm>
          <a:prstGeom prst="rect">
            <a:avLst/>
          </a:prstGeom>
        </p:spPr>
      </p:pic>
      <p:sp>
        <p:nvSpPr>
          <p:cNvPr id="8" name="Right Arrow 7"/>
          <p:cNvSpPr/>
          <p:nvPr/>
        </p:nvSpPr>
        <p:spPr>
          <a:xfrm>
            <a:off x="415851" y="4689156"/>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0" name="Right Arrow 9"/>
          <p:cNvSpPr/>
          <p:nvPr/>
        </p:nvSpPr>
        <p:spPr>
          <a:xfrm>
            <a:off x="420585" y="4391451"/>
            <a:ext cx="280299" cy="113776"/>
          </a:xfrm>
          <a:prstGeom prst="rightArrow">
            <a:avLst/>
          </a:prstGeom>
          <a:solidFill>
            <a:srgbClr val="3C1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1" name="Right Arrow 10"/>
          <p:cNvSpPr/>
          <p:nvPr/>
        </p:nvSpPr>
        <p:spPr>
          <a:xfrm>
            <a:off x="411136" y="5620091"/>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Tree>
    <p:extLst>
      <p:ext uri="{BB962C8B-B14F-4D97-AF65-F5344CB8AC3E}">
        <p14:creationId xmlns:p14="http://schemas.microsoft.com/office/powerpoint/2010/main" val="69324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Content Placeholder 3"/>
          <p:cNvSpPr txBox="1">
            <a:spLocks/>
          </p:cNvSpPr>
          <p:nvPr/>
        </p:nvSpPr>
        <p:spPr>
          <a:xfrm>
            <a:off x="414395" y="1052587"/>
            <a:ext cx="11180064" cy="4863831"/>
          </a:xfrm>
          <a:prstGeom prst="rect">
            <a:avLst/>
          </a:prstGeom>
        </p:spPr>
        <p:txBody>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2"/>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100000"/>
              </a:lnSpc>
              <a:spcBef>
                <a:spcPts val="600"/>
              </a:spcBef>
              <a:buClrTx/>
              <a:buSzPct val="125000"/>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2pPr>
            <a:lvl3pPr marL="4572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3pPr>
            <a:lvl4pPr marL="685800" indent="-228600" algn="l" defTabSz="914400" rtl="0" eaLnBrk="1" latinLnBrk="0" hangingPunct="1">
              <a:lnSpc>
                <a:spcPct val="100000"/>
              </a:lnSpc>
              <a:spcBef>
                <a:spcPts val="400"/>
              </a:spcBef>
              <a:buClrTx/>
              <a:buSzPct val="100000"/>
              <a:buFont typeface="Courier New" panose="02070309020205020404" pitchFamily="49" charset="0"/>
              <a:buChar char="o"/>
              <a:defRPr sz="1600" kern="1200">
                <a:solidFill>
                  <a:schemeClr val="tx2"/>
                </a:solidFill>
                <a:latin typeface="Arial" panose="020B0604020202020204" pitchFamily="34" charset="0"/>
                <a:ea typeface="+mn-ea"/>
                <a:cs typeface="Arial" panose="020B0604020202020204" pitchFamily="34" charset="0"/>
              </a:defRPr>
            </a:lvl4pPr>
            <a:lvl5pPr marL="9144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5pPr>
            <a:lvl6pPr marL="1143000" indent="-228600" algn="l" defTabSz="914400"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600" indent="-228600" algn="l" defTabSz="914400"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200" indent="-228600" algn="l" defTabSz="914400"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200" indent="-228600" algn="l" defTabSz="914400"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a:lstStyle>
          <a:p>
            <a:pPr marL="380990" indent="-380990" defTabSz="1219170" fontAlgn="auto">
              <a:spcBef>
                <a:spcPts val="800"/>
              </a:spcBef>
              <a:spcAft>
                <a:spcPts val="0"/>
              </a:spcAft>
              <a:buFont typeface="Arial" panose="020B0604020202020204" pitchFamily="34" charset="0"/>
              <a:buChar char="•"/>
            </a:pPr>
            <a:r>
              <a:rPr lang="en-US" sz="2400" b="0" dirty="0">
                <a:solidFill>
                  <a:srgbClr val="000000"/>
                </a:solidFill>
              </a:rPr>
              <a:t>Each mapper must define its:</a:t>
            </a:r>
          </a:p>
          <a:p>
            <a:pPr marL="685783" lvl="1" indent="-380990" defTabSz="1219170" fontAlgn="auto">
              <a:spcBef>
                <a:spcPts val="800"/>
              </a:spcBef>
              <a:spcAft>
                <a:spcPts val="0"/>
              </a:spcAft>
            </a:pPr>
            <a:r>
              <a:rPr lang="en-US" sz="2400" b="0" dirty="0">
                <a:solidFill>
                  <a:srgbClr val="000000"/>
                </a:solidFill>
              </a:rPr>
              <a:t>Name</a:t>
            </a:r>
          </a:p>
          <a:p>
            <a:pPr marL="685783" lvl="1" indent="-380990" defTabSz="1219170" fontAlgn="auto">
              <a:spcBef>
                <a:spcPts val="800"/>
              </a:spcBef>
              <a:spcAft>
                <a:spcPts val="0"/>
              </a:spcAft>
            </a:pPr>
            <a:r>
              <a:rPr lang="en-US" sz="2400" b="0" dirty="0">
                <a:solidFill>
                  <a:srgbClr val="000000"/>
                </a:solidFill>
              </a:rPr>
              <a:t>schema Definition</a:t>
            </a:r>
          </a:p>
          <a:p>
            <a:pPr marL="685783" lvl="1" indent="-380990" defTabSz="1219170" fontAlgn="auto">
              <a:spcBef>
                <a:spcPts val="800"/>
              </a:spcBef>
              <a:spcAft>
                <a:spcPts val="0"/>
              </a:spcAft>
            </a:pPr>
            <a:r>
              <a:rPr lang="en-US" sz="2400" b="0" dirty="0">
                <a:solidFill>
                  <a:srgbClr val="000000"/>
                </a:solidFill>
              </a:rPr>
              <a:t>root</a:t>
            </a:r>
          </a:p>
          <a:p>
            <a:pPr marL="685783" lvl="1" indent="-380990" defTabSz="1219170" fontAlgn="auto">
              <a:spcBef>
                <a:spcPts val="800"/>
              </a:spcBef>
              <a:spcAft>
                <a:spcPts val="0"/>
              </a:spcAft>
            </a:pPr>
            <a:r>
              <a:rPr lang="en-US" sz="2400" b="0" dirty="0">
                <a:solidFill>
                  <a:srgbClr val="000000"/>
                </a:solidFill>
              </a:rPr>
              <a:t>properties </a:t>
            </a:r>
          </a:p>
          <a:p>
            <a:pPr marL="990575" lvl="2" indent="-380990" defTabSz="1219170" fontAlgn="auto">
              <a:spcBef>
                <a:spcPts val="533"/>
              </a:spcBef>
              <a:spcAft>
                <a:spcPts val="0"/>
              </a:spcAft>
              <a:buFont typeface="Arial" panose="020B0604020202020204" pitchFamily="34" charset="0"/>
              <a:buChar char="•"/>
            </a:pPr>
            <a:r>
              <a:rPr lang="en-US" sz="2133" b="0" dirty="0">
                <a:solidFill>
                  <a:srgbClr val="000000"/>
                </a:solidFill>
              </a:rPr>
              <a:t>The properties on an integration </a:t>
            </a:r>
          </a:p>
          <a:p>
            <a:pPr marL="609585" lvl="2" indent="0" defTabSz="1219170" fontAlgn="auto">
              <a:spcBef>
                <a:spcPts val="533"/>
              </a:spcBef>
              <a:spcAft>
                <a:spcPts val="0"/>
              </a:spcAft>
              <a:buNone/>
            </a:pPr>
            <a:r>
              <a:rPr lang="en-US" sz="2133" b="0" dirty="0">
                <a:solidFill>
                  <a:srgbClr val="000000"/>
                </a:solidFill>
              </a:rPr>
              <a:t>     mapper must correspond to </a:t>
            </a:r>
          </a:p>
          <a:p>
            <a:pPr marL="609585" lvl="2" indent="0" defTabSz="1219170" fontAlgn="auto">
              <a:spcBef>
                <a:spcPts val="533"/>
              </a:spcBef>
              <a:spcAft>
                <a:spcPts val="0"/>
              </a:spcAft>
              <a:buNone/>
            </a:pPr>
            <a:r>
              <a:rPr lang="en-US" sz="2133" b="0" dirty="0">
                <a:solidFill>
                  <a:srgbClr val="000000"/>
                </a:solidFill>
              </a:rPr>
              <a:t>     properties on the associated JSON </a:t>
            </a:r>
          </a:p>
          <a:p>
            <a:pPr marL="609585" lvl="2" indent="0" defTabSz="1219170" fontAlgn="auto">
              <a:spcBef>
                <a:spcPts val="533"/>
              </a:spcBef>
              <a:spcAft>
                <a:spcPts val="0"/>
              </a:spcAft>
              <a:buNone/>
            </a:pPr>
            <a:r>
              <a:rPr lang="en-US" sz="2133" b="0" dirty="0">
                <a:solidFill>
                  <a:srgbClr val="000000"/>
                </a:solidFill>
              </a:rPr>
              <a:t>     schema definition</a:t>
            </a:r>
          </a:p>
          <a:p>
            <a:pPr marL="990575" lvl="2" indent="-380990" defTabSz="1219170" fontAlgn="auto">
              <a:spcBef>
                <a:spcPts val="533"/>
              </a:spcBef>
              <a:spcAft>
                <a:spcPts val="0"/>
              </a:spcAft>
              <a:buFont typeface="Arial" panose="020B0604020202020204" pitchFamily="34" charset="0"/>
              <a:buChar char="•"/>
            </a:pPr>
            <a:r>
              <a:rPr lang="en-US" sz="2133" b="0" dirty="0">
                <a:solidFill>
                  <a:srgbClr val="000000"/>
                </a:solidFill>
              </a:rPr>
              <a:t>Define how to get the value for </a:t>
            </a:r>
          </a:p>
          <a:p>
            <a:pPr marL="609585" lvl="2" indent="0" defTabSz="1219170" fontAlgn="auto">
              <a:spcBef>
                <a:spcPts val="533"/>
              </a:spcBef>
              <a:spcAft>
                <a:spcPts val="0"/>
              </a:spcAft>
              <a:buNone/>
            </a:pPr>
            <a:r>
              <a:rPr lang="en-US" sz="2133" b="0" dirty="0">
                <a:solidFill>
                  <a:srgbClr val="000000"/>
                </a:solidFill>
              </a:rPr>
              <a:t>     that property</a:t>
            </a:r>
          </a:p>
          <a:p>
            <a:pPr marL="380990" indent="-380990" defTabSz="1219170" fontAlgn="auto">
              <a:spcBef>
                <a:spcPts val="800"/>
              </a:spcBef>
              <a:spcAft>
                <a:spcPts val="0"/>
              </a:spcAft>
              <a:buFont typeface="Arial" panose="020B0604020202020204" pitchFamily="34" charset="0"/>
              <a:buChar char="•"/>
            </a:pPr>
            <a:endParaRPr lang="en-US" sz="2400" b="0" dirty="0">
              <a:solidFill>
                <a:srgbClr val="FFFFFF"/>
              </a:solidFill>
            </a:endParaRPr>
          </a:p>
          <a:p>
            <a:pPr defTabSz="1219170" fontAlgn="auto">
              <a:spcBef>
                <a:spcPts val="800"/>
              </a:spcBef>
              <a:spcAft>
                <a:spcPts val="0"/>
              </a:spcAft>
            </a:pPr>
            <a:endParaRPr lang="en-US" sz="2400" b="0" dirty="0">
              <a:solidFill>
                <a:srgbClr val="FFFFFF"/>
              </a:solidFill>
            </a:endParaRPr>
          </a:p>
        </p:txBody>
      </p:sp>
      <p:sp>
        <p:nvSpPr>
          <p:cNvPr id="7" name="Title 6">
            <a:extLst>
              <a:ext uri="{FF2B5EF4-FFF2-40B4-BE49-F238E27FC236}">
                <a16:creationId xmlns:a16="http://schemas.microsoft.com/office/drawing/2014/main" id="{EA0D6B93-CE79-4088-9EA6-938915E2F70B}"/>
              </a:ext>
            </a:extLst>
          </p:cNvPr>
          <p:cNvSpPr txBox="1">
            <a:spLocks/>
          </p:cNvSpPr>
          <p:nvPr/>
        </p:nvSpPr>
        <p:spPr>
          <a:xfrm>
            <a:off x="339591" y="385144"/>
            <a:ext cx="11180064" cy="437128"/>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Arial" panose="020B0604020202020204" pitchFamily="34" charset="0"/>
                <a:ea typeface="+mj-ea"/>
                <a:cs typeface="Arial" panose="020B0604020202020204" pitchFamily="34" charset="0"/>
              </a:defRPr>
            </a:lvl1pPr>
          </a:lstStyle>
          <a:p>
            <a:pPr defTabSz="1219170" fontAlgn="auto">
              <a:spcAft>
                <a:spcPts val="0"/>
              </a:spcAft>
            </a:pPr>
            <a:r>
              <a:rPr lang="en-US" sz="2900" dirty="0">
                <a:solidFill>
                  <a:srgbClr val="04628C"/>
                </a:solidFill>
                <a:latin typeface="Calibri" pitchFamily="34" charset="0"/>
                <a:ea typeface="Calibri" pitchFamily="34" charset="0"/>
                <a:cs typeface="Calibri" pitchFamily="34" charset="0"/>
              </a:rPr>
              <a:t>Add Mappers to the mapping file</a:t>
            </a:r>
          </a:p>
        </p:txBody>
      </p:sp>
      <p:sp>
        <p:nvSpPr>
          <p:cNvPr id="10" name="Right Arrow 9"/>
          <p:cNvSpPr/>
          <p:nvPr/>
        </p:nvSpPr>
        <p:spPr>
          <a:xfrm>
            <a:off x="5882671" y="786144"/>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pic>
        <p:nvPicPr>
          <p:cNvPr id="5" name="Picture 4"/>
          <p:cNvPicPr>
            <a:picLocks noChangeAspect="1"/>
          </p:cNvPicPr>
          <p:nvPr/>
        </p:nvPicPr>
        <p:blipFill>
          <a:blip r:embed="rId3"/>
          <a:stretch>
            <a:fillRect/>
          </a:stretch>
        </p:blipFill>
        <p:spPr>
          <a:xfrm>
            <a:off x="6169304" y="522961"/>
            <a:ext cx="5959553" cy="5676392"/>
          </a:xfrm>
          <a:prstGeom prst="rect">
            <a:avLst/>
          </a:prstGeom>
        </p:spPr>
      </p:pic>
      <p:sp>
        <p:nvSpPr>
          <p:cNvPr id="12" name="Right Arrow 11"/>
          <p:cNvSpPr/>
          <p:nvPr/>
        </p:nvSpPr>
        <p:spPr>
          <a:xfrm>
            <a:off x="5882671" y="983172"/>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3" name="Right Arrow 12"/>
          <p:cNvSpPr/>
          <p:nvPr/>
        </p:nvSpPr>
        <p:spPr>
          <a:xfrm>
            <a:off x="5882671" y="1177027"/>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4" name="Right Arrow 13"/>
          <p:cNvSpPr/>
          <p:nvPr/>
        </p:nvSpPr>
        <p:spPr>
          <a:xfrm>
            <a:off x="5882671" y="3407693"/>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5" name="Right Arrow 14"/>
          <p:cNvSpPr/>
          <p:nvPr/>
        </p:nvSpPr>
        <p:spPr>
          <a:xfrm>
            <a:off x="5882671" y="3818112"/>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6" name="Right Arrow 15"/>
          <p:cNvSpPr/>
          <p:nvPr/>
        </p:nvSpPr>
        <p:spPr>
          <a:xfrm>
            <a:off x="5891820" y="4639780"/>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7" name="Right Arrow 16"/>
          <p:cNvSpPr/>
          <p:nvPr/>
        </p:nvSpPr>
        <p:spPr>
          <a:xfrm>
            <a:off x="5882671" y="1585560"/>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8" name="Right Arrow 17"/>
          <p:cNvSpPr/>
          <p:nvPr/>
        </p:nvSpPr>
        <p:spPr>
          <a:xfrm>
            <a:off x="5882671" y="2196336"/>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9" name="Right Arrow 18"/>
          <p:cNvSpPr/>
          <p:nvPr/>
        </p:nvSpPr>
        <p:spPr>
          <a:xfrm>
            <a:off x="5864277" y="3008721"/>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20" name="Flowchart: Process 19"/>
          <p:cNvSpPr/>
          <p:nvPr/>
        </p:nvSpPr>
        <p:spPr>
          <a:xfrm>
            <a:off x="5856349" y="1617285"/>
            <a:ext cx="60959" cy="1455888"/>
          </a:xfrm>
          <a:prstGeom prst="flowChartProcess">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Tree>
    <p:extLst>
      <p:ext uri="{BB962C8B-B14F-4D97-AF65-F5344CB8AC3E}">
        <p14:creationId xmlns:p14="http://schemas.microsoft.com/office/powerpoint/2010/main" val="246574846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p:cNvSpPr/>
          <p:nvPr/>
        </p:nvSpPr>
        <p:spPr>
          <a:xfrm>
            <a:off x="1144156" y="3311431"/>
            <a:ext cx="4151136" cy="861774"/>
          </a:xfrm>
          <a:prstGeom prst="rect">
            <a:avLst/>
          </a:prstGeom>
          <a:noFill/>
        </p:spPr>
        <p:txBody>
          <a:bodyPr wrap="none" lIns="121920" tIns="60960" rIns="121920" bIns="60960">
            <a:spAutoFit/>
          </a:bodyPr>
          <a:lstStyle/>
          <a:p>
            <a:pPr algn="ctr" defTabSz="812760" fontAlgn="auto">
              <a:spcBef>
                <a:spcPts val="0"/>
              </a:spcBef>
              <a:spcAft>
                <a:spcPts val="0"/>
              </a:spcAft>
            </a:pPr>
            <a:r>
              <a:rPr lang="en-US" sz="4800" dirty="0">
                <a:ln w="10160">
                  <a:solidFill>
                    <a:srgbClr val="BDCFFF"/>
                  </a:solidFill>
                  <a:prstDash val="solid"/>
                </a:ln>
                <a:solidFill>
                  <a:srgbClr val="0033B4"/>
                </a:solidFill>
                <a:effectLst>
                  <a:outerShdw blurRad="38100" dist="22860" dir="5400000" algn="tl" rotWithShape="0">
                    <a:srgbClr val="000000">
                      <a:alpha val="30000"/>
                    </a:srgbClr>
                  </a:outerShdw>
                </a:effectLst>
                <a:latin typeface="Arial" panose="020B0604020202020204"/>
                <a:cs typeface="+mn-cs"/>
              </a:rPr>
              <a:t>Define Filters</a:t>
            </a:r>
          </a:p>
        </p:txBody>
      </p:sp>
    </p:spTree>
    <p:extLst>
      <p:ext uri="{BB962C8B-B14F-4D97-AF65-F5344CB8AC3E}">
        <p14:creationId xmlns:p14="http://schemas.microsoft.com/office/powerpoint/2010/main" val="27972814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Content Placeholder 3"/>
          <p:cNvSpPr txBox="1">
            <a:spLocks/>
          </p:cNvSpPr>
          <p:nvPr/>
        </p:nvSpPr>
        <p:spPr>
          <a:xfrm>
            <a:off x="339591" y="1454466"/>
            <a:ext cx="11180064" cy="4863831"/>
          </a:xfrm>
          <a:prstGeom prst="rect">
            <a:avLst/>
          </a:prstGeom>
        </p:spPr>
        <p:txBody>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2"/>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100000"/>
              </a:lnSpc>
              <a:spcBef>
                <a:spcPts val="600"/>
              </a:spcBef>
              <a:buClrTx/>
              <a:buSzPct val="125000"/>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2pPr>
            <a:lvl3pPr marL="4572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3pPr>
            <a:lvl4pPr marL="685800" indent="-228600" algn="l" defTabSz="914400" rtl="0" eaLnBrk="1" latinLnBrk="0" hangingPunct="1">
              <a:lnSpc>
                <a:spcPct val="100000"/>
              </a:lnSpc>
              <a:spcBef>
                <a:spcPts val="400"/>
              </a:spcBef>
              <a:buClrTx/>
              <a:buSzPct val="100000"/>
              <a:buFont typeface="Courier New" panose="02070309020205020404" pitchFamily="49" charset="0"/>
              <a:buChar char="o"/>
              <a:defRPr sz="1600" kern="1200">
                <a:solidFill>
                  <a:schemeClr val="tx2"/>
                </a:solidFill>
                <a:latin typeface="Arial" panose="020B0604020202020204" pitchFamily="34" charset="0"/>
                <a:ea typeface="+mn-ea"/>
                <a:cs typeface="Arial" panose="020B0604020202020204" pitchFamily="34" charset="0"/>
              </a:defRPr>
            </a:lvl4pPr>
            <a:lvl5pPr marL="9144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5pPr>
            <a:lvl6pPr marL="1143000" indent="-228600" algn="l" defTabSz="914400"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600" indent="-228600" algn="l" defTabSz="914400"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200" indent="-228600" algn="l" defTabSz="914400"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200" indent="-228600" algn="l" defTabSz="914400"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a:lstStyle>
          <a:p>
            <a:pPr marL="380990" indent="-380990" defTabSz="1219170" fontAlgn="auto">
              <a:spcBef>
                <a:spcPts val="800"/>
              </a:spcBef>
              <a:spcAft>
                <a:spcPts val="0"/>
              </a:spcAft>
              <a:buFont typeface="Arial" panose="020B0604020202020204" pitchFamily="34" charset="0"/>
              <a:buChar char="•"/>
            </a:pPr>
            <a:r>
              <a:rPr lang="en-US" sz="2400" b="0" dirty="0">
                <a:solidFill>
                  <a:srgbClr val="000000"/>
                </a:solidFill>
              </a:rPr>
              <a:t>Filters make use of simplified version of </a:t>
            </a:r>
          </a:p>
          <a:p>
            <a:pPr defTabSz="1219170" fontAlgn="auto">
              <a:spcBef>
                <a:spcPts val="800"/>
              </a:spcBef>
              <a:spcAft>
                <a:spcPts val="0"/>
              </a:spcAft>
            </a:pPr>
            <a:r>
              <a:rPr lang="en-US" sz="2400" b="0" dirty="0">
                <a:solidFill>
                  <a:srgbClr val="000000"/>
                </a:solidFill>
              </a:rPr>
              <a:t>    </a:t>
            </a:r>
            <a:r>
              <a:rPr lang="en-US" sz="2400" b="0" dirty="0" err="1">
                <a:solidFill>
                  <a:srgbClr val="000000"/>
                </a:solidFill>
              </a:rPr>
              <a:t>GraphQL</a:t>
            </a:r>
            <a:r>
              <a:rPr lang="en-US" sz="2400" b="0" dirty="0">
                <a:solidFill>
                  <a:srgbClr val="000000"/>
                </a:solidFill>
              </a:rPr>
              <a:t> syntax to describe the data to </a:t>
            </a:r>
          </a:p>
          <a:p>
            <a:pPr defTabSz="1219170" fontAlgn="auto">
              <a:spcBef>
                <a:spcPts val="800"/>
              </a:spcBef>
              <a:spcAft>
                <a:spcPts val="0"/>
              </a:spcAft>
            </a:pPr>
            <a:r>
              <a:rPr lang="en-US" sz="2400" b="0" dirty="0">
                <a:solidFill>
                  <a:srgbClr val="000000"/>
                </a:solidFill>
              </a:rPr>
              <a:t>    be fetched</a:t>
            </a:r>
          </a:p>
          <a:p>
            <a:pPr marL="990575" lvl="2" indent="-380990" defTabSz="1219170" fontAlgn="auto">
              <a:spcBef>
                <a:spcPts val="533"/>
              </a:spcBef>
              <a:spcAft>
                <a:spcPts val="0"/>
              </a:spcAft>
              <a:buFont typeface="Arial" panose="020B0604020202020204" pitchFamily="34" charset="0"/>
              <a:buChar char="•"/>
            </a:pPr>
            <a:r>
              <a:rPr lang="en-US" sz="2400" b="0" dirty="0">
                <a:solidFill>
                  <a:srgbClr val="000000"/>
                </a:solidFill>
              </a:rPr>
              <a:t>Serves as a whitelist of the properties that </a:t>
            </a:r>
          </a:p>
          <a:p>
            <a:pPr marL="304792" lvl="1" indent="0" defTabSz="1219170" fontAlgn="auto">
              <a:spcBef>
                <a:spcPts val="800"/>
              </a:spcBef>
              <a:spcAft>
                <a:spcPts val="0"/>
              </a:spcAft>
              <a:buNone/>
            </a:pPr>
            <a:r>
              <a:rPr lang="en-US" sz="2400" b="0" dirty="0">
                <a:solidFill>
                  <a:srgbClr val="000000"/>
                </a:solidFill>
              </a:rPr>
              <a:t>        should be included for a given invocation of </a:t>
            </a:r>
          </a:p>
          <a:p>
            <a:pPr marL="304792" lvl="1" indent="0" defTabSz="1219170" fontAlgn="auto">
              <a:spcBef>
                <a:spcPts val="800"/>
              </a:spcBef>
              <a:spcAft>
                <a:spcPts val="0"/>
              </a:spcAft>
              <a:buNone/>
            </a:pPr>
            <a:r>
              <a:rPr lang="en-US" sz="2400" b="0" dirty="0">
                <a:solidFill>
                  <a:srgbClr val="000000"/>
                </a:solidFill>
              </a:rPr>
              <a:t>        a mapping file</a:t>
            </a:r>
          </a:p>
          <a:p>
            <a:pPr marL="380990" indent="-380990" defTabSz="1219170" fontAlgn="auto">
              <a:spcBef>
                <a:spcPts val="800"/>
              </a:spcBef>
              <a:spcAft>
                <a:spcPts val="0"/>
              </a:spcAft>
              <a:buFont typeface="Arial" panose="020B0604020202020204" pitchFamily="34" charset="0"/>
              <a:buChar char="•"/>
            </a:pPr>
            <a:r>
              <a:rPr lang="en-US" sz="2400" b="0" dirty="0">
                <a:solidFill>
                  <a:srgbClr val="000000"/>
                </a:solidFill>
              </a:rPr>
              <a:t>Allows reuse of a more complete </a:t>
            </a:r>
          </a:p>
          <a:p>
            <a:pPr defTabSz="1219170" fontAlgn="auto">
              <a:spcBef>
                <a:spcPts val="800"/>
              </a:spcBef>
              <a:spcAft>
                <a:spcPts val="0"/>
              </a:spcAft>
            </a:pPr>
            <a:r>
              <a:rPr lang="en-US" sz="2400" b="0" dirty="0">
                <a:solidFill>
                  <a:srgbClr val="000000"/>
                </a:solidFill>
              </a:rPr>
              <a:t>    schema/mapping for use cases that </a:t>
            </a:r>
          </a:p>
          <a:p>
            <a:pPr defTabSz="1219170" fontAlgn="auto">
              <a:spcBef>
                <a:spcPts val="800"/>
              </a:spcBef>
              <a:spcAft>
                <a:spcPts val="0"/>
              </a:spcAft>
            </a:pPr>
            <a:r>
              <a:rPr lang="en-US" sz="2400" b="0" dirty="0">
                <a:solidFill>
                  <a:srgbClr val="000000"/>
                </a:solidFill>
              </a:rPr>
              <a:t>    only require a subset of that data</a:t>
            </a:r>
          </a:p>
          <a:p>
            <a:pPr marL="990575" lvl="2" indent="-380990" defTabSz="1219170" fontAlgn="auto">
              <a:spcBef>
                <a:spcPts val="533"/>
              </a:spcBef>
              <a:spcAft>
                <a:spcPts val="0"/>
              </a:spcAft>
              <a:buFont typeface="Arial" panose="020B0604020202020204" pitchFamily="34" charset="0"/>
              <a:buChar char="•"/>
            </a:pPr>
            <a:r>
              <a:rPr lang="en-US" sz="2133" b="0" dirty="0">
                <a:solidFill>
                  <a:srgbClr val="000000"/>
                </a:solidFill>
              </a:rPr>
              <a:t>Reduces implementation and maintenance costs</a:t>
            </a:r>
          </a:p>
          <a:p>
            <a:pPr marL="380990" indent="-380990" defTabSz="1219170" fontAlgn="auto">
              <a:spcBef>
                <a:spcPts val="800"/>
              </a:spcBef>
              <a:spcAft>
                <a:spcPts val="0"/>
              </a:spcAft>
              <a:buFont typeface="Arial" panose="020B0604020202020204" pitchFamily="34" charset="0"/>
              <a:buChar char="•"/>
            </a:pPr>
            <a:endParaRPr lang="en-US" sz="2400" b="0" dirty="0">
              <a:solidFill>
                <a:srgbClr val="FFFFFF"/>
              </a:solidFill>
            </a:endParaRPr>
          </a:p>
          <a:p>
            <a:pPr marL="380990" indent="-380990" defTabSz="1219170" fontAlgn="auto">
              <a:spcBef>
                <a:spcPts val="800"/>
              </a:spcBef>
              <a:spcAft>
                <a:spcPts val="0"/>
              </a:spcAft>
              <a:buFont typeface="Arial" panose="020B0604020202020204" pitchFamily="34" charset="0"/>
              <a:buChar char="•"/>
            </a:pPr>
            <a:endParaRPr lang="en-US" sz="2400" b="0" dirty="0">
              <a:solidFill>
                <a:srgbClr val="FFFFFF"/>
              </a:solidFill>
            </a:endParaRPr>
          </a:p>
          <a:p>
            <a:pPr defTabSz="1219170" fontAlgn="auto">
              <a:spcBef>
                <a:spcPts val="800"/>
              </a:spcBef>
              <a:spcAft>
                <a:spcPts val="0"/>
              </a:spcAft>
            </a:pPr>
            <a:endParaRPr lang="en-US" sz="2400" b="0" dirty="0">
              <a:solidFill>
                <a:srgbClr val="FFFFFF"/>
              </a:solidFill>
            </a:endParaRPr>
          </a:p>
        </p:txBody>
      </p:sp>
      <p:sp>
        <p:nvSpPr>
          <p:cNvPr id="7" name="Title 6">
            <a:extLst>
              <a:ext uri="{FF2B5EF4-FFF2-40B4-BE49-F238E27FC236}">
                <a16:creationId xmlns:a16="http://schemas.microsoft.com/office/drawing/2014/main" id="{EA0D6B93-CE79-4088-9EA6-938915E2F70B}"/>
              </a:ext>
            </a:extLst>
          </p:cNvPr>
          <p:cNvSpPr txBox="1">
            <a:spLocks/>
          </p:cNvSpPr>
          <p:nvPr/>
        </p:nvSpPr>
        <p:spPr>
          <a:xfrm>
            <a:off x="339591" y="385144"/>
            <a:ext cx="11180064" cy="437128"/>
          </a:xfrm>
          <a:prstGeom prst="rect">
            <a:avLst/>
          </a:prstGeom>
        </p:spPr>
        <p:txBody>
          <a:bodyPr>
            <a:normAutofit fontScale="90000" lnSpcReduction="20000"/>
          </a:bodyPr>
          <a:lstStyle>
            <a:lvl1pPr algn="l" defTabSz="914400" rtl="0" eaLnBrk="1" latinLnBrk="0" hangingPunct="1">
              <a:lnSpc>
                <a:spcPct val="90000"/>
              </a:lnSpc>
              <a:spcBef>
                <a:spcPct val="0"/>
              </a:spcBef>
              <a:buNone/>
              <a:defRPr sz="2400" kern="1200">
                <a:solidFill>
                  <a:schemeClr val="tx1"/>
                </a:solidFill>
                <a:latin typeface="Arial" panose="020B0604020202020204" pitchFamily="34" charset="0"/>
                <a:ea typeface="+mj-ea"/>
                <a:cs typeface="Arial" panose="020B0604020202020204" pitchFamily="34" charset="0"/>
              </a:defRPr>
            </a:lvl1pPr>
          </a:lstStyle>
          <a:p>
            <a:pPr defTabSz="1219170" fontAlgn="auto">
              <a:spcAft>
                <a:spcPts val="0"/>
              </a:spcAft>
            </a:pPr>
            <a:r>
              <a:rPr lang="en-US" sz="3400" dirty="0">
                <a:solidFill>
                  <a:srgbClr val="04628C"/>
                </a:solidFill>
                <a:latin typeface="Calibri" pitchFamily="34" charset="0"/>
                <a:ea typeface="Calibri" pitchFamily="34" charset="0"/>
                <a:cs typeface="Calibri" pitchFamily="34" charset="0"/>
              </a:rPr>
              <a:t>Filters</a:t>
            </a:r>
          </a:p>
        </p:txBody>
      </p:sp>
      <p:pic>
        <p:nvPicPr>
          <p:cNvPr id="2" name="Picture 1"/>
          <p:cNvPicPr>
            <a:picLocks noChangeAspect="1"/>
          </p:cNvPicPr>
          <p:nvPr/>
        </p:nvPicPr>
        <p:blipFill>
          <a:blip r:embed="rId3"/>
          <a:stretch>
            <a:fillRect/>
          </a:stretch>
        </p:blipFill>
        <p:spPr>
          <a:xfrm>
            <a:off x="7456275" y="822273"/>
            <a:ext cx="4591416" cy="5360999"/>
          </a:xfrm>
          <a:prstGeom prst="rect">
            <a:avLst/>
          </a:prstGeom>
        </p:spPr>
      </p:pic>
    </p:spTree>
    <p:extLst>
      <p:ext uri="{BB962C8B-B14F-4D97-AF65-F5344CB8AC3E}">
        <p14:creationId xmlns:p14="http://schemas.microsoft.com/office/powerpoint/2010/main" val="289062597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Content Placeholder 3"/>
          <p:cNvSpPr txBox="1">
            <a:spLocks/>
          </p:cNvSpPr>
          <p:nvPr/>
        </p:nvSpPr>
        <p:spPr>
          <a:xfrm>
            <a:off x="339591" y="1137380"/>
            <a:ext cx="12047408" cy="4952913"/>
          </a:xfrm>
          <a:prstGeom prst="rect">
            <a:avLst/>
          </a:prstGeom>
        </p:spPr>
        <p:txBody>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2"/>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100000"/>
              </a:lnSpc>
              <a:spcBef>
                <a:spcPts val="600"/>
              </a:spcBef>
              <a:buClrTx/>
              <a:buSzPct val="125000"/>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2pPr>
            <a:lvl3pPr marL="4572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3pPr>
            <a:lvl4pPr marL="685800" indent="-228600" algn="l" defTabSz="914400" rtl="0" eaLnBrk="1" latinLnBrk="0" hangingPunct="1">
              <a:lnSpc>
                <a:spcPct val="100000"/>
              </a:lnSpc>
              <a:spcBef>
                <a:spcPts val="400"/>
              </a:spcBef>
              <a:buClrTx/>
              <a:buSzPct val="100000"/>
              <a:buFont typeface="Courier New" panose="02070309020205020404" pitchFamily="49" charset="0"/>
              <a:buChar char="o"/>
              <a:defRPr sz="1600" kern="1200">
                <a:solidFill>
                  <a:schemeClr val="tx2"/>
                </a:solidFill>
                <a:latin typeface="Arial" panose="020B0604020202020204" pitchFamily="34" charset="0"/>
                <a:ea typeface="+mn-ea"/>
                <a:cs typeface="Arial" panose="020B0604020202020204" pitchFamily="34" charset="0"/>
              </a:defRPr>
            </a:lvl4pPr>
            <a:lvl5pPr marL="9144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5pPr>
            <a:lvl6pPr marL="1143000" indent="-228600" algn="l" defTabSz="914400"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600" indent="-228600" algn="l" defTabSz="914400"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200" indent="-228600" algn="l" defTabSz="914400"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200" indent="-228600" algn="l" defTabSz="914400"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a:lstStyle>
          <a:p>
            <a:pPr marL="380990" indent="-380990" defTabSz="1219170" fontAlgn="auto">
              <a:spcBef>
                <a:spcPts val="800"/>
              </a:spcBef>
              <a:spcAft>
                <a:spcPts val="0"/>
              </a:spcAft>
              <a:buFont typeface="Arial" panose="020B0604020202020204" pitchFamily="34" charset="0"/>
              <a:buChar char="•"/>
            </a:pPr>
            <a:r>
              <a:rPr lang="en-US" sz="2400" b="0" dirty="0">
                <a:solidFill>
                  <a:srgbClr val="000000"/>
                </a:solidFill>
              </a:rPr>
              <a:t>Create a new package under </a:t>
            </a:r>
            <a:r>
              <a:rPr lang="en-US" sz="2400" dirty="0">
                <a:solidFill>
                  <a:srgbClr val="000000"/>
                </a:solidFill>
              </a:rPr>
              <a:t>integration.filters</a:t>
            </a:r>
          </a:p>
          <a:p>
            <a:pPr marL="990575" lvl="2" indent="-380990" defTabSz="1219170" fontAlgn="auto">
              <a:spcBef>
                <a:spcPts val="533"/>
              </a:spcBef>
              <a:spcAft>
                <a:spcPts val="0"/>
              </a:spcAft>
              <a:buFont typeface="Arial" panose="020B0604020202020204" pitchFamily="34" charset="0"/>
              <a:buChar char="•"/>
            </a:pPr>
            <a:r>
              <a:rPr lang="en-US" sz="2133" b="0" dirty="0">
                <a:solidFill>
                  <a:srgbClr val="000000"/>
                </a:solidFill>
              </a:rPr>
              <a:t>config.integration.filters.&lt;company_code&gt;.&lt;product_code&gt;</a:t>
            </a:r>
          </a:p>
          <a:p>
            <a:pPr marL="380990" indent="-380990" defTabSz="1219170" fontAlgn="auto">
              <a:spcBef>
                <a:spcPts val="800"/>
              </a:spcBef>
              <a:spcAft>
                <a:spcPts val="0"/>
              </a:spcAft>
              <a:buFont typeface="Arial" panose="020B0604020202020204" pitchFamily="34" charset="0"/>
              <a:buChar char="•"/>
            </a:pPr>
            <a:r>
              <a:rPr lang="en-US" sz="2400" b="0" dirty="0">
                <a:solidFill>
                  <a:srgbClr val="000000"/>
                </a:solidFill>
              </a:rPr>
              <a:t>Create a new file with following syntax:</a:t>
            </a:r>
          </a:p>
          <a:p>
            <a:pPr marL="990575" lvl="2" indent="-380990" defTabSz="1219170" fontAlgn="auto">
              <a:spcBef>
                <a:spcPts val="533"/>
              </a:spcBef>
              <a:spcAft>
                <a:spcPts val="0"/>
              </a:spcAft>
              <a:buFont typeface="Arial" panose="020B0604020202020204" pitchFamily="34" charset="0"/>
              <a:buChar char="•"/>
            </a:pPr>
            <a:r>
              <a:rPr lang="en-US" sz="2133" b="0" dirty="0">
                <a:solidFill>
                  <a:srgbClr val="000000"/>
                </a:solidFill>
              </a:rPr>
              <a:t>&lt;mechanism&gt;-{version}.gql</a:t>
            </a:r>
          </a:p>
          <a:p>
            <a:pPr marL="380990" indent="-380990" defTabSz="1219170" fontAlgn="auto">
              <a:spcBef>
                <a:spcPts val="800"/>
              </a:spcBef>
              <a:spcAft>
                <a:spcPts val="0"/>
              </a:spcAft>
            </a:pPr>
            <a:endParaRPr lang="en-US" sz="2400" b="0" dirty="0">
              <a:solidFill>
                <a:srgbClr val="000000"/>
              </a:solidFill>
            </a:endParaRPr>
          </a:p>
          <a:p>
            <a:pPr defTabSz="1219170" fontAlgn="auto">
              <a:spcBef>
                <a:spcPts val="800"/>
              </a:spcBef>
              <a:spcAft>
                <a:spcPts val="0"/>
              </a:spcAft>
            </a:pPr>
            <a:endParaRPr lang="fr-FR" sz="2400" dirty="0">
              <a:solidFill>
                <a:srgbClr val="000000"/>
              </a:solidFill>
            </a:endParaRPr>
          </a:p>
          <a:p>
            <a:pPr defTabSz="1219170" fontAlgn="auto">
              <a:spcBef>
                <a:spcPts val="800"/>
              </a:spcBef>
              <a:spcAft>
                <a:spcPts val="0"/>
              </a:spcAft>
            </a:pPr>
            <a:r>
              <a:rPr lang="fr-FR" sz="2400" b="0" dirty="0">
                <a:solidFill>
                  <a:srgbClr val="000000"/>
                </a:solidFill>
              </a:rPr>
              <a:t>Code </a:t>
            </a:r>
            <a:r>
              <a:rPr lang="fr-FR" sz="2400" b="0" dirty="0" err="1">
                <a:solidFill>
                  <a:srgbClr val="000000"/>
                </a:solidFill>
              </a:rPr>
              <a:t>example</a:t>
            </a:r>
            <a:r>
              <a:rPr lang="fr-FR" sz="2400" b="0" dirty="0">
                <a:solidFill>
                  <a:srgbClr val="000000"/>
                </a:solidFill>
              </a:rPr>
              <a:t> - </a:t>
            </a:r>
            <a:r>
              <a:rPr lang="fr-FR" sz="2400" b="0" dirty="0" err="1">
                <a:solidFill>
                  <a:srgbClr val="000000"/>
                </a:solidFill>
              </a:rPr>
              <a:t>exclude</a:t>
            </a:r>
            <a:r>
              <a:rPr lang="fr-FR" sz="2400" b="0" dirty="0">
                <a:solidFill>
                  <a:srgbClr val="000000"/>
                </a:solidFill>
              </a:rPr>
              <a:t> contact notes   C</a:t>
            </a:r>
            <a:r>
              <a:rPr lang="en-US" sz="2400" b="0" dirty="0">
                <a:solidFill>
                  <a:srgbClr val="000000"/>
                </a:solidFill>
              </a:rPr>
              <a:t>ode example 2 - only contact notes</a:t>
            </a:r>
          </a:p>
          <a:p>
            <a:pPr defTabSz="1219170" fontAlgn="auto">
              <a:spcBef>
                <a:spcPts val="800"/>
              </a:spcBef>
              <a:spcAft>
                <a:spcPts val="0"/>
              </a:spcAft>
            </a:pPr>
            <a:endParaRPr lang="en-US" sz="2400" b="0" dirty="0">
              <a:solidFill>
                <a:srgbClr val="FFFFFF"/>
              </a:solidFill>
            </a:endParaRPr>
          </a:p>
        </p:txBody>
      </p:sp>
      <p:sp>
        <p:nvSpPr>
          <p:cNvPr id="7" name="Title 6">
            <a:extLst>
              <a:ext uri="{FF2B5EF4-FFF2-40B4-BE49-F238E27FC236}">
                <a16:creationId xmlns:a16="http://schemas.microsoft.com/office/drawing/2014/main" id="{EA0D6B93-CE79-4088-9EA6-938915E2F70B}"/>
              </a:ext>
            </a:extLst>
          </p:cNvPr>
          <p:cNvSpPr txBox="1">
            <a:spLocks/>
          </p:cNvSpPr>
          <p:nvPr/>
        </p:nvSpPr>
        <p:spPr>
          <a:xfrm>
            <a:off x="339591" y="352775"/>
            <a:ext cx="11180064" cy="437128"/>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Arial" panose="020B0604020202020204" pitchFamily="34" charset="0"/>
                <a:ea typeface="+mj-ea"/>
                <a:cs typeface="Arial" panose="020B0604020202020204" pitchFamily="34" charset="0"/>
              </a:defRPr>
            </a:lvl1pPr>
          </a:lstStyle>
          <a:p>
            <a:pPr defTabSz="1219170" fontAlgn="auto">
              <a:spcAft>
                <a:spcPts val="0"/>
              </a:spcAft>
            </a:pPr>
            <a:r>
              <a:rPr lang="en-US" sz="2800" dirty="0">
                <a:solidFill>
                  <a:srgbClr val="04628C"/>
                </a:solidFill>
                <a:latin typeface="Calibri" pitchFamily="34" charset="0"/>
                <a:ea typeface="Calibri" pitchFamily="34" charset="0"/>
                <a:cs typeface="Calibri" pitchFamily="34" charset="0"/>
              </a:rPr>
              <a:t>Creating a filter</a:t>
            </a:r>
          </a:p>
        </p:txBody>
      </p:sp>
      <p:pic>
        <p:nvPicPr>
          <p:cNvPr id="4" name="Picture 3"/>
          <p:cNvPicPr>
            <a:picLocks noChangeAspect="1"/>
          </p:cNvPicPr>
          <p:nvPr/>
        </p:nvPicPr>
        <p:blipFill>
          <a:blip r:embed="rId3"/>
          <a:stretch>
            <a:fillRect/>
          </a:stretch>
        </p:blipFill>
        <p:spPr>
          <a:xfrm>
            <a:off x="6557298" y="2211759"/>
            <a:ext cx="3715789" cy="1560309"/>
          </a:xfrm>
          <a:prstGeom prst="rect">
            <a:avLst/>
          </a:prstGeom>
        </p:spPr>
      </p:pic>
      <p:pic>
        <p:nvPicPr>
          <p:cNvPr id="5" name="Picture 4"/>
          <p:cNvPicPr>
            <a:picLocks noChangeAspect="1"/>
          </p:cNvPicPr>
          <p:nvPr/>
        </p:nvPicPr>
        <p:blipFill>
          <a:blip r:embed="rId4"/>
          <a:stretch>
            <a:fillRect/>
          </a:stretch>
        </p:blipFill>
        <p:spPr>
          <a:xfrm>
            <a:off x="1500146" y="4426037"/>
            <a:ext cx="2724103" cy="2293212"/>
          </a:xfrm>
          <a:prstGeom prst="rect">
            <a:avLst/>
          </a:prstGeom>
        </p:spPr>
      </p:pic>
      <p:pic>
        <p:nvPicPr>
          <p:cNvPr id="8" name="Picture 7"/>
          <p:cNvPicPr>
            <a:picLocks noChangeAspect="1"/>
          </p:cNvPicPr>
          <p:nvPr/>
        </p:nvPicPr>
        <p:blipFill>
          <a:blip r:embed="rId5"/>
          <a:stretch>
            <a:fillRect/>
          </a:stretch>
        </p:blipFill>
        <p:spPr>
          <a:xfrm>
            <a:off x="6873035" y="4347239"/>
            <a:ext cx="3198616" cy="2323592"/>
          </a:xfrm>
          <a:prstGeom prst="rect">
            <a:avLst/>
          </a:prstGeom>
        </p:spPr>
      </p:pic>
      <p:sp>
        <p:nvSpPr>
          <p:cNvPr id="9" name="Right Arrow 8"/>
          <p:cNvSpPr/>
          <p:nvPr/>
        </p:nvSpPr>
        <p:spPr>
          <a:xfrm>
            <a:off x="1219847" y="5079849"/>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0" name="Right Arrow 9"/>
          <p:cNvSpPr/>
          <p:nvPr/>
        </p:nvSpPr>
        <p:spPr>
          <a:xfrm>
            <a:off x="1219847" y="5587213"/>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1" name="Right Arrow 10"/>
          <p:cNvSpPr/>
          <p:nvPr/>
        </p:nvSpPr>
        <p:spPr>
          <a:xfrm>
            <a:off x="6557297" y="5291884"/>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2" name="Right Arrow 11"/>
          <p:cNvSpPr/>
          <p:nvPr/>
        </p:nvSpPr>
        <p:spPr>
          <a:xfrm>
            <a:off x="6557297" y="6014592"/>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3" name="Flowchart: Process 12"/>
          <p:cNvSpPr/>
          <p:nvPr/>
        </p:nvSpPr>
        <p:spPr>
          <a:xfrm>
            <a:off x="1206935" y="5132857"/>
            <a:ext cx="65919" cy="507364"/>
          </a:xfrm>
          <a:prstGeom prst="flowChartProcess">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4" name="Flowchart: Process 13"/>
          <p:cNvSpPr/>
          <p:nvPr/>
        </p:nvSpPr>
        <p:spPr>
          <a:xfrm>
            <a:off x="6557298" y="5343537"/>
            <a:ext cx="60959" cy="746756"/>
          </a:xfrm>
          <a:prstGeom prst="flowChartProcess">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5" name="Right Arrow 14"/>
          <p:cNvSpPr/>
          <p:nvPr/>
        </p:nvSpPr>
        <p:spPr>
          <a:xfrm>
            <a:off x="1216212" y="6048465"/>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Tree>
    <p:extLst>
      <p:ext uri="{BB962C8B-B14F-4D97-AF65-F5344CB8AC3E}">
        <p14:creationId xmlns:p14="http://schemas.microsoft.com/office/powerpoint/2010/main" val="28718823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Content Placeholder 3"/>
          <p:cNvSpPr txBox="1">
            <a:spLocks/>
          </p:cNvSpPr>
          <p:nvPr/>
        </p:nvSpPr>
        <p:spPr>
          <a:xfrm>
            <a:off x="339591" y="1226461"/>
            <a:ext cx="11180064" cy="4863831"/>
          </a:xfrm>
          <a:prstGeom prst="rect">
            <a:avLst/>
          </a:prstGeom>
        </p:spPr>
        <p:txBody>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tx2"/>
                </a:solidFill>
                <a:latin typeface="Arial" panose="020B0604020202020204" pitchFamily="34" charset="0"/>
                <a:ea typeface="+mn-ea"/>
                <a:cs typeface="Arial" panose="020B0604020202020204" pitchFamily="34" charset="0"/>
              </a:defRPr>
            </a:lvl1pPr>
            <a:lvl2pPr marL="228600" indent="-228600" algn="l" defTabSz="914400" rtl="0" eaLnBrk="1" latinLnBrk="0" hangingPunct="1">
              <a:lnSpc>
                <a:spcPct val="100000"/>
              </a:lnSpc>
              <a:spcBef>
                <a:spcPts val="600"/>
              </a:spcBef>
              <a:buClrTx/>
              <a:buSzPct val="125000"/>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2pPr>
            <a:lvl3pPr marL="4572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3pPr>
            <a:lvl4pPr marL="685800" indent="-228600" algn="l" defTabSz="914400" rtl="0" eaLnBrk="1" latinLnBrk="0" hangingPunct="1">
              <a:lnSpc>
                <a:spcPct val="100000"/>
              </a:lnSpc>
              <a:spcBef>
                <a:spcPts val="400"/>
              </a:spcBef>
              <a:buClrTx/>
              <a:buSzPct val="100000"/>
              <a:buFont typeface="Courier New" panose="02070309020205020404" pitchFamily="49" charset="0"/>
              <a:buChar char="o"/>
              <a:defRPr sz="1600" kern="1200">
                <a:solidFill>
                  <a:schemeClr val="tx2"/>
                </a:solidFill>
                <a:latin typeface="Arial" panose="020B0604020202020204" pitchFamily="34" charset="0"/>
                <a:ea typeface="+mn-ea"/>
                <a:cs typeface="Arial" panose="020B0604020202020204" pitchFamily="34" charset="0"/>
              </a:defRPr>
            </a:lvl4pPr>
            <a:lvl5pPr marL="914400" indent="-228600" algn="l" defTabSz="914400" rtl="0" eaLnBrk="1" latinLnBrk="0" hangingPunct="1">
              <a:lnSpc>
                <a:spcPct val="100000"/>
              </a:lnSpc>
              <a:spcBef>
                <a:spcPts val="400"/>
              </a:spcBef>
              <a:buClrTx/>
              <a:buSzPct val="100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5pPr>
            <a:lvl6pPr marL="1143000" indent="-228600" algn="l" defTabSz="914400" rtl="0" eaLnBrk="1" latinLnBrk="0" hangingPunct="1">
              <a:lnSpc>
                <a:spcPct val="100000"/>
              </a:lnSpc>
              <a:spcBef>
                <a:spcPts val="400"/>
              </a:spcBef>
              <a:buClr>
                <a:schemeClr val="accent2"/>
              </a:buClr>
              <a:buSzPct val="125000"/>
              <a:buFont typeface="Arial" panose="020B0604020202020204" pitchFamily="34" charset="0"/>
              <a:buChar char="•"/>
              <a:defRPr sz="1600" kern="1200">
                <a:solidFill>
                  <a:schemeClr val="tx2"/>
                </a:solidFill>
                <a:latin typeface="Arial" panose="020B0604020202020204" pitchFamily="34" charset="0"/>
                <a:ea typeface="+mn-ea"/>
                <a:cs typeface="Arial" panose="020B0604020202020204" pitchFamily="34" charset="0"/>
              </a:defRPr>
            </a:lvl6pPr>
            <a:lvl7pPr marL="1371600" indent="-228600" algn="l" defTabSz="914400" rtl="0" eaLnBrk="1" latinLnBrk="0" hangingPunct="1">
              <a:lnSpc>
                <a:spcPct val="100000"/>
              </a:lnSpc>
              <a:spcBef>
                <a:spcPts val="400"/>
              </a:spcBef>
              <a:buClr>
                <a:schemeClr val="accent2"/>
              </a:buClr>
              <a:buSzPct val="90000"/>
              <a:buFont typeface="Arial" panose="020B0604020202020204" pitchFamily="34" charset="0"/>
              <a:buChar char="–"/>
              <a:defRPr sz="1600" kern="1200">
                <a:solidFill>
                  <a:schemeClr val="tx2"/>
                </a:solidFill>
                <a:latin typeface="+mn-lt"/>
                <a:ea typeface="+mn-ea"/>
                <a:cs typeface="+mn-cs"/>
              </a:defRPr>
            </a:lvl7pPr>
            <a:lvl8pPr marL="1600200" indent="-228600" algn="l" defTabSz="914400" rtl="0" eaLnBrk="1" latinLnBrk="0" hangingPunct="1">
              <a:lnSpc>
                <a:spcPct val="100000"/>
              </a:lnSpc>
              <a:spcBef>
                <a:spcPts val="400"/>
              </a:spcBef>
              <a:buClr>
                <a:schemeClr val="accent2"/>
              </a:buClr>
              <a:buSzPct val="90000"/>
              <a:buFont typeface="Courier New" panose="02070309020205020404" pitchFamily="49" charset="0"/>
              <a:buChar char="o"/>
              <a:defRPr sz="1600" kern="1200">
                <a:solidFill>
                  <a:schemeClr val="tx2"/>
                </a:solidFill>
                <a:latin typeface="+mn-lt"/>
                <a:ea typeface="+mn-ea"/>
                <a:cs typeface="+mn-cs"/>
              </a:defRPr>
            </a:lvl8pPr>
            <a:lvl9pPr marL="1600200" indent="-228600" algn="l" defTabSz="914400" rtl="0" eaLnBrk="1" latinLnBrk="0" hangingPunct="1">
              <a:lnSpc>
                <a:spcPct val="100000"/>
              </a:lnSpc>
              <a:spcBef>
                <a:spcPts val="400"/>
              </a:spcBef>
              <a:buClrTx/>
              <a:buSzPct val="90000"/>
              <a:buFont typeface="Courier New" panose="02070309020205020404" pitchFamily="49" charset="0"/>
              <a:buChar char="o"/>
              <a:defRPr sz="1600" kern="1200">
                <a:solidFill>
                  <a:schemeClr val="tx2"/>
                </a:solidFill>
                <a:latin typeface="+mn-lt"/>
                <a:ea typeface="+mn-ea"/>
                <a:cs typeface="+mn-cs"/>
              </a:defRPr>
            </a:lvl9pPr>
          </a:lstStyle>
          <a:p>
            <a:pPr marL="380990" indent="-380990" defTabSz="1219170" fontAlgn="auto">
              <a:spcBef>
                <a:spcPts val="800"/>
              </a:spcBef>
              <a:spcAft>
                <a:spcPts val="0"/>
              </a:spcAft>
              <a:buFont typeface="Arial" panose="020B0604020202020204" pitchFamily="34" charset="0"/>
              <a:buChar char="•"/>
            </a:pPr>
            <a:r>
              <a:rPr lang="en-US" sz="2400" b="0" dirty="0">
                <a:solidFill>
                  <a:srgbClr val="000000"/>
                </a:solidFill>
              </a:rPr>
              <a:t>A </a:t>
            </a:r>
            <a:r>
              <a:rPr lang="en-US" sz="2400" b="0" dirty="0" err="1">
                <a:solidFill>
                  <a:srgbClr val="000000"/>
                </a:solidFill>
              </a:rPr>
              <a:t>GraphQL</a:t>
            </a:r>
            <a:r>
              <a:rPr lang="en-US" sz="2400" b="0" dirty="0">
                <a:solidFill>
                  <a:srgbClr val="000000"/>
                </a:solidFill>
              </a:rPr>
              <a:t> feature that allow you to query a </a:t>
            </a:r>
          </a:p>
          <a:p>
            <a:pPr defTabSz="1219170" fontAlgn="auto">
              <a:spcBef>
                <a:spcPts val="800"/>
              </a:spcBef>
              <a:spcAft>
                <a:spcPts val="0"/>
              </a:spcAft>
            </a:pPr>
            <a:r>
              <a:rPr lang="en-US" sz="2400" b="0" dirty="0">
                <a:solidFill>
                  <a:srgbClr val="000000"/>
                </a:solidFill>
              </a:rPr>
              <a:t>     fragment that can be applied to a given object</a:t>
            </a:r>
          </a:p>
          <a:p>
            <a:pPr marL="609585" lvl="2" indent="-304792" defTabSz="1219170" fontAlgn="auto">
              <a:spcBef>
                <a:spcPts val="533"/>
              </a:spcBef>
              <a:spcAft>
                <a:spcPts val="0"/>
              </a:spcAft>
              <a:buFont typeface="Arial" panose="020B0604020202020204" pitchFamily="34" charset="0"/>
              <a:buChar char="•"/>
            </a:pPr>
            <a:r>
              <a:rPr lang="en-US" sz="2133" b="0" dirty="0">
                <a:solidFill>
                  <a:srgbClr val="000000"/>
                </a:solidFill>
              </a:rPr>
              <a:t>Useful in cases where the same sub-object type </a:t>
            </a:r>
          </a:p>
          <a:p>
            <a:pPr marL="304792" lvl="2" indent="0" defTabSz="1219170" fontAlgn="auto">
              <a:spcBef>
                <a:spcPts val="533"/>
              </a:spcBef>
              <a:spcAft>
                <a:spcPts val="0"/>
              </a:spcAft>
              <a:buNone/>
            </a:pPr>
            <a:r>
              <a:rPr lang="en-US" sz="2133" b="0" dirty="0">
                <a:solidFill>
                  <a:srgbClr val="000000"/>
                </a:solidFill>
              </a:rPr>
              <a:t>    appears within multiple places in the data you want to</a:t>
            </a:r>
          </a:p>
          <a:p>
            <a:pPr marL="304792" lvl="2" indent="0" defTabSz="1219170" fontAlgn="auto">
              <a:spcBef>
                <a:spcPts val="533"/>
              </a:spcBef>
              <a:spcAft>
                <a:spcPts val="0"/>
              </a:spcAft>
              <a:buNone/>
            </a:pPr>
            <a:r>
              <a:rPr lang="en-US" sz="2133" b="0" dirty="0">
                <a:solidFill>
                  <a:srgbClr val="000000"/>
                </a:solidFill>
              </a:rPr>
              <a:t>    fetch</a:t>
            </a:r>
          </a:p>
          <a:p>
            <a:pPr marL="609585" lvl="2" indent="-304792" defTabSz="1219170" fontAlgn="auto">
              <a:spcBef>
                <a:spcPts val="533"/>
              </a:spcBef>
              <a:spcAft>
                <a:spcPts val="0"/>
              </a:spcAft>
              <a:buFont typeface="Arial" panose="020B0604020202020204" pitchFamily="34" charset="0"/>
              <a:buChar char="•"/>
            </a:pPr>
            <a:r>
              <a:rPr lang="en-US" sz="2133" b="0" dirty="0">
                <a:solidFill>
                  <a:srgbClr val="000000"/>
                </a:solidFill>
              </a:rPr>
              <a:t>For example, a Contact may have both </a:t>
            </a:r>
          </a:p>
          <a:p>
            <a:pPr marL="304792" lvl="2" indent="0" defTabSz="1219170" fontAlgn="auto">
              <a:spcBef>
                <a:spcPts val="533"/>
              </a:spcBef>
              <a:spcAft>
                <a:spcPts val="0"/>
              </a:spcAft>
              <a:buNone/>
            </a:pPr>
            <a:r>
              <a:rPr lang="en-US" sz="2133" dirty="0">
                <a:solidFill>
                  <a:srgbClr val="000000"/>
                </a:solidFill>
              </a:rPr>
              <a:t>    </a:t>
            </a:r>
            <a:r>
              <a:rPr lang="en-US" sz="2133" dirty="0" err="1">
                <a:solidFill>
                  <a:srgbClr val="000000"/>
                </a:solidFill>
              </a:rPr>
              <a:t>PrimaryAddress</a:t>
            </a:r>
            <a:r>
              <a:rPr lang="en-US" sz="2133" b="0" dirty="0">
                <a:solidFill>
                  <a:srgbClr val="000000"/>
                </a:solidFill>
              </a:rPr>
              <a:t> and </a:t>
            </a:r>
            <a:r>
              <a:rPr lang="en-US" sz="2133" dirty="0" err="1">
                <a:solidFill>
                  <a:srgbClr val="000000"/>
                </a:solidFill>
              </a:rPr>
              <a:t>AllAddresses</a:t>
            </a:r>
            <a:r>
              <a:rPr lang="en-US" sz="2133" b="0" dirty="0">
                <a:solidFill>
                  <a:srgbClr val="000000"/>
                </a:solidFill>
              </a:rPr>
              <a:t> properties </a:t>
            </a:r>
          </a:p>
          <a:p>
            <a:pPr marL="304792" lvl="2" indent="0" defTabSz="1219170" fontAlgn="auto">
              <a:spcBef>
                <a:spcPts val="533"/>
              </a:spcBef>
              <a:spcAft>
                <a:spcPts val="0"/>
              </a:spcAft>
              <a:buNone/>
            </a:pPr>
            <a:r>
              <a:rPr lang="en-US" sz="2133" b="0" dirty="0">
                <a:solidFill>
                  <a:srgbClr val="000000"/>
                </a:solidFill>
              </a:rPr>
              <a:t>    that map to the same Address type</a:t>
            </a:r>
          </a:p>
          <a:p>
            <a:pPr marL="914377" lvl="3" indent="-304792" defTabSz="1219170" fontAlgn="auto">
              <a:spcBef>
                <a:spcPts val="533"/>
              </a:spcBef>
              <a:spcAft>
                <a:spcPts val="0"/>
              </a:spcAft>
              <a:buFont typeface="Arial" panose="020B0604020202020204" pitchFamily="34" charset="0"/>
              <a:buChar char="•"/>
            </a:pPr>
            <a:r>
              <a:rPr lang="en-US" sz="2133" b="0" dirty="0">
                <a:solidFill>
                  <a:srgbClr val="000000"/>
                </a:solidFill>
              </a:rPr>
              <a:t>Define the set of properties you want from </a:t>
            </a:r>
          </a:p>
          <a:p>
            <a:pPr marL="609585" lvl="3" indent="0" defTabSz="1219170" fontAlgn="auto">
              <a:spcBef>
                <a:spcPts val="533"/>
              </a:spcBef>
              <a:spcAft>
                <a:spcPts val="0"/>
              </a:spcAft>
              <a:buNone/>
            </a:pPr>
            <a:r>
              <a:rPr lang="en-US" sz="2133" b="0" dirty="0">
                <a:solidFill>
                  <a:srgbClr val="000000"/>
                </a:solidFill>
              </a:rPr>
              <a:t>    an Address once, as a fragment</a:t>
            </a:r>
          </a:p>
          <a:p>
            <a:pPr marL="914377" lvl="3" indent="-304792" defTabSz="1219170" fontAlgn="auto">
              <a:spcBef>
                <a:spcPts val="533"/>
              </a:spcBef>
              <a:spcAft>
                <a:spcPts val="0"/>
              </a:spcAft>
              <a:buFont typeface="Arial" panose="020B0604020202020204" pitchFamily="34" charset="0"/>
              <a:buChar char="•"/>
            </a:pPr>
            <a:r>
              <a:rPr lang="en-US" sz="2133" b="0" dirty="0">
                <a:solidFill>
                  <a:srgbClr val="000000"/>
                </a:solidFill>
              </a:rPr>
              <a:t>Reference that fragment in each context that </a:t>
            </a:r>
          </a:p>
          <a:p>
            <a:pPr marL="609585" lvl="3" indent="0" defTabSz="1219170" fontAlgn="auto">
              <a:spcBef>
                <a:spcPts val="533"/>
              </a:spcBef>
              <a:spcAft>
                <a:spcPts val="0"/>
              </a:spcAft>
              <a:buNone/>
            </a:pPr>
            <a:r>
              <a:rPr lang="en-US" sz="2133" b="0" dirty="0">
                <a:solidFill>
                  <a:srgbClr val="000000"/>
                </a:solidFill>
              </a:rPr>
              <a:t>    you want that same set of properties</a:t>
            </a:r>
          </a:p>
          <a:p>
            <a:pPr defTabSz="1219170" fontAlgn="auto">
              <a:spcBef>
                <a:spcPts val="800"/>
              </a:spcBef>
              <a:spcAft>
                <a:spcPts val="0"/>
              </a:spcAft>
            </a:pPr>
            <a:endParaRPr lang="en-US" sz="2400" b="0" dirty="0">
              <a:solidFill>
                <a:srgbClr val="FFFFFF"/>
              </a:solidFill>
            </a:endParaRPr>
          </a:p>
          <a:p>
            <a:pPr defTabSz="1219170" fontAlgn="auto">
              <a:spcBef>
                <a:spcPts val="800"/>
              </a:spcBef>
              <a:spcAft>
                <a:spcPts val="0"/>
              </a:spcAft>
            </a:pPr>
            <a:endParaRPr lang="en-US" sz="2400" b="0" dirty="0">
              <a:solidFill>
                <a:srgbClr val="FFFFFF"/>
              </a:solidFill>
            </a:endParaRPr>
          </a:p>
          <a:p>
            <a:pPr defTabSz="1219170" fontAlgn="auto">
              <a:spcBef>
                <a:spcPts val="800"/>
              </a:spcBef>
              <a:spcAft>
                <a:spcPts val="0"/>
              </a:spcAft>
            </a:pPr>
            <a:endParaRPr lang="en-US" sz="2400" b="0" dirty="0">
              <a:solidFill>
                <a:srgbClr val="FFFFFF"/>
              </a:solidFill>
            </a:endParaRPr>
          </a:p>
          <a:p>
            <a:pPr defTabSz="1219170" fontAlgn="auto">
              <a:spcBef>
                <a:spcPts val="800"/>
              </a:spcBef>
              <a:spcAft>
                <a:spcPts val="0"/>
              </a:spcAft>
            </a:pPr>
            <a:endParaRPr lang="en-US" sz="2400" b="0" dirty="0">
              <a:solidFill>
                <a:srgbClr val="FFFFFF"/>
              </a:solidFill>
            </a:endParaRPr>
          </a:p>
        </p:txBody>
      </p:sp>
      <p:sp>
        <p:nvSpPr>
          <p:cNvPr id="7" name="Title 6">
            <a:extLst>
              <a:ext uri="{FF2B5EF4-FFF2-40B4-BE49-F238E27FC236}">
                <a16:creationId xmlns:a16="http://schemas.microsoft.com/office/drawing/2014/main" id="{EA0D6B93-CE79-4088-9EA6-938915E2F70B}"/>
              </a:ext>
            </a:extLst>
          </p:cNvPr>
          <p:cNvSpPr txBox="1">
            <a:spLocks/>
          </p:cNvSpPr>
          <p:nvPr/>
        </p:nvSpPr>
        <p:spPr>
          <a:xfrm>
            <a:off x="339591" y="385144"/>
            <a:ext cx="11180064" cy="437128"/>
          </a:xfrm>
          <a:prstGeom prst="rect">
            <a:avLst/>
          </a:prstGeom>
        </p:spPr>
        <p:txBody>
          <a:bodyPr>
            <a:normAutofit fontScale="90000" lnSpcReduction="20000"/>
          </a:bodyPr>
          <a:lstStyle>
            <a:lvl1pPr algn="l" defTabSz="914400" rtl="0" eaLnBrk="1" latinLnBrk="0" hangingPunct="1">
              <a:lnSpc>
                <a:spcPct val="90000"/>
              </a:lnSpc>
              <a:spcBef>
                <a:spcPct val="0"/>
              </a:spcBef>
              <a:buNone/>
              <a:defRPr sz="2400" kern="1200">
                <a:solidFill>
                  <a:schemeClr val="tx1"/>
                </a:solidFill>
                <a:latin typeface="Arial" panose="020B0604020202020204" pitchFamily="34" charset="0"/>
                <a:ea typeface="+mj-ea"/>
                <a:cs typeface="Arial" panose="020B0604020202020204" pitchFamily="34" charset="0"/>
              </a:defRPr>
            </a:lvl1pPr>
          </a:lstStyle>
          <a:p>
            <a:pPr defTabSz="1219170" fontAlgn="auto">
              <a:spcAft>
                <a:spcPts val="0"/>
              </a:spcAft>
            </a:pPr>
            <a:r>
              <a:rPr lang="en-US" sz="3400" dirty="0">
                <a:solidFill>
                  <a:srgbClr val="04628C"/>
                </a:solidFill>
                <a:latin typeface="Calibri" pitchFamily="34" charset="0"/>
                <a:ea typeface="Calibri" pitchFamily="34" charset="0"/>
                <a:cs typeface="Calibri" pitchFamily="34" charset="0"/>
              </a:rPr>
              <a:t>Fragments</a:t>
            </a:r>
          </a:p>
        </p:txBody>
      </p:sp>
      <p:pic>
        <p:nvPicPr>
          <p:cNvPr id="2" name="Picture 1"/>
          <p:cNvPicPr>
            <a:picLocks noChangeAspect="1"/>
          </p:cNvPicPr>
          <p:nvPr/>
        </p:nvPicPr>
        <p:blipFill>
          <a:blip r:embed="rId3"/>
          <a:stretch>
            <a:fillRect/>
          </a:stretch>
        </p:blipFill>
        <p:spPr>
          <a:xfrm>
            <a:off x="7775506" y="1195615"/>
            <a:ext cx="4240153" cy="3522063"/>
          </a:xfrm>
          <a:prstGeom prst="rect">
            <a:avLst/>
          </a:prstGeom>
        </p:spPr>
      </p:pic>
      <p:sp>
        <p:nvSpPr>
          <p:cNvPr id="16" name="Right Arrow 15"/>
          <p:cNvSpPr/>
          <p:nvPr/>
        </p:nvSpPr>
        <p:spPr>
          <a:xfrm>
            <a:off x="7495207" y="1865264"/>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7" name="Right Arrow 16"/>
          <p:cNvSpPr/>
          <p:nvPr/>
        </p:nvSpPr>
        <p:spPr>
          <a:xfrm>
            <a:off x="7495207" y="2601792"/>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
        <p:nvSpPr>
          <p:cNvPr id="18" name="Right Arrow 17"/>
          <p:cNvSpPr/>
          <p:nvPr/>
        </p:nvSpPr>
        <p:spPr>
          <a:xfrm>
            <a:off x="7495207" y="3544600"/>
            <a:ext cx="280299" cy="11377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760" fontAlgn="auto">
              <a:spcBef>
                <a:spcPts val="0"/>
              </a:spcBef>
              <a:spcAft>
                <a:spcPts val="0"/>
              </a:spcAft>
            </a:pPr>
            <a:endParaRPr lang="en-US" sz="3200" b="0">
              <a:solidFill>
                <a:srgbClr val="FFFFFF"/>
              </a:solidFill>
              <a:latin typeface="Arial" panose="020B0604020202020204"/>
            </a:endParaRPr>
          </a:p>
        </p:txBody>
      </p:sp>
    </p:spTree>
    <p:extLst>
      <p:ext uri="{BB962C8B-B14F-4D97-AF65-F5344CB8AC3E}">
        <p14:creationId xmlns:p14="http://schemas.microsoft.com/office/powerpoint/2010/main" val="41379610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Generate </a:t>
            </a:r>
            <a:r>
              <a:rPr lang="en-US" dirty="0"/>
              <a:t>w</a:t>
            </a:r>
            <a:r>
              <a:rPr lang="en-US" dirty="0" smtClean="0"/>
              <a:t>rapper classes</a:t>
            </a:r>
            <a:endParaRPr lang="en-US" dirty="0"/>
          </a:p>
        </p:txBody>
      </p:sp>
      <p:sp>
        <p:nvSpPr>
          <p:cNvPr id="7173" name="Content Placeholder 2"/>
          <p:cNvSpPr>
            <a:spLocks noGrp="1"/>
          </p:cNvSpPr>
          <p:nvPr>
            <p:ph idx="1"/>
          </p:nvPr>
        </p:nvSpPr>
        <p:spPr/>
        <p:txBody>
          <a:bodyPr/>
          <a:lstStyle/>
          <a:p>
            <a:pPr lvl="0"/>
            <a:r>
              <a:rPr lang="en-US" dirty="0" smtClean="0"/>
              <a:t>Add the fully-qualified name of the schema(s) in the codegen-schemas.txt file in schemas package</a:t>
            </a:r>
          </a:p>
          <a:p>
            <a:pPr lvl="0"/>
            <a:endParaRPr lang="en-US" dirty="0" smtClean="0"/>
          </a:p>
          <a:p>
            <a:pPr lvl="0"/>
            <a:endParaRPr lang="en-US" dirty="0" smtClean="0"/>
          </a:p>
          <a:p>
            <a:pPr lvl="0"/>
            <a:r>
              <a:rPr lang="en-US" dirty="0" smtClean="0"/>
              <a:t>From the Server drop-down in Studio </a:t>
            </a:r>
          </a:p>
          <a:p>
            <a:pPr marL="0" indent="0">
              <a:buNone/>
            </a:pPr>
            <a:r>
              <a:rPr lang="en-US" dirty="0" smtClean="0"/>
              <a:t>    select </a:t>
            </a:r>
            <a:r>
              <a:rPr lang="en-US" b="1" dirty="0" err="1" smtClean="0"/>
              <a:t>JsonSchemaCodegen</a:t>
            </a:r>
            <a:endParaRPr lang="en-US" b="1" dirty="0"/>
          </a:p>
          <a:p>
            <a:pPr marL="0" indent="0">
              <a:buNone/>
            </a:pPr>
            <a:r>
              <a:rPr lang="en-US" sz="2000" dirty="0"/>
              <a:t>	- Execute by selecting </a:t>
            </a:r>
            <a:r>
              <a:rPr lang="en-US" sz="2000" b="1" dirty="0"/>
              <a:t>Run ‘Server’</a:t>
            </a:r>
            <a:r>
              <a:rPr lang="en-US" sz="2000" dirty="0"/>
              <a:t> icon</a:t>
            </a:r>
          </a:p>
          <a:p>
            <a:pPr marL="0" indent="0">
              <a:buNone/>
            </a:pPr>
            <a:endParaRPr lang="en-US" sz="2000" dirty="0"/>
          </a:p>
          <a:p>
            <a:r>
              <a:rPr lang="en-US" dirty="0" smtClean="0"/>
              <a:t>Generated wrapper classes will be under </a:t>
            </a:r>
          </a:p>
          <a:p>
            <a:pPr marL="0" indent="0">
              <a:buNone/>
            </a:pPr>
            <a:r>
              <a:rPr lang="en-US" dirty="0" smtClean="0"/>
              <a:t>	</a:t>
            </a:r>
            <a:r>
              <a:rPr lang="en-US" b="1" dirty="0" err="1" smtClean="0"/>
              <a:t>configuration.src.jsonschema</a:t>
            </a:r>
            <a:endParaRPr lang="en-US" b="1" dirty="0"/>
          </a:p>
        </p:txBody>
      </p:sp>
      <p:pic>
        <p:nvPicPr>
          <p:cNvPr id="2" name="Picture 1"/>
          <p:cNvPicPr>
            <a:picLocks noChangeAspect="1"/>
          </p:cNvPicPr>
          <p:nvPr/>
        </p:nvPicPr>
        <p:blipFill>
          <a:blip r:embed="rId3"/>
          <a:stretch>
            <a:fillRect/>
          </a:stretch>
        </p:blipFill>
        <p:spPr>
          <a:xfrm>
            <a:off x="4385212" y="1645994"/>
            <a:ext cx="2962688" cy="1076475"/>
          </a:xfrm>
          <a:prstGeom prst="rect">
            <a:avLst/>
          </a:prstGeom>
          <a:effectLst>
            <a:outerShdw blurRad="50800" dist="50800" dir="1800000" algn="br" rotWithShape="0">
              <a:prstClr val="black">
                <a:alpha val="40000"/>
              </a:prstClr>
            </a:outerShdw>
          </a:effectLst>
        </p:spPr>
      </p:pic>
      <p:pic>
        <p:nvPicPr>
          <p:cNvPr id="3" name="Picture 2"/>
          <p:cNvPicPr>
            <a:picLocks noChangeAspect="1"/>
          </p:cNvPicPr>
          <p:nvPr/>
        </p:nvPicPr>
        <p:blipFill>
          <a:blip r:embed="rId4"/>
          <a:stretch>
            <a:fillRect/>
          </a:stretch>
        </p:blipFill>
        <p:spPr>
          <a:xfrm>
            <a:off x="8256295" y="1603125"/>
            <a:ext cx="2105319" cy="2238687"/>
          </a:xfrm>
          <a:prstGeom prst="rect">
            <a:avLst/>
          </a:prstGeom>
          <a:effectLst>
            <a:outerShdw blurRad="50800" dist="50800" dir="1800000" algn="br" rotWithShape="0">
              <a:prstClr val="black">
                <a:alpha val="40000"/>
              </a:prstClr>
            </a:outerShdw>
          </a:effectLst>
        </p:spPr>
      </p:pic>
      <p:pic>
        <p:nvPicPr>
          <p:cNvPr id="4" name="Picture 3"/>
          <p:cNvPicPr>
            <a:picLocks noChangeAspect="1"/>
          </p:cNvPicPr>
          <p:nvPr/>
        </p:nvPicPr>
        <p:blipFill>
          <a:blip r:embed="rId5"/>
          <a:stretch>
            <a:fillRect/>
          </a:stretch>
        </p:blipFill>
        <p:spPr>
          <a:xfrm>
            <a:off x="8111573" y="3962060"/>
            <a:ext cx="2353003" cy="2438740"/>
          </a:xfrm>
          <a:prstGeom prst="rect">
            <a:avLst/>
          </a:prstGeom>
          <a:effectLst>
            <a:outerShdw blurRad="50800" dist="50800" dir="1800000" algn="br" rotWithShape="0">
              <a:prstClr val="black">
                <a:alpha val="40000"/>
              </a:prstClr>
            </a:outerShdw>
          </a:effectLst>
        </p:spPr>
      </p:pic>
    </p:spTree>
    <p:extLst>
      <p:ext uri="{BB962C8B-B14F-4D97-AF65-F5344CB8AC3E}">
        <p14:creationId xmlns:p14="http://schemas.microsoft.com/office/powerpoint/2010/main" val="184085856"/>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Example 1 – JSON Output</a:t>
            </a:r>
            <a:endParaRPr lang="en-US" dirty="0"/>
          </a:p>
        </p:txBody>
      </p:sp>
      <p:pic>
        <p:nvPicPr>
          <p:cNvPr id="4" name="Picture 3"/>
          <p:cNvPicPr>
            <a:picLocks noChangeAspect="1"/>
          </p:cNvPicPr>
          <p:nvPr/>
        </p:nvPicPr>
        <p:blipFill>
          <a:blip r:embed="rId3"/>
          <a:stretch>
            <a:fillRect/>
          </a:stretch>
        </p:blipFill>
        <p:spPr>
          <a:xfrm>
            <a:off x="2275116" y="3483865"/>
            <a:ext cx="7360783" cy="2931903"/>
          </a:xfrm>
          <a:prstGeom prst="rect">
            <a:avLst/>
          </a:prstGeom>
          <a:effectLst>
            <a:outerShdw blurRad="50800" dist="50800" dir="1800000" algn="br" rotWithShape="0">
              <a:prstClr val="black">
                <a:alpha val="40000"/>
              </a:prstClr>
            </a:outerShdw>
          </a:effectLst>
        </p:spPr>
      </p:pic>
      <p:pic>
        <p:nvPicPr>
          <p:cNvPr id="6" name="Picture 5"/>
          <p:cNvPicPr>
            <a:picLocks noChangeAspect="1"/>
          </p:cNvPicPr>
          <p:nvPr/>
        </p:nvPicPr>
        <p:blipFill>
          <a:blip r:embed="rId4"/>
          <a:stretch>
            <a:fillRect/>
          </a:stretch>
        </p:blipFill>
        <p:spPr>
          <a:xfrm>
            <a:off x="5715682" y="548148"/>
            <a:ext cx="4506005" cy="3251168"/>
          </a:xfrm>
          <a:prstGeom prst="rect">
            <a:avLst/>
          </a:prstGeom>
          <a:effectLst>
            <a:outerShdw blurRad="50800" dist="50800" dir="1800000" algn="br" rotWithShape="0">
              <a:prstClr val="black">
                <a:alpha val="40000"/>
              </a:prstClr>
            </a:outerShdw>
          </a:effectLst>
        </p:spPr>
      </p:pic>
      <p:pic>
        <p:nvPicPr>
          <p:cNvPr id="7" name="Picture 6"/>
          <p:cNvPicPr>
            <a:picLocks noChangeAspect="1"/>
          </p:cNvPicPr>
          <p:nvPr/>
        </p:nvPicPr>
        <p:blipFill>
          <a:blip r:embed="rId5"/>
          <a:stretch>
            <a:fillRect/>
          </a:stretch>
        </p:blipFill>
        <p:spPr>
          <a:xfrm>
            <a:off x="8299790" y="3473414"/>
            <a:ext cx="1629002" cy="466790"/>
          </a:xfrm>
          <a:prstGeom prst="rect">
            <a:avLst/>
          </a:prstGeom>
        </p:spPr>
      </p:pic>
      <p:pic>
        <p:nvPicPr>
          <p:cNvPr id="8" name="Picture 7"/>
          <p:cNvPicPr>
            <a:picLocks noChangeAspect="1"/>
          </p:cNvPicPr>
          <p:nvPr/>
        </p:nvPicPr>
        <p:blipFill>
          <a:blip r:embed="rId6"/>
          <a:stretch>
            <a:fillRect/>
          </a:stretch>
        </p:blipFill>
        <p:spPr>
          <a:xfrm>
            <a:off x="1771614" y="5263227"/>
            <a:ext cx="495369" cy="228632"/>
          </a:xfrm>
          <a:prstGeom prst="rect">
            <a:avLst/>
          </a:prstGeom>
        </p:spPr>
      </p:pic>
      <p:pic>
        <p:nvPicPr>
          <p:cNvPr id="9" name="Picture 8"/>
          <p:cNvPicPr>
            <a:picLocks noChangeAspect="1"/>
          </p:cNvPicPr>
          <p:nvPr/>
        </p:nvPicPr>
        <p:blipFill>
          <a:blip r:embed="rId6"/>
          <a:stretch>
            <a:fillRect/>
          </a:stretch>
        </p:blipFill>
        <p:spPr>
          <a:xfrm>
            <a:off x="1771615" y="5644227"/>
            <a:ext cx="495369" cy="228632"/>
          </a:xfrm>
          <a:prstGeom prst="rect">
            <a:avLst/>
          </a:prstGeom>
        </p:spPr>
      </p:pic>
      <p:pic>
        <p:nvPicPr>
          <p:cNvPr id="10" name="Picture 9"/>
          <p:cNvPicPr>
            <a:picLocks noChangeAspect="1"/>
          </p:cNvPicPr>
          <p:nvPr/>
        </p:nvPicPr>
        <p:blipFill>
          <a:blip r:embed="rId6"/>
          <a:stretch>
            <a:fillRect/>
          </a:stretch>
        </p:blipFill>
        <p:spPr>
          <a:xfrm>
            <a:off x="1771616" y="6025227"/>
            <a:ext cx="495369" cy="228632"/>
          </a:xfrm>
          <a:prstGeom prst="rect">
            <a:avLst/>
          </a:prstGeom>
        </p:spPr>
      </p:pic>
    </p:spTree>
    <p:extLst>
      <p:ext uri="{BB962C8B-B14F-4D97-AF65-F5344CB8AC3E}">
        <p14:creationId xmlns:p14="http://schemas.microsoft.com/office/powerpoint/2010/main" val="375097849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a:t>Example </a:t>
            </a:r>
            <a:r>
              <a:rPr lang="en-US" dirty="0" smtClean="0"/>
              <a:t>2 </a:t>
            </a:r>
            <a:r>
              <a:rPr lang="en-US" dirty="0"/>
              <a:t>– </a:t>
            </a:r>
            <a:r>
              <a:rPr lang="en-US" dirty="0" smtClean="0"/>
              <a:t>XML </a:t>
            </a:r>
            <a:r>
              <a:rPr lang="en-US" dirty="0"/>
              <a:t>Output</a:t>
            </a:r>
          </a:p>
        </p:txBody>
      </p:sp>
      <p:sp>
        <p:nvSpPr>
          <p:cNvPr id="2" name="Content Placeholder 1"/>
          <p:cNvSpPr>
            <a:spLocks noGrp="1"/>
          </p:cNvSpPr>
          <p:nvPr>
            <p:ph idx="1"/>
          </p:nvPr>
        </p:nvSpPr>
        <p:spPr/>
        <p:txBody>
          <a:bodyPr/>
          <a:lstStyle/>
          <a:p>
            <a:r>
              <a:rPr lang="en-US" dirty="0" smtClean="0"/>
              <a:t>Optionally generate XSD</a:t>
            </a:r>
          </a:p>
          <a:p>
            <a:pPr lvl="1"/>
            <a:r>
              <a:rPr lang="en-US" sz="2000" dirty="0"/>
              <a:t>Execute </a:t>
            </a:r>
            <a:r>
              <a:rPr lang="en-US" sz="2000" dirty="0" err="1"/>
              <a:t>gwb</a:t>
            </a:r>
            <a:r>
              <a:rPr lang="en-US" sz="2000" dirty="0"/>
              <a:t> </a:t>
            </a:r>
            <a:r>
              <a:rPr lang="en-US" sz="2000" dirty="0" err="1"/>
              <a:t>genExternalSchemas</a:t>
            </a:r>
            <a:r>
              <a:rPr lang="en-US" sz="2000" dirty="0"/>
              <a:t> in command prompt window</a:t>
            </a:r>
          </a:p>
          <a:p>
            <a:pPr lvl="1"/>
            <a:r>
              <a:rPr lang="en-US" sz="2000" dirty="0"/>
              <a:t>Default output directory</a:t>
            </a:r>
          </a:p>
          <a:p>
            <a:pPr lvl="2"/>
            <a:r>
              <a:rPr lang="en-US" sz="1800" dirty="0"/>
              <a:t>&lt;app&gt;\modules\configuration\build\external-schemas</a:t>
            </a:r>
          </a:p>
        </p:txBody>
      </p:sp>
      <p:pic>
        <p:nvPicPr>
          <p:cNvPr id="3" name="Picture 2"/>
          <p:cNvPicPr>
            <a:picLocks noChangeAspect="1"/>
          </p:cNvPicPr>
          <p:nvPr/>
        </p:nvPicPr>
        <p:blipFill>
          <a:blip r:embed="rId3"/>
          <a:stretch>
            <a:fillRect/>
          </a:stretch>
        </p:blipFill>
        <p:spPr>
          <a:xfrm>
            <a:off x="1742059" y="2561178"/>
            <a:ext cx="4810796" cy="819264"/>
          </a:xfrm>
          <a:prstGeom prst="rect">
            <a:avLst/>
          </a:prstGeom>
        </p:spPr>
      </p:pic>
      <p:pic>
        <p:nvPicPr>
          <p:cNvPr id="4" name="Picture 3"/>
          <p:cNvPicPr>
            <a:picLocks noChangeAspect="1"/>
          </p:cNvPicPr>
          <p:nvPr/>
        </p:nvPicPr>
        <p:blipFill>
          <a:blip r:embed="rId4"/>
          <a:stretch>
            <a:fillRect/>
          </a:stretch>
        </p:blipFill>
        <p:spPr>
          <a:xfrm>
            <a:off x="3242257" y="3380442"/>
            <a:ext cx="3310598" cy="3117340"/>
          </a:xfrm>
          <a:prstGeom prst="rect">
            <a:avLst/>
          </a:prstGeom>
        </p:spPr>
      </p:pic>
      <p:pic>
        <p:nvPicPr>
          <p:cNvPr id="5" name="Picture 4"/>
          <p:cNvPicPr>
            <a:picLocks noChangeAspect="1"/>
          </p:cNvPicPr>
          <p:nvPr/>
        </p:nvPicPr>
        <p:blipFill rotWithShape="1">
          <a:blip r:embed="rId5"/>
          <a:srcRect l="934" t="616" r="-934" b="12632"/>
          <a:stretch/>
        </p:blipFill>
        <p:spPr>
          <a:xfrm>
            <a:off x="6748605" y="2712720"/>
            <a:ext cx="3496163" cy="3785062"/>
          </a:xfrm>
          <a:prstGeom prst="rect">
            <a:avLst/>
          </a:prstGeom>
        </p:spPr>
      </p:pic>
    </p:spTree>
    <p:extLst>
      <p:ext uri="{BB962C8B-B14F-4D97-AF65-F5344CB8AC3E}">
        <p14:creationId xmlns:p14="http://schemas.microsoft.com/office/powerpoint/2010/main" val="4065689250"/>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a:t>Example </a:t>
            </a:r>
            <a:r>
              <a:rPr lang="en-US" dirty="0" smtClean="0"/>
              <a:t>3 </a:t>
            </a:r>
            <a:r>
              <a:rPr lang="en-US" dirty="0"/>
              <a:t>– </a:t>
            </a:r>
            <a:r>
              <a:rPr lang="en-US" dirty="0" smtClean="0"/>
              <a:t>Filtered JSON </a:t>
            </a:r>
            <a:r>
              <a:rPr lang="en-US" dirty="0"/>
              <a:t>Output</a:t>
            </a:r>
          </a:p>
        </p:txBody>
      </p:sp>
      <p:pic>
        <p:nvPicPr>
          <p:cNvPr id="4" name="Picture 3"/>
          <p:cNvPicPr>
            <a:picLocks noChangeAspect="1"/>
          </p:cNvPicPr>
          <p:nvPr/>
        </p:nvPicPr>
        <p:blipFill>
          <a:blip r:embed="rId3"/>
          <a:stretch>
            <a:fillRect/>
          </a:stretch>
        </p:blipFill>
        <p:spPr>
          <a:xfrm>
            <a:off x="1743195" y="896112"/>
            <a:ext cx="8030696" cy="3962953"/>
          </a:xfrm>
          <a:prstGeom prst="rect">
            <a:avLst/>
          </a:prstGeom>
        </p:spPr>
      </p:pic>
      <p:pic>
        <p:nvPicPr>
          <p:cNvPr id="5" name="Picture 4"/>
          <p:cNvPicPr>
            <a:picLocks noChangeAspect="1"/>
          </p:cNvPicPr>
          <p:nvPr/>
        </p:nvPicPr>
        <p:blipFill>
          <a:blip r:embed="rId4"/>
          <a:stretch>
            <a:fillRect/>
          </a:stretch>
        </p:blipFill>
        <p:spPr>
          <a:xfrm>
            <a:off x="4965700" y="4815522"/>
            <a:ext cx="5372100" cy="1819275"/>
          </a:xfrm>
          <a:prstGeom prst="rect">
            <a:avLst/>
          </a:prstGeom>
        </p:spPr>
      </p:pic>
    </p:spTree>
    <p:extLst>
      <p:ext uri="{BB962C8B-B14F-4D97-AF65-F5344CB8AC3E}">
        <p14:creationId xmlns:p14="http://schemas.microsoft.com/office/powerpoint/2010/main" val="1809966782"/>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Schema file combination</a:t>
            </a:r>
            <a:endParaRPr lang="en-US" dirty="0"/>
          </a:p>
        </p:txBody>
      </p:sp>
      <p:sp>
        <p:nvSpPr>
          <p:cNvPr id="2" name="Content Placeholder 1"/>
          <p:cNvSpPr>
            <a:spLocks noGrp="1"/>
          </p:cNvSpPr>
          <p:nvPr>
            <p:ph idx="1"/>
          </p:nvPr>
        </p:nvSpPr>
        <p:spPr>
          <a:xfrm>
            <a:off x="828675" y="885825"/>
            <a:ext cx="9509125" cy="5183082"/>
          </a:xfrm>
        </p:spPr>
        <p:txBody>
          <a:bodyPr/>
          <a:lstStyle/>
          <a:p>
            <a:r>
              <a:rPr lang="en-US" dirty="0" smtClean="0"/>
              <a:t>Schema combination provides a mechanism for reuse of schemas</a:t>
            </a:r>
          </a:p>
          <a:p>
            <a:pPr lvl="1"/>
            <a:r>
              <a:rPr lang="en-US" sz="2000" dirty="0"/>
              <a:t>Ability to create that logically extends and overrides one or more other schemas</a:t>
            </a:r>
          </a:p>
          <a:p>
            <a:pPr lvl="1"/>
            <a:r>
              <a:rPr lang="en-US" sz="1800" dirty="0"/>
              <a:t>If A combines [B, C] listed in that order in the combine property</a:t>
            </a:r>
          </a:p>
          <a:p>
            <a:pPr lvl="2"/>
            <a:r>
              <a:rPr lang="en-US" sz="1800" dirty="0"/>
              <a:t>Contents of B are merged on top of C</a:t>
            </a:r>
          </a:p>
          <a:p>
            <a:pPr lvl="2"/>
            <a:r>
              <a:rPr lang="en-US" sz="1800" dirty="0"/>
              <a:t>Contents of A are merged on top of the combined schema </a:t>
            </a:r>
          </a:p>
          <a:p>
            <a:pPr marL="1084263" lvl="3" indent="0">
              <a:buNone/>
            </a:pPr>
            <a:r>
              <a:rPr lang="en-US" sz="1400" dirty="0"/>
              <a:t>Similar names are merged together to produce a single definition</a:t>
            </a:r>
          </a:p>
          <a:p>
            <a:pPr marL="1084263" lvl="3" indent="0">
              <a:buNone/>
            </a:pPr>
            <a:r>
              <a:rPr lang="en-US" sz="1400" dirty="0"/>
              <a:t>Combination cannot remove definitions</a:t>
            </a:r>
          </a:p>
          <a:p>
            <a:pPr lvl="2"/>
            <a:r>
              <a:rPr lang="en-US" sz="1800" dirty="0"/>
              <a:t>Original schemas are not touched</a:t>
            </a:r>
          </a:p>
          <a:p>
            <a:endParaRPr lang="en-US" dirty="0"/>
          </a:p>
        </p:txBody>
      </p:sp>
      <p:pic>
        <p:nvPicPr>
          <p:cNvPr id="3" name="Picture 2"/>
          <p:cNvPicPr>
            <a:picLocks noChangeAspect="1"/>
          </p:cNvPicPr>
          <p:nvPr/>
        </p:nvPicPr>
        <p:blipFill>
          <a:blip r:embed="rId3"/>
          <a:stretch>
            <a:fillRect/>
          </a:stretch>
        </p:blipFill>
        <p:spPr>
          <a:xfrm>
            <a:off x="3051920" y="4311887"/>
            <a:ext cx="2333951" cy="1752845"/>
          </a:xfrm>
          <a:prstGeom prst="rect">
            <a:avLst/>
          </a:prstGeom>
        </p:spPr>
      </p:pic>
      <p:pic>
        <p:nvPicPr>
          <p:cNvPr id="4" name="Picture 3"/>
          <p:cNvPicPr>
            <a:picLocks noChangeAspect="1"/>
          </p:cNvPicPr>
          <p:nvPr/>
        </p:nvPicPr>
        <p:blipFill>
          <a:blip r:embed="rId4"/>
          <a:stretch>
            <a:fillRect/>
          </a:stretch>
        </p:blipFill>
        <p:spPr>
          <a:xfrm>
            <a:off x="6732813" y="2964487"/>
            <a:ext cx="4122902" cy="3346826"/>
          </a:xfrm>
          <a:prstGeom prst="rect">
            <a:avLst/>
          </a:prstGeom>
        </p:spPr>
      </p:pic>
    </p:spTree>
    <p:extLst>
      <p:ext uri="{BB962C8B-B14F-4D97-AF65-F5344CB8AC3E}">
        <p14:creationId xmlns:p14="http://schemas.microsoft.com/office/powerpoint/2010/main" val="3848273454"/>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Mapper file combination</a:t>
            </a:r>
            <a:endParaRPr lang="en-US" dirty="0"/>
          </a:p>
        </p:txBody>
      </p:sp>
      <p:sp>
        <p:nvSpPr>
          <p:cNvPr id="7173" name="Content Placeholder 2"/>
          <p:cNvSpPr>
            <a:spLocks noGrp="1"/>
          </p:cNvSpPr>
          <p:nvPr>
            <p:ph idx="1"/>
          </p:nvPr>
        </p:nvSpPr>
        <p:spPr>
          <a:xfrm>
            <a:off x="657225" y="914400"/>
            <a:ext cx="9752358" cy="5486400"/>
          </a:xfrm>
        </p:spPr>
        <p:txBody>
          <a:bodyPr/>
          <a:lstStyle/>
          <a:p>
            <a:pPr lvl="0"/>
            <a:r>
              <a:rPr lang="en-US" dirty="0" smtClean="0"/>
              <a:t>Mapper combination provides a mechanism for reuse of mappers</a:t>
            </a:r>
          </a:p>
          <a:p>
            <a:pPr lvl="1"/>
            <a:r>
              <a:rPr lang="en-US" dirty="0" smtClean="0"/>
              <a:t>Combination rules used for </a:t>
            </a:r>
          </a:p>
          <a:p>
            <a:pPr marL="400050" lvl="1" indent="0">
              <a:buNone/>
            </a:pPr>
            <a:r>
              <a:rPr lang="en-US" dirty="0" smtClean="0"/>
              <a:t>   schemas apply to mappers</a:t>
            </a:r>
            <a:endParaRPr lang="en-US" dirty="0"/>
          </a:p>
          <a:p>
            <a:pPr lvl="0"/>
            <a:endParaRPr lang="en-US" dirty="0" smtClean="0"/>
          </a:p>
          <a:p>
            <a:pPr marL="0" indent="0">
              <a:buNone/>
            </a:pPr>
            <a:endParaRPr lang="en-US" dirty="0"/>
          </a:p>
        </p:txBody>
      </p:sp>
      <p:pic>
        <p:nvPicPr>
          <p:cNvPr id="2" name="Picture 1"/>
          <p:cNvPicPr>
            <a:picLocks noChangeAspect="1"/>
          </p:cNvPicPr>
          <p:nvPr/>
        </p:nvPicPr>
        <p:blipFill>
          <a:blip r:embed="rId3"/>
          <a:stretch>
            <a:fillRect/>
          </a:stretch>
        </p:blipFill>
        <p:spPr>
          <a:xfrm>
            <a:off x="2929404" y="2785941"/>
            <a:ext cx="3067478" cy="1743318"/>
          </a:xfrm>
          <a:prstGeom prst="rect">
            <a:avLst/>
          </a:prstGeom>
        </p:spPr>
      </p:pic>
      <p:pic>
        <p:nvPicPr>
          <p:cNvPr id="4" name="Picture 3"/>
          <p:cNvPicPr>
            <a:picLocks noChangeAspect="1"/>
          </p:cNvPicPr>
          <p:nvPr/>
        </p:nvPicPr>
        <p:blipFill rotWithShape="1">
          <a:blip r:embed="rId4"/>
          <a:srcRect l="3272" t="2937" r="464"/>
          <a:stretch/>
        </p:blipFill>
        <p:spPr>
          <a:xfrm>
            <a:off x="6096000" y="1402504"/>
            <a:ext cx="4480139" cy="4904272"/>
          </a:xfrm>
          <a:prstGeom prst="rect">
            <a:avLst/>
          </a:prstGeom>
        </p:spPr>
      </p:pic>
    </p:spTree>
    <p:extLst>
      <p:ext uri="{BB962C8B-B14F-4D97-AF65-F5344CB8AC3E}">
        <p14:creationId xmlns:p14="http://schemas.microsoft.com/office/powerpoint/2010/main" val="1737889678"/>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a:t>Example </a:t>
            </a:r>
            <a:r>
              <a:rPr lang="en-US" dirty="0" smtClean="0"/>
              <a:t>4 – JSON Output using combination</a:t>
            </a:r>
            <a:endParaRPr lang="en-US" dirty="0"/>
          </a:p>
        </p:txBody>
      </p:sp>
      <p:pic>
        <p:nvPicPr>
          <p:cNvPr id="4" name="Picture 3"/>
          <p:cNvPicPr>
            <a:picLocks noChangeAspect="1"/>
          </p:cNvPicPr>
          <p:nvPr/>
        </p:nvPicPr>
        <p:blipFill>
          <a:blip r:embed="rId3"/>
          <a:stretch>
            <a:fillRect/>
          </a:stretch>
        </p:blipFill>
        <p:spPr>
          <a:xfrm>
            <a:off x="1943100" y="767346"/>
            <a:ext cx="8625522" cy="794812"/>
          </a:xfrm>
          <a:prstGeom prst="rect">
            <a:avLst/>
          </a:prstGeom>
        </p:spPr>
      </p:pic>
      <p:pic>
        <p:nvPicPr>
          <p:cNvPr id="5" name="Picture 4"/>
          <p:cNvPicPr>
            <a:picLocks noChangeAspect="1"/>
          </p:cNvPicPr>
          <p:nvPr/>
        </p:nvPicPr>
        <p:blipFill>
          <a:blip r:embed="rId4"/>
          <a:stretch>
            <a:fillRect/>
          </a:stretch>
        </p:blipFill>
        <p:spPr>
          <a:xfrm>
            <a:off x="4681170" y="1694470"/>
            <a:ext cx="5268060" cy="4296375"/>
          </a:xfrm>
          <a:prstGeom prst="rect">
            <a:avLst/>
          </a:prstGeom>
        </p:spPr>
      </p:pic>
    </p:spTree>
    <p:extLst>
      <p:ext uri="{BB962C8B-B14F-4D97-AF65-F5344CB8AC3E}">
        <p14:creationId xmlns:p14="http://schemas.microsoft.com/office/powerpoint/2010/main" val="396096707"/>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Lesson objectives review</a:t>
            </a:r>
            <a:endParaRPr lang="en-US" dirty="0"/>
          </a:p>
        </p:txBody>
      </p:sp>
      <p:sp>
        <p:nvSpPr>
          <p:cNvPr id="4" name="Text Placeholder 1"/>
          <p:cNvSpPr txBox="1">
            <a:spLocks/>
          </p:cNvSpPr>
          <p:nvPr/>
        </p:nvSpPr>
        <p:spPr>
          <a:xfrm>
            <a:off x="381000" y="1219200"/>
            <a:ext cx="10302240" cy="4425696"/>
          </a:xfrm>
          <a:prstGeom prst="rect">
            <a:avLst/>
          </a:prstGeom>
        </p:spPr>
        <p:txBody>
          <a:bodyPr/>
          <a:lstStyle>
            <a:lvl1pPr marL="0" indent="0" algn="l" defTabSz="1219170" rtl="0" eaLnBrk="1" latinLnBrk="0" hangingPunct="1">
              <a:lnSpc>
                <a:spcPct val="100000"/>
              </a:lnSpc>
              <a:spcBef>
                <a:spcPts val="800"/>
              </a:spcBef>
              <a:buFont typeface="Arial" panose="020B0604020202020204" pitchFamily="34" charset="0"/>
              <a:buNone/>
              <a:defRPr sz="2400" kern="1200">
                <a:solidFill>
                  <a:schemeClr val="tx2"/>
                </a:solidFill>
                <a:latin typeface="Arial" panose="020B0604020202020204" pitchFamily="34" charset="0"/>
                <a:ea typeface="+mn-ea"/>
                <a:cs typeface="Arial" panose="020B0604020202020204" pitchFamily="34" charset="0"/>
              </a:defRPr>
            </a:lvl1pPr>
            <a:lvl2pPr marL="304792" indent="-304792" algn="l" defTabSz="1219170" rtl="0" eaLnBrk="1" latinLnBrk="0" hangingPunct="1">
              <a:lnSpc>
                <a:spcPct val="100000"/>
              </a:lnSpc>
              <a:spcBef>
                <a:spcPts val="800"/>
              </a:spcBef>
              <a:buClrTx/>
              <a:buSzPct val="125000"/>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609585"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3pPr>
            <a:lvl4pPr marL="914377" indent="-304792" algn="l" defTabSz="1219170" rtl="0" eaLnBrk="1" latinLnBrk="0" hangingPunct="1">
              <a:lnSpc>
                <a:spcPct val="100000"/>
              </a:lnSpc>
              <a:spcBef>
                <a:spcPts val="533"/>
              </a:spcBef>
              <a:buClrTx/>
              <a:buSzPct val="100000"/>
              <a:buFont typeface="Courier New" panose="02070309020205020404" pitchFamily="49" charset="0"/>
              <a:buChar char="o"/>
              <a:defRPr sz="2133" kern="1200">
                <a:solidFill>
                  <a:schemeClr val="tx2"/>
                </a:solidFill>
                <a:latin typeface="Arial" panose="020B0604020202020204" pitchFamily="34" charset="0"/>
                <a:ea typeface="+mn-ea"/>
                <a:cs typeface="Arial" panose="020B0604020202020204" pitchFamily="34" charset="0"/>
              </a:defRPr>
            </a:lvl4pPr>
            <a:lvl5pPr marL="1219170" indent="-304792" algn="l" defTabSz="1219170" rtl="0" eaLnBrk="1" latinLnBrk="0" hangingPunct="1">
              <a:lnSpc>
                <a:spcPct val="100000"/>
              </a:lnSpc>
              <a:spcBef>
                <a:spcPts val="533"/>
              </a:spcBef>
              <a:buClrTx/>
              <a:buSzPct val="100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5pPr>
            <a:lvl6pPr marL="1523962" indent="-304792" algn="l" defTabSz="1219170" rtl="0" eaLnBrk="1" latinLnBrk="0" hangingPunct="1">
              <a:lnSpc>
                <a:spcPct val="100000"/>
              </a:lnSpc>
              <a:spcBef>
                <a:spcPts val="533"/>
              </a:spcBef>
              <a:buClr>
                <a:schemeClr val="accent2"/>
              </a:buClr>
              <a:buSzPct val="125000"/>
              <a:buFont typeface="Arial" panose="020B0604020202020204" pitchFamily="34" charset="0"/>
              <a:buChar char="•"/>
              <a:defRPr sz="2133" kern="1200">
                <a:solidFill>
                  <a:schemeClr val="tx2"/>
                </a:solidFill>
                <a:latin typeface="Arial" panose="020B0604020202020204" pitchFamily="34" charset="0"/>
                <a:ea typeface="+mn-ea"/>
                <a:cs typeface="Arial" panose="020B0604020202020204" pitchFamily="34" charset="0"/>
              </a:defRPr>
            </a:lvl6pPr>
            <a:lvl7pPr marL="1828754" indent="-304792" algn="l" defTabSz="1219170" rtl="0" eaLnBrk="1" latinLnBrk="0" hangingPunct="1">
              <a:lnSpc>
                <a:spcPct val="100000"/>
              </a:lnSpc>
              <a:spcBef>
                <a:spcPts val="533"/>
              </a:spcBef>
              <a:buClr>
                <a:schemeClr val="accent2"/>
              </a:buClr>
              <a:buSzPct val="90000"/>
              <a:buFont typeface="Arial" panose="020B0604020202020204" pitchFamily="34" charset="0"/>
              <a:buChar char="–"/>
              <a:defRPr sz="2133" kern="1200">
                <a:solidFill>
                  <a:schemeClr val="tx2"/>
                </a:solidFill>
                <a:latin typeface="+mn-lt"/>
                <a:ea typeface="+mn-ea"/>
                <a:cs typeface="+mn-cs"/>
              </a:defRPr>
            </a:lvl7pPr>
            <a:lvl8pPr marL="2133547" indent="-304792" algn="l" defTabSz="1219170" rtl="0" eaLnBrk="1" latinLnBrk="0" hangingPunct="1">
              <a:lnSpc>
                <a:spcPct val="100000"/>
              </a:lnSpc>
              <a:spcBef>
                <a:spcPts val="533"/>
              </a:spcBef>
              <a:buClr>
                <a:schemeClr val="accent2"/>
              </a:buClr>
              <a:buSzPct val="90000"/>
              <a:buFont typeface="Courier New" panose="02070309020205020404" pitchFamily="49" charset="0"/>
              <a:buChar char="o"/>
              <a:defRPr sz="2133" kern="1200">
                <a:solidFill>
                  <a:schemeClr val="tx2"/>
                </a:solidFill>
                <a:latin typeface="+mn-lt"/>
                <a:ea typeface="+mn-ea"/>
                <a:cs typeface="+mn-cs"/>
              </a:defRPr>
            </a:lvl8pPr>
            <a:lvl9pPr marL="2133547" indent="-304792" algn="l" defTabSz="1219170" rtl="0" eaLnBrk="1" latinLnBrk="0" hangingPunct="1">
              <a:lnSpc>
                <a:spcPct val="100000"/>
              </a:lnSpc>
              <a:spcBef>
                <a:spcPts val="533"/>
              </a:spcBef>
              <a:buClrTx/>
              <a:buSzPct val="90000"/>
              <a:buFont typeface="Courier New" panose="02070309020205020404" pitchFamily="49" charset="0"/>
              <a:buChar char="o"/>
              <a:defRPr sz="2133" kern="1200">
                <a:solidFill>
                  <a:schemeClr val="tx2"/>
                </a:solidFill>
                <a:latin typeface="+mn-lt"/>
                <a:ea typeface="+mn-ea"/>
                <a:cs typeface="+mn-cs"/>
              </a:defRPr>
            </a:lvl9pPr>
          </a:lstStyle>
          <a:p>
            <a:r>
              <a:rPr lang="en-US" dirty="0" smtClean="0"/>
              <a:t>You are not able to</a:t>
            </a:r>
            <a:endParaRPr lang="en-US" dirty="0"/>
          </a:p>
          <a:p>
            <a:pPr lvl="1"/>
            <a:r>
              <a:rPr lang="en-US" b="0" dirty="0"/>
              <a:t>Define purpose of integration view</a:t>
            </a:r>
          </a:p>
          <a:p>
            <a:pPr lvl="1"/>
            <a:r>
              <a:rPr lang="en-US" b="0" dirty="0"/>
              <a:t>Configure integration view schema mapping file and filter</a:t>
            </a:r>
          </a:p>
          <a:p>
            <a:pPr lvl="1"/>
            <a:r>
              <a:rPr lang="en-US" b="0" dirty="0"/>
              <a:t>Generate JSON output</a:t>
            </a:r>
          </a:p>
          <a:p>
            <a:pPr lvl="1"/>
            <a:r>
              <a:rPr lang="en-US" b="0" dirty="0"/>
              <a:t>Generate Xml output</a:t>
            </a:r>
          </a:p>
          <a:p>
            <a:pPr fontAlgn="auto">
              <a:spcAft>
                <a:spcPts val="0"/>
              </a:spcAft>
            </a:pPr>
            <a:endParaRPr lang="en-US" b="0" dirty="0">
              <a:solidFill>
                <a:schemeClr val="bg1"/>
              </a:solidFill>
            </a:endParaRPr>
          </a:p>
        </p:txBody>
      </p:sp>
    </p:spTree>
    <p:extLst>
      <p:ext uri="{BB962C8B-B14F-4D97-AF65-F5344CB8AC3E}">
        <p14:creationId xmlns:p14="http://schemas.microsoft.com/office/powerpoint/2010/main" val="2388579932"/>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4000" b="1" i="0" u="none" strike="noStrike" kern="0" cap="none" spc="0" normalizeH="0" baseline="0" noProof="0" dirty="0" smtClean="0">
                <a:ln>
                  <a:noFill/>
                </a:ln>
                <a:solidFill>
                  <a:srgbClr val="04628C"/>
                </a:solidFill>
                <a:effectLst/>
                <a:uLnTx/>
                <a:uFillTx/>
                <a:latin typeface="Arial"/>
                <a:cs typeface="Arial" pitchFamily="34" charset="0"/>
              </a:rPr>
              <a:t>DEMO</a:t>
            </a:r>
            <a:endParaRPr kumimoji="0" lang="en-US" sz="4000" b="1" i="0" u="none" strike="noStrike" kern="0" cap="none" spc="0" normalizeH="0" baseline="0" noProof="0" dirty="0">
              <a:ln>
                <a:noFill/>
              </a:ln>
              <a:solidFill>
                <a:srgbClr val="04628C"/>
              </a:solidFill>
              <a:effectLst/>
              <a:uLnTx/>
              <a:uFillTx/>
              <a:latin typeface="Arial"/>
              <a:cs typeface="Arial" pitchFamily="34" charset="0"/>
            </a:endParaRPr>
          </a:p>
        </p:txBody>
      </p:sp>
    </p:spTree>
    <p:extLst>
      <p:ext uri="{BB962C8B-B14F-4D97-AF65-F5344CB8AC3E}">
        <p14:creationId xmlns:p14="http://schemas.microsoft.com/office/powerpoint/2010/main" val="35138465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1231880" cy="5101590"/>
          </a:xfrm>
        </p:spPr>
        <p:txBody>
          <a:bodyPr/>
          <a:lstStyle/>
          <a:p>
            <a:pPr marL="342900" indent="-342900">
              <a:buFont typeface="Arial" panose="020B0604020202020204" pitchFamily="34" charset="0"/>
              <a:buChar char="•"/>
            </a:pPr>
            <a:r>
              <a:rPr lang="en-US" sz="2400" kern="0" dirty="0">
                <a:solidFill>
                  <a:srgbClr val="000000"/>
                </a:solidFill>
                <a:cs typeface="Arial" pitchFamily="32" charset="0"/>
              </a:rPr>
              <a:t>This </a:t>
            </a:r>
            <a:r>
              <a:rPr lang="en-US" sz="2400" kern="0" dirty="0" smtClean="0">
                <a:solidFill>
                  <a:srgbClr val="000000"/>
                </a:solidFill>
                <a:cs typeface="Arial" pitchFamily="32" charset="0"/>
              </a:rPr>
              <a:t>video will demonstrate how to create </a:t>
            </a:r>
            <a:r>
              <a:rPr lang="en-US" sz="2400" kern="0" dirty="0">
                <a:solidFill>
                  <a:srgbClr val="000000"/>
                </a:solidFill>
                <a:cs typeface="Arial" pitchFamily="32" charset="0"/>
              </a:rPr>
              <a:t>an integration view that will generate an XML and JSON output for the following user data :  First Name, Last Name, Job Title, User Name, Locked, Name of each assigned group. </a:t>
            </a:r>
            <a:endParaRPr lang="en-US" sz="2400" kern="0" dirty="0" smtClean="0">
              <a:solidFill>
                <a:srgbClr val="000000"/>
              </a:solidFill>
              <a:cs typeface="Arial" pitchFamily="32" charset="0"/>
            </a:endParaRPr>
          </a:p>
          <a:p>
            <a:endParaRPr lang="en-US" sz="2400" kern="0" dirty="0" smtClean="0">
              <a:solidFill>
                <a:srgbClr val="000000"/>
              </a:solidFill>
              <a:cs typeface="Arial" pitchFamily="32" charset="0"/>
            </a:endParaRPr>
          </a:p>
          <a:p>
            <a:pPr marL="342900" lvl="0" indent="-342900">
              <a:buFont typeface="Arial" panose="020B0604020202020204" pitchFamily="34" charset="0"/>
              <a:buChar char="•"/>
            </a:pPr>
            <a:r>
              <a:rPr lang="en-US" sz="2400" dirty="0">
                <a:solidFill>
                  <a:srgbClr val="000000"/>
                </a:solidFill>
              </a:rPr>
              <a:t>Pre-Requisites</a:t>
            </a:r>
          </a:p>
          <a:p>
            <a:pPr lvl="2"/>
            <a:r>
              <a:rPr lang="en-US" dirty="0"/>
              <a:t>Training App Guidewire Studio</a:t>
            </a:r>
          </a:p>
          <a:p>
            <a:pPr lvl="2"/>
            <a:r>
              <a:rPr lang="en-US" dirty="0"/>
              <a:t>Supported web </a:t>
            </a:r>
            <a:r>
              <a:rPr lang="en-US" dirty="0" smtClean="0"/>
              <a:t>browser</a:t>
            </a:r>
          </a:p>
          <a:p>
            <a:pPr lvl="2"/>
            <a:endParaRPr lang="en-US" dirty="0"/>
          </a:p>
        </p:txBody>
      </p:sp>
    </p:spTree>
    <p:extLst>
      <p:ext uri="{BB962C8B-B14F-4D97-AF65-F5344CB8AC3E}">
        <p14:creationId xmlns:p14="http://schemas.microsoft.com/office/powerpoint/2010/main" val="124759317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4000" b="1" i="0" u="none" strike="noStrike" kern="0" cap="none" spc="0" normalizeH="0" baseline="0" noProof="0" dirty="0" smtClean="0">
                <a:ln>
                  <a:noFill/>
                </a:ln>
                <a:solidFill>
                  <a:srgbClr val="04628C"/>
                </a:solidFill>
                <a:effectLst/>
                <a:uLnTx/>
                <a:uFillTx/>
                <a:latin typeface="Arial"/>
                <a:cs typeface="Arial" pitchFamily="34" charset="0"/>
              </a:rPr>
              <a:t>LAB</a:t>
            </a:r>
          </a:p>
          <a:p>
            <a:pPr marL="0" marR="0" lvl="0" indent="0" algn="l" defTabSz="914400" rtl="0" eaLnBrk="1" fontAlgn="base" latinLnBrk="0" hangingPunct="1">
              <a:lnSpc>
                <a:spcPct val="90000"/>
              </a:lnSpc>
              <a:spcBef>
                <a:spcPct val="0"/>
              </a:spcBef>
              <a:spcAft>
                <a:spcPct val="0"/>
              </a:spcAft>
              <a:buClrTx/>
              <a:buSzTx/>
              <a:buFontTx/>
              <a:buNone/>
              <a:tabLst/>
              <a:defRPr/>
            </a:pPr>
            <a:endParaRPr lang="en-US" sz="4000" kern="0" dirty="0">
              <a:latin typeface="Arial"/>
            </a:endParaRPr>
          </a:p>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n-US" sz="4000" b="1" i="0" u="none" strike="noStrike" kern="0" cap="none" spc="0" normalizeH="0" baseline="0" noProof="0" dirty="0">
              <a:ln>
                <a:noFill/>
              </a:ln>
              <a:solidFill>
                <a:srgbClr val="04628C"/>
              </a:solidFill>
              <a:effectLst/>
              <a:uLnTx/>
              <a:uFillTx/>
              <a:latin typeface="Arial"/>
              <a:cs typeface="Arial" pitchFamily="34" charset="0"/>
            </a:endParaRPr>
          </a:p>
        </p:txBody>
      </p:sp>
    </p:spTree>
    <p:extLst>
      <p:ext uri="{BB962C8B-B14F-4D97-AF65-F5344CB8AC3E}">
        <p14:creationId xmlns:p14="http://schemas.microsoft.com/office/powerpoint/2010/main" val="40943900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r>
              <a:rPr lang="en-US" sz="2400" dirty="0">
                <a:solidFill>
                  <a:schemeClr val="tx2"/>
                </a:solidFill>
              </a:rPr>
              <a:t>Complete the exercises listed in </a:t>
            </a:r>
            <a:r>
              <a:rPr lang="en-US" sz="2400" dirty="0" smtClean="0">
                <a:solidFill>
                  <a:schemeClr val="tx2"/>
                </a:solidFill>
              </a:rPr>
              <a:t>“Integration </a:t>
            </a:r>
            <a:r>
              <a:rPr lang="en-US" sz="2400" dirty="0">
                <a:solidFill>
                  <a:schemeClr val="tx2"/>
                </a:solidFill>
              </a:rPr>
              <a:t>View” chapter in the “InsuranceSuite 10 Integration: Kickstart “ work book</a:t>
            </a:r>
          </a:p>
          <a:p>
            <a:pPr marL="0" indent="0">
              <a:buNone/>
            </a:pPr>
            <a:endParaRPr lang="en-US" sz="2400" dirty="0">
              <a:solidFill>
                <a:schemeClr val="bg1"/>
              </a:solidFill>
            </a:endParaRPr>
          </a:p>
        </p:txBody>
      </p:sp>
    </p:spTree>
    <p:extLst>
      <p:ext uri="{BB962C8B-B14F-4D97-AF65-F5344CB8AC3E}">
        <p14:creationId xmlns:p14="http://schemas.microsoft.com/office/powerpoint/2010/main" val="40003130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Review Question</a:t>
            </a:r>
            <a:endParaRPr lang="en-US" dirty="0"/>
          </a:p>
        </p:txBody>
      </p:sp>
      <p:pic>
        <p:nvPicPr>
          <p:cNvPr id="2" name="Picture 1"/>
          <p:cNvPicPr>
            <a:picLocks noChangeAspect="1"/>
          </p:cNvPicPr>
          <p:nvPr/>
        </p:nvPicPr>
        <p:blipFill>
          <a:blip r:embed="rId3"/>
          <a:stretch>
            <a:fillRect/>
          </a:stretch>
        </p:blipFill>
        <p:spPr>
          <a:xfrm>
            <a:off x="947019" y="1499918"/>
            <a:ext cx="10297962" cy="3858163"/>
          </a:xfrm>
          <a:prstGeom prst="rect">
            <a:avLst/>
          </a:prstGeom>
        </p:spPr>
      </p:pic>
    </p:spTree>
    <p:extLst>
      <p:ext uri="{BB962C8B-B14F-4D97-AF65-F5344CB8AC3E}">
        <p14:creationId xmlns:p14="http://schemas.microsoft.com/office/powerpoint/2010/main" val="199545751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r>
              <a:rPr lang="en-US" dirty="0" smtClean="0"/>
              <a:t>Review Question</a:t>
            </a:r>
            <a:endParaRPr lang="en-US" dirty="0"/>
          </a:p>
        </p:txBody>
      </p:sp>
      <p:pic>
        <p:nvPicPr>
          <p:cNvPr id="3" name="Picture 2"/>
          <p:cNvPicPr>
            <a:picLocks noChangeAspect="1"/>
          </p:cNvPicPr>
          <p:nvPr/>
        </p:nvPicPr>
        <p:blipFill>
          <a:blip r:embed="rId3"/>
          <a:stretch>
            <a:fillRect/>
          </a:stretch>
        </p:blipFill>
        <p:spPr>
          <a:xfrm>
            <a:off x="888512" y="1609641"/>
            <a:ext cx="10240804" cy="1200318"/>
          </a:xfrm>
          <a:prstGeom prst="rect">
            <a:avLst/>
          </a:prstGeom>
        </p:spPr>
      </p:pic>
    </p:spTree>
    <p:extLst>
      <p:ext uri="{BB962C8B-B14F-4D97-AF65-F5344CB8AC3E}">
        <p14:creationId xmlns:p14="http://schemas.microsoft.com/office/powerpoint/2010/main" val="4202124086"/>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a:xfrm>
            <a:off x="522177" y="2514600"/>
            <a:ext cx="10943344" cy="492443"/>
          </a:xfrm>
        </p:spPr>
        <p:txBody>
          <a:bodyPr/>
          <a:lstStyle/>
          <a:p>
            <a:r>
              <a:rPr lang="en-US" dirty="0" smtClean="0"/>
              <a:t>THANK YOU</a:t>
            </a:r>
            <a:endParaRPr lang="en-US" dirty="0"/>
          </a:p>
        </p:txBody>
      </p:sp>
    </p:spTree>
    <p:extLst>
      <p:ext uri="{BB962C8B-B14F-4D97-AF65-F5344CB8AC3E}">
        <p14:creationId xmlns:p14="http://schemas.microsoft.com/office/powerpoint/2010/main" val="43833378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Cognizant">
  <a:themeElements>
    <a:clrScheme name="Cognizant 180722">
      <a:dk1>
        <a:srgbClr val="0033A0"/>
      </a:dk1>
      <a:lt1>
        <a:srgbClr val="FFFFFF"/>
      </a:lt1>
      <a:dk2>
        <a:srgbClr val="000000"/>
      </a:dk2>
      <a:lt2>
        <a:srgbClr val="FFFFFF"/>
      </a:lt2>
      <a:accent1>
        <a:srgbClr val="0033B4"/>
      </a:accent1>
      <a:accent2>
        <a:srgbClr val="00195A"/>
      </a:accent2>
      <a:accent3>
        <a:srgbClr val="3871FF"/>
      </a:accent3>
      <a:accent4>
        <a:srgbClr val="7BA0FF"/>
      </a:accent4>
      <a:accent5>
        <a:srgbClr val="BDCFFF"/>
      </a:accent5>
      <a:accent6>
        <a:srgbClr val="00B140"/>
      </a:accent6>
      <a:hlink>
        <a:srgbClr val="0033B4"/>
      </a:hlink>
      <a:folHlink>
        <a:srgbClr val="7BA0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spAutoFit/>
      </a:bodyPr>
      <a:lstStyle>
        <a:defPPr algn="l">
          <a:defRPr dirty="0" smtClean="0">
            <a:solidFill>
              <a:schemeClr val="tx2"/>
            </a:solidFill>
          </a:defRPr>
        </a:defPPr>
      </a:lstStyle>
    </a:txDef>
  </a:objectDefaults>
  <a:extraClrSchemeLst/>
  <a:extLst>
    <a:ext uri="{05A4C25C-085E-4340-85A3-A5531E510DB2}">
      <thm15:themeFamily xmlns:thm15="http://schemas.microsoft.com/office/thememl/2012/main" name="cog_PPT_16x9_v04-06" id="{07F9BE1E-0522-42D8-9333-DC19B728C440}" vid="{5949420C-BBAE-4883-A571-88D4306A1FAE}"/>
    </a:ext>
  </a:extLst>
</a:theme>
</file>

<file path=ppt/theme/theme2.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3071E34A-27B8-4CBD-A864-DC0B417572E0}">
  <ds:schemaRefs>
    <ds:schemaRef ds:uri="http://schemas.microsoft.com/sharepoint/v3/contenttype/forms"/>
  </ds:schemaRefs>
</ds:datastoreItem>
</file>

<file path=customXml/itemProps2.xml><?xml version="1.0" encoding="utf-8"?>
<ds:datastoreItem xmlns:ds="http://schemas.openxmlformats.org/officeDocument/2006/customXml" ds:itemID="{6CA49BCD-3EDD-4EE8-825B-3043043B1FEE}"/>
</file>

<file path=customXml/itemProps3.xml><?xml version="1.0" encoding="utf-8"?>
<ds:datastoreItem xmlns:ds="http://schemas.openxmlformats.org/officeDocument/2006/customXml" ds:itemID="{509871B2-239F-45FE-BDDB-E36D617305F6}">
  <ds:schemaRefs>
    <ds:schemaRef ds:uri="http://purl.org/dc/terms/"/>
    <ds:schemaRef ds:uri="http://purl.org/dc/elements/1.1/"/>
    <ds:schemaRef ds:uri="http://schemas.microsoft.com/office/2006/documentManagement/types"/>
    <ds:schemaRef ds:uri="http://www.w3.org/XML/1998/namespace"/>
    <ds:schemaRef ds:uri="http://purl.org/dc/dcmitype/"/>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30959</TotalTime>
  <Words>5619</Words>
  <Application>Microsoft Office PowerPoint</Application>
  <PresentationFormat>Widescreen</PresentationFormat>
  <Paragraphs>494</Paragraphs>
  <Slides>33</Slides>
  <Notes>29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33</vt:i4>
      </vt:variant>
    </vt:vector>
  </HeadingPairs>
  <TitlesOfParts>
    <vt:vector size="40" baseType="lpstr">
      <vt:lpstr>Arial</vt:lpstr>
      <vt:lpstr>Calibri</vt:lpstr>
      <vt:lpstr>Courier New</vt:lpstr>
      <vt:lpstr>Times New Roman</vt:lpstr>
      <vt:lpstr>Wingdings</vt:lpstr>
      <vt:lpstr>1_Cognizant</vt:lpstr>
      <vt:lpstr>Emerald_Template</vt:lpstr>
      <vt:lpstr>InsuranceSuite 10 Integration</vt:lpstr>
      <vt:lpstr>Lesson objectives</vt:lpstr>
      <vt:lpstr>Why use an integration view?</vt:lpstr>
      <vt:lpstr>Components involved</vt:lpstr>
      <vt:lpstr>Integration view components</vt:lpstr>
      <vt:lpstr>Use Case</vt:lpstr>
      <vt:lpstr>Use Case- Sample output</vt:lpstr>
      <vt:lpstr>Create a JSON schema</vt:lpstr>
      <vt:lpstr>Supported data type</vt:lpstr>
      <vt:lpstr>Add Schema definition</vt:lpstr>
      <vt:lpstr>Schema file import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Generate wrapper classes</vt:lpstr>
      <vt:lpstr>Example 1 – JSON Output</vt:lpstr>
      <vt:lpstr>Example 2 – XML Output</vt:lpstr>
      <vt:lpstr>Example 3 – Filtered JSON Output</vt:lpstr>
      <vt:lpstr>Schema file combination</vt:lpstr>
      <vt:lpstr>Mapper file combination</vt:lpstr>
      <vt:lpstr>Example 4 – JSON Output using combination</vt:lpstr>
      <vt:lpstr>Lesson objectives review</vt:lpstr>
      <vt:lpstr>PowerPoint Presentation</vt:lpstr>
      <vt:lpstr>PowerPoint Presentation</vt:lpstr>
      <vt:lpstr>PowerPoint Presentation</vt:lpstr>
      <vt:lpstr>PowerPoint Presentation</vt:lpstr>
      <vt:lpstr>Review Question</vt:lpstr>
      <vt:lpstr>Review Question</vt:lpstr>
      <vt:lpstr>PowerPoint Presentation</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Guidewire GScript</dc:title>
  <dc:subject>ClaimCenter 4.0 Foundation Training</dc:subject>
  <dc:creator>Guidewire</dc:creator>
  <dc:description>DO NOT DISTRIBUTE WITHOUT PERMISSION!</dc:description>
  <cp:lastModifiedBy>Kumar, Arun (Cognizant)</cp:lastModifiedBy>
  <cp:revision>2816</cp:revision>
  <dcterms:created xsi:type="dcterms:W3CDTF">2007-08-02T20:13:16Z</dcterms:created>
  <dcterms:modified xsi:type="dcterms:W3CDTF">2020-12-14T03:25:24Z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0x0101008CB57B5F54F4DA48B31C4943C8567926</vt:lpwstr>
  </property>
</Properties>
</file>