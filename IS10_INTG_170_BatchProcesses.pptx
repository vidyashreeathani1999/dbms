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14">
  <p:sldMasterIdLst>
    <p:sldMasterId id="2147483808" r:id="rId4"/>
    <p:sldMasterId id="2147483824" r:id="rId5"/>
  </p:sldMasterIdLst>
  <p:notesMasterIdLst>
    <p:notesMasterId r:id="rId50"/>
  </p:notesMasterIdLst>
  <p:handoutMasterIdLst>
    <p:handoutMasterId r:id="rId51"/>
  </p:handoutMasterIdLst>
  <p:sldIdLst>
    <p:sldId id="347" r:id="rId6"/>
    <p:sldId id="356" r:id="rId7"/>
    <p:sldId id="357" r:id="rId8"/>
    <p:sldId id="358" r:id="rId9"/>
    <p:sldId id="359" r:id="rId10"/>
    <p:sldId id="360" r:id="rId11"/>
    <p:sldId id="361" r:id="rId12"/>
    <p:sldId id="362" r:id="rId13"/>
    <p:sldId id="363" r:id="rId14"/>
    <p:sldId id="364" r:id="rId15"/>
    <p:sldId id="365" r:id="rId16"/>
    <p:sldId id="366" r:id="rId17"/>
    <p:sldId id="367" r:id="rId18"/>
    <p:sldId id="368" r:id="rId19"/>
    <p:sldId id="369" r:id="rId20"/>
    <p:sldId id="375" r:id="rId21"/>
    <p:sldId id="376" r:id="rId22"/>
    <p:sldId id="377" r:id="rId23"/>
    <p:sldId id="378" r:id="rId24"/>
    <p:sldId id="379" r:id="rId25"/>
    <p:sldId id="380" r:id="rId26"/>
    <p:sldId id="381" r:id="rId27"/>
    <p:sldId id="382" r:id="rId28"/>
    <p:sldId id="383" r:id="rId29"/>
    <p:sldId id="384" r:id="rId30"/>
    <p:sldId id="385" r:id="rId31"/>
    <p:sldId id="386" r:id="rId32"/>
    <p:sldId id="387" r:id="rId33"/>
    <p:sldId id="388" r:id="rId34"/>
    <p:sldId id="389" r:id="rId35"/>
    <p:sldId id="390" r:id="rId36"/>
    <p:sldId id="391" r:id="rId37"/>
    <p:sldId id="392" r:id="rId38"/>
    <p:sldId id="393" r:id="rId39"/>
    <p:sldId id="397" r:id="rId40"/>
    <p:sldId id="395" r:id="rId41"/>
    <p:sldId id="396" r:id="rId42"/>
    <p:sldId id="401" r:id="rId43"/>
    <p:sldId id="372" r:id="rId44"/>
    <p:sldId id="398" r:id="rId45"/>
    <p:sldId id="374" r:id="rId46"/>
    <p:sldId id="355" r:id="rId47"/>
    <p:sldId id="370" r:id="rId48"/>
    <p:sldId id="34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A276501-C77F-41DE-9E47-4EA44DE6E53A}">
          <p14:sldIdLst>
            <p14:sldId id="347"/>
          </p14:sldIdLst>
        </p14:section>
        <p14:section name="Batch Process Overview" id="{93ADB045-A87C-4B11-A6B5-D5B03F24C640}">
          <p14:sldIdLst>
            <p14:sldId id="356"/>
            <p14:sldId id="357"/>
            <p14:sldId id="358"/>
            <p14:sldId id="359"/>
            <p14:sldId id="360"/>
            <p14:sldId id="361"/>
            <p14:sldId id="362"/>
          </p14:sldIdLst>
        </p14:section>
        <p14:section name="Running Batch Processes" id="{D16EDF65-4E29-44F9-983B-FCC079A26A3C}">
          <p14:sldIdLst>
            <p14:sldId id="363"/>
            <p14:sldId id="364"/>
            <p14:sldId id="365"/>
            <p14:sldId id="366"/>
            <p14:sldId id="367"/>
            <p14:sldId id="368"/>
            <p14:sldId id="369"/>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7"/>
            <p14:sldId id="395"/>
            <p14:sldId id="396"/>
          </p14:sldIdLst>
        </p14:section>
        <p14:section name="Review" id="{0EA8C8BD-B85D-4B62-9459-AEB5D1506F5C}">
          <p14:sldIdLst>
            <p14:sldId id="401"/>
            <p14:sldId id="372"/>
            <p14:sldId id="398"/>
            <p14:sldId id="374"/>
            <p14:sldId id="355"/>
            <p14:sldId id="370"/>
            <p14:sldId id="348"/>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4" clrIdx="0"/>
  <p:cmAuthor id="1" name="Guidewire Education" initials="sluersen" lastIdx="2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28C"/>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29" autoAdjust="0"/>
    <p:restoredTop sz="74084" autoAdjust="0"/>
  </p:normalViewPr>
  <p:slideViewPr>
    <p:cSldViewPr showGuides="1">
      <p:cViewPr varScale="1">
        <p:scale>
          <a:sx n="51" d="100"/>
          <a:sy n="51" d="100"/>
        </p:scale>
        <p:origin x="916" y="36"/>
      </p:cViewPr>
      <p:guideLst>
        <p:guide orient="horz"/>
        <p:guide/>
      </p:guideLst>
    </p:cSldViewPr>
  </p:slideViewPr>
  <p:outlineViewPr>
    <p:cViewPr>
      <p:scale>
        <a:sx n="33" d="100"/>
        <a:sy n="33" d="100"/>
      </p:scale>
      <p:origin x="0" y="25620"/>
    </p:cViewPr>
  </p:outlineViewPr>
  <p:notesTextViewPr>
    <p:cViewPr>
      <p:scale>
        <a:sx n="125" d="100"/>
        <a:sy n="125" d="100"/>
      </p:scale>
      <p:origin x="0" y="0"/>
    </p:cViewPr>
  </p:notesTextViewPr>
  <p:sorterViewPr>
    <p:cViewPr>
      <p:scale>
        <a:sx n="100" d="100"/>
        <a:sy n="100" d="100"/>
      </p:scale>
      <p:origin x="0" y="-14536"/>
    </p:cViewPr>
  </p:sorterViewPr>
  <p:notesViewPr>
    <p:cSldViewPr showGuides="1">
      <p:cViewPr varScale="1">
        <p:scale>
          <a:sx n="98" d="100"/>
          <a:sy n="98" d="100"/>
        </p:scale>
        <p:origin x="-255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12/31/2020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2276997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batch processes do all their work on the batch server within a single process. If the Guidewire application is installed as a cluster, then you can distribute the work of process-intensive tasks across multiple servers. The mechanism that manages the distribution of work is called a work queue (or sometimes a distributed work queue). In a Guidewire cluster, worker processes can run in parallel on multiple servers. Worker processes are not restricted to running on the batch server. The batch process that supports workers is a writer. A writer is a schedulable batch process that runs only on the batch server. A writer loads a queue with work items to be completed by one or more workers. Together, the arrangement of workers, a writer, and a queue make up a distributed work queue. Distributed work queues have an advantage because multiple servers in a cluster can share processing. Each work queue concerns itself with a specific task. For more information on distributed work queues, refer to the application's System Administration Guide. Batch processes are documented in each application's System Administration Guide.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688940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predefined batch processes perform "core functionality". They can act on a single entity such as the activity escalation batch process, which executes against instances of the Activity entity or perform global actions such as the database statistics batch processes, which executes against the entire system.</a:t>
            </a:r>
          </a:p>
          <a:p>
            <a:endParaRPr lang="en-US" dirty="0"/>
          </a:p>
          <a:p>
            <a:r>
              <a:rPr lang="en-US" dirty="0"/>
              <a:t>The activity escalation batch process executes against every activity. When it finds an activity with a non-null due date that is open past its escalation date and has not yet been escalated, it runs the activity escalation rule set for that activity. Developers cannot directly configure the batch process itself. For example, they cannot modify the batch process to execute against only high priority activities. However, developers can indirectly configure the batch process by configuring the activity escalation rule set. For example, they can add a rule condition that prevented other rules from being run if the activity was not high priority.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299857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batch processes can be created as of the applications released on the Carbon platform:</a:t>
            </a:r>
          </a:p>
          <a:p>
            <a:pPr marL="171450" indent="-171450">
              <a:buFont typeface="Arial" pitchFamily="34" charset="0"/>
              <a:buChar char="•"/>
            </a:pPr>
            <a:r>
              <a:rPr lang="en-US" dirty="0"/>
              <a:t>ClaimCenter 6.0 (and later)</a:t>
            </a:r>
          </a:p>
          <a:p>
            <a:pPr marL="171450" indent="-171450">
              <a:buFont typeface="Arial" pitchFamily="34" charset="0"/>
              <a:buChar char="•"/>
            </a:pPr>
            <a:r>
              <a:rPr lang="en-US" dirty="0"/>
              <a:t>PolicyCenter 4.0 (and later)</a:t>
            </a:r>
          </a:p>
          <a:p>
            <a:pPr marL="171450" indent="-171450">
              <a:buFont typeface="Arial" pitchFamily="34" charset="0"/>
              <a:buChar char="•"/>
            </a:pPr>
            <a:r>
              <a:rPr lang="en-US" dirty="0"/>
              <a:t>BillingCenter 3.0 (and later)</a:t>
            </a:r>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2540373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a batch process immediately is also known as "run on demand".</a:t>
            </a:r>
          </a:p>
          <a:p>
            <a:endParaRPr lang="en-US" dirty="0"/>
          </a:p>
          <a:p>
            <a:r>
              <a:rPr lang="en-US" dirty="0"/>
              <a:t>By default, a given batch process can only be run using a specific set of options. However, this is controlled by the BatchProcessType typelist, which is modifiable. So you can theoretically configure the system to allow a given batch process to run in ways other than its initial configuration.</a:t>
            </a:r>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2162936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batch process is listed in the BatchProcessType typelist. For predefined batch processes, the Internal property is true.</a:t>
            </a:r>
          </a:p>
          <a:p>
            <a:endParaRPr lang="en-US" dirty="0"/>
          </a:p>
          <a:p>
            <a:r>
              <a:rPr lang="en-US" dirty="0"/>
              <a:t>Every batch process has one or more typecode categories from the </a:t>
            </a:r>
            <a:r>
              <a:rPr lang="en-US" dirty="0" err="1"/>
              <a:t>BatchProcessTypeUsage</a:t>
            </a:r>
            <a:r>
              <a:rPr lang="en-US" dirty="0"/>
              <a:t> typelist. This defines the circumstances under which the batch process can be executed. For example, </a:t>
            </a:r>
            <a:r>
              <a:rPr lang="en-US" dirty="0" err="1"/>
              <a:t>ActivityEsc</a:t>
            </a:r>
            <a:r>
              <a:rPr lang="en-US" dirty="0"/>
              <a:t> is the activity escalation batch process. It has two categories: Schedulable and </a:t>
            </a:r>
            <a:r>
              <a:rPr lang="en-US" dirty="0" err="1"/>
              <a:t>UIRunnable</a:t>
            </a:r>
            <a:r>
              <a:rPr lang="en-US" dirty="0"/>
              <a:t>. This means the batch process can be scheduled or run from the batch process UI. It can also be run from an API, as every batch process that is UI runnable is inherently API runnable. However, it is not limited to being run only in maintenance mode.</a:t>
            </a:r>
          </a:p>
          <a:p>
            <a:r>
              <a:rPr lang="en-US" dirty="0"/>
              <a:t>You can add additional typecodes to the BatchProcessType typelist. This is one step in creating custom batch processes. However, you cannot add typecodes to the </a:t>
            </a:r>
            <a:r>
              <a:rPr lang="en-US" dirty="0" err="1"/>
              <a:t>BatchProcessTypeUsage</a:t>
            </a:r>
            <a:r>
              <a:rPr lang="en-US" dirty="0"/>
              <a:t> typelist.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1105292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use Guidewire messaging to launch external processes upon completion of a batch process. For example, you could write records to a file or database table as the batch process handles each transaction. After the batch process has handled all transactions, the data can be submitted to a downstream system.</a:t>
            </a:r>
          </a:p>
          <a:p>
            <a:endParaRPr lang="en-US" dirty="0"/>
          </a:p>
          <a:p>
            <a:r>
              <a:rPr lang="en-US" dirty="0"/>
              <a:t>To coordinate this activity, use the </a:t>
            </a:r>
            <a:r>
              <a:rPr lang="en-US" dirty="0" err="1"/>
              <a:t>ProcessHistory</a:t>
            </a:r>
            <a:r>
              <a:rPr lang="en-US" dirty="0"/>
              <a:t> entity. As a batch process starts, the Guidewire application fires a </a:t>
            </a:r>
            <a:r>
              <a:rPr lang="en-US" dirty="0" err="1"/>
              <a:t>ProcessHistoryAdded</a:t>
            </a:r>
            <a:r>
              <a:rPr lang="en-US" dirty="0"/>
              <a:t> event. As the status of the process changes, the application fires a </a:t>
            </a:r>
            <a:r>
              <a:rPr lang="en-US" dirty="0" err="1"/>
              <a:t>ProcessHistoryChanged</a:t>
            </a:r>
            <a:r>
              <a:rPr lang="en-US" dirty="0"/>
              <a:t> event. When the application catches a </a:t>
            </a:r>
            <a:r>
              <a:rPr lang="en-US" dirty="0" err="1"/>
              <a:t>ProcessHistoryChanged</a:t>
            </a:r>
            <a:r>
              <a:rPr lang="en-US" dirty="0"/>
              <a:t> event, the </a:t>
            </a:r>
            <a:r>
              <a:rPr lang="en-US" dirty="0" err="1"/>
              <a:t>processHistory.CompletionTime</a:t>
            </a:r>
            <a:r>
              <a:rPr lang="en-US" dirty="0"/>
              <a:t> property contains the </a:t>
            </a:r>
            <a:r>
              <a:rPr lang="en-US" dirty="0" err="1"/>
              <a:t>datestamp</a:t>
            </a:r>
            <a:r>
              <a:rPr lang="en-US" dirty="0"/>
              <a:t> in a </a:t>
            </a:r>
            <a:r>
              <a:rPr lang="en-US" dirty="0" err="1"/>
              <a:t>datetime</a:t>
            </a:r>
            <a:r>
              <a:rPr lang="en-US" dirty="0"/>
              <a:t> object.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2296926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360899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Batch Process Info list is part of the Internal Tools provided with the Guidewire application. To access Internal Tools, the </a:t>
            </a:r>
            <a:r>
              <a:rPr lang="en-US" dirty="0" err="1"/>
              <a:t>EnableInternalTools</a:t>
            </a:r>
            <a:r>
              <a:rPr lang="en-US" dirty="0"/>
              <a:t> parameter in config.xml must be set to true. If it is, then you can view Internal Tools by pressing </a:t>
            </a:r>
            <a:r>
              <a:rPr lang="en-US" dirty="0" err="1"/>
              <a:t>ALT+SHIFT+T</a:t>
            </a:r>
            <a:r>
              <a:rPr lang="en-US" dirty="0"/>
              <a:t>.</a:t>
            </a:r>
          </a:p>
          <a:p>
            <a:endParaRPr lang="en-US" dirty="0"/>
          </a:p>
          <a:p>
            <a:r>
              <a:rPr lang="en-US" dirty="0"/>
              <a:t>By default, the Batch Process Info list displays only the batch processes that can be run on demand or scheduled. However, you can change the batch processes listed by selecting the appropriate value in the dropdown beneath the Processes label.</a:t>
            </a:r>
          </a:p>
          <a:p>
            <a:endParaRPr lang="en-US" dirty="0"/>
          </a:p>
          <a:p>
            <a:r>
              <a:rPr lang="en-US" dirty="0"/>
              <a:t>"Default" lists all batch processes that are either schedulable and/or runnable.</a:t>
            </a:r>
          </a:p>
          <a:p>
            <a:r>
              <a:rPr lang="en-US" dirty="0"/>
              <a:t>"Any" lists all batch processes including those that can be run only from the API.</a:t>
            </a:r>
          </a:p>
          <a:p>
            <a:r>
              <a:rPr lang="en-US" dirty="0"/>
              <a:t>"Schedulable" lists only batch processes that can be scheduled.</a:t>
            </a:r>
          </a:p>
          <a:p>
            <a:r>
              <a:rPr lang="en-US" dirty="0"/>
              <a:t>"Runnable" lists only batch processes that can be run from the Batch Process Info list.</a:t>
            </a:r>
          </a:p>
          <a:p>
            <a:endParaRPr lang="en-US" dirty="0"/>
          </a:p>
          <a:p>
            <a:r>
              <a:rPr lang="en-US" dirty="0"/>
              <a:t>The Refresh button refreshes the information on the page. The Download button gives you the option of downloading a separate HTML file containing a sortable list of batch processes.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273308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History card lists instances of the selected batch process. It defaults to listing only failed instances, but you can change the dropdown at the top of the card to show all instances. For each instance, the start and complete times are listed, as well as the number of operations in the batch process (the Ops column), the number of failed operations (the Failed column), and the reason for batch process failure, if the instance failed. An operation is an arbitrary measurement of the work the batch process has to do.</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2215588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Generally, schedule the amount of time between batch process runs in hours instead of minutes. This is because some batch processes require a lot of resources on a server. Schedule such processes to wake infrequently or at times that the server is less taxed, such as late at night or very early in the morning. The Guidewire application scheduler uses the application server time for reference. </a:t>
            </a:r>
          </a:p>
          <a:p>
            <a:endParaRPr lang="en-US" dirty="0"/>
          </a:p>
          <a:p>
            <a:r>
              <a:rPr lang="en-US" dirty="0"/>
              <a:t>The </a:t>
            </a:r>
            <a:r>
              <a:rPr lang="en-US" dirty="0" err="1"/>
              <a:t>CronSchedule</a:t>
            </a:r>
            <a:r>
              <a:rPr lang="en-US" dirty="0"/>
              <a:t> element describes when the process is run. It contains </a:t>
            </a:r>
            <a:r>
              <a:rPr lang="en-US" dirty="0" err="1"/>
              <a:t>schedule_attributes</a:t>
            </a:r>
            <a:r>
              <a:rPr lang="en-US" dirty="0"/>
              <a:t> that specify the timing, such as one time per hour or every night. The </a:t>
            </a:r>
            <a:r>
              <a:rPr lang="en-US" dirty="0" err="1"/>
              <a:t>schedule_attributes</a:t>
            </a:r>
            <a:r>
              <a:rPr lang="en-US" dirty="0"/>
              <a:t> is a combination of one or more of the following attributes:</a:t>
            </a:r>
          </a:p>
          <a:p>
            <a:pPr marL="171450" indent="-171450">
              <a:buFont typeface="Arial" pitchFamily="34" charset="0"/>
              <a:buChar char="•"/>
            </a:pPr>
            <a:r>
              <a:rPr lang="en-US" dirty="0"/>
              <a:t>Attribute | Value Range | Default | Example</a:t>
            </a:r>
          </a:p>
          <a:p>
            <a:pPr marL="171450" indent="-171450">
              <a:buFont typeface="Arial" pitchFamily="34" charset="0"/>
              <a:buChar char="•"/>
            </a:pPr>
            <a:r>
              <a:rPr lang="en-US" dirty="0"/>
              <a:t>seconds | 0-590 | 0 | seconds="0"</a:t>
            </a:r>
          </a:p>
          <a:p>
            <a:pPr marL="171450" indent="-171450">
              <a:buFont typeface="Arial" pitchFamily="34" charset="0"/>
              <a:buChar char="•"/>
            </a:pPr>
            <a:r>
              <a:rPr lang="en-US" dirty="0"/>
              <a:t>minutes | 0-590 | 0 | minutes="15"</a:t>
            </a:r>
          </a:p>
          <a:p>
            <a:pPr marL="171450" indent="-171450">
              <a:buFont typeface="Arial" pitchFamily="34" charset="0"/>
              <a:buChar char="•"/>
            </a:pPr>
            <a:r>
              <a:rPr lang="en-US" dirty="0"/>
              <a:t>hours | 0-23| * | hours="12"</a:t>
            </a:r>
          </a:p>
          <a:p>
            <a:pPr marL="171450" indent="-171450">
              <a:buFont typeface="Arial" pitchFamily="34" charset="0"/>
              <a:buChar char="•"/>
            </a:pPr>
            <a:r>
              <a:rPr lang="en-US" dirty="0" err="1"/>
              <a:t>dayofmonth</a:t>
            </a:r>
            <a:r>
              <a:rPr lang="en-US" dirty="0"/>
              <a:t> | 1-31 | * | </a:t>
            </a:r>
            <a:r>
              <a:rPr lang="en-US" dirty="0" err="1"/>
              <a:t>dayofmonth</a:t>
            </a:r>
            <a:r>
              <a:rPr lang="en-US" dirty="0"/>
              <a:t>="1"</a:t>
            </a:r>
          </a:p>
          <a:p>
            <a:pPr marL="171450" indent="-171450">
              <a:buFont typeface="Arial" pitchFamily="34" charset="0"/>
              <a:buChar char="•"/>
            </a:pPr>
            <a:r>
              <a:rPr lang="en-US" dirty="0"/>
              <a:t>month | 1-12 or JAN-DEC | * | month="2"</a:t>
            </a:r>
          </a:p>
          <a:p>
            <a:pPr marL="171450" indent="-171450">
              <a:buFont typeface="Arial" pitchFamily="34" charset="0"/>
              <a:buChar char="•"/>
            </a:pPr>
            <a:r>
              <a:rPr lang="en-US" dirty="0" err="1"/>
              <a:t>dayofweek</a:t>
            </a:r>
            <a:r>
              <a:rPr lang="en-US" dirty="0"/>
              <a:t> | 1-7 or SUN-SAT | ? | </a:t>
            </a:r>
            <a:r>
              <a:rPr lang="en-US" dirty="0" err="1"/>
              <a:t>dayofweek</a:t>
            </a:r>
            <a:r>
              <a:rPr lang="en-US" dirty="0"/>
              <a:t>="1"</a:t>
            </a:r>
          </a:p>
          <a:p>
            <a:pPr marL="171450" indent="-171450">
              <a:buFont typeface="Arial" pitchFamily="34" charset="0"/>
              <a:buChar char="•"/>
            </a:pPr>
            <a:endParaRPr lang="en-US" dirty="0"/>
          </a:p>
          <a:p>
            <a:pPr marL="171450" indent="-171450">
              <a:buFont typeface="Arial" pitchFamily="34" charset="0"/>
              <a:buChar char="•"/>
            </a:pPr>
            <a:endParaRPr lang="en-US" dirty="0"/>
          </a:p>
          <a:p>
            <a:pPr algn="ctr"/>
            <a:r>
              <a:rPr lang="en-US" dirty="0"/>
              <a:t>(continued)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2784624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a:t>(continued)</a:t>
            </a:r>
          </a:p>
          <a:p>
            <a:r>
              <a:rPr lang="en-US" dirty="0"/>
              <a:t>Examples of &lt;</a:t>
            </a:r>
            <a:r>
              <a:rPr lang="en-US" dirty="0" err="1"/>
              <a:t>CronSchedule</a:t>
            </a:r>
            <a:r>
              <a:rPr lang="en-US" dirty="0"/>
              <a:t> /&gt;  element</a:t>
            </a:r>
            <a:r>
              <a:rPr lang="en-US" baseline="0" dirty="0"/>
              <a:t> and attributes:</a:t>
            </a:r>
            <a:endParaRPr lang="en-US" dirty="0"/>
          </a:p>
          <a:p>
            <a:r>
              <a:rPr lang="en-US" dirty="0"/>
              <a:t>&lt;</a:t>
            </a:r>
            <a:r>
              <a:rPr lang="en-US" dirty="0" err="1"/>
              <a:t>CronSchedule</a:t>
            </a:r>
            <a:r>
              <a:rPr lang="en-US" dirty="0"/>
              <a:t> hours="10" /&gt; </a:t>
            </a:r>
          </a:p>
          <a:p>
            <a:r>
              <a:rPr lang="en-US" dirty="0"/>
              <a:t>Run every day at 10 a.m.</a:t>
            </a:r>
          </a:p>
          <a:p>
            <a:r>
              <a:rPr lang="en-US" dirty="0"/>
              <a:t>&lt;</a:t>
            </a:r>
            <a:r>
              <a:rPr lang="en-US" dirty="0" err="1"/>
              <a:t>CronSchedule</a:t>
            </a:r>
            <a:r>
              <a:rPr lang="en-US" dirty="0"/>
              <a:t> hours="0" /&gt; </a:t>
            </a:r>
          </a:p>
          <a:p>
            <a:r>
              <a:rPr lang="en-US" dirty="0"/>
              <a:t>Run every night at midnight.</a:t>
            </a:r>
          </a:p>
          <a:p>
            <a:r>
              <a:rPr lang="en-US" dirty="0"/>
              <a:t>&lt;</a:t>
            </a:r>
            <a:r>
              <a:rPr lang="en-US" dirty="0" err="1"/>
              <a:t>CronSchedule</a:t>
            </a:r>
            <a:r>
              <a:rPr lang="en-US" dirty="0"/>
              <a:t> minutes="15,45" /&gt; </a:t>
            </a:r>
          </a:p>
          <a:p>
            <a:r>
              <a:rPr lang="en-US" dirty="0"/>
              <a:t>Run at 15 and 45 minutes after every hour. </a:t>
            </a:r>
          </a:p>
          <a:p>
            <a:r>
              <a:rPr lang="en-US" dirty="0"/>
              <a:t>&lt;</a:t>
            </a:r>
            <a:r>
              <a:rPr lang="en-US" dirty="0" err="1"/>
              <a:t>CronSchedule</a:t>
            </a:r>
            <a:r>
              <a:rPr lang="en-US" dirty="0"/>
              <a:t> minutes="0/5" /&gt; </a:t>
            </a:r>
          </a:p>
          <a:p>
            <a:r>
              <a:rPr lang="en-US" dirty="0"/>
              <a:t>Run every five minutes.</a:t>
            </a:r>
          </a:p>
          <a:p>
            <a:r>
              <a:rPr lang="en-US" dirty="0"/>
              <a:t>&lt;</a:t>
            </a:r>
            <a:r>
              <a:rPr lang="en-US" dirty="0" err="1"/>
              <a:t>CronSchedule</a:t>
            </a:r>
            <a:r>
              <a:rPr lang="en-US" dirty="0"/>
              <a:t> hours="0" </a:t>
            </a:r>
            <a:r>
              <a:rPr lang="en-US" dirty="0" err="1"/>
              <a:t>dayofmonth</a:t>
            </a:r>
            <a:r>
              <a:rPr lang="en-US" dirty="0"/>
              <a:t>="1" /&gt; </a:t>
            </a:r>
          </a:p>
          <a:p>
            <a:r>
              <a:rPr lang="en-US" dirty="0"/>
              <a:t>Run at midnight on the first day of the month.</a:t>
            </a:r>
          </a:p>
          <a:p>
            <a:r>
              <a:rPr lang="en-US" dirty="0"/>
              <a:t>&lt;</a:t>
            </a:r>
            <a:r>
              <a:rPr lang="en-US" dirty="0" err="1"/>
              <a:t>CronSchedule</a:t>
            </a:r>
            <a:r>
              <a:rPr lang="en-US" dirty="0"/>
              <a:t> hours="12" </a:t>
            </a:r>
            <a:r>
              <a:rPr lang="en-US" dirty="0" err="1"/>
              <a:t>dayofweek</a:t>
            </a:r>
            <a:r>
              <a:rPr lang="en-US" dirty="0"/>
              <a:t>="MON-FRI" </a:t>
            </a:r>
            <a:r>
              <a:rPr lang="en-US" dirty="0" err="1"/>
              <a:t>dayofmonth</a:t>
            </a:r>
            <a:r>
              <a:rPr lang="en-US" dirty="0"/>
              <a:t>="?" /&gt; </a:t>
            </a:r>
          </a:p>
          <a:p>
            <a:r>
              <a:rPr lang="en-US" dirty="0"/>
              <a:t>Run at noon every weekday (without regard to the day of the month).</a:t>
            </a:r>
          </a:p>
          <a:p>
            <a:r>
              <a:rPr lang="en-US" dirty="0"/>
              <a:t>&lt;</a:t>
            </a:r>
            <a:r>
              <a:rPr lang="en-US" dirty="0" err="1"/>
              <a:t>CronSchedule</a:t>
            </a:r>
            <a:r>
              <a:rPr lang="en-US" dirty="0"/>
              <a:t> hours="22" </a:t>
            </a:r>
            <a:r>
              <a:rPr lang="en-US" dirty="0" err="1"/>
              <a:t>dayofmonth</a:t>
            </a:r>
            <a:r>
              <a:rPr lang="en-US" dirty="0"/>
              <a:t>="L" /&gt;  Run at 10 p.m. on the last day of every month.</a:t>
            </a:r>
          </a:p>
          <a:p>
            <a:r>
              <a:rPr lang="en-US" dirty="0"/>
              <a:t>&lt;</a:t>
            </a:r>
            <a:r>
              <a:rPr lang="en-US" dirty="0" err="1"/>
              <a:t>CronSchedule</a:t>
            </a:r>
            <a:r>
              <a:rPr lang="en-US" dirty="0"/>
              <a:t> minutes="3" hours="8-18/2" </a:t>
            </a:r>
            <a:r>
              <a:rPr lang="en-US" dirty="0" err="1"/>
              <a:t>dayofweek</a:t>
            </a:r>
            <a:r>
              <a:rPr lang="en-US" dirty="0"/>
              <a:t>="1-5" </a:t>
            </a:r>
            <a:r>
              <a:rPr lang="en-US" dirty="0" err="1"/>
              <a:t>dayofmonth</a:t>
            </a:r>
            <a:r>
              <a:rPr lang="en-US" dirty="0"/>
              <a:t>="?"/&gt;</a:t>
            </a:r>
          </a:p>
          <a:p>
            <a:r>
              <a:rPr lang="en-US" dirty="0"/>
              <a:t>Run 3 minutes after every other hour, 8:03 a.m. to 6:03 p.m., Monday through Friday.</a:t>
            </a:r>
          </a:p>
          <a:p>
            <a:r>
              <a:rPr lang="en-US" dirty="0"/>
              <a:t>&lt;</a:t>
            </a:r>
            <a:r>
              <a:rPr lang="en-US" dirty="0" err="1"/>
              <a:t>CronSchedule</a:t>
            </a:r>
            <a:r>
              <a:rPr lang="en-US" dirty="0"/>
              <a:t> minutes="*/15" hours="0-8,18-23"/&gt;</a:t>
            </a:r>
          </a:p>
          <a:p>
            <a:r>
              <a:rPr lang="en-US" dirty="0"/>
              <a:t>Run every 15 minutes after the hour, 12:15 a.m. to 8:45 a.m. and 6:15 p.m. to 11:45 p.m.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386147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 with the standard values listed, there are special characters that give you more flexible options.</a:t>
            </a:r>
          </a:p>
          <a:p>
            <a:pPr marL="171450" indent="-171450">
              <a:buFont typeface="Arial" pitchFamily="34" charset="0"/>
              <a:buChar char="•"/>
            </a:pPr>
            <a:r>
              <a:rPr lang="en-US" dirty="0"/>
              <a:t>"*" means "all values". For example, </a:t>
            </a:r>
            <a:r>
              <a:rPr lang="en-US" dirty="0" err="1"/>
              <a:t>dayofmonth</a:t>
            </a:r>
            <a:r>
              <a:rPr lang="en-US" dirty="0"/>
              <a:t>="*" means run the process every day.</a:t>
            </a:r>
          </a:p>
          <a:p>
            <a:pPr marL="171450" indent="-171450">
              <a:buFont typeface="Arial" pitchFamily="34" charset="0"/>
              <a:buChar char="•"/>
            </a:pPr>
            <a:r>
              <a:rPr lang="en-US" dirty="0"/>
              <a:t>"?" is used only for </a:t>
            </a:r>
            <a:r>
              <a:rPr lang="en-US" dirty="0" err="1"/>
              <a:t>dayofmonth</a:t>
            </a:r>
            <a:r>
              <a:rPr lang="en-US" dirty="0"/>
              <a:t> and </a:t>
            </a:r>
            <a:r>
              <a:rPr lang="en-US" dirty="0" err="1"/>
              <a:t>dayofweek</a:t>
            </a:r>
            <a:r>
              <a:rPr lang="en-US" dirty="0"/>
              <a:t> attribute and means "without regard to this value" For example, hours="12" </a:t>
            </a:r>
            <a:r>
              <a:rPr lang="en-US" dirty="0" err="1"/>
              <a:t>dayofweek</a:t>
            </a:r>
            <a:r>
              <a:rPr lang="en-US" dirty="0"/>
              <a:t>="MON-FRI" </a:t>
            </a:r>
            <a:r>
              <a:rPr lang="en-US" dirty="0" err="1"/>
              <a:t>dayofmonth</a:t>
            </a:r>
            <a:r>
              <a:rPr lang="en-US" dirty="0"/>
              <a:t>="?" means "Run at noon every weekday (without regard to the day of the month)". </a:t>
            </a:r>
          </a:p>
          <a:p>
            <a:pPr marL="171450" indent="-171450">
              <a:buFont typeface="Arial" pitchFamily="34" charset="0"/>
              <a:buChar char="•"/>
            </a:pPr>
            <a:r>
              <a:rPr lang="en-US" dirty="0"/>
              <a:t>"," separates multiple values. For example, </a:t>
            </a:r>
            <a:r>
              <a:rPr lang="en-US" dirty="0" err="1"/>
              <a:t>dayofweek</a:t>
            </a:r>
            <a:r>
              <a:rPr lang="en-US" dirty="0"/>
              <a:t>="</a:t>
            </a:r>
            <a:r>
              <a:rPr lang="en-US" dirty="0" err="1"/>
              <a:t>MON,FRI</a:t>
            </a:r>
            <a:r>
              <a:rPr lang="en-US" dirty="0"/>
              <a:t>" means every Monday and Friday. Do not includes spaces after the comma.</a:t>
            </a:r>
          </a:p>
          <a:p>
            <a:pPr marL="171450" indent="-171450">
              <a:buFont typeface="Arial" pitchFamily="34" charset="0"/>
              <a:buChar char="•"/>
            </a:pPr>
            <a:r>
              <a:rPr lang="en-US" dirty="0"/>
              <a:t>"/" specifies increments. For example, minutes="0/15" means start at minute 0 and run every 15 minutes.</a:t>
            </a:r>
          </a:p>
          <a:p>
            <a:pPr marL="171450" indent="-171450">
              <a:buFont typeface="Arial" pitchFamily="34" charset="0"/>
              <a:buChar char="•"/>
            </a:pPr>
            <a:r>
              <a:rPr lang="en-US" dirty="0"/>
              <a:t>"L" is used only for </a:t>
            </a:r>
            <a:r>
              <a:rPr lang="en-US" dirty="0" err="1"/>
              <a:t>dayofmonth</a:t>
            </a:r>
            <a:r>
              <a:rPr lang="en-US" dirty="0"/>
              <a:t> and </a:t>
            </a:r>
            <a:r>
              <a:rPr lang="en-US" dirty="0" err="1"/>
              <a:t>dayofweek</a:t>
            </a:r>
            <a:r>
              <a:rPr lang="en-US" dirty="0"/>
              <a:t> and means "the last day of the month/week".</a:t>
            </a:r>
          </a:p>
          <a:p>
            <a:endParaRPr lang="en-US" dirty="0"/>
          </a:p>
          <a:p>
            <a:r>
              <a:rPr lang="en-US" dirty="0"/>
              <a:t>Once a batch process has been scheduled, its </a:t>
            </a:r>
            <a:r>
              <a:rPr lang="en-US" dirty="0" err="1"/>
              <a:t>cron</a:t>
            </a:r>
            <a:r>
              <a:rPr lang="en-US" dirty="0"/>
              <a:t> schedule criteria and next run time are listed on the Batch Process Info screen.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279472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batch process is API runnable, you can run the process from either the command line or a web service/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199118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39872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Custom batch processes are instantiated by the ProcessesPlugin plugin. </a:t>
            </a:r>
          </a:p>
          <a:p>
            <a:r>
              <a:rPr lang="en-US" dirty="0" smtClean="0"/>
              <a:t>The ProcessesPlugin contains a switch statement that specifies, for each custom batch process type, the class to execute when the batch process runs. </a:t>
            </a:r>
          </a:p>
          <a:p>
            <a:endParaRPr lang="en-US" dirty="0" smtClean="0"/>
          </a:p>
          <a:p>
            <a:r>
              <a:rPr lang="en-US" dirty="0" smtClean="0"/>
              <a:t>PolicyCenter 10.0,</a:t>
            </a:r>
            <a:r>
              <a:rPr lang="en-US" baseline="0" dirty="0" smtClean="0"/>
              <a:t> ClaimCenter 10.0 and Training app 10.0 all implement IProcessPlugin in base application; BillingCenter 10 and ContactManager 10.0 do not implement that</a:t>
            </a:r>
            <a:endParaRPr lang="en-US" dirty="0" smtClean="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842154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The ProcessesPlugin contains a switch statement that specifies, for each custom batch process type, the class to execute when the batch process runs. The class to execute can be either a Gosu class or Java class. The class must extend the </a:t>
            </a:r>
            <a:r>
              <a:rPr lang="en-US" dirty="0" err="1" smtClean="0"/>
              <a:t>BatchProcessBase</a:t>
            </a:r>
            <a:r>
              <a:rPr lang="en-US" dirty="0" smtClean="0"/>
              <a:t> class, which takes care of the overhead for the batch process. The only method the class needs to implement is the </a:t>
            </a:r>
            <a:r>
              <a:rPr lang="en-US" dirty="0" err="1" smtClean="0"/>
              <a:t>doWork</a:t>
            </a:r>
            <a:r>
              <a:rPr lang="en-US" dirty="0" smtClean="0"/>
              <a:t>() method, which specifies the work unique to the batch process.</a:t>
            </a:r>
          </a:p>
          <a:p>
            <a:r>
              <a:rPr lang="en-US" dirty="0" smtClean="0"/>
              <a:t>Both predefined and custom batch processes are executed by the same framework.</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845101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In TrainingApp, a user can request a legal case report for an </a:t>
            </a:r>
            <a:r>
              <a:rPr lang="en-US" dirty="0" err="1" smtClean="0"/>
              <a:t>ABDoctor</a:t>
            </a:r>
            <a:r>
              <a:rPr lang="en-US" dirty="0" smtClean="0"/>
              <a:t> by clicking the "Request Case Report" button on the Details screen Person Info card. The response from the legal case report system should occur within a given timeframe. If a response has not been received in a timely fashion, then the legal report is considered overdue. A custom batch process periodically checks to see if there are any contacts with overdue legal report requests, and flags any contacts it finds.</a:t>
            </a:r>
            <a:br>
              <a:rPr lang="en-US" dirty="0" smtClean="0"/>
            </a:br>
            <a:endParaRPr lang="en-US" dirty="0" smtClean="0"/>
          </a:p>
          <a:p>
            <a:r>
              <a:rPr lang="en-US" dirty="0" smtClean="0"/>
              <a:t>In TrainingApp, you can request a legal case report that receives no response by requesting the report when ExternalApp is not running.</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923325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36498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All batch processes listed in BatchProcessType are visible from the </a:t>
            </a:r>
            <a:r>
              <a:rPr lang="en-US" dirty="0" err="1" smtClean="0"/>
              <a:t>BatchProcessInfo</a:t>
            </a:r>
            <a:r>
              <a:rPr lang="en-US" dirty="0" smtClean="0"/>
              <a:t> page. </a:t>
            </a:r>
          </a:p>
          <a:p>
            <a:endParaRPr lang="en-US" dirty="0"/>
          </a:p>
          <a:p>
            <a:r>
              <a:rPr lang="en-US" dirty="0" smtClean="0"/>
              <a:t>Although a batch process </a:t>
            </a:r>
            <a:r>
              <a:rPr lang="en-US" dirty="0"/>
              <a:t>can have multiple usage </a:t>
            </a:r>
            <a:r>
              <a:rPr lang="en-US" dirty="0" smtClean="0"/>
              <a:t>types, every batch process must support at least one of the following usage types :</a:t>
            </a:r>
          </a:p>
          <a:p>
            <a:pPr marL="171450" indent="-171450">
              <a:buFont typeface="Arial" pitchFamily="34" charset="0"/>
              <a:buChar char="•"/>
            </a:pPr>
            <a:r>
              <a:rPr lang="en-US" dirty="0" smtClean="0"/>
              <a:t>Schedulable - Batch Process can be run on a regular schedule defined in scheduler-config.xml</a:t>
            </a:r>
          </a:p>
          <a:p>
            <a:pPr marL="171450" indent="-171450">
              <a:buFont typeface="Arial" pitchFamily="34" charset="0"/>
              <a:buChar char="•"/>
            </a:pPr>
            <a:r>
              <a:rPr lang="en-US" dirty="0" err="1" smtClean="0"/>
              <a:t>APIRunnable</a:t>
            </a:r>
            <a:r>
              <a:rPr lang="en-US" dirty="0" smtClean="0"/>
              <a:t> - Process can be started and stopped via the API</a:t>
            </a:r>
          </a:p>
          <a:p>
            <a:pPr marL="171450" indent="-171450">
              <a:buFont typeface="Arial" pitchFamily="34" charset="0"/>
              <a:buChar char="•"/>
            </a:pPr>
            <a:r>
              <a:rPr lang="en-US" dirty="0" err="1" smtClean="0"/>
              <a:t>UIRunnable</a:t>
            </a:r>
            <a:r>
              <a:rPr lang="en-US" dirty="0" smtClean="0"/>
              <a:t> - Process can be started and stopped via Batch Process Info page (and via the API)</a:t>
            </a:r>
          </a:p>
          <a:p>
            <a:pPr marL="171450" indent="-171450">
              <a:buFont typeface="Arial" pitchFamily="34" charset="0"/>
              <a:buChar char="•"/>
            </a:pPr>
            <a:r>
              <a:rPr lang="en-US" dirty="0" err="1" smtClean="0"/>
              <a:t>MaintenanceOnly</a:t>
            </a:r>
            <a:r>
              <a:rPr lang="en-US" dirty="0" smtClean="0"/>
              <a:t> - Process can be started only when the server is at maintenance run level (regardless of manner used to start it)</a:t>
            </a:r>
          </a:p>
          <a:p>
            <a:endParaRPr lang="en-US" dirty="0" smtClean="0"/>
          </a:p>
          <a:p>
            <a:r>
              <a:rPr lang="en-US" dirty="0" smtClean="0"/>
              <a:t>In the slide example, the </a:t>
            </a:r>
            <a:r>
              <a:rPr lang="en-US" dirty="0" err="1" smtClean="0"/>
              <a:t>FlagOverdueLegalReports</a:t>
            </a:r>
            <a:r>
              <a:rPr lang="en-US" dirty="0" smtClean="0"/>
              <a:t> typekey is associated with the </a:t>
            </a:r>
            <a:r>
              <a:rPr lang="en-US" dirty="0" err="1" smtClean="0"/>
              <a:t>APIRunnable</a:t>
            </a:r>
            <a:r>
              <a:rPr lang="en-US" dirty="0" smtClean="0"/>
              <a:t>, Schedulable, and </a:t>
            </a:r>
            <a:r>
              <a:rPr lang="en-US" dirty="0" err="1" smtClean="0"/>
              <a:t>UIRunnable</a:t>
            </a:r>
            <a:r>
              <a:rPr lang="en-US" dirty="0" smtClean="0"/>
              <a:t> typecodes. </a:t>
            </a:r>
          </a:p>
          <a:p>
            <a:endParaRPr lang="en-US" dirty="0"/>
          </a:p>
          <a:p>
            <a:r>
              <a:rPr lang="en-US" dirty="0" smtClean="0"/>
              <a:t>This means the batch process can be run from the API and the UI, and is also schedulable. It lacks the </a:t>
            </a:r>
            <a:r>
              <a:rPr lang="en-US" dirty="0" err="1" smtClean="0"/>
              <a:t>MaintenanceOnly</a:t>
            </a:r>
            <a:r>
              <a:rPr lang="en-US" dirty="0" smtClean="0"/>
              <a:t> code, which means it can be run regardless of the server level. If it had the </a:t>
            </a:r>
            <a:r>
              <a:rPr lang="en-US" dirty="0" err="1" smtClean="0"/>
              <a:t>MaintenanceOnly</a:t>
            </a:r>
            <a:r>
              <a:rPr lang="en-US" dirty="0" smtClean="0"/>
              <a:t> code, then the batch process could only be run while the server was at the maintenance run level.</a:t>
            </a:r>
          </a:p>
          <a:p>
            <a:endParaRPr lang="en-US" dirty="0" smtClean="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7" name="Slide Image Placeholder 6"/>
          <p:cNvSpPr>
            <a:spLocks noGrp="1" noRot="1" noChangeAspect="1"/>
          </p:cNvSpPr>
          <p:nvPr>
            <p:ph type="sldImg"/>
          </p:nvPr>
        </p:nvSpPr>
        <p:spPr>
          <a:xfrm>
            <a:off x="-76200" y="304800"/>
            <a:ext cx="7010400" cy="3943350"/>
          </a:xfrm>
        </p:spPr>
      </p:sp>
    </p:spTree>
    <p:extLst>
      <p:ext uri="{BB962C8B-B14F-4D97-AF65-F5344CB8AC3E}">
        <p14:creationId xmlns:p14="http://schemas.microsoft.com/office/powerpoint/2010/main" val="20007387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Custom batch process classes must</a:t>
            </a:r>
            <a:r>
              <a:rPr lang="en-US" baseline="0" dirty="0" smtClean="0"/>
              <a:t> e</a:t>
            </a:r>
            <a:r>
              <a:rPr lang="en-US" dirty="0" smtClean="0"/>
              <a:t>xtend </a:t>
            </a:r>
            <a:r>
              <a:rPr lang="en-US" dirty="0" err="1" smtClean="0"/>
              <a:t>BatchProcessBase</a:t>
            </a:r>
            <a:r>
              <a:rPr lang="en-US" dirty="0" smtClean="0"/>
              <a:t> and have a construct() method that must call super(), passing appropriate typecode value. In addition, the custom batch process class must override a single function, </a:t>
            </a:r>
            <a:r>
              <a:rPr lang="en-US" dirty="0" err="1" smtClean="0"/>
              <a:t>doWork</a:t>
            </a:r>
            <a:r>
              <a:rPr lang="en-US" dirty="0" smtClean="0"/>
              <a:t>(), which does the work of the batch process.</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9276094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Batch processes do not have a "current" bundle. If a batch process needs to commit data, then you must create a bundle manually using the </a:t>
            </a:r>
            <a:r>
              <a:rPr lang="en-US" dirty="0" err="1" smtClean="0"/>
              <a:t>runWithNewBundle</a:t>
            </a:r>
            <a:r>
              <a:rPr lang="en-US" dirty="0" smtClean="0"/>
              <a:t>() method.</a:t>
            </a:r>
          </a:p>
          <a:p>
            <a:endParaRPr lang="en-US" dirty="0" smtClean="0"/>
          </a:p>
          <a:p>
            <a:r>
              <a:rPr lang="en-US" dirty="0" smtClean="0"/>
              <a:t>The </a:t>
            </a:r>
            <a:r>
              <a:rPr lang="en-US" dirty="0" err="1" smtClean="0"/>
              <a:t>runWithNewBundle</a:t>
            </a:r>
            <a:r>
              <a:rPr lang="en-US" dirty="0" smtClean="0"/>
              <a:t>() method takes a block as an input parameter. The block must name a bundle and then identify the code to execute (as shown in line 16 above).</a:t>
            </a:r>
          </a:p>
          <a:p>
            <a:r>
              <a:rPr lang="en-US" dirty="0" smtClean="0"/>
              <a:t>If you query for any objects, those objects initially belong to a read-only bundle. To modify the objects, you must copy them into your new bundle (as shown in line 35 above).</a:t>
            </a:r>
          </a:p>
          <a:p>
            <a:endParaRPr lang="en-US" dirty="0" smtClean="0"/>
          </a:p>
          <a:p>
            <a:r>
              <a:rPr lang="en-US" dirty="0" smtClean="0"/>
              <a:t>You do not need to manually commit the bundle. The </a:t>
            </a:r>
            <a:r>
              <a:rPr lang="en-US" dirty="0" err="1" smtClean="0"/>
              <a:t>runWithNewBundle</a:t>
            </a:r>
            <a:r>
              <a:rPr lang="en-US" dirty="0" smtClean="0"/>
              <a:t>() method executes an implicit commit() when it is done executing the block passed to it.</a:t>
            </a:r>
          </a:p>
          <a:p>
            <a:r>
              <a:rPr lang="en-US" dirty="0" smtClean="0"/>
              <a:t>When a batch process is run via the scheduler, there is no inherent user. However, a user is needed whenever data is committed to the database. Therefore, if a batch process is schedulable and commits data, then it must use the following syntax:</a:t>
            </a:r>
          </a:p>
          <a:p>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runWithNewBundle</a:t>
            </a:r>
            <a:r>
              <a:rPr lang="en-US" dirty="0" smtClean="0">
                <a:latin typeface="Courier New" pitchFamily="49" charset="0"/>
                <a:cs typeface="Courier New" pitchFamily="49" charset="0"/>
              </a:rPr>
              <a:t> ( \ bundle -&gt;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blockToExecute</a:t>
            </a:r>
            <a:r>
              <a:rPr lang="en-US" dirty="0" smtClean="0">
                <a:latin typeface="Courier New" pitchFamily="49" charset="0"/>
                <a:cs typeface="Courier New" pitchFamily="49" charset="0"/>
              </a:rPr>
              <a:t> }, </a:t>
            </a:r>
            <a:r>
              <a:rPr lang="en-US" dirty="0" err="1" smtClean="0">
                <a:latin typeface="Courier New" pitchFamily="49" charset="0"/>
                <a:cs typeface="Courier New" pitchFamily="49" charset="0"/>
              </a:rPr>
              <a:t>userToUseWhenCommittingData</a:t>
            </a:r>
            <a:r>
              <a:rPr lang="en-US" dirty="0" smtClean="0">
                <a:latin typeface="Courier New" pitchFamily="49" charset="0"/>
                <a:cs typeface="Courier New" pitchFamily="49" charset="0"/>
              </a:rPr>
              <a:t> )</a:t>
            </a:r>
            <a:endParaRPr lang="en-US" dirty="0" smtClean="0"/>
          </a:p>
          <a:p>
            <a:endParaRPr lang="en-US" dirty="0" smtClean="0"/>
          </a:p>
          <a:p>
            <a:r>
              <a:rPr lang="en-US" dirty="0" smtClean="0"/>
              <a:t>If a batch process is likely to have many items to process each time it is run, then the items to process should be broken down into smaller chunks, and each chunk should be executed in its own transaction. This prevents problems that can arise from reading and then attempting to commit large amounts of data in a single transaction.</a:t>
            </a:r>
          </a:p>
          <a:p>
            <a:endParaRPr lang="en-US" dirty="0" smtClean="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934560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In all applications except ClaimCenter, the ProcessesPlugin is not implemented. To implement the plugin, implement the </a:t>
            </a:r>
            <a:r>
              <a:rPr lang="en-US" dirty="0" err="1" smtClean="0"/>
              <a:t>IProcessesPlugin</a:t>
            </a:r>
            <a:r>
              <a:rPr lang="en-US" dirty="0" smtClean="0"/>
              <a:t> interface and override the </a:t>
            </a:r>
            <a:r>
              <a:rPr lang="en-US" dirty="0" err="1" smtClean="0"/>
              <a:t>createBatchProcess</a:t>
            </a:r>
            <a:r>
              <a:rPr lang="en-US" dirty="0" smtClean="0"/>
              <a:t> function as shown in the code below.</a:t>
            </a:r>
          </a:p>
          <a:p>
            <a:endParaRPr lang="en-US" dirty="0" smtClean="0"/>
          </a:p>
          <a:p>
            <a:r>
              <a:rPr lang="en-US" dirty="0" smtClean="0">
                <a:latin typeface="Courier New" pitchFamily="49" charset="0"/>
                <a:cs typeface="Courier New" pitchFamily="49" charset="0"/>
              </a:rPr>
              <a:t>package </a:t>
            </a:r>
            <a:r>
              <a:rPr lang="en-US" dirty="0" err="1" smtClean="0">
                <a:latin typeface="Courier New" pitchFamily="49" charset="0"/>
                <a:cs typeface="Courier New" pitchFamily="49" charset="0"/>
              </a:rPr>
              <a:t>acme.ta.batch</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uses </a:t>
            </a:r>
            <a:r>
              <a:rPr lang="en-US" dirty="0" err="1" smtClean="0">
                <a:latin typeface="Courier New" pitchFamily="49" charset="0"/>
                <a:cs typeface="Courier New" pitchFamily="49" charset="0"/>
              </a:rPr>
              <a:t>gw.plugin.processing.IProcessesPlugin</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uses </a:t>
            </a:r>
            <a:r>
              <a:rPr lang="en-US" dirty="0" err="1" smtClean="0">
                <a:latin typeface="Courier New" pitchFamily="49" charset="0"/>
                <a:cs typeface="Courier New" pitchFamily="49" charset="0"/>
              </a:rPr>
              <a:t>gw.processes.BatchProcess</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uses </a:t>
            </a:r>
            <a:r>
              <a:rPr lang="en-US" dirty="0" err="1" smtClean="0">
                <a:latin typeface="Courier New" pitchFamily="49" charset="0"/>
                <a:cs typeface="Courier New" pitchFamily="49" charset="0"/>
              </a:rPr>
              <a:t>acme.ta.batch.FlagUnverifiedBankAccountsBatch</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class ProcessesPlugin implements </a:t>
            </a:r>
            <a:r>
              <a:rPr lang="en-US" dirty="0" err="1" smtClean="0">
                <a:latin typeface="Courier New" pitchFamily="49" charset="0"/>
                <a:cs typeface="Courier New" pitchFamily="49" charset="0"/>
              </a:rPr>
              <a:t>IProcessesPlugin</a:t>
            </a:r>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  construct() {</a:t>
            </a:r>
          </a:p>
          <a:p>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  override function </a:t>
            </a:r>
            <a:r>
              <a:rPr lang="en-US" dirty="0" err="1" smtClean="0">
                <a:latin typeface="Courier New" pitchFamily="49" charset="0"/>
                <a:cs typeface="Courier New" pitchFamily="49" charset="0"/>
              </a:rPr>
              <a:t>createBatchProcess</a:t>
            </a:r>
            <a:r>
              <a:rPr lang="en-US" dirty="0" smtClean="0">
                <a:latin typeface="Courier New" pitchFamily="49" charset="0"/>
                <a:cs typeface="Courier New" pitchFamily="49" charset="0"/>
              </a:rPr>
              <a:t>(type : BatchProcessType,</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arguments : Object[]) : </a:t>
            </a:r>
            <a:r>
              <a:rPr lang="en-US" dirty="0" err="1" smtClean="0">
                <a:latin typeface="Courier New" pitchFamily="49" charset="0"/>
                <a:cs typeface="Courier New" pitchFamily="49" charset="0"/>
              </a:rPr>
              <a:t>BatchProcess</a:t>
            </a:r>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    switch(type) {</a:t>
            </a:r>
          </a:p>
          <a:p>
            <a:r>
              <a:rPr lang="en-US" dirty="0" smtClean="0">
                <a:latin typeface="Courier New" pitchFamily="49" charset="0"/>
                <a:cs typeface="Courier New" pitchFamily="49" charset="0"/>
              </a:rPr>
              <a:t>      case </a:t>
            </a:r>
            <a:r>
              <a:rPr lang="en-US" dirty="0" err="1" smtClean="0">
                <a:latin typeface="Courier New" pitchFamily="49" charset="0"/>
                <a:cs typeface="Courier New" pitchFamily="49" charset="0"/>
              </a:rPr>
              <a:t>BatchProcessType.TC_FLAGUNVERIFIEDBANKACCOUNTS</a:t>
            </a:r>
            <a:r>
              <a:rPr lang="en-US" dirty="0" smtClean="0">
                <a:latin typeface="Courier New" pitchFamily="49" charset="0"/>
                <a:cs typeface="Courier New" pitchFamily="49" charset="0"/>
              </a:rPr>
              <a:t>:</a:t>
            </a:r>
          </a:p>
          <a:p>
            <a:r>
              <a:rPr lang="en-US" dirty="0" smtClean="0">
                <a:latin typeface="Courier New" pitchFamily="49" charset="0"/>
                <a:cs typeface="Courier New" pitchFamily="49" charset="0"/>
              </a:rPr>
              <a:t>        return new </a:t>
            </a:r>
            <a:r>
              <a:rPr lang="en-US" dirty="0" err="1" smtClean="0">
                <a:latin typeface="Courier New" pitchFamily="49" charset="0"/>
                <a:cs typeface="Courier New" pitchFamily="49" charset="0"/>
              </a:rPr>
              <a:t>FlagUnverifiedBankAccountsBatch</a:t>
            </a:r>
            <a:r>
              <a:rPr lang="en-US" dirty="0" smtClean="0">
                <a:latin typeface="Courier New" pitchFamily="49" charset="0"/>
                <a:cs typeface="Courier New" pitchFamily="49" charset="0"/>
              </a:rPr>
              <a:t>()</a:t>
            </a:r>
          </a:p>
          <a:p>
            <a:r>
              <a:rPr lang="en-US" dirty="0" smtClean="0">
                <a:latin typeface="Courier New" pitchFamily="49" charset="0"/>
                <a:cs typeface="Courier New" pitchFamily="49" charset="0"/>
              </a:rPr>
              <a:t>      default:</a:t>
            </a:r>
          </a:p>
          <a:p>
            <a:r>
              <a:rPr lang="en-US" dirty="0" smtClean="0">
                <a:latin typeface="Courier New" pitchFamily="49" charset="0"/>
                <a:cs typeface="Courier New" pitchFamily="49" charset="0"/>
              </a:rPr>
              <a:t>        return null</a:t>
            </a:r>
          </a:p>
          <a:p>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708077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7596131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ClaimCenter</a:t>
            </a:r>
            <a:r>
              <a:rPr lang="en-US" baseline="0" dirty="0" smtClean="0"/>
              <a:t> ,PolicyCenter and Training app, </a:t>
            </a:r>
            <a:r>
              <a:rPr lang="en-US" dirty="0" smtClean="0"/>
              <a:t> implement </a:t>
            </a:r>
            <a:r>
              <a:rPr lang="en-US" dirty="0" err="1" smtClean="0"/>
              <a:t>processplugin.gwp</a:t>
            </a:r>
            <a:r>
              <a:rPr lang="en-US" dirty="0" smtClean="0"/>
              <a:t>. Billing Center 10 and ContactManager</a:t>
            </a:r>
            <a:r>
              <a:rPr lang="en-US" baseline="0" dirty="0" smtClean="0"/>
              <a:t> 10 </a:t>
            </a:r>
            <a:r>
              <a:rPr lang="en-US" baseline="0" dirty="0" err="1" smtClean="0"/>
              <a:t>donot</a:t>
            </a:r>
            <a:r>
              <a:rPr lang="en-US" baseline="0" dirty="0" smtClean="0"/>
              <a:t> implement this.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906734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8936509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85661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7" name="Slide Image Placeholder 6"/>
          <p:cNvSpPr>
            <a:spLocks noGrp="1" noRot="1" noChangeAspect="1"/>
          </p:cNvSpPr>
          <p:nvPr>
            <p:ph type="sldImg"/>
          </p:nvPr>
        </p:nvSpPr>
        <p:spPr>
          <a:xfrm>
            <a:off x="-76200" y="304800"/>
            <a:ext cx="7010400" cy="3943350"/>
          </a:xfrm>
        </p:spPr>
      </p:sp>
    </p:spTree>
    <p:extLst>
      <p:ext uri="{BB962C8B-B14F-4D97-AF65-F5344CB8AC3E}">
        <p14:creationId xmlns:p14="http://schemas.microsoft.com/office/powerpoint/2010/main" val="28226205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dirty="0" err="1" smtClean="0"/>
              <a:t>checkInitialConditions</a:t>
            </a:r>
            <a:r>
              <a:rPr lang="en-US" b="1" dirty="0" smtClean="0"/>
              <a:t>() : </a:t>
            </a:r>
            <a:r>
              <a:rPr lang="en-US" dirty="0" smtClean="0"/>
              <a:t>The base class implementation of </a:t>
            </a:r>
            <a:r>
              <a:rPr lang="en-US" dirty="0" err="1" smtClean="0"/>
              <a:t>checkInitialConditions</a:t>
            </a:r>
            <a:r>
              <a:rPr lang="en-US" dirty="0" smtClean="0"/>
              <a:t>() returns true. You can override this function and return false under situations where it doesn't make sense to execute the batch process. The purpose</a:t>
            </a:r>
            <a:r>
              <a:rPr lang="en-US" baseline="0" dirty="0" smtClean="0"/>
              <a:t> of this method is to check environmental condition like server run level. Avoid running long running logic here, If you want to check for some database condition do it in the </a:t>
            </a:r>
            <a:r>
              <a:rPr lang="en-US" baseline="0" dirty="0" err="1" smtClean="0"/>
              <a:t>dowork</a:t>
            </a:r>
            <a:r>
              <a:rPr lang="en-US" baseline="0" dirty="0" smtClean="0"/>
              <a:t>() method.</a:t>
            </a:r>
            <a:endParaRPr lang="en-US" dirty="0" smtClean="0"/>
          </a:p>
          <a:p>
            <a:endParaRPr lang="en-US" dirty="0" smtClean="0"/>
          </a:p>
          <a:p>
            <a:r>
              <a:rPr lang="en-US" dirty="0" smtClean="0"/>
              <a:t>Guidewire recommends that you</a:t>
            </a:r>
            <a:r>
              <a:rPr lang="en-US" baseline="0" dirty="0" smtClean="0"/>
              <a:t> do not return false from this method unless the condition which triggers this is temporary.</a:t>
            </a:r>
          </a:p>
          <a:p>
            <a:endParaRPr lang="en-US" baseline="0" dirty="0" smtClean="0"/>
          </a:p>
          <a:p>
            <a:r>
              <a:rPr lang="en-US" dirty="0" smtClean="0"/>
              <a:t>When false is returned</a:t>
            </a:r>
          </a:p>
          <a:p>
            <a:pPr marL="171450" indent="-171450">
              <a:buFont typeface="Arial" panose="020B0604020202020204" pitchFamily="34" charset="0"/>
              <a:buChar char="•"/>
            </a:pPr>
            <a:r>
              <a:rPr lang="en-US" dirty="0" smtClean="0"/>
              <a:t>GW</a:t>
            </a:r>
            <a:r>
              <a:rPr lang="en-US" baseline="0" dirty="0" smtClean="0"/>
              <a:t> freezes any work in that </a:t>
            </a:r>
            <a:r>
              <a:rPr lang="en-US" baseline="0" dirty="0" err="1" smtClean="0"/>
              <a:t>batchprocess</a:t>
            </a:r>
            <a:endParaRPr lang="en-US" baseline="0" dirty="0" smtClean="0"/>
          </a:p>
          <a:p>
            <a:pPr marL="171450" indent="-171450">
              <a:buFont typeface="Arial" panose="020B0604020202020204" pitchFamily="34" charset="0"/>
              <a:buChar char="•"/>
            </a:pPr>
            <a:r>
              <a:rPr lang="en-US" baseline="0" dirty="0" smtClean="0"/>
              <a:t>Sets last run status for that </a:t>
            </a:r>
            <a:r>
              <a:rPr lang="en-US" baseline="0" dirty="0" err="1" smtClean="0"/>
              <a:t>batchprocess</a:t>
            </a:r>
            <a:r>
              <a:rPr lang="en-US" baseline="0" dirty="0" smtClean="0"/>
              <a:t> to running</a:t>
            </a:r>
          </a:p>
          <a:p>
            <a:pPr marL="171450" indent="-171450">
              <a:buFont typeface="Arial" panose="020B0604020202020204" pitchFamily="34" charset="0"/>
              <a:buChar char="•"/>
            </a:pPr>
            <a:r>
              <a:rPr lang="en-US" baseline="0" dirty="0" smtClean="0"/>
              <a:t>Runs the </a:t>
            </a:r>
            <a:r>
              <a:rPr lang="en-US" baseline="0" dirty="0" err="1" smtClean="0"/>
              <a:t>checkInitialConditions</a:t>
            </a:r>
            <a:r>
              <a:rPr lang="en-US" baseline="0" dirty="0" smtClean="0"/>
              <a:t>() method every one minute until it returns true or till it stopped from the UI</a:t>
            </a:r>
          </a:p>
          <a:p>
            <a:pPr marL="171450" indent="-171450">
              <a:buFont typeface="Arial" panose="020B0604020202020204" pitchFamily="34" charset="0"/>
              <a:buChar char="•"/>
            </a:pPr>
            <a:r>
              <a:rPr lang="en-US" baseline="0" dirty="0" smtClean="0"/>
              <a:t>After 10 minutes the </a:t>
            </a:r>
            <a:r>
              <a:rPr lang="en-US" baseline="0" dirty="0" err="1" smtClean="0"/>
              <a:t>batchprocess</a:t>
            </a:r>
            <a:r>
              <a:rPr lang="en-US" baseline="0" dirty="0" smtClean="0"/>
              <a:t> is stopped and it logs error message.</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8944069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dirty="0" err="1" smtClean="0"/>
              <a:t>requestTermination</a:t>
            </a:r>
            <a:r>
              <a:rPr lang="en-US" b="1" dirty="0" smtClean="0"/>
              <a:t>(): </a:t>
            </a:r>
            <a:r>
              <a:rPr lang="en-US" dirty="0" smtClean="0"/>
              <a:t>In some cases, the application wants to terminate a batch process, such as when...</a:t>
            </a:r>
          </a:p>
          <a:p>
            <a:pPr marL="171450" indent="-171450">
              <a:buFont typeface="Arial" pitchFamily="34" charset="0"/>
              <a:buChar char="•"/>
            </a:pPr>
            <a:r>
              <a:rPr lang="en-US" dirty="0" smtClean="0"/>
              <a:t>The process is run from the UI and the user clicks "Stop".</a:t>
            </a:r>
          </a:p>
          <a:p>
            <a:pPr marL="171450" indent="-171450">
              <a:buFont typeface="Arial" pitchFamily="34" charset="0"/>
              <a:buChar char="•"/>
            </a:pPr>
            <a:r>
              <a:rPr lang="en-US" dirty="0" smtClean="0"/>
              <a:t>The process is run from the API and the stop process command is received.</a:t>
            </a:r>
          </a:p>
          <a:p>
            <a:pPr marL="171450" indent="-171450">
              <a:buFont typeface="Arial" pitchFamily="34" charset="0"/>
              <a:buChar char="•"/>
            </a:pPr>
            <a:r>
              <a:rPr lang="en-US" dirty="0" smtClean="0"/>
              <a:t>The application is shutting down.</a:t>
            </a:r>
          </a:p>
          <a:p>
            <a:r>
              <a:rPr lang="en-US" dirty="0" smtClean="0"/>
              <a:t>When termination is requested, the application executes the </a:t>
            </a:r>
            <a:r>
              <a:rPr lang="en-US" dirty="0" err="1" smtClean="0"/>
              <a:t>requestTermination</a:t>
            </a:r>
            <a:r>
              <a:rPr lang="en-US" dirty="0" smtClean="0"/>
              <a:t>() method, which returns a </a:t>
            </a:r>
            <a:r>
              <a:rPr lang="en-US" dirty="0" err="1" smtClean="0"/>
              <a:t>boolean</a:t>
            </a:r>
            <a:r>
              <a:rPr lang="en-US" dirty="0" smtClean="0"/>
              <a:t>. The base class implementation returns True, which means "the batch process is able to terminate itself". False means "the batch process is not able to terminate itself".  Although you can return false from </a:t>
            </a:r>
            <a:r>
              <a:rPr lang="en-US" dirty="0" err="1" smtClean="0"/>
              <a:t>requestTermination</a:t>
            </a:r>
            <a:r>
              <a:rPr lang="en-US" dirty="0" smtClean="0"/>
              <a:t>(), Guidewire strongly recommends you design your batch process so that you actually can terminate the action. It is critical to understand that returning false does not prevent the application from shutting down or reducing the run level. The application delays shutdown or change in run level for a period of time. However, eventually the application continues to shut down or reduce run level independent of this batch process setting. Avoid this situation by designing your code to check and respect the </a:t>
            </a:r>
            <a:r>
              <a:rPr lang="en-US" dirty="0" err="1" smtClean="0"/>
              <a:t>TerminateRequested</a:t>
            </a:r>
            <a:r>
              <a:rPr lang="en-US" dirty="0" smtClean="0"/>
              <a:t> property.</a:t>
            </a:r>
          </a:p>
          <a:p>
            <a:endParaRPr lang="en-US" dirty="0" smtClean="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6936478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An operation is an arbitrary measure of batch process progress as defined by the developer. The Batch Process Info page automatically reports information on operations completed and fails. Custom batch processes can report operations completed and failed.</a:t>
            </a:r>
          </a:p>
          <a:p>
            <a:endParaRPr lang="en-US" dirty="0" smtClean="0"/>
          </a:p>
          <a:p>
            <a:r>
              <a:rPr lang="en-US" dirty="0" smtClean="0"/>
              <a:t>If an exception is thrown in a batch process, the batch process is considered "failed". The exception message is listed as the reason.</a:t>
            </a:r>
          </a:p>
          <a:p>
            <a:endParaRPr lang="en-US" dirty="0" smtClean="0"/>
          </a:p>
          <a:p>
            <a:r>
              <a:rPr lang="en-US" dirty="0" smtClean="0"/>
              <a:t>In addition to the properties and methods shown in the slide, the following are also available from </a:t>
            </a:r>
            <a:r>
              <a:rPr lang="en-US" dirty="0" err="1" smtClean="0"/>
              <a:t>BatchProcessBase</a:t>
            </a:r>
            <a:r>
              <a:rPr lang="en-US" dirty="0" smtClean="0"/>
              <a:t>:</a:t>
            </a:r>
          </a:p>
          <a:p>
            <a:pPr marL="171450" indent="-171450">
              <a:buFont typeface="Arial" pitchFamily="34" charset="0"/>
              <a:buChar char="•"/>
            </a:pPr>
            <a:r>
              <a:rPr lang="en-US" dirty="0" err="1" smtClean="0"/>
              <a:t>getDescription</a:t>
            </a:r>
            <a:r>
              <a:rPr lang="en-US" dirty="0" smtClean="0"/>
              <a:t>(), which returns the batch process type’s description. The base class gets this string from the batch's typekey description. You can override this method to change the description.</a:t>
            </a:r>
          </a:p>
          <a:p>
            <a:pPr marL="171450" indent="-171450">
              <a:buFont typeface="Arial" pitchFamily="34" charset="0"/>
              <a:buChar char="•"/>
            </a:pPr>
            <a:r>
              <a:rPr lang="en-US" dirty="0" err="1" smtClean="0"/>
              <a:t>getDetailStatus</a:t>
            </a:r>
            <a:r>
              <a:rPr lang="en-US" dirty="0" smtClean="0"/>
              <a:t>(), which returns the batch process type’s detailed status. The base class defines a default simple implementation. You can override this method to provide more useful detail information about the status of your batch process for the Admin user interface, particularly if your class experiences any error conditions.</a:t>
            </a:r>
          </a:p>
          <a:p>
            <a:pPr marL="171450" indent="-171450">
              <a:buFont typeface="Arial" pitchFamily="34" charset="0"/>
              <a:buChar char="•"/>
            </a:pPr>
            <a:r>
              <a:rPr lang="en-US" dirty="0"/>
              <a:t>.</a:t>
            </a:r>
            <a:r>
              <a:rPr lang="en-US" dirty="0" smtClean="0"/>
              <a:t>Progress, which dynamically returns the progress of the batch process. The base class returns text in the form "x of y" where x is the amount of operations completed and y is the total operations. If y is unknown, then just "x" is returned. These values are determined from the </a:t>
            </a:r>
            <a:r>
              <a:rPr lang="en-US" dirty="0" err="1" smtClean="0"/>
              <a:t>OperationsCompleted</a:t>
            </a:r>
            <a:r>
              <a:rPr lang="en-US" dirty="0" smtClean="0"/>
              <a:t> and </a:t>
            </a:r>
            <a:r>
              <a:rPr lang="en-US" dirty="0" err="1" smtClean="0"/>
              <a:t>OperationsExpected</a:t>
            </a:r>
            <a:r>
              <a:rPr lang="en-US" dirty="0" smtClean="0"/>
              <a:t> properties. You can override the Progress getter to change this behavior.</a:t>
            </a:r>
          </a:p>
          <a:p>
            <a:pPr marL="171450" indent="-171450">
              <a:buFont typeface="Arial" pitchFamily="34" charset="0"/>
              <a:buChar char="•"/>
            </a:pPr>
            <a:endParaRPr lang="en-US" dirty="0" smtClean="0"/>
          </a:p>
          <a:p>
            <a:r>
              <a:rPr lang="en-US" b="1" dirty="0" smtClean="0"/>
              <a:t>Exclusive: </a:t>
            </a:r>
            <a:r>
              <a:rPr lang="en-US" dirty="0" smtClean="0"/>
              <a:t>The Exclusive property determines whether another instance of this batch process can start while this process is running. The base class implementation always returns true. Set this property to false if you want to prevent multiple instances of this property from running.</a:t>
            </a:r>
          </a:p>
          <a:p>
            <a:endParaRPr lang="en-US" dirty="0" smtClean="0"/>
          </a:p>
          <a:p>
            <a:endParaRPr lang="en-US" dirty="0" smtClean="0"/>
          </a:p>
          <a:p>
            <a:endParaRPr lang="en-US" dirty="0" smtClean="0"/>
          </a:p>
          <a:p>
            <a:pPr marL="171450" indent="-171450">
              <a:buFont typeface="Arial" pitchFamily="34" charset="0"/>
              <a:buChar char="•"/>
            </a:pPr>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534485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661591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0554036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1807072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The above</a:t>
            </a:r>
            <a:r>
              <a:rPr lang="en-US" baseline="0" dirty="0" smtClean="0"/>
              <a:t> approach is a better approach compared to the previous approach as it keeps a limit on the query result and the bundle size.</a:t>
            </a:r>
          </a:p>
          <a:p>
            <a:r>
              <a:rPr lang="en-US" baseline="0" dirty="0" smtClean="0"/>
              <a:t>Optimal page and bundle size are dependent on DB, table and environment. Performance testing can help arrive at the right number.</a:t>
            </a:r>
          </a:p>
          <a:p>
            <a:r>
              <a:rPr lang="en-US" baseline="0" dirty="0" smtClean="0"/>
              <a:t>The above approach might still be slow for very large queries.</a:t>
            </a:r>
          </a:p>
          <a:p>
            <a:endParaRPr lang="en-US" baseline="0" dirty="0" smtClean="0"/>
          </a:p>
          <a:p>
            <a:r>
              <a:rPr lang="en-US" baseline="0" dirty="0" smtClean="0"/>
              <a:t>Query with paging is not ideal when the query result is modified such that it repositions the cursor, more details on this and alternate approach given in the next slide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1207526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sz="1200" b="0" i="0" u="none" strike="noStrike" kern="1200" dirty="0" smtClean="0">
                <a:solidFill>
                  <a:schemeClr val="tx1"/>
                </a:solidFill>
                <a:effectLst/>
                <a:latin typeface="Arial" pitchFamily="34" charset="0"/>
                <a:ea typeface="+mn-ea"/>
                <a:cs typeface="Arial" pitchFamily="34" charset="0"/>
              </a:rPr>
              <a:t>The BatchProcessBase.setChunkingById method has the following signature. </a:t>
            </a:r>
            <a:r>
              <a:rPr lang="en-US" sz="1200" b="0" i="0" u="none" strike="noStrike" kern="1200" dirty="0" err="1" smtClean="0">
                <a:solidFill>
                  <a:schemeClr val="tx1"/>
                </a:solidFill>
                <a:effectLst/>
                <a:latin typeface="Arial" pitchFamily="34" charset="0"/>
                <a:ea typeface="+mn-ea"/>
                <a:cs typeface="Arial" pitchFamily="34" charset="0"/>
              </a:rPr>
              <a:t>setChunkingById</a:t>
            </a:r>
            <a:r>
              <a:rPr lang="en-US" sz="1200" b="0" i="0" u="none" strike="noStrike" kern="1200" dirty="0" smtClean="0">
                <a:solidFill>
                  <a:schemeClr val="tx1"/>
                </a:solidFill>
                <a:effectLst/>
                <a:latin typeface="Arial" pitchFamily="34" charset="0"/>
                <a:ea typeface="+mn-ea"/>
                <a:cs typeface="Arial" pitchFamily="34" charset="0"/>
              </a:rPr>
              <a:t>(</a:t>
            </a:r>
            <a:r>
              <a:rPr lang="en-US" sz="1200" b="0" i="0" u="none" strike="noStrike" kern="1200" dirty="0" err="1" smtClean="0">
                <a:solidFill>
                  <a:schemeClr val="tx1"/>
                </a:solidFill>
                <a:effectLst/>
                <a:latin typeface="Arial" pitchFamily="34" charset="0"/>
                <a:ea typeface="+mn-ea"/>
                <a:cs typeface="Arial" pitchFamily="34" charset="0"/>
              </a:rPr>
              <a:t>IQueryResult</a:t>
            </a:r>
            <a:r>
              <a:rPr lang="en-US" sz="1200" b="0" i="0" u="none" strike="noStrike" kern="1200" dirty="0" smtClean="0">
                <a:solidFill>
                  <a:schemeClr val="tx1"/>
                </a:solidFill>
                <a:effectLst/>
                <a:latin typeface="Arial" pitchFamily="34" charset="0"/>
                <a:ea typeface="+mn-ea"/>
                <a:cs typeface="Arial" pitchFamily="34" charset="0"/>
              </a:rPr>
              <a:t> </a:t>
            </a:r>
            <a:r>
              <a:rPr lang="en-US" sz="1200" b="0" i="0" u="none" strike="noStrike" kern="1200" dirty="0" err="1" smtClean="0">
                <a:solidFill>
                  <a:schemeClr val="tx1"/>
                </a:solidFill>
                <a:effectLst/>
                <a:latin typeface="Arial" pitchFamily="34" charset="0"/>
                <a:ea typeface="+mn-ea"/>
                <a:cs typeface="Arial" pitchFamily="34" charset="0"/>
              </a:rPr>
              <a:t>queryResult</a:t>
            </a:r>
            <a:r>
              <a:rPr lang="en-US" sz="1200" b="0" i="0" u="none" strike="noStrike" kern="1200" dirty="0" smtClean="0">
                <a:solidFill>
                  <a:schemeClr val="tx1"/>
                </a:solidFill>
                <a:effectLst/>
                <a:latin typeface="Arial" pitchFamily="34" charset="0"/>
                <a:ea typeface="+mn-ea"/>
                <a:cs typeface="Arial" pitchFamily="34" charset="0"/>
              </a:rPr>
              <a:t>, </a:t>
            </a:r>
            <a:r>
              <a:rPr lang="en-US" sz="1200" b="0" i="0" u="none" strike="noStrike" kern="1200" dirty="0" err="1" smtClean="0">
                <a:solidFill>
                  <a:schemeClr val="tx1"/>
                </a:solidFill>
                <a:effectLst/>
                <a:latin typeface="Arial" pitchFamily="34" charset="0"/>
                <a:ea typeface="+mn-ea"/>
                <a:cs typeface="Arial" pitchFamily="34" charset="0"/>
              </a:rPr>
              <a:t>int</a:t>
            </a:r>
            <a:r>
              <a:rPr lang="en-US" sz="1200" b="0" i="0" u="none" strike="noStrike" kern="1200" dirty="0" smtClean="0">
                <a:solidFill>
                  <a:schemeClr val="tx1"/>
                </a:solidFill>
                <a:effectLst/>
                <a:latin typeface="Arial" pitchFamily="34" charset="0"/>
                <a:ea typeface="+mn-ea"/>
                <a:cs typeface="Arial" pitchFamily="34" charset="0"/>
              </a:rPr>
              <a:t> </a:t>
            </a:r>
            <a:r>
              <a:rPr lang="en-US" sz="1200" b="0" i="0" u="none" strike="noStrike" kern="1200" dirty="0" err="1" smtClean="0">
                <a:solidFill>
                  <a:schemeClr val="tx1"/>
                </a:solidFill>
                <a:effectLst/>
                <a:latin typeface="Arial" pitchFamily="34" charset="0"/>
                <a:ea typeface="+mn-ea"/>
                <a:cs typeface="Arial" pitchFamily="34" charset="0"/>
              </a:rPr>
              <a:t>chunkingSize</a:t>
            </a:r>
            <a:r>
              <a:rPr lang="en-US" sz="1200" b="0" i="0" u="none" strike="noStrike" kern="1200" dirty="0" smtClean="0">
                <a:solidFill>
                  <a:schemeClr val="tx1"/>
                </a:solidFill>
                <a:effectLst/>
                <a:latin typeface="Arial" pitchFamily="34" charset="0"/>
                <a:ea typeface="+mn-ea"/>
                <a:cs typeface="Arial" pitchFamily="34" charset="0"/>
              </a:rPr>
              <a:t>).The </a:t>
            </a:r>
            <a:r>
              <a:rPr lang="en-US" sz="1200" b="0" i="0" u="none" strike="noStrike" kern="1200" dirty="0" err="1" smtClean="0">
                <a:solidFill>
                  <a:schemeClr val="tx1"/>
                </a:solidFill>
                <a:effectLst/>
                <a:latin typeface="Arial" pitchFamily="34" charset="0"/>
                <a:ea typeface="+mn-ea"/>
                <a:cs typeface="Arial" pitchFamily="34" charset="0"/>
              </a:rPr>
              <a:t>setChunkingById</a:t>
            </a:r>
            <a:r>
              <a:rPr lang="en-US" sz="1200" b="0" i="0" u="none" strike="noStrike" kern="1200" dirty="0" smtClean="0">
                <a:solidFill>
                  <a:schemeClr val="tx1"/>
                </a:solidFill>
                <a:effectLst/>
                <a:latin typeface="Arial" pitchFamily="34" charset="0"/>
                <a:ea typeface="+mn-ea"/>
                <a:cs typeface="Arial" pitchFamily="34" charset="0"/>
              </a:rPr>
              <a:t> method returns nothing. Use the </a:t>
            </a:r>
            <a:r>
              <a:rPr lang="en-US" sz="1200" b="0" i="0" u="none" strike="noStrike" kern="1200" dirty="0" err="1" smtClean="0">
                <a:solidFill>
                  <a:schemeClr val="tx1"/>
                </a:solidFill>
                <a:effectLst/>
                <a:latin typeface="Arial" pitchFamily="34" charset="0"/>
                <a:ea typeface="+mn-ea"/>
                <a:cs typeface="Arial" pitchFamily="34" charset="0"/>
              </a:rPr>
              <a:t>setChunkingById</a:t>
            </a:r>
            <a:r>
              <a:rPr lang="en-US" sz="1200" b="0" i="0" u="none" strike="noStrike" kern="1200" dirty="0" smtClean="0">
                <a:solidFill>
                  <a:schemeClr val="tx1"/>
                </a:solidFill>
                <a:effectLst/>
                <a:latin typeface="Arial" pitchFamily="34" charset="0"/>
                <a:ea typeface="+mn-ea"/>
                <a:cs typeface="Arial" pitchFamily="34" charset="0"/>
              </a:rPr>
              <a:t> method </a:t>
            </a:r>
            <a:r>
              <a:rPr lang="en-US" sz="1200" b="0" i="0" u="none" strike="noStrike" kern="1200" dirty="0" err="1" smtClean="0">
                <a:solidFill>
                  <a:schemeClr val="tx1"/>
                </a:solidFill>
                <a:effectLst/>
                <a:latin typeface="Arial" pitchFamily="34" charset="0"/>
                <a:ea typeface="+mn-ea"/>
                <a:cs typeface="Arial" pitchFamily="34" charset="0"/>
              </a:rPr>
              <a:t>method</a:t>
            </a:r>
            <a:r>
              <a:rPr lang="en-US" sz="1200" b="0" i="0" u="none" strike="noStrike" kern="1200" dirty="0" smtClean="0">
                <a:solidFill>
                  <a:schemeClr val="tx1"/>
                </a:solidFill>
                <a:effectLst/>
                <a:latin typeface="Arial" pitchFamily="34" charset="0"/>
                <a:ea typeface="+mn-ea"/>
                <a:cs typeface="Arial" pitchFamily="34" charset="0"/>
              </a:rPr>
              <a:t> to set the query retrieve chunk size. After setting the chunking factor, the batch process iterates the </a:t>
            </a:r>
            <a:r>
              <a:rPr lang="en-US" sz="1200" b="0" i="0" u="none" strike="noStrike" kern="1200" dirty="0" err="1" smtClean="0">
                <a:solidFill>
                  <a:schemeClr val="tx1"/>
                </a:solidFill>
                <a:effectLst/>
                <a:latin typeface="Arial" pitchFamily="34" charset="0"/>
                <a:ea typeface="+mn-ea"/>
                <a:cs typeface="Arial" pitchFamily="34" charset="0"/>
              </a:rPr>
              <a:t>Gosu</a:t>
            </a:r>
            <a:r>
              <a:rPr lang="en-US" sz="1200" b="0" i="0" u="none" strike="noStrike" kern="1200" dirty="0" smtClean="0">
                <a:solidFill>
                  <a:schemeClr val="tx1"/>
                </a:solidFill>
                <a:effectLst/>
                <a:latin typeface="Arial" pitchFamily="34" charset="0"/>
                <a:ea typeface="+mn-ea"/>
                <a:cs typeface="Arial" pitchFamily="34" charset="0"/>
              </a:rPr>
              <a:t> query as usual. Beneath the surface, the query retrieves the data in chunks, using a series of separate SQL queries, rather than retrieving the data all at once in one massive block. The effect is very similar to the existing </a:t>
            </a:r>
            <a:r>
              <a:rPr lang="en-US" sz="1200" b="0" i="0" u="none" strike="noStrike" kern="1200" dirty="0" err="1" smtClean="0">
                <a:solidFill>
                  <a:schemeClr val="tx1"/>
                </a:solidFill>
                <a:effectLst/>
                <a:latin typeface="Arial" pitchFamily="34" charset="0"/>
                <a:ea typeface="+mn-ea"/>
                <a:cs typeface="Arial" pitchFamily="34" charset="0"/>
              </a:rPr>
              <a:t>setPageSize</a:t>
            </a:r>
            <a:r>
              <a:rPr lang="en-US" sz="1200" b="0" i="0" u="none" strike="noStrike" kern="1200" dirty="0" smtClean="0">
                <a:solidFill>
                  <a:schemeClr val="tx1"/>
                </a:solidFill>
                <a:effectLst/>
                <a:latin typeface="Arial" pitchFamily="34" charset="0"/>
                <a:ea typeface="+mn-ea"/>
                <a:cs typeface="Arial" pitchFamily="34" charset="0"/>
              </a:rPr>
              <a:t> method on the query API. However, the differences between the two methods include the following:</a:t>
            </a:r>
          </a:p>
          <a:p>
            <a:r>
              <a:rPr lang="en-US" sz="1200" b="0" i="0" u="none" strike="noStrike" kern="1200" dirty="0" smtClean="0">
                <a:solidFill>
                  <a:schemeClr val="tx1"/>
                </a:solidFill>
                <a:effectLst/>
                <a:latin typeface="Arial" pitchFamily="34" charset="0"/>
                <a:ea typeface="+mn-ea"/>
                <a:cs typeface="Arial" pitchFamily="34" charset="0"/>
              </a:rPr>
              <a:t>Method </a:t>
            </a:r>
            <a:r>
              <a:rPr lang="en-US" sz="1200" b="0" i="0" u="none" strike="noStrike" kern="1200" dirty="0" err="1" smtClean="0">
                <a:solidFill>
                  <a:schemeClr val="tx1"/>
                </a:solidFill>
                <a:effectLst/>
                <a:latin typeface="Arial" pitchFamily="34" charset="0"/>
                <a:ea typeface="+mn-ea"/>
                <a:cs typeface="Arial" pitchFamily="34" charset="0"/>
              </a:rPr>
              <a:t>Query.select</a:t>
            </a:r>
            <a:r>
              <a:rPr lang="en-US" sz="1200" b="0" i="0" u="none" strike="noStrike" kern="1200" dirty="0" smtClean="0">
                <a:solidFill>
                  <a:schemeClr val="tx1"/>
                </a:solidFill>
                <a:effectLst/>
                <a:latin typeface="Arial" pitchFamily="34" charset="0"/>
                <a:ea typeface="+mn-ea"/>
                <a:cs typeface="Arial" pitchFamily="34" charset="0"/>
              </a:rPr>
              <a:t>().</a:t>
            </a:r>
            <a:r>
              <a:rPr lang="en-US" sz="1200" b="0" i="0" u="none" strike="noStrike" kern="1200" dirty="0" err="1" smtClean="0">
                <a:solidFill>
                  <a:schemeClr val="tx1"/>
                </a:solidFill>
                <a:effectLst/>
                <a:latin typeface="Arial" pitchFamily="34" charset="0"/>
                <a:ea typeface="+mn-ea"/>
                <a:cs typeface="Arial" pitchFamily="34" charset="0"/>
              </a:rPr>
              <a:t>setPageSize</a:t>
            </a:r>
            <a:r>
              <a:rPr lang="en-US" sz="1200" b="0" i="0" u="none" strike="noStrike" kern="1200" dirty="0" smtClean="0">
                <a:solidFill>
                  <a:schemeClr val="tx1"/>
                </a:solidFill>
                <a:effectLst/>
                <a:latin typeface="Arial" pitchFamily="34" charset="0"/>
                <a:ea typeface="+mn-ea"/>
                <a:cs typeface="Arial" pitchFamily="34" charset="0"/>
              </a:rPr>
              <a:t> uses </a:t>
            </a:r>
            <a:r>
              <a:rPr lang="en-US" sz="1200" b="1" i="1" u="none" strike="noStrike" kern="1200" dirty="0" smtClean="0">
                <a:solidFill>
                  <a:schemeClr val="tx1"/>
                </a:solidFill>
                <a:effectLst/>
                <a:latin typeface="Arial" pitchFamily="34" charset="0"/>
                <a:ea typeface="+mn-ea"/>
                <a:cs typeface="Arial" pitchFamily="34" charset="0"/>
              </a:rPr>
              <a:t>ROWNUM (or its equivalent) to do the chunking.</a:t>
            </a:r>
          </a:p>
          <a:p>
            <a:r>
              <a:rPr lang="en-US" sz="1200" b="0" i="0" u="none" strike="noStrike" kern="1200" dirty="0" smtClean="0">
                <a:solidFill>
                  <a:schemeClr val="tx1"/>
                </a:solidFill>
                <a:effectLst/>
                <a:latin typeface="Arial" pitchFamily="34" charset="0"/>
                <a:ea typeface="+mn-ea"/>
                <a:cs typeface="Arial" pitchFamily="34" charset="0"/>
              </a:rPr>
              <a:t>Method BatchProcessBase.setChunkingById orders the results by ID and uses WHERE ID &gt; </a:t>
            </a:r>
            <a:r>
              <a:rPr lang="en-US" sz="1200" b="0" i="0" u="none" strike="noStrike" kern="1200" dirty="0" err="1" smtClean="0">
                <a:solidFill>
                  <a:schemeClr val="tx1"/>
                </a:solidFill>
                <a:effectLst/>
                <a:latin typeface="Arial" pitchFamily="34" charset="0"/>
                <a:ea typeface="+mn-ea"/>
                <a:cs typeface="Arial" pitchFamily="34" charset="0"/>
              </a:rPr>
              <a:t>lastChunkMaxId</a:t>
            </a:r>
            <a:r>
              <a:rPr lang="en-US" sz="1200" b="0" i="0" u="none" strike="noStrike" kern="1200" dirty="0" smtClean="0">
                <a:solidFill>
                  <a:schemeClr val="tx1"/>
                </a:solidFill>
                <a:effectLst/>
                <a:latin typeface="Arial" pitchFamily="34" charset="0"/>
                <a:ea typeface="+mn-ea"/>
                <a:cs typeface="Arial" pitchFamily="34" charset="0"/>
              </a:rPr>
              <a:t> to do the chunking.</a:t>
            </a:r>
          </a:p>
          <a:p>
            <a:r>
              <a:rPr lang="en-US" sz="1200" b="0" i="0" u="none" strike="noStrike" kern="1200" dirty="0" smtClean="0">
                <a:solidFill>
                  <a:schemeClr val="tx1"/>
                </a:solidFill>
                <a:effectLst/>
                <a:latin typeface="Arial" pitchFamily="34" charset="0"/>
                <a:ea typeface="+mn-ea"/>
                <a:cs typeface="Arial" pitchFamily="34" charset="0"/>
              </a:rPr>
              <a:t>Using ID chunking is much more robust than using the </a:t>
            </a:r>
            <a:r>
              <a:rPr lang="en-US" sz="1200" b="0" i="0" u="none" strike="noStrike" kern="1200" dirty="0" err="1" smtClean="0">
                <a:solidFill>
                  <a:schemeClr val="tx1"/>
                </a:solidFill>
                <a:effectLst/>
                <a:latin typeface="Arial" pitchFamily="34" charset="0"/>
                <a:ea typeface="+mn-ea"/>
                <a:cs typeface="Arial" pitchFamily="34" charset="0"/>
              </a:rPr>
              <a:t>setPageSize</a:t>
            </a:r>
            <a:r>
              <a:rPr lang="en-US" sz="1200" b="0" i="0" u="none" strike="noStrike" kern="1200" dirty="0" smtClean="0">
                <a:solidFill>
                  <a:schemeClr val="tx1"/>
                </a:solidFill>
                <a:effectLst/>
                <a:latin typeface="Arial" pitchFamily="34" charset="0"/>
                <a:ea typeface="+mn-ea"/>
                <a:cs typeface="Arial" pitchFamily="34" charset="0"/>
              </a:rPr>
              <a:t> method if your process alters the input to the original query, as batch processes often do. For example, suppose that your batch process looks for all unprocessed items of type X and then processes them. If you use ROWNUM chunking then the query for the first chunk functions correctly: WHERE ROWNUM &lt; </a:t>
            </a:r>
            <a:r>
              <a:rPr lang="en-US" sz="1200" b="0" i="1" u="none" strike="noStrike" kern="1200" dirty="0" err="1" smtClean="0">
                <a:solidFill>
                  <a:schemeClr val="tx1"/>
                </a:solidFill>
                <a:effectLst/>
                <a:latin typeface="Arial" pitchFamily="34" charset="0"/>
                <a:ea typeface="+mn-ea"/>
                <a:cs typeface="Arial" pitchFamily="34" charset="0"/>
              </a:rPr>
              <a:t>chunksize</a:t>
            </a:r>
            <a:endParaRPr lang="en-US" sz="1200" b="0" i="0" u="none" strike="noStrike" kern="1200" dirty="0" smtClean="0">
              <a:solidFill>
                <a:schemeClr val="tx1"/>
              </a:solidFill>
              <a:effectLst/>
              <a:latin typeface="Arial" pitchFamily="34" charset="0"/>
              <a:ea typeface="+mn-ea"/>
              <a:cs typeface="Arial" pitchFamily="34" charset="0"/>
            </a:endParaRPr>
          </a:p>
          <a:p>
            <a:r>
              <a:rPr lang="en-US" sz="1200" b="0" i="0" u="none" strike="noStrike" kern="1200" dirty="0" smtClean="0">
                <a:solidFill>
                  <a:schemeClr val="tx1"/>
                </a:solidFill>
                <a:effectLst/>
                <a:latin typeface="Arial" pitchFamily="34" charset="0"/>
                <a:ea typeface="+mn-ea"/>
                <a:cs typeface="Arial" pitchFamily="34" charset="0"/>
              </a:rPr>
              <a:t>After processing the returned items, the </a:t>
            </a:r>
            <a:r>
              <a:rPr lang="en-US" sz="1200" b="0" i="0" u="none" strike="noStrike" kern="1200" dirty="0" err="1" smtClean="0">
                <a:solidFill>
                  <a:schemeClr val="tx1"/>
                </a:solidFill>
                <a:effectLst/>
                <a:latin typeface="Arial" pitchFamily="34" charset="0"/>
                <a:ea typeface="+mn-ea"/>
                <a:cs typeface="Arial" pitchFamily="34" charset="0"/>
              </a:rPr>
              <a:t>Gosu</a:t>
            </a:r>
            <a:r>
              <a:rPr lang="en-US" sz="1200" b="0" i="0" u="none" strike="noStrike" kern="1200" dirty="0" smtClean="0">
                <a:solidFill>
                  <a:schemeClr val="tx1"/>
                </a:solidFill>
                <a:effectLst/>
                <a:latin typeface="Arial" pitchFamily="34" charset="0"/>
                <a:ea typeface="+mn-ea"/>
                <a:cs typeface="Arial" pitchFamily="34" charset="0"/>
              </a:rPr>
              <a:t> query will issue another SQL query: WHERE ROWNUM &gt;= </a:t>
            </a:r>
            <a:r>
              <a:rPr lang="en-US" sz="1200" b="0" i="1" u="none" strike="noStrike" kern="1200" dirty="0" err="1" smtClean="0">
                <a:solidFill>
                  <a:schemeClr val="tx1"/>
                </a:solidFill>
                <a:effectLst/>
                <a:latin typeface="Arial" pitchFamily="34" charset="0"/>
                <a:ea typeface="+mn-ea"/>
                <a:cs typeface="Arial" pitchFamily="34" charset="0"/>
              </a:rPr>
              <a:t>chunksize</a:t>
            </a:r>
            <a:r>
              <a:rPr lang="en-US" sz="1200" b="0" i="0" u="none" strike="noStrike" kern="1200" dirty="0" smtClean="0">
                <a:solidFill>
                  <a:schemeClr val="tx1"/>
                </a:solidFill>
                <a:effectLst/>
                <a:latin typeface="Arial" pitchFamily="34" charset="0"/>
                <a:ea typeface="+mn-ea"/>
                <a:cs typeface="Arial" pitchFamily="34" charset="0"/>
              </a:rPr>
              <a:t> AND ROWNUM &lt; </a:t>
            </a:r>
            <a:r>
              <a:rPr lang="en-US" sz="1200" b="0" i="1" u="none" strike="noStrike" kern="1200" dirty="0" err="1" smtClean="0">
                <a:solidFill>
                  <a:schemeClr val="tx1"/>
                </a:solidFill>
                <a:effectLst/>
                <a:latin typeface="Arial" pitchFamily="34" charset="0"/>
                <a:ea typeface="+mn-ea"/>
                <a:cs typeface="Arial" pitchFamily="34" charset="0"/>
              </a:rPr>
              <a:t>chunksize</a:t>
            </a:r>
            <a:r>
              <a:rPr lang="en-US" sz="1200" b="0" i="0" u="none" strike="noStrike" kern="1200" dirty="0" smtClean="0">
                <a:solidFill>
                  <a:schemeClr val="tx1"/>
                </a:solidFill>
                <a:effectLst/>
                <a:latin typeface="Arial" pitchFamily="34" charset="0"/>
                <a:ea typeface="+mn-ea"/>
                <a:cs typeface="Arial" pitchFamily="34" charset="0"/>
              </a:rPr>
              <a:t> * 2</a:t>
            </a:r>
          </a:p>
          <a:p>
            <a:r>
              <a:rPr lang="en-US" sz="1200" b="0" i="0" u="none" strike="noStrike" kern="1200" dirty="0" smtClean="0">
                <a:solidFill>
                  <a:schemeClr val="tx1"/>
                </a:solidFill>
                <a:effectLst/>
                <a:latin typeface="Arial" pitchFamily="34" charset="0"/>
                <a:ea typeface="+mn-ea"/>
                <a:cs typeface="Arial" pitchFamily="34" charset="0"/>
              </a:rPr>
              <a:t>Unfortunately, this query skips </a:t>
            </a:r>
            <a:r>
              <a:rPr lang="en-US" sz="1200" b="0" i="1" u="none" strike="noStrike" kern="1200" dirty="0" err="1" smtClean="0">
                <a:solidFill>
                  <a:schemeClr val="tx1"/>
                </a:solidFill>
                <a:effectLst/>
                <a:latin typeface="Arial" pitchFamily="34" charset="0"/>
                <a:ea typeface="+mn-ea"/>
                <a:cs typeface="Arial" pitchFamily="34" charset="0"/>
              </a:rPr>
              <a:t>chunksize</a:t>
            </a:r>
            <a:r>
              <a:rPr lang="en-US" sz="1200" b="0" i="0" u="none" strike="noStrike" kern="1200" dirty="0" smtClean="0">
                <a:solidFill>
                  <a:schemeClr val="tx1"/>
                </a:solidFill>
                <a:effectLst/>
                <a:latin typeface="Arial" pitchFamily="34" charset="0"/>
                <a:ea typeface="+mn-ea"/>
                <a:cs typeface="Arial" pitchFamily="34" charset="0"/>
              </a:rPr>
              <a:t> unprocessed items because processing the first chunk of data alters the input to the subsequent query.</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628361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2946239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843604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53911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dirty="0"/>
          </a:p>
        </p:txBody>
      </p:sp>
    </p:spTree>
    <p:extLst>
      <p:ext uri="{BB962C8B-B14F-4D97-AF65-F5344CB8AC3E}">
        <p14:creationId xmlns:p14="http://schemas.microsoft.com/office/powerpoint/2010/main" val="24522501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Answers</a:t>
            </a:r>
          </a:p>
          <a:p>
            <a:r>
              <a:rPr lang="en-US" dirty="0"/>
              <a:t>1) Scheduled, run from the UI, run from the web service API. Scheduled is the most common way.</a:t>
            </a:r>
          </a:p>
          <a:p>
            <a:r>
              <a:rPr lang="en-US" dirty="0"/>
              <a:t>2) The categories of a BatchProcessType typecode determines how the batch process can be run (from the UI, scheduled, from the API, or/or in maintenance level).</a:t>
            </a:r>
          </a:p>
          <a:p>
            <a:r>
              <a:rPr lang="en-US" dirty="0"/>
              <a:t>3) It depends on the application. For ClaimCenter, the plugin is already implemented and you only need to modify it. For all other applications, you must implement the plugin.</a:t>
            </a:r>
          </a:p>
          <a:p>
            <a:r>
              <a:rPr lang="en-US" dirty="0"/>
              <a:t>4) Only the </a:t>
            </a:r>
            <a:r>
              <a:rPr lang="en-US" dirty="0" err="1"/>
              <a:t>doWork</a:t>
            </a:r>
            <a:r>
              <a:rPr lang="en-US" dirty="0"/>
              <a:t>() method is required.</a:t>
            </a:r>
          </a:p>
          <a:p>
            <a:r>
              <a:rPr lang="en-US" dirty="0"/>
              <a:t>5) The code must create a new bundle using runWithNewBundle() and add the entities to be changes and committed to that bundle.</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a:p>
        </p:txBody>
      </p:sp>
    </p:spTree>
    <p:extLst>
      <p:ext uri="{BB962C8B-B14F-4D97-AF65-F5344CB8AC3E}">
        <p14:creationId xmlns:p14="http://schemas.microsoft.com/office/powerpoint/2010/main" val="4120187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3200" b="1" i="0" u="none" strike="noStrike" kern="1200" cap="none" spc="0" normalizeH="0" baseline="0" noProof="0" dirty="0" smtClean="0">
                <a:ln>
                  <a:noFill/>
                </a:ln>
                <a:solidFill>
                  <a:srgbClr val="04628C"/>
                </a:solidFill>
                <a:effectLst/>
                <a:uLnTx/>
                <a:uFillTx/>
                <a:latin typeface="Arial"/>
                <a:cs typeface="Arial" pitchFamily="34" charset="0"/>
              </a:rPr>
              <a:t>Lesson</a:t>
            </a:r>
            <a:r>
              <a:rPr kumimoji="0" lang="en-US" sz="3200" b="1" i="0" u="none" strike="noStrike" kern="1200" cap="none" spc="0" normalizeH="0" baseline="0" noProof="0" dirty="0" smtClean="0">
                <a:ln>
                  <a:noFill/>
                </a:ln>
                <a:solidFill>
                  <a:srgbClr val="04628C"/>
                </a:solidFill>
                <a:effectLst/>
                <a:uLnTx/>
                <a:uFillTx/>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3200" b="1" i="0" u="none" strike="noStrike" kern="1200" cap="none" spc="0" normalizeH="0" baseline="0" noProof="0" dirty="0" smtClean="0">
                <a:ln>
                  <a:noFill/>
                </a:ln>
                <a:solidFill>
                  <a:srgbClr val="04628C"/>
                </a:solidFill>
                <a:effectLst/>
                <a:uLnTx/>
                <a:uFillTx/>
                <a:latin typeface="Arial"/>
                <a:cs typeface="Arial" pitchFamily="34" charset="0"/>
              </a:rPr>
              <a:t>Lesson</a:t>
            </a:r>
            <a:r>
              <a:rPr kumimoji="0" lang="en-US" sz="3200" b="1" i="0" u="none" strike="noStrike" kern="1200" cap="none" spc="0" normalizeH="0" baseline="0" noProof="0" dirty="0" smtClean="0">
                <a:ln>
                  <a:noFill/>
                </a:ln>
                <a:solidFill>
                  <a:srgbClr val="04628C"/>
                </a:solidFill>
                <a:effectLst/>
                <a:uLnTx/>
                <a:uFillTx/>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3200" b="1" i="0" u="none" strike="noStrike" kern="1200" cap="none" spc="0" normalizeH="0" baseline="0" noProof="0" dirty="0" smtClean="0">
                <a:ln>
                  <a:noFill/>
                </a:ln>
                <a:solidFill>
                  <a:srgbClr val="04628C"/>
                </a:solidFill>
                <a:effectLst/>
                <a:uLnTx/>
                <a:uFillTx/>
                <a:latin typeface="Arial"/>
                <a:cs typeface="Arial" pitchFamily="34" charset="0"/>
              </a:rPr>
              <a:t>Lesson</a:t>
            </a:r>
            <a:r>
              <a:rPr kumimoji="0" lang="en-US" sz="3200" b="1" i="0" u="none" strike="noStrike" kern="1200" cap="none" spc="0" normalizeH="0" baseline="0" noProof="0" dirty="0" smtClean="0">
                <a:ln>
                  <a:noFill/>
                </a:ln>
                <a:solidFill>
                  <a:srgbClr val="04628C"/>
                </a:solidFill>
                <a:effectLst/>
                <a:uLnTx/>
                <a:uFillTx/>
                <a:latin typeface="Arial" pitchFamily="34" charset="0"/>
                <a:cs typeface="Arial" pitchFamily="34" charset="0"/>
              </a:rPr>
              <a:t> outline</a:t>
            </a:r>
          </a:p>
        </p:txBody>
      </p:sp>
    </p:spTree>
    <p:extLst>
      <p:ext uri="{BB962C8B-B14F-4D97-AF65-F5344CB8AC3E}">
        <p14:creationId xmlns:p14="http://schemas.microsoft.com/office/powerpoint/2010/main" val="2728738997"/>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46555997"/>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658368" y="118873"/>
            <a:ext cx="1109472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658368" y="486102"/>
            <a:ext cx="1109472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620749484"/>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3625853254"/>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9543656"/>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09895012"/>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dirty="0" smtClean="0"/>
              <a:t>\</a:t>
            </a:r>
            <a:endParaRPr lang="en-US" dirty="0"/>
          </a:p>
        </p:txBody>
      </p:sp>
    </p:spTree>
    <p:extLst>
      <p:ext uri="{BB962C8B-B14F-4D97-AF65-F5344CB8AC3E}">
        <p14:creationId xmlns:p14="http://schemas.microsoft.com/office/powerpoint/2010/main" val="3187333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339417" y="914402"/>
            <a:ext cx="5444067"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16671256"/>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8229600" y="914402"/>
            <a:ext cx="353568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971458883"/>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Notes Only">
    <p:spTree>
      <p:nvGrpSpPr>
        <p:cNvPr id="1" name=""/>
        <p:cNvGrpSpPr/>
        <p:nvPr/>
      </p:nvGrpSpPr>
      <p:grpSpPr>
        <a:xfrm>
          <a:off x="0" y="0"/>
          <a:ext cx="0" cy="0"/>
          <a:chOff x="0" y="0"/>
          <a:chExt cx="0" cy="0"/>
        </a:xfrm>
      </p:grpSpPr>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26438611"/>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smtClean="0"/>
              <a:t>Edit Master text styles</a:t>
            </a:r>
          </a:p>
        </p:txBody>
      </p:sp>
    </p:spTree>
    <p:extLst>
      <p:ext uri="{BB962C8B-B14F-4D97-AF65-F5344CB8AC3E}">
        <p14:creationId xmlns:p14="http://schemas.microsoft.com/office/powerpoint/2010/main" val="405839280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Review Questions Standard">
    <p:spTree>
      <p:nvGrpSpPr>
        <p:cNvPr id="1" name=""/>
        <p:cNvGrpSpPr/>
        <p:nvPr/>
      </p:nvGrpSpPr>
      <p:grpSpPr>
        <a:xfrm>
          <a:off x="0" y="0"/>
          <a:ext cx="0" cy="0"/>
          <a:chOff x="0" y="0"/>
          <a:chExt cx="0" cy="0"/>
        </a:xfrm>
      </p:grpSpPr>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1085320129"/>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spTree>
    <p:extLst>
      <p:ext uri="{BB962C8B-B14F-4D97-AF65-F5344CB8AC3E}">
        <p14:creationId xmlns:p14="http://schemas.microsoft.com/office/powerpoint/2010/main" val="360921900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3200" b="1" i="0" u="none" strike="noStrike" kern="1200" cap="none" spc="0" normalizeH="0" baseline="0" noProof="0" dirty="0" smtClean="0">
                <a:ln>
                  <a:noFill/>
                </a:ln>
                <a:solidFill>
                  <a:srgbClr val="04628C"/>
                </a:solidFill>
                <a:effectLst/>
                <a:uLnTx/>
                <a:uFillTx/>
                <a:latin typeface="Arial"/>
                <a:cs typeface="Arial" pitchFamily="34" charset="0"/>
              </a:rPr>
              <a:t>Lesson</a:t>
            </a:r>
            <a:r>
              <a:rPr kumimoji="0" lang="en-US" sz="3200" b="1" i="0" u="none" strike="noStrike" kern="1200" cap="none" spc="0" normalizeH="0" baseline="0" noProof="0" dirty="0" smtClean="0">
                <a:ln>
                  <a:noFill/>
                </a:ln>
                <a:solidFill>
                  <a:srgbClr val="04628C"/>
                </a:solidFill>
                <a:effectLst/>
                <a:uLnTx/>
                <a:uFillTx/>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marR="0" lvl="0" indent="-285750" algn="l" defTabSz="914400" rtl="0" eaLnBrk="0" fontAlgn="base" latinLnBrk="0" hangingPunct="0">
              <a:lnSpc>
                <a:spcPct val="100000"/>
              </a:lnSpc>
              <a:spcBef>
                <a:spcPct val="40000"/>
              </a:spcBef>
              <a:spcAft>
                <a:spcPct val="0"/>
              </a:spcAft>
              <a:buClr>
                <a:srgbClr val="04628C"/>
              </a:buClr>
              <a:buSzPct val="90000"/>
              <a:buFont typeface="Arial" pitchFamily="34" charset="0"/>
              <a:buChar char="•"/>
              <a:tabLst/>
              <a:defRPr/>
            </a:pPr>
            <a:r>
              <a:rPr kumimoji="0" lang="en-US" sz="2400" b="0" i="0" u="none" strike="noStrike" kern="1200" cap="none" spc="0" normalizeH="0" baseline="0" noProof="0" dirty="0" smtClean="0">
                <a:ln>
                  <a:noFill/>
                </a:ln>
                <a:solidFill>
                  <a:srgbClr val="000000"/>
                </a:solidFill>
                <a:effectLst/>
                <a:uLnTx/>
                <a:uFillTx/>
                <a:latin typeface="Aria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209250250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r>
              <a:rPr lang="en-US" sz="1800" i="1" dirty="0" smtClean="0">
                <a:solidFill>
                  <a:srgbClr val="B2B2B2"/>
                </a:solidFill>
                <a:cs typeface="Times New Roman" pitchFamily="18" charset="0"/>
              </a:rPr>
              <a:t> </a:t>
            </a:r>
            <a:endParaRPr lang="en-US" sz="1800" i="1" dirty="0">
              <a:solidFill>
                <a:srgbClr val="B2B2B2"/>
              </a:solidFill>
              <a:cs typeface="Times New Roman" pitchFamily="18" charset="0"/>
            </a:endParaRPr>
          </a:p>
        </p:txBody>
      </p:sp>
    </p:spTree>
    <p:extLst>
      <p:ext uri="{BB962C8B-B14F-4D97-AF65-F5344CB8AC3E}">
        <p14:creationId xmlns:p14="http://schemas.microsoft.com/office/powerpoint/2010/main" val="3728675585"/>
      </p:ext>
    </p:extLst>
  </p:cSld>
  <p:clrMap bg1="dk2" tx1="lt1" bg2="dk1" tx2="lt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7" r:id="rId8"/>
    <p:sldLayoutId id="2147483818" r:id="rId9"/>
    <p:sldLayoutId id="2147483819" r:id="rId10"/>
    <p:sldLayoutId id="2147483821" r:id="rId11"/>
    <p:sldLayoutId id="2147483822" r:id="rId12"/>
    <p:sldLayoutId id="2147483823" r:id="rId13"/>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pic>
        <p:nvPicPr>
          <p:cNvPr id="1031" name="pic Logo Text" descr="guidewir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1023651012"/>
      </p:ext>
    </p:extLst>
  </p:cSld>
  <p:clrMap bg1="dk2" tx1="lt1" bg2="dk1" tx2="lt2" accent1="accent1" accent2="accent2" accent3="accent3" accent4="accent4" accent5="accent5" accent6="accent6" hlink="hlink" folHlink="folHlink"/>
  <p:sldLayoutIdLst>
    <p:sldLayoutId id="2147483825" r:id="rId1"/>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image" Target="../media/image30.emf"/><Relationship Id="rId4" Type="http://schemas.openxmlformats.org/officeDocument/2006/relationships/image" Target="../media/image29.emf"/></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smtClean="0">
                <a:solidFill>
                  <a:srgbClr val="04628C"/>
                </a:solidFill>
              </a:rPr>
              <a:t>InsuranceSuite 10 Integration</a:t>
            </a:r>
            <a:endParaRPr lang="en-US" dirty="0">
              <a:solidFill>
                <a:srgbClr val="04628C"/>
              </a:solidFill>
            </a:endParaRPr>
          </a:p>
        </p:txBody>
      </p:sp>
      <p:sp>
        <p:nvSpPr>
          <p:cNvPr id="6" name="Footer Placeholder 5"/>
          <p:cNvSpPr>
            <a:spLocks noGrp="1"/>
          </p:cNvSpPr>
          <p:nvPr>
            <p:ph type="ftr" sz="quarter" idx="3"/>
          </p:nvPr>
        </p:nvSpPr>
        <p:spPr/>
        <p:txBody>
          <a:bodyPr/>
          <a:lstStyle/>
          <a:p>
            <a:r>
              <a:rPr lang="en-US" dirty="0" smtClean="0">
                <a:solidFill>
                  <a:srgbClr val="04628C"/>
                </a:solidFill>
              </a:rPr>
              <a:t>© 2020 Cognizant</a:t>
            </a:r>
            <a:endParaRPr lang="en-US" dirty="0">
              <a:solidFill>
                <a:srgbClr val="04628C"/>
              </a:solidFill>
            </a:endParaRP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smtClean="0">
                <a:solidFill>
                  <a:srgbClr val="00B0F0"/>
                </a:solidFill>
              </a:rPr>
              <a:t>BATCH PROCESSESS</a:t>
            </a:r>
            <a:endParaRPr lang="en-US" sz="2400" b="0" dirty="0">
              <a:solidFill>
                <a:srgbClr val="00B0F0"/>
              </a:solidFill>
              <a:ea typeface="+mn-ea"/>
            </a:endParaRPr>
          </a:p>
        </p:txBody>
      </p:sp>
    </p:spTree>
    <p:extLst>
      <p:ext uri="{BB962C8B-B14F-4D97-AF65-F5344CB8AC3E}">
        <p14:creationId xmlns:p14="http://schemas.microsoft.com/office/powerpoint/2010/main" val="35155937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Batch processes overview</a:t>
            </a:r>
          </a:p>
          <a:p>
            <a:r>
              <a:rPr lang="en-US" dirty="0"/>
              <a:t>Running batch processes</a:t>
            </a:r>
          </a:p>
          <a:p>
            <a:r>
              <a:rPr lang="en-US" dirty="0"/>
              <a:t>Custom batch processes</a:t>
            </a:r>
          </a:p>
          <a:p>
            <a:endParaRPr lang="en-US" dirty="0"/>
          </a:p>
        </p:txBody>
      </p:sp>
    </p:spTree>
    <p:extLst>
      <p:ext uri="{BB962C8B-B14F-4D97-AF65-F5344CB8AC3E}">
        <p14:creationId xmlns:p14="http://schemas.microsoft.com/office/powerpoint/2010/main" val="2202608984"/>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Batch processes</a:t>
            </a:r>
          </a:p>
        </p:txBody>
      </p:sp>
      <p:sp>
        <p:nvSpPr>
          <p:cNvPr id="5" name="Content Placeholder 4"/>
          <p:cNvSpPr>
            <a:spLocks noGrp="1"/>
          </p:cNvSpPr>
          <p:nvPr>
            <p:ph idx="1"/>
          </p:nvPr>
        </p:nvSpPr>
        <p:spPr/>
        <p:txBody>
          <a:bodyPr/>
          <a:lstStyle/>
          <a:p>
            <a:r>
              <a:rPr lang="en-US" dirty="0"/>
              <a:t>A </a:t>
            </a:r>
            <a:r>
              <a:rPr lang="en-US" b="1" dirty="0"/>
              <a:t>batch process </a:t>
            </a:r>
            <a:r>
              <a:rPr lang="en-US" dirty="0"/>
              <a:t>is a background process that performs tasks independent of a user</a:t>
            </a:r>
          </a:p>
          <a:p>
            <a:pPr lvl="1"/>
            <a:r>
              <a:rPr lang="en-US" dirty="0"/>
              <a:t>Typically, a batch process runs on a periodic schedule</a:t>
            </a:r>
          </a:p>
          <a:p>
            <a:r>
              <a:rPr lang="en-US" dirty="0"/>
              <a:t>Two type of batch process</a:t>
            </a:r>
          </a:p>
          <a:p>
            <a:pPr lvl="1"/>
            <a:r>
              <a:rPr lang="en-US" dirty="0"/>
              <a:t>Predefined</a:t>
            </a:r>
          </a:p>
          <a:p>
            <a:pPr lvl="1"/>
            <a:r>
              <a:rPr lang="en-US" dirty="0"/>
              <a:t>Custom</a:t>
            </a:r>
          </a:p>
          <a:p>
            <a:pPr lvl="1"/>
            <a:endParaRPr lang="en-US" dirty="0"/>
          </a:p>
        </p:txBody>
      </p:sp>
      <p:pic>
        <p:nvPicPr>
          <p:cNvPr id="2" name="Picture 1">
            <a:extLst>
              <a:ext uri="{FF2B5EF4-FFF2-40B4-BE49-F238E27FC236}">
                <a16:creationId xmlns:a16="http://schemas.microsoft.com/office/drawing/2014/main" id="{32079801-73E1-4438-82BE-417F9B0098B0}"/>
              </a:ext>
            </a:extLst>
          </p:cNvPr>
          <p:cNvPicPr>
            <a:picLocks noChangeAspect="1"/>
          </p:cNvPicPr>
          <p:nvPr/>
        </p:nvPicPr>
        <p:blipFill>
          <a:blip r:embed="rId3"/>
          <a:stretch>
            <a:fillRect/>
          </a:stretch>
        </p:blipFill>
        <p:spPr>
          <a:xfrm>
            <a:off x="2017777" y="862563"/>
            <a:ext cx="8343837" cy="2401634"/>
          </a:xfrm>
          <a:prstGeom prst="rect">
            <a:avLst/>
          </a:prstGeom>
        </p:spPr>
      </p:pic>
    </p:spTree>
    <p:extLst>
      <p:ext uri="{BB962C8B-B14F-4D97-AF65-F5344CB8AC3E}">
        <p14:creationId xmlns:p14="http://schemas.microsoft.com/office/powerpoint/2010/main" val="1527526515"/>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Predefined batch processes</a:t>
            </a:r>
          </a:p>
        </p:txBody>
      </p:sp>
      <p:sp>
        <p:nvSpPr>
          <p:cNvPr id="5" name="Content Placeholder 4"/>
          <p:cNvSpPr>
            <a:spLocks noGrp="1"/>
          </p:cNvSpPr>
          <p:nvPr>
            <p:ph idx="1"/>
          </p:nvPr>
        </p:nvSpPr>
        <p:spPr>
          <a:xfrm>
            <a:off x="692151" y="861824"/>
            <a:ext cx="11091333" cy="5538976"/>
          </a:xfrm>
        </p:spPr>
        <p:txBody>
          <a:bodyPr/>
          <a:lstStyle/>
          <a:p>
            <a:r>
              <a:rPr lang="en-US" dirty="0"/>
              <a:t>A </a:t>
            </a:r>
            <a:r>
              <a:rPr lang="en-US" b="1" dirty="0"/>
              <a:t>predefined batch process </a:t>
            </a:r>
            <a:r>
              <a:rPr lang="en-US" dirty="0"/>
              <a:t>is a batch process that is configured in the base application</a:t>
            </a:r>
          </a:p>
          <a:p>
            <a:r>
              <a:rPr lang="en-US" dirty="0"/>
              <a:t>Examples:</a:t>
            </a:r>
          </a:p>
          <a:p>
            <a:pPr lvl="1"/>
            <a:r>
              <a:rPr lang="en-US" dirty="0"/>
              <a:t>Contact Manager: Duplicate Contacts Finder</a:t>
            </a:r>
          </a:p>
          <a:p>
            <a:pPr lvl="1"/>
            <a:r>
              <a:rPr lang="en-US" dirty="0"/>
              <a:t>ClaimCenter: Claim exception</a:t>
            </a:r>
          </a:p>
          <a:p>
            <a:pPr lvl="1"/>
            <a:r>
              <a:rPr lang="en-US" dirty="0"/>
              <a:t>PolicyCenter: Policy renewal start</a:t>
            </a:r>
          </a:p>
          <a:p>
            <a:pPr lvl="1"/>
            <a:r>
              <a:rPr lang="en-US" dirty="0"/>
              <a:t>BillingCenter: Account inactivity</a:t>
            </a:r>
          </a:p>
          <a:p>
            <a:r>
              <a:rPr lang="en-US" dirty="0"/>
              <a:t>Developers can schedule or manually run each process but cannot directly configure what each does</a:t>
            </a:r>
          </a:p>
          <a:p>
            <a:pPr lvl="1"/>
            <a:r>
              <a:rPr lang="en-US" dirty="0"/>
              <a:t>Some processes can be indirectly configured because they trigger configurable elements</a:t>
            </a:r>
          </a:p>
        </p:txBody>
      </p:sp>
    </p:spTree>
    <p:extLst>
      <p:ext uri="{BB962C8B-B14F-4D97-AF65-F5344CB8AC3E}">
        <p14:creationId xmlns:p14="http://schemas.microsoft.com/office/powerpoint/2010/main" val="698479212"/>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 batch processes</a:t>
            </a:r>
          </a:p>
        </p:txBody>
      </p:sp>
      <p:sp>
        <p:nvSpPr>
          <p:cNvPr id="3" name="Content Placeholder 2"/>
          <p:cNvSpPr>
            <a:spLocks noGrp="1"/>
          </p:cNvSpPr>
          <p:nvPr>
            <p:ph idx="1"/>
          </p:nvPr>
        </p:nvSpPr>
        <p:spPr>
          <a:xfrm>
            <a:off x="692151" y="685800"/>
            <a:ext cx="11091333" cy="5715000"/>
          </a:xfrm>
        </p:spPr>
        <p:txBody>
          <a:bodyPr/>
          <a:lstStyle/>
          <a:p>
            <a:r>
              <a:rPr lang="en-US" dirty="0"/>
              <a:t>A </a:t>
            </a:r>
            <a:r>
              <a:rPr lang="en-US" b="1" dirty="0"/>
              <a:t>custom batch process </a:t>
            </a:r>
            <a:r>
              <a:rPr lang="en-US" dirty="0"/>
              <a:t>is a batch process created by an integration developer</a:t>
            </a:r>
          </a:p>
          <a:p>
            <a:r>
              <a:rPr lang="en-US" dirty="0"/>
              <a:t>Allows for periodic scheduling of work beyond what the base application provides</a:t>
            </a:r>
          </a:p>
          <a:p>
            <a:r>
              <a:rPr lang="en-US" dirty="0"/>
              <a:t>Is fully configurable</a:t>
            </a:r>
          </a:p>
          <a:p>
            <a:r>
              <a:rPr lang="en-US" dirty="0"/>
              <a:t>Can include triggers to integration points</a:t>
            </a:r>
          </a:p>
          <a:p>
            <a:endParaRPr lang="en-US" dirty="0"/>
          </a:p>
        </p:txBody>
      </p:sp>
    </p:spTree>
    <p:extLst>
      <p:ext uri="{BB962C8B-B14F-4D97-AF65-F5344CB8AC3E}">
        <p14:creationId xmlns:p14="http://schemas.microsoft.com/office/powerpoint/2010/main" val="2475863631"/>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Executing batch processes</a:t>
            </a:r>
          </a:p>
        </p:txBody>
      </p:sp>
      <p:sp>
        <p:nvSpPr>
          <p:cNvPr id="3" name="Content Placeholder 2"/>
          <p:cNvSpPr>
            <a:spLocks noGrp="1"/>
          </p:cNvSpPr>
          <p:nvPr>
            <p:ph idx="1"/>
          </p:nvPr>
        </p:nvSpPr>
        <p:spPr>
          <a:xfrm>
            <a:off x="692151" y="861824"/>
            <a:ext cx="11091333" cy="5538976"/>
          </a:xfrm>
        </p:spPr>
        <p:txBody>
          <a:bodyPr/>
          <a:lstStyle/>
          <a:p>
            <a:r>
              <a:rPr lang="en-US" dirty="0"/>
              <a:t>Common ways to execute a batch processes</a:t>
            </a:r>
          </a:p>
          <a:p>
            <a:pPr lvl="1"/>
            <a:r>
              <a:rPr lang="en-US" dirty="0"/>
              <a:t>Periodically based on a schedule (the most common use)</a:t>
            </a:r>
          </a:p>
          <a:p>
            <a:pPr lvl="1"/>
            <a:r>
              <a:rPr lang="en-US" dirty="0"/>
              <a:t>Immediately from the Internal Tools UI</a:t>
            </a:r>
          </a:p>
          <a:p>
            <a:pPr lvl="1"/>
            <a:r>
              <a:rPr lang="en-US" dirty="0"/>
              <a:t>From an API call such as a web service or command line</a:t>
            </a:r>
          </a:p>
          <a:p>
            <a:r>
              <a:rPr lang="en-US" dirty="0"/>
              <a:t>Every execution option is not necessarily configured for every process</a:t>
            </a:r>
          </a:p>
          <a:p>
            <a:pPr lvl="1">
              <a:buFont typeface="Arial" panose="020B0604020202020204" pitchFamily="34" charset="0"/>
              <a:buChar char="•"/>
            </a:pPr>
            <a:r>
              <a:rPr lang="en-US" dirty="0"/>
              <a:t>Duplicate Contacts Finder batch process:</a:t>
            </a:r>
          </a:p>
          <a:p>
            <a:pPr lvl="2"/>
            <a:r>
              <a:rPr lang="en-US" dirty="0"/>
              <a:t>Can be run from the UI and scheduled</a:t>
            </a:r>
          </a:p>
          <a:p>
            <a:pPr lvl="2"/>
            <a:r>
              <a:rPr lang="en-US" dirty="0"/>
              <a:t>Not configured to be executed from an API</a:t>
            </a:r>
          </a:p>
          <a:p>
            <a:pPr lvl="1"/>
            <a:endParaRPr lang="en-US" dirty="0"/>
          </a:p>
          <a:p>
            <a:endParaRPr lang="en-US" dirty="0"/>
          </a:p>
        </p:txBody>
      </p:sp>
    </p:spTree>
    <p:extLst>
      <p:ext uri="{BB962C8B-B14F-4D97-AF65-F5344CB8AC3E}">
        <p14:creationId xmlns:p14="http://schemas.microsoft.com/office/powerpoint/2010/main" val="362403900"/>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process execution options</a:t>
            </a:r>
          </a:p>
        </p:txBody>
      </p:sp>
      <p:sp>
        <p:nvSpPr>
          <p:cNvPr id="3" name="Content Placeholder 2"/>
          <p:cNvSpPr>
            <a:spLocks noGrp="1"/>
          </p:cNvSpPr>
          <p:nvPr>
            <p:ph idx="1"/>
          </p:nvPr>
        </p:nvSpPr>
        <p:spPr>
          <a:xfrm>
            <a:off x="658368" y="5486400"/>
            <a:ext cx="9703245" cy="533400"/>
          </a:xfrm>
        </p:spPr>
        <p:txBody>
          <a:bodyPr/>
          <a:lstStyle/>
          <a:p>
            <a:r>
              <a:rPr lang="en-US" dirty="0"/>
              <a:t>Every batch process that is UI runnable is inherently API runnable</a:t>
            </a:r>
            <a:endParaRPr lang="en-US" sz="2500" dirty="0"/>
          </a:p>
          <a:p>
            <a:pPr lvl="1"/>
            <a:endParaRPr lang="en-US" dirty="0"/>
          </a:p>
        </p:txBody>
      </p:sp>
      <p:pic>
        <p:nvPicPr>
          <p:cNvPr id="10" name="Picture 9">
            <a:extLst>
              <a:ext uri="{FF2B5EF4-FFF2-40B4-BE49-F238E27FC236}">
                <a16:creationId xmlns:a16="http://schemas.microsoft.com/office/drawing/2014/main" id="{1F1A2C0C-C483-41F6-9FFD-B7F16EA896A1}"/>
              </a:ext>
            </a:extLst>
          </p:cNvPr>
          <p:cNvPicPr>
            <a:picLocks noChangeAspect="1"/>
          </p:cNvPicPr>
          <p:nvPr/>
        </p:nvPicPr>
        <p:blipFill>
          <a:blip r:embed="rId3"/>
          <a:stretch>
            <a:fillRect/>
          </a:stretch>
        </p:blipFill>
        <p:spPr>
          <a:xfrm>
            <a:off x="2438400" y="762001"/>
            <a:ext cx="7126224" cy="4462463"/>
          </a:xfrm>
          <a:prstGeom prst="rect">
            <a:avLst/>
          </a:prstGeom>
        </p:spPr>
      </p:pic>
    </p:spTree>
    <p:extLst>
      <p:ext uri="{BB962C8B-B14F-4D97-AF65-F5344CB8AC3E}">
        <p14:creationId xmlns:p14="http://schemas.microsoft.com/office/powerpoint/2010/main" val="22802143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processes and messaging</a:t>
            </a:r>
          </a:p>
        </p:txBody>
      </p:sp>
      <p:sp>
        <p:nvSpPr>
          <p:cNvPr id="3" name="Content Placeholder 2"/>
          <p:cNvSpPr>
            <a:spLocks noGrp="1"/>
          </p:cNvSpPr>
          <p:nvPr>
            <p:ph sz="half" idx="2"/>
          </p:nvPr>
        </p:nvSpPr>
        <p:spPr>
          <a:xfrm>
            <a:off x="6629400" y="782545"/>
            <a:ext cx="5123688" cy="5475289"/>
          </a:xfrm>
        </p:spPr>
        <p:txBody>
          <a:bodyPr/>
          <a:lstStyle/>
          <a:p>
            <a:pPr>
              <a:buFont typeface="Arial" panose="020B0604020202020204" pitchFamily="34" charset="0"/>
              <a:buChar char="•"/>
            </a:pPr>
            <a:r>
              <a:rPr lang="en-US" dirty="0"/>
              <a:t>You can use Guidewire messaging to launch external processes during a batch process</a:t>
            </a:r>
          </a:p>
          <a:p>
            <a:pPr lvl="1">
              <a:buFont typeface="Arial" panose="020B0604020202020204" pitchFamily="34" charset="0"/>
              <a:buChar char="•"/>
            </a:pPr>
            <a:r>
              <a:rPr lang="en-US" dirty="0"/>
              <a:t>As a batch process starts, the application fires a </a:t>
            </a:r>
            <a:r>
              <a:rPr lang="en-US" dirty="0" err="1"/>
              <a:t>ProcessHistoryAdded</a:t>
            </a:r>
            <a:r>
              <a:rPr lang="en-US" dirty="0"/>
              <a:t> event</a:t>
            </a:r>
          </a:p>
          <a:p>
            <a:pPr lvl="1">
              <a:buFont typeface="Arial" panose="020B0604020202020204" pitchFamily="34" charset="0"/>
              <a:buChar char="•"/>
            </a:pPr>
            <a:r>
              <a:rPr lang="en-US" dirty="0"/>
              <a:t>As the status of the batch process changes, the application fires a </a:t>
            </a:r>
            <a:r>
              <a:rPr lang="en-US" dirty="0" err="1"/>
              <a:t>ProcessHistoryChanged</a:t>
            </a:r>
            <a:r>
              <a:rPr lang="en-US" dirty="0"/>
              <a:t> event</a:t>
            </a:r>
          </a:p>
          <a:p>
            <a:pPr lvl="2">
              <a:buFont typeface="Arial" panose="020B0604020202020204" pitchFamily="34" charset="0"/>
              <a:buChar char="•"/>
            </a:pPr>
            <a:r>
              <a:rPr lang="en-US" dirty="0"/>
              <a:t>The </a:t>
            </a:r>
            <a:r>
              <a:rPr lang="en-US" dirty="0" err="1"/>
              <a:t>CompleteDate</a:t>
            </a:r>
            <a:r>
              <a:rPr lang="en-US" dirty="0"/>
              <a:t> property contains the </a:t>
            </a:r>
            <a:r>
              <a:rPr lang="en-US" dirty="0" err="1"/>
              <a:t>datestamp</a:t>
            </a:r>
            <a:r>
              <a:rPr lang="en-US" dirty="0"/>
              <a:t> in a datetime object</a:t>
            </a:r>
          </a:p>
          <a:p>
            <a:pPr lvl="1">
              <a:buFont typeface="Arial" panose="020B0604020202020204" pitchFamily="34" charset="0"/>
              <a:buChar char="•"/>
            </a:pPr>
            <a:r>
              <a:rPr lang="en-US" dirty="0"/>
              <a:t>Events can be used to trigger additional processing</a:t>
            </a:r>
          </a:p>
        </p:txBody>
      </p:sp>
      <p:pic>
        <p:nvPicPr>
          <p:cNvPr id="5" name="Picture 4">
            <a:extLst>
              <a:ext uri="{FF2B5EF4-FFF2-40B4-BE49-F238E27FC236}">
                <a16:creationId xmlns:a16="http://schemas.microsoft.com/office/drawing/2014/main" id="{5605E021-6697-4A5A-A526-4CA713879AAE}"/>
              </a:ext>
            </a:extLst>
          </p:cNvPr>
          <p:cNvPicPr>
            <a:picLocks noChangeAspect="1"/>
          </p:cNvPicPr>
          <p:nvPr/>
        </p:nvPicPr>
        <p:blipFill>
          <a:blip r:embed="rId3"/>
          <a:stretch>
            <a:fillRect/>
          </a:stretch>
        </p:blipFill>
        <p:spPr>
          <a:xfrm>
            <a:off x="1241789" y="750461"/>
            <a:ext cx="4854211" cy="5040739"/>
          </a:xfrm>
          <a:prstGeom prst="rect">
            <a:avLst/>
          </a:prstGeom>
        </p:spPr>
      </p:pic>
    </p:spTree>
    <p:extLst>
      <p:ext uri="{BB962C8B-B14F-4D97-AF65-F5344CB8AC3E}">
        <p14:creationId xmlns:p14="http://schemas.microsoft.com/office/powerpoint/2010/main" val="1770534069"/>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Batch processes overview</a:t>
            </a:r>
          </a:p>
          <a:p>
            <a:r>
              <a:rPr lang="en-US" dirty="0">
                <a:solidFill>
                  <a:schemeClr val="bg1"/>
                </a:solidFill>
              </a:rPr>
              <a:t>Running batch processes</a:t>
            </a:r>
          </a:p>
          <a:p>
            <a:r>
              <a:rPr lang="en-US" dirty="0"/>
              <a:t>Custom batch processes</a:t>
            </a:r>
          </a:p>
          <a:p>
            <a:endParaRPr lang="en-US" dirty="0"/>
          </a:p>
        </p:txBody>
      </p:sp>
    </p:spTree>
    <p:extLst>
      <p:ext uri="{BB962C8B-B14F-4D97-AF65-F5344CB8AC3E}">
        <p14:creationId xmlns:p14="http://schemas.microsoft.com/office/powerpoint/2010/main" val="19678168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Batch Process Info UI Screen</a:t>
            </a:r>
          </a:p>
        </p:txBody>
      </p:sp>
      <p:sp>
        <p:nvSpPr>
          <p:cNvPr id="4" name="Content Placeholder 3"/>
          <p:cNvSpPr>
            <a:spLocks noGrp="1"/>
          </p:cNvSpPr>
          <p:nvPr>
            <p:ph idx="1"/>
          </p:nvPr>
        </p:nvSpPr>
        <p:spPr>
          <a:xfrm>
            <a:off x="658368" y="3425301"/>
            <a:ext cx="9703245" cy="2746899"/>
          </a:xfrm>
        </p:spPr>
        <p:txBody>
          <a:bodyPr/>
          <a:lstStyle/>
          <a:p>
            <a:r>
              <a:rPr lang="en-US" dirty="0"/>
              <a:t>UI screen used to run batch processes on demand and view additional status information</a:t>
            </a:r>
          </a:p>
          <a:p>
            <a:pPr lvl="1"/>
            <a:r>
              <a:rPr lang="en-US" dirty="0"/>
              <a:t>To view Server Tools, press </a:t>
            </a:r>
            <a:r>
              <a:rPr lang="en-US" b="1" dirty="0"/>
              <a:t>ALT+SHIFT+T</a:t>
            </a:r>
          </a:p>
          <a:p>
            <a:r>
              <a:rPr lang="en-US" dirty="0"/>
              <a:t>To run a batch process manually, click Run</a:t>
            </a:r>
          </a:p>
          <a:p>
            <a:pPr lvl="1"/>
            <a:r>
              <a:rPr lang="en-US" dirty="0"/>
              <a:t>Batch process execution begins immediately</a:t>
            </a:r>
          </a:p>
          <a:p>
            <a:pPr lvl="1"/>
            <a:r>
              <a:rPr lang="en-US" dirty="0"/>
              <a:t>While batch process is running, the Last Run Status column lists the process as </a:t>
            </a:r>
            <a:r>
              <a:rPr lang="en-US" b="1" dirty="0"/>
              <a:t>Running</a:t>
            </a:r>
          </a:p>
        </p:txBody>
      </p:sp>
      <p:pic>
        <p:nvPicPr>
          <p:cNvPr id="2" name="Picture 1">
            <a:extLst>
              <a:ext uri="{FF2B5EF4-FFF2-40B4-BE49-F238E27FC236}">
                <a16:creationId xmlns:a16="http://schemas.microsoft.com/office/drawing/2014/main" id="{49267FB8-9005-4744-A4D1-5014D8A00063}"/>
              </a:ext>
            </a:extLst>
          </p:cNvPr>
          <p:cNvPicPr>
            <a:picLocks noChangeAspect="1"/>
          </p:cNvPicPr>
          <p:nvPr/>
        </p:nvPicPr>
        <p:blipFill>
          <a:blip r:embed="rId3"/>
          <a:stretch>
            <a:fillRect/>
          </a:stretch>
        </p:blipFill>
        <p:spPr>
          <a:xfrm>
            <a:off x="2017776" y="1191670"/>
            <a:ext cx="8343837" cy="1551530"/>
          </a:xfrm>
          <a:prstGeom prst="rect">
            <a:avLst/>
          </a:prstGeom>
        </p:spPr>
      </p:pic>
    </p:spTree>
    <p:extLst>
      <p:ext uri="{BB962C8B-B14F-4D97-AF65-F5344CB8AC3E}">
        <p14:creationId xmlns:p14="http://schemas.microsoft.com/office/powerpoint/2010/main" val="24745630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Chart and History cards</a:t>
            </a:r>
          </a:p>
        </p:txBody>
      </p:sp>
      <p:sp>
        <p:nvSpPr>
          <p:cNvPr id="3" name="Content Placeholder 2"/>
          <p:cNvSpPr>
            <a:spLocks noGrp="1"/>
          </p:cNvSpPr>
          <p:nvPr>
            <p:ph sz="half" idx="2"/>
          </p:nvPr>
        </p:nvSpPr>
        <p:spPr>
          <a:xfrm>
            <a:off x="7834260" y="914402"/>
            <a:ext cx="3918828" cy="3200399"/>
          </a:xfrm>
        </p:spPr>
        <p:txBody>
          <a:bodyPr/>
          <a:lstStyle/>
          <a:p>
            <a:r>
              <a:rPr lang="en-US" dirty="0"/>
              <a:t>Detail information about selected batch process appear below list of batch processes</a:t>
            </a:r>
          </a:p>
          <a:p>
            <a:pPr lvl="1">
              <a:buFont typeface="Arial" panose="020B0604020202020204" pitchFamily="34" charset="0"/>
              <a:buChar char="•"/>
            </a:pPr>
            <a:r>
              <a:rPr lang="en-US" dirty="0"/>
              <a:t>Chart and History</a:t>
            </a:r>
          </a:p>
        </p:txBody>
      </p:sp>
      <p:pic>
        <p:nvPicPr>
          <p:cNvPr id="5" name="Picture 4">
            <a:extLst>
              <a:ext uri="{FF2B5EF4-FFF2-40B4-BE49-F238E27FC236}">
                <a16:creationId xmlns:a16="http://schemas.microsoft.com/office/drawing/2014/main" id="{DD579193-B1C5-4186-A91C-D7E0728144D9}"/>
              </a:ext>
            </a:extLst>
          </p:cNvPr>
          <p:cNvPicPr>
            <a:picLocks noChangeAspect="1"/>
          </p:cNvPicPr>
          <p:nvPr/>
        </p:nvPicPr>
        <p:blipFill>
          <a:blip r:embed="rId3"/>
          <a:stretch>
            <a:fillRect/>
          </a:stretch>
        </p:blipFill>
        <p:spPr>
          <a:xfrm>
            <a:off x="1856144" y="4508380"/>
            <a:ext cx="8491817" cy="1881310"/>
          </a:xfrm>
          <a:prstGeom prst="rect">
            <a:avLst/>
          </a:prstGeom>
        </p:spPr>
      </p:pic>
      <p:pic>
        <p:nvPicPr>
          <p:cNvPr id="9" name="Picture 8">
            <a:extLst>
              <a:ext uri="{FF2B5EF4-FFF2-40B4-BE49-F238E27FC236}">
                <a16:creationId xmlns:a16="http://schemas.microsoft.com/office/drawing/2014/main" id="{987629F4-FA19-435E-ADC4-138151A47EA3}"/>
              </a:ext>
            </a:extLst>
          </p:cNvPr>
          <p:cNvPicPr>
            <a:picLocks noChangeAspect="1"/>
          </p:cNvPicPr>
          <p:nvPr/>
        </p:nvPicPr>
        <p:blipFill>
          <a:blip r:embed="rId4"/>
          <a:stretch>
            <a:fillRect/>
          </a:stretch>
        </p:blipFill>
        <p:spPr>
          <a:xfrm>
            <a:off x="1893133" y="1066800"/>
            <a:ext cx="5657850" cy="3048000"/>
          </a:xfrm>
          <a:prstGeom prst="rect">
            <a:avLst/>
          </a:prstGeom>
        </p:spPr>
      </p:pic>
    </p:spTree>
    <p:extLst>
      <p:ext uri="{BB962C8B-B14F-4D97-AF65-F5344CB8AC3E}">
        <p14:creationId xmlns:p14="http://schemas.microsoft.com/office/powerpoint/2010/main" val="112729992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 a batch process</a:t>
            </a:r>
          </a:p>
        </p:txBody>
      </p:sp>
      <p:sp>
        <p:nvSpPr>
          <p:cNvPr id="3" name="Content Placeholder 2"/>
          <p:cNvSpPr>
            <a:spLocks noGrp="1"/>
          </p:cNvSpPr>
          <p:nvPr>
            <p:ph idx="1"/>
          </p:nvPr>
        </p:nvSpPr>
        <p:spPr>
          <a:xfrm>
            <a:off x="658368" y="861823"/>
            <a:ext cx="4523233" cy="5386577"/>
          </a:xfrm>
        </p:spPr>
        <p:txBody>
          <a:bodyPr/>
          <a:lstStyle/>
          <a:p>
            <a:r>
              <a:rPr lang="en-US" dirty="0"/>
              <a:t>Defines batch process schedules</a:t>
            </a:r>
          </a:p>
          <a:p>
            <a:pPr lvl="1">
              <a:buFont typeface="Arial" panose="020B0604020202020204" pitchFamily="34" charset="0"/>
              <a:buChar char="•"/>
            </a:pPr>
            <a:r>
              <a:rPr lang="en-US" dirty="0" err="1">
                <a:cs typeface="Courier New" pitchFamily="49" charset="0"/>
              </a:rPr>
              <a:t>configuration.config.scheduler</a:t>
            </a:r>
            <a:endParaRPr lang="en-US" dirty="0"/>
          </a:p>
          <a:p>
            <a:r>
              <a:rPr lang="en-US" dirty="0"/>
              <a:t>&lt;</a:t>
            </a:r>
            <a:r>
              <a:rPr lang="en-US" dirty="0" err="1"/>
              <a:t>ProcessSchedule</a:t>
            </a:r>
            <a:r>
              <a:rPr lang="en-US" dirty="0"/>
              <a:t>/&gt; element describes which batch process to execute and when</a:t>
            </a:r>
          </a:p>
          <a:p>
            <a:pPr lvl="1">
              <a:buFont typeface="Arial" panose="020B0604020202020204" pitchFamily="34" charset="0"/>
              <a:buChar char="•"/>
            </a:pPr>
            <a:r>
              <a:rPr lang="en-US" dirty="0"/>
              <a:t>&lt;</a:t>
            </a:r>
            <a:r>
              <a:rPr lang="en-US" dirty="0" err="1"/>
              <a:t>CronSchedule</a:t>
            </a:r>
            <a:r>
              <a:rPr lang="en-US" dirty="0"/>
              <a:t>/&gt; child element describes when process runs</a:t>
            </a:r>
          </a:p>
          <a:p>
            <a:pPr lvl="2">
              <a:buFont typeface="Arial" panose="020B0604020202020204" pitchFamily="34" charset="0"/>
              <a:buChar char="•"/>
            </a:pPr>
            <a:r>
              <a:rPr lang="en-US" dirty="0"/>
              <a:t>Define schedule attributes</a:t>
            </a:r>
          </a:p>
          <a:p>
            <a:r>
              <a:rPr lang="en-US" dirty="0"/>
              <a:t>Restart server to deploy your changes</a:t>
            </a:r>
          </a:p>
        </p:txBody>
      </p:sp>
      <p:pic>
        <p:nvPicPr>
          <p:cNvPr id="4" name="Picture 3">
            <a:extLst>
              <a:ext uri="{FF2B5EF4-FFF2-40B4-BE49-F238E27FC236}">
                <a16:creationId xmlns:a16="http://schemas.microsoft.com/office/drawing/2014/main" id="{48A1CA7F-5054-4B1D-B8CC-E24CF1ABF2F4}"/>
              </a:ext>
            </a:extLst>
          </p:cNvPr>
          <p:cNvPicPr>
            <a:picLocks noChangeAspect="1"/>
          </p:cNvPicPr>
          <p:nvPr/>
        </p:nvPicPr>
        <p:blipFill>
          <a:blip r:embed="rId3"/>
          <a:stretch>
            <a:fillRect/>
          </a:stretch>
        </p:blipFill>
        <p:spPr>
          <a:xfrm>
            <a:off x="5964936" y="861823"/>
            <a:ext cx="5004816" cy="5386577"/>
          </a:xfrm>
          <a:prstGeom prst="rect">
            <a:avLst/>
          </a:prstGeom>
        </p:spPr>
      </p:pic>
    </p:spTree>
    <p:extLst>
      <p:ext uri="{BB962C8B-B14F-4D97-AF65-F5344CB8AC3E}">
        <p14:creationId xmlns:p14="http://schemas.microsoft.com/office/powerpoint/2010/main" val="421264685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060435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Scheduled batch processes</a:t>
            </a:r>
          </a:p>
        </p:txBody>
      </p:sp>
      <p:sp>
        <p:nvSpPr>
          <p:cNvPr id="3" name="Content Placeholder 2"/>
          <p:cNvSpPr>
            <a:spLocks noGrp="1"/>
          </p:cNvSpPr>
          <p:nvPr>
            <p:ph idx="1"/>
          </p:nvPr>
        </p:nvSpPr>
        <p:spPr>
          <a:xfrm>
            <a:off x="658368" y="3429000"/>
            <a:ext cx="5437632" cy="1676400"/>
          </a:xfrm>
        </p:spPr>
        <p:txBody>
          <a:bodyPr/>
          <a:lstStyle/>
          <a:p>
            <a:r>
              <a:rPr lang="en-US" dirty="0"/>
              <a:t>Once scheduled, the batch process UI screen shows </a:t>
            </a:r>
          </a:p>
          <a:p>
            <a:pPr lvl="1"/>
            <a:r>
              <a:rPr lang="en-US" b="1" dirty="0" err="1"/>
              <a:t>Cron</a:t>
            </a:r>
            <a:r>
              <a:rPr lang="en-US" dirty="0"/>
              <a:t> schedule criteria</a:t>
            </a:r>
          </a:p>
          <a:p>
            <a:pPr lvl="1"/>
            <a:r>
              <a:rPr lang="en-US" b="1" dirty="0"/>
              <a:t>Next scheduled Run</a:t>
            </a:r>
            <a:r>
              <a:rPr lang="en-US" dirty="0"/>
              <a:t> time</a:t>
            </a:r>
          </a:p>
        </p:txBody>
      </p:sp>
      <p:pic>
        <p:nvPicPr>
          <p:cNvPr id="6" name="Picture 5">
            <a:extLst>
              <a:ext uri="{FF2B5EF4-FFF2-40B4-BE49-F238E27FC236}">
                <a16:creationId xmlns:a16="http://schemas.microsoft.com/office/drawing/2014/main" id="{052FDC29-1A54-46F8-9F9C-9C33E4860E2D}"/>
              </a:ext>
            </a:extLst>
          </p:cNvPr>
          <p:cNvPicPr>
            <a:picLocks noChangeAspect="1"/>
          </p:cNvPicPr>
          <p:nvPr/>
        </p:nvPicPr>
        <p:blipFill>
          <a:blip r:embed="rId3"/>
          <a:stretch>
            <a:fillRect/>
          </a:stretch>
        </p:blipFill>
        <p:spPr>
          <a:xfrm>
            <a:off x="2017776" y="990600"/>
            <a:ext cx="8343838" cy="1984744"/>
          </a:xfrm>
          <a:prstGeom prst="rect">
            <a:avLst/>
          </a:prstGeom>
        </p:spPr>
      </p:pic>
      <p:sp>
        <p:nvSpPr>
          <p:cNvPr id="11" name="Content Placeholder 2">
            <a:extLst>
              <a:ext uri="{FF2B5EF4-FFF2-40B4-BE49-F238E27FC236}">
                <a16:creationId xmlns:a16="http://schemas.microsoft.com/office/drawing/2014/main" id="{D996CDAA-BB2C-4EA3-BDE5-97B928E311DB}"/>
              </a:ext>
            </a:extLst>
          </p:cNvPr>
          <p:cNvSpPr txBox="1">
            <a:spLocks/>
          </p:cNvSpPr>
          <p:nvPr/>
        </p:nvSpPr>
        <p:spPr bwMode="auto">
          <a:xfrm>
            <a:off x="6332538" y="3432698"/>
            <a:ext cx="4716462" cy="2968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dirty="0"/>
              <a:t>S (seconds) = 0</a:t>
            </a:r>
          </a:p>
          <a:p>
            <a:r>
              <a:rPr lang="en-US" kern="0" dirty="0"/>
              <a:t>M (minutes) = 0</a:t>
            </a:r>
          </a:p>
          <a:p>
            <a:r>
              <a:rPr lang="en-US" kern="0" dirty="0"/>
              <a:t>H (hours) = 12</a:t>
            </a:r>
          </a:p>
          <a:p>
            <a:r>
              <a:rPr lang="en-US" kern="0" dirty="0"/>
              <a:t>DOM (</a:t>
            </a:r>
            <a:r>
              <a:rPr lang="en-US" kern="0" dirty="0" err="1"/>
              <a:t>dayofmonth</a:t>
            </a:r>
            <a:r>
              <a:rPr lang="en-US" kern="0" dirty="0"/>
              <a:t>) = ?</a:t>
            </a:r>
          </a:p>
          <a:p>
            <a:r>
              <a:rPr lang="en-US" kern="0" dirty="0"/>
              <a:t>M (month) = *</a:t>
            </a:r>
          </a:p>
          <a:p>
            <a:r>
              <a:rPr lang="en-US" kern="0" dirty="0"/>
              <a:t>DOW (</a:t>
            </a:r>
            <a:r>
              <a:rPr lang="en-US" kern="0" dirty="0" err="1"/>
              <a:t>dayofweek</a:t>
            </a:r>
            <a:r>
              <a:rPr lang="en-US" kern="0" dirty="0"/>
              <a:t>) = SUN</a:t>
            </a:r>
          </a:p>
        </p:txBody>
      </p:sp>
    </p:spTree>
    <p:extLst>
      <p:ext uri="{BB962C8B-B14F-4D97-AF65-F5344CB8AC3E}">
        <p14:creationId xmlns:p14="http://schemas.microsoft.com/office/powerpoint/2010/main" val="63602789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a batch process from an API</a:t>
            </a:r>
          </a:p>
        </p:txBody>
      </p:sp>
      <p:sp>
        <p:nvSpPr>
          <p:cNvPr id="3" name="Content Placeholder 2"/>
          <p:cNvSpPr>
            <a:spLocks noGrp="1"/>
          </p:cNvSpPr>
          <p:nvPr>
            <p:ph idx="1"/>
          </p:nvPr>
        </p:nvSpPr>
        <p:spPr>
          <a:xfrm>
            <a:off x="658368" y="861824"/>
            <a:ext cx="9680449" cy="966977"/>
          </a:xfrm>
        </p:spPr>
        <p:txBody>
          <a:bodyPr/>
          <a:lstStyle/>
          <a:p>
            <a:r>
              <a:rPr lang="en-US" sz="2000" dirty="0"/>
              <a:t>Command line syntax</a:t>
            </a:r>
          </a:p>
          <a:p>
            <a:pPr lvl="1"/>
            <a:r>
              <a:rPr lang="en-US" sz="1600" b="1" dirty="0" err="1">
                <a:cs typeface="Courier New" pitchFamily="49" charset="0"/>
              </a:rPr>
              <a:t>maintenance_tools</a:t>
            </a:r>
            <a:r>
              <a:rPr lang="en-US" sz="1600" b="1" dirty="0">
                <a:cs typeface="Courier New" pitchFamily="49" charset="0"/>
              </a:rPr>
              <a:t> -</a:t>
            </a:r>
            <a:r>
              <a:rPr lang="en-US" sz="1600" b="1" dirty="0" err="1">
                <a:cs typeface="Courier New" pitchFamily="49" charset="0"/>
              </a:rPr>
              <a:t>startprocess</a:t>
            </a:r>
            <a:r>
              <a:rPr lang="en-US" sz="1600" b="1" dirty="0">
                <a:cs typeface="Courier New" pitchFamily="49" charset="0"/>
              </a:rPr>
              <a:t> &lt;</a:t>
            </a:r>
            <a:r>
              <a:rPr lang="en-US" sz="1600" b="1" dirty="0" err="1">
                <a:cs typeface="Courier New" pitchFamily="49" charset="0"/>
              </a:rPr>
              <a:t>processName</a:t>
            </a:r>
            <a:r>
              <a:rPr lang="en-US" sz="1600" b="1" dirty="0">
                <a:cs typeface="Courier New" pitchFamily="49" charset="0"/>
              </a:rPr>
              <a:t>&gt; -user &lt;user&gt; -password &lt;password&gt; –server &lt;server&gt;</a:t>
            </a:r>
          </a:p>
        </p:txBody>
      </p:sp>
      <p:sp>
        <p:nvSpPr>
          <p:cNvPr id="5" name="Content Placeholder 2">
            <a:extLst>
              <a:ext uri="{FF2B5EF4-FFF2-40B4-BE49-F238E27FC236}">
                <a16:creationId xmlns:a16="http://schemas.microsoft.com/office/drawing/2014/main" id="{06C28560-DAAB-4CE8-AEAC-1F3442BB2D9A}"/>
              </a:ext>
            </a:extLst>
          </p:cNvPr>
          <p:cNvSpPr txBox="1">
            <a:spLocks/>
          </p:cNvSpPr>
          <p:nvPr/>
        </p:nvSpPr>
        <p:spPr bwMode="auto">
          <a:xfrm>
            <a:off x="658368" y="3994110"/>
            <a:ext cx="9680449" cy="73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sz="2000" kern="0" dirty="0"/>
              <a:t>Web service syntax</a:t>
            </a:r>
          </a:p>
          <a:p>
            <a:pPr lvl="1"/>
            <a:r>
              <a:rPr lang="en-US" sz="1800" b="1" kern="0" dirty="0" err="1">
                <a:cs typeface="Courier New" pitchFamily="49" charset="0"/>
              </a:rPr>
              <a:t>processID</a:t>
            </a:r>
            <a:r>
              <a:rPr lang="en-US" sz="1800" b="1" kern="0" dirty="0">
                <a:cs typeface="Courier New" pitchFamily="49" charset="0"/>
              </a:rPr>
              <a:t> = </a:t>
            </a:r>
            <a:r>
              <a:rPr lang="en-US" sz="1800" b="1" kern="0" dirty="0" err="1">
                <a:cs typeface="Courier New" pitchFamily="49" charset="0"/>
              </a:rPr>
              <a:t>maintenanceToolsAPI.startBatchProcess</a:t>
            </a:r>
            <a:r>
              <a:rPr lang="en-US" sz="1800" b="1" kern="0" dirty="0">
                <a:cs typeface="Courier New" pitchFamily="49" charset="0"/>
              </a:rPr>
              <a:t>(“</a:t>
            </a:r>
            <a:r>
              <a:rPr lang="en-US" sz="1800" b="1" kern="0" dirty="0" err="1">
                <a:cs typeface="Courier New" pitchFamily="49" charset="0"/>
              </a:rPr>
              <a:t>processName</a:t>
            </a:r>
            <a:r>
              <a:rPr lang="en-US" sz="1800" b="1" kern="0" dirty="0">
                <a:cs typeface="Courier New" pitchFamily="49" charset="0"/>
              </a:rPr>
              <a:t>”</a:t>
            </a:r>
            <a:r>
              <a:rPr lang="en-US" sz="1800" kern="0" dirty="0"/>
              <a:t>)</a:t>
            </a:r>
          </a:p>
        </p:txBody>
      </p:sp>
      <p:pic>
        <p:nvPicPr>
          <p:cNvPr id="6" name="Picture 5">
            <a:extLst>
              <a:ext uri="{FF2B5EF4-FFF2-40B4-BE49-F238E27FC236}">
                <a16:creationId xmlns:a16="http://schemas.microsoft.com/office/drawing/2014/main" id="{D1AA924B-3076-4A91-9CAB-6251D788F53A}"/>
              </a:ext>
            </a:extLst>
          </p:cNvPr>
          <p:cNvPicPr>
            <a:picLocks noChangeAspect="1"/>
          </p:cNvPicPr>
          <p:nvPr/>
        </p:nvPicPr>
        <p:blipFill>
          <a:blip r:embed="rId3"/>
          <a:stretch>
            <a:fillRect/>
          </a:stretch>
        </p:blipFill>
        <p:spPr>
          <a:xfrm>
            <a:off x="2031891" y="1828801"/>
            <a:ext cx="8321040" cy="2111355"/>
          </a:xfrm>
          <a:prstGeom prst="rect">
            <a:avLst/>
          </a:prstGeom>
        </p:spPr>
      </p:pic>
      <p:pic>
        <p:nvPicPr>
          <p:cNvPr id="8" name="Picture 7">
            <a:extLst>
              <a:ext uri="{FF2B5EF4-FFF2-40B4-BE49-F238E27FC236}">
                <a16:creationId xmlns:a16="http://schemas.microsoft.com/office/drawing/2014/main" id="{5DD307BE-58F7-40A7-9919-13525AA9728C}"/>
              </a:ext>
            </a:extLst>
          </p:cNvPr>
          <p:cNvPicPr>
            <a:picLocks noChangeAspect="1"/>
          </p:cNvPicPr>
          <p:nvPr/>
        </p:nvPicPr>
        <p:blipFill>
          <a:blip r:embed="rId4"/>
          <a:stretch>
            <a:fillRect/>
          </a:stretch>
        </p:blipFill>
        <p:spPr>
          <a:xfrm>
            <a:off x="2031891" y="4907133"/>
            <a:ext cx="8347673" cy="1211187"/>
          </a:xfrm>
          <a:prstGeom prst="rect">
            <a:avLst/>
          </a:prstGeom>
        </p:spPr>
      </p:pic>
    </p:spTree>
    <p:extLst>
      <p:ext uri="{BB962C8B-B14F-4D97-AF65-F5344CB8AC3E}">
        <p14:creationId xmlns:p14="http://schemas.microsoft.com/office/powerpoint/2010/main" val="23048456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Batch processes overview</a:t>
            </a:r>
          </a:p>
          <a:p>
            <a:r>
              <a:rPr lang="en-US" dirty="0"/>
              <a:t>Running batch processes</a:t>
            </a:r>
          </a:p>
          <a:p>
            <a:r>
              <a:rPr lang="en-US" dirty="0">
                <a:solidFill>
                  <a:schemeClr val="bg1"/>
                </a:solidFill>
              </a:rPr>
              <a:t>Custom batch processes</a:t>
            </a:r>
          </a:p>
          <a:p>
            <a:endParaRPr lang="en-US" dirty="0"/>
          </a:p>
        </p:txBody>
      </p:sp>
    </p:spTree>
    <p:extLst>
      <p:ext uri="{BB962C8B-B14F-4D97-AF65-F5344CB8AC3E}">
        <p14:creationId xmlns:p14="http://schemas.microsoft.com/office/powerpoint/2010/main" val="1125848571"/>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4" name="Elbow Connector 63"/>
          <p:cNvCxnSpPr/>
          <p:nvPr/>
        </p:nvCxnSpPr>
        <p:spPr bwMode="auto">
          <a:xfrm rot="10800000" flipV="1">
            <a:off x="7300918" y="2641482"/>
            <a:ext cx="1640677" cy="5370"/>
          </a:xfrm>
          <a:prstGeom prst="bentConnector3">
            <a:avLst>
              <a:gd name="adj1" fmla="val 50000"/>
            </a:avLst>
          </a:prstGeom>
          <a:noFill/>
          <a:ln w="28575" cap="flat" cmpd="sng" algn="ctr">
            <a:solidFill>
              <a:schemeClr val="accent1"/>
            </a:solidFill>
            <a:prstDash val="solid"/>
            <a:round/>
            <a:headEnd type="arrow" w="lg" len="med"/>
            <a:tailEnd type="none" w="lg" len="med"/>
          </a:ln>
          <a:effectLst>
            <a:outerShdw blurRad="50800" dist="38100" dir="2700000" algn="tl" rotWithShape="0">
              <a:prstClr val="black">
                <a:alpha val="40000"/>
              </a:prstClr>
            </a:outerShdw>
          </a:effectLst>
        </p:spPr>
      </p:cxnSp>
      <p:cxnSp>
        <p:nvCxnSpPr>
          <p:cNvPr id="56" name="Straight Connector 55"/>
          <p:cNvCxnSpPr/>
          <p:nvPr/>
        </p:nvCxnSpPr>
        <p:spPr bwMode="auto">
          <a:xfrm>
            <a:off x="3005881" y="1839808"/>
            <a:ext cx="0" cy="1171208"/>
          </a:xfrm>
          <a:prstGeom prst="lin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cxnSp>
      <p:sp>
        <p:nvSpPr>
          <p:cNvPr id="3" name="Title 2"/>
          <p:cNvSpPr>
            <a:spLocks noGrp="1"/>
          </p:cNvSpPr>
          <p:nvPr>
            <p:ph type="title"/>
          </p:nvPr>
        </p:nvSpPr>
        <p:spPr/>
        <p:txBody>
          <a:bodyPr/>
          <a:lstStyle/>
          <a:p>
            <a:r>
              <a:rPr lang="en-US" dirty="0"/>
              <a:t>Custom batch process </a:t>
            </a:r>
            <a:r>
              <a:rPr lang="en-US" dirty="0" smtClean="0"/>
              <a:t>architecture (1)</a:t>
            </a:r>
            <a:endParaRPr lang="en-US" dirty="0"/>
          </a:p>
        </p:txBody>
      </p:sp>
      <p:sp>
        <p:nvSpPr>
          <p:cNvPr id="2" name="Content Placeholder 1"/>
          <p:cNvSpPr>
            <a:spLocks noGrp="1"/>
          </p:cNvSpPr>
          <p:nvPr>
            <p:ph idx="1"/>
          </p:nvPr>
        </p:nvSpPr>
        <p:spPr/>
        <p:txBody>
          <a:bodyPr/>
          <a:lstStyle/>
          <a:p>
            <a:r>
              <a:rPr lang="en-US" dirty="0"/>
              <a:t>A </a:t>
            </a:r>
            <a:r>
              <a:rPr lang="en-US" b="1" dirty="0"/>
              <a:t>custom batch process </a:t>
            </a:r>
            <a:r>
              <a:rPr lang="en-US" dirty="0"/>
              <a:t>is implemented by a </a:t>
            </a:r>
            <a:r>
              <a:rPr lang="en-US" dirty="0" err="1"/>
              <a:t>Gosu</a:t>
            </a:r>
            <a:r>
              <a:rPr lang="en-US" dirty="0"/>
              <a:t> </a:t>
            </a:r>
            <a:r>
              <a:rPr lang="en-US" dirty="0" smtClean="0"/>
              <a:t>class called </a:t>
            </a:r>
            <a:r>
              <a:rPr lang="en-US" dirty="0"/>
              <a:t>by the ProcessesPlugin</a:t>
            </a:r>
          </a:p>
          <a:p>
            <a:endParaRPr lang="en-US" dirty="0"/>
          </a:p>
        </p:txBody>
      </p:sp>
      <p:grpSp>
        <p:nvGrpSpPr>
          <p:cNvPr id="17" name="Group 176"/>
          <p:cNvGrpSpPr>
            <a:grpSpLocks/>
          </p:cNvGrpSpPr>
          <p:nvPr/>
        </p:nvGrpSpPr>
        <p:grpSpPr bwMode="auto">
          <a:xfrm>
            <a:off x="2314920" y="833381"/>
            <a:ext cx="726052" cy="1032728"/>
            <a:chOff x="3472" y="3191"/>
            <a:chExt cx="414" cy="589"/>
          </a:xfrm>
          <a:effectLst>
            <a:outerShdw blurRad="50800" dist="38100" dir="2700000" algn="tl" rotWithShape="0">
              <a:prstClr val="black">
                <a:alpha val="40000"/>
              </a:prstClr>
            </a:outerShdw>
          </a:effectLst>
        </p:grpSpPr>
        <p:grpSp>
          <p:nvGrpSpPr>
            <p:cNvPr id="18" name="Group 177"/>
            <p:cNvGrpSpPr>
              <a:grpSpLocks/>
            </p:cNvGrpSpPr>
            <p:nvPr/>
          </p:nvGrpSpPr>
          <p:grpSpPr bwMode="auto">
            <a:xfrm>
              <a:off x="3472" y="3191"/>
              <a:ext cx="226" cy="377"/>
              <a:chOff x="2477" y="1788"/>
              <a:chExt cx="226" cy="377"/>
            </a:xfrm>
          </p:grpSpPr>
          <p:sp>
            <p:nvSpPr>
              <p:cNvPr id="24" name="Rectangle 178"/>
              <p:cNvSpPr>
                <a:spLocks noChangeArrowheads="1"/>
              </p:cNvSpPr>
              <p:nvPr/>
            </p:nvSpPr>
            <p:spPr bwMode="auto">
              <a:xfrm>
                <a:off x="2477" y="2007"/>
                <a:ext cx="0" cy="158"/>
              </a:xfrm>
              <a:prstGeom prst="rect">
                <a:avLst/>
              </a:prstGeom>
              <a:gradFill rotWithShape="1">
                <a:gsLst>
                  <a:gs pos="0">
                    <a:schemeClr val="tx1"/>
                  </a:gs>
                  <a:gs pos="100000">
                    <a:srgbClr val="ECB23D"/>
                  </a:gs>
                </a:gsLst>
                <a:lin ang="2700000" scaled="1"/>
              </a:gradFill>
              <a:ln w="28575" algn="ctr">
                <a:solidFill>
                  <a:srgbClr val="A49A87"/>
                </a:solidFill>
                <a:miter lim="800000"/>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5" name="AutoShape 179"/>
              <p:cNvSpPr>
                <a:spLocks noChangeArrowheads="1"/>
              </p:cNvSpPr>
              <p:nvPr/>
            </p:nvSpPr>
            <p:spPr bwMode="auto">
              <a:xfrm flipV="1">
                <a:off x="2479" y="1788"/>
                <a:ext cx="201" cy="268"/>
              </a:xfrm>
              <a:custGeom>
                <a:avLst/>
                <a:gdLst>
                  <a:gd name="T0" fmla="*/ 2 w 21600"/>
                  <a:gd name="T1" fmla="*/ 0 h 21600"/>
                  <a:gd name="T2" fmla="*/ 1 w 21600"/>
                  <a:gd name="T3" fmla="*/ 0 h 21600"/>
                  <a:gd name="T4" fmla="*/ 0 w 21600"/>
                  <a:gd name="T5" fmla="*/ 0 h 21600"/>
                  <a:gd name="T6" fmla="*/ 1 w 21600"/>
                  <a:gd name="T7" fmla="*/ 0 h 21600"/>
                  <a:gd name="T8" fmla="*/ 0 60000 65536"/>
                  <a:gd name="T9" fmla="*/ 0 60000 65536"/>
                  <a:gd name="T10" fmla="*/ 0 60000 65536"/>
                  <a:gd name="T11" fmla="*/ 0 60000 65536"/>
                  <a:gd name="T12" fmla="*/ 4513 w 21600"/>
                  <a:gd name="T13" fmla="*/ 4469 h 21600"/>
                  <a:gd name="T14" fmla="*/ 17087 w 21600"/>
                  <a:gd name="T15" fmla="*/ 1713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8EDB6"/>
              </a:solidFill>
              <a:ln w="28575" algn="ctr">
                <a:solidFill>
                  <a:srgbClr val="A49A87"/>
                </a:solidFill>
                <a:miter lim="800000"/>
                <a:headEnd/>
                <a:tailEnd/>
              </a:ln>
            </p:spPr>
            <p:txBody>
              <a:bodyPr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26" name="Group 180"/>
              <p:cNvGrpSpPr>
                <a:grpSpLocks/>
              </p:cNvGrpSpPr>
              <p:nvPr/>
            </p:nvGrpSpPr>
            <p:grpSpPr bwMode="auto">
              <a:xfrm>
                <a:off x="2595" y="1997"/>
                <a:ext cx="108" cy="160"/>
                <a:chOff x="2604" y="1989"/>
                <a:chExt cx="134" cy="200"/>
              </a:xfrm>
            </p:grpSpPr>
            <p:sp>
              <p:nvSpPr>
                <p:cNvPr id="27" name="AutoShape 181"/>
                <p:cNvSpPr>
                  <a:spLocks noChangeArrowheads="1"/>
                </p:cNvSpPr>
                <p:nvPr/>
              </p:nvSpPr>
              <p:spPr bwMode="auto">
                <a:xfrm>
                  <a:off x="2604" y="1992"/>
                  <a:ext cx="0" cy="197"/>
                </a:xfrm>
                <a:prstGeom prst="roundRect">
                  <a:avLst>
                    <a:gd name="adj" fmla="val 16667"/>
                  </a:avLst>
                </a:prstGeom>
                <a:solidFill>
                  <a:schemeClr val="tx1"/>
                </a:solidFill>
                <a:ln w="12700" algn="ctr">
                  <a:solidFill>
                    <a:schemeClr val="bg1"/>
                  </a:solidFill>
                  <a:round/>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8" name="Rectangle 182"/>
                <p:cNvSpPr>
                  <a:spLocks noChangeArrowheads="1"/>
                </p:cNvSpPr>
                <p:nvPr/>
              </p:nvSpPr>
              <p:spPr bwMode="auto">
                <a:xfrm>
                  <a:off x="2658" y="1989"/>
                  <a:ext cx="50" cy="197"/>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9" name="Rectangle 183"/>
                <p:cNvSpPr>
                  <a:spLocks noChangeArrowheads="1"/>
                </p:cNvSpPr>
                <p:nvPr/>
              </p:nvSpPr>
              <p:spPr bwMode="auto">
                <a:xfrm>
                  <a:off x="2738" y="1989"/>
                  <a:ext cx="0" cy="197"/>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grpSp>
          <p:nvGrpSpPr>
            <p:cNvPr id="19" name="Group 184"/>
            <p:cNvGrpSpPr>
              <a:grpSpLocks/>
            </p:cNvGrpSpPr>
            <p:nvPr/>
          </p:nvGrpSpPr>
          <p:grpSpPr bwMode="auto">
            <a:xfrm>
              <a:off x="3772" y="3433"/>
              <a:ext cx="114" cy="347"/>
              <a:chOff x="997" y="3046"/>
              <a:chExt cx="114" cy="347"/>
            </a:xfrm>
          </p:grpSpPr>
          <p:sp>
            <p:nvSpPr>
              <p:cNvPr id="20" name="Rectangle 185"/>
              <p:cNvSpPr>
                <a:spLocks noChangeArrowheads="1"/>
              </p:cNvSpPr>
              <p:nvPr/>
            </p:nvSpPr>
            <p:spPr bwMode="auto">
              <a:xfrm>
                <a:off x="1033" y="3046"/>
                <a:ext cx="0" cy="158"/>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186"/>
              <p:cNvSpPr>
                <a:spLocks noChangeArrowheads="1"/>
              </p:cNvSpPr>
              <p:nvPr/>
            </p:nvSpPr>
            <p:spPr bwMode="auto">
              <a:xfrm>
                <a:off x="1111" y="3046"/>
                <a:ext cx="0" cy="158"/>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2" name="Freeform 187"/>
              <p:cNvSpPr>
                <a:spLocks/>
              </p:cNvSpPr>
              <p:nvPr/>
            </p:nvSpPr>
            <p:spPr bwMode="auto">
              <a:xfrm>
                <a:off x="997" y="3178"/>
                <a:ext cx="0" cy="158"/>
              </a:xfrm>
              <a:custGeom>
                <a:avLst/>
                <a:gdLst>
                  <a:gd name="T0" fmla="*/ 24 w 645"/>
                  <a:gd name="T1" fmla="*/ 0 h 553"/>
                  <a:gd name="T2" fmla="*/ 165 w 645"/>
                  <a:gd name="T3" fmla="*/ 0 h 553"/>
                  <a:gd name="T4" fmla="*/ 165 w 645"/>
                  <a:gd name="T5" fmla="*/ 26 h 553"/>
                  <a:gd name="T6" fmla="*/ 187 w 645"/>
                  <a:gd name="T7" fmla="*/ 26 h 553"/>
                  <a:gd name="T8" fmla="*/ 187 w 645"/>
                  <a:gd name="T9" fmla="*/ 95 h 553"/>
                  <a:gd name="T10" fmla="*/ 92 w 645"/>
                  <a:gd name="T11" fmla="*/ 161 h 553"/>
                  <a:gd name="T12" fmla="*/ 0 w 645"/>
                  <a:gd name="T13" fmla="*/ 95 h 553"/>
                  <a:gd name="T14" fmla="*/ 0 w 645"/>
                  <a:gd name="T15" fmla="*/ 20 h 553"/>
                  <a:gd name="T16" fmla="*/ 25 w 645"/>
                  <a:gd name="T17" fmla="*/ 20 h 553"/>
                  <a:gd name="T18" fmla="*/ 24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3" name="Rectangle 188"/>
              <p:cNvSpPr>
                <a:spLocks noChangeArrowheads="1"/>
              </p:cNvSpPr>
              <p:nvPr/>
            </p:nvSpPr>
            <p:spPr bwMode="auto">
              <a:xfrm>
                <a:off x="1062" y="3235"/>
                <a:ext cx="0" cy="158"/>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sp>
        <p:nvSpPr>
          <p:cNvPr id="30" name="TextBox 29"/>
          <p:cNvSpPr txBox="1"/>
          <p:nvPr/>
        </p:nvSpPr>
        <p:spPr>
          <a:xfrm>
            <a:off x="2310896" y="3765446"/>
            <a:ext cx="1828800" cy="383044"/>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Processes</a:t>
            </a:r>
            <a:br>
              <a:rPr kumimoji="0" lang="en-US" sz="1600" b="1" i="0" u="none" strike="noStrike" kern="1200" cap="none" spc="0" normalizeH="0" baseline="0" noProof="0" dirty="0">
                <a:ln>
                  <a:noFill/>
                </a:ln>
                <a:solidFill>
                  <a:srgbClr val="000000"/>
                </a:solidFill>
                <a:effectLst/>
                <a:uLnTx/>
                <a:uFillTx/>
                <a:latin typeface="Arial" charset="0"/>
                <a:ea typeface="+mn-ea"/>
                <a:cs typeface="+mn-cs"/>
              </a:rPr>
            </a:br>
            <a:r>
              <a:rPr kumimoji="0" lang="en-US" sz="1600" b="1" i="0" u="none" strike="noStrike" kern="1200" cap="none" spc="0" normalizeH="0" baseline="0" noProof="0" dirty="0">
                <a:ln>
                  <a:noFill/>
                </a:ln>
                <a:solidFill>
                  <a:srgbClr val="000000"/>
                </a:solidFill>
                <a:effectLst/>
                <a:uLnTx/>
                <a:uFillTx/>
                <a:latin typeface="Arial" charset="0"/>
                <a:ea typeface="+mn-ea"/>
                <a:cs typeface="+mn-cs"/>
              </a:rPr>
              <a:t>Plugin</a:t>
            </a:r>
          </a:p>
        </p:txBody>
      </p:sp>
      <p:sp>
        <p:nvSpPr>
          <p:cNvPr id="31" name="TextBox 30"/>
          <p:cNvSpPr txBox="1"/>
          <p:nvPr/>
        </p:nvSpPr>
        <p:spPr>
          <a:xfrm>
            <a:off x="3176468" y="971447"/>
            <a:ext cx="1242338" cy="587113"/>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0000"/>
                </a:solidFill>
                <a:effectLst/>
                <a:uLnTx/>
                <a:uFillTx/>
                <a:latin typeface="Arial" charset="0"/>
                <a:ea typeface="+mn-ea"/>
                <a:cs typeface="+mn-cs"/>
              </a:rPr>
              <a:t>IProcesses</a:t>
            </a:r>
            <a:r>
              <a:rPr kumimoji="0" lang="en-US" sz="1600" b="1" i="0" u="none" strike="noStrike" kern="1200" cap="none" spc="0" normalizeH="0" baseline="0" noProof="0" dirty="0">
                <a:ln>
                  <a:noFill/>
                </a:ln>
                <a:solidFill>
                  <a:srgbClr val="000000"/>
                </a:solidFill>
                <a:effectLst/>
                <a:uLnTx/>
                <a:uFillTx/>
                <a:latin typeface="Arial" charset="0"/>
                <a:ea typeface="+mn-ea"/>
                <a:cs typeface="+mn-cs"/>
              </a:rPr>
              <a:t/>
            </a:r>
            <a:br>
              <a:rPr kumimoji="0" lang="en-US" sz="1600" b="1" i="0" u="none" strike="noStrike" kern="1200" cap="none" spc="0" normalizeH="0" baseline="0" noProof="0" dirty="0">
                <a:ln>
                  <a:noFill/>
                </a:ln>
                <a:solidFill>
                  <a:srgbClr val="000000"/>
                </a:solidFill>
                <a:effectLst/>
                <a:uLnTx/>
                <a:uFillTx/>
                <a:latin typeface="Arial" charset="0"/>
                <a:ea typeface="+mn-ea"/>
                <a:cs typeface="+mn-cs"/>
              </a:rPr>
            </a:br>
            <a:r>
              <a:rPr kumimoji="0" lang="en-US" sz="1600" b="1" i="0" u="none" strike="noStrike" kern="1200" cap="none" spc="0" normalizeH="0" baseline="0" noProof="0" dirty="0">
                <a:ln>
                  <a:noFill/>
                </a:ln>
                <a:solidFill>
                  <a:srgbClr val="000000"/>
                </a:solidFill>
                <a:effectLst/>
                <a:uLnTx/>
                <a:uFillTx/>
                <a:latin typeface="Arial" charset="0"/>
                <a:ea typeface="+mn-ea"/>
                <a:cs typeface="+mn-cs"/>
              </a:rPr>
              <a:t>Plugin</a:t>
            </a:r>
          </a:p>
        </p:txBody>
      </p:sp>
      <p:sp>
        <p:nvSpPr>
          <p:cNvPr id="54" name="Text Box 4"/>
          <p:cNvSpPr txBox="1">
            <a:spLocks noChangeArrowheads="1"/>
          </p:cNvSpPr>
          <p:nvPr/>
        </p:nvSpPr>
        <p:spPr bwMode="auto">
          <a:xfrm>
            <a:off x="8331200" y="1434433"/>
            <a:ext cx="2336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0000"/>
                </a:solidFill>
                <a:effectLst/>
                <a:uLnTx/>
                <a:uFillTx/>
                <a:latin typeface="Arial" charset="0"/>
                <a:ea typeface="+mn-ea"/>
                <a:cs typeface="+mn-cs"/>
              </a:rPr>
              <a:t>FlagOverdue</a:t>
            </a:r>
            <a:r>
              <a:rPr kumimoji="0" lang="en-US" sz="1600" b="1" i="0" u="none" strike="noStrike" kern="1200" cap="none" spc="0" normalizeH="0" baseline="0" noProof="0" dirty="0">
                <a:ln>
                  <a:noFill/>
                </a:ln>
                <a:solidFill>
                  <a:srgbClr val="000000"/>
                </a:solidFill>
                <a:effectLst/>
                <a:uLnTx/>
                <a:uFillTx/>
                <a:latin typeface="Arial" charset="0"/>
                <a:ea typeface="+mn-ea"/>
                <a:cs typeface="+mn-cs"/>
              </a:rPr>
              <a:t/>
            </a:r>
            <a:br>
              <a:rPr kumimoji="0" lang="en-US" sz="1600" b="1" i="0" u="none" strike="noStrike" kern="1200" cap="none" spc="0" normalizeH="0" baseline="0" noProof="0" dirty="0">
                <a:ln>
                  <a:noFill/>
                </a:ln>
                <a:solidFill>
                  <a:srgbClr val="000000"/>
                </a:solidFill>
                <a:effectLst/>
                <a:uLnTx/>
                <a:uFillTx/>
                <a:latin typeface="Arial" charset="0"/>
                <a:ea typeface="+mn-ea"/>
                <a:cs typeface="+mn-cs"/>
              </a:rPr>
            </a:br>
            <a:r>
              <a:rPr kumimoji="0" lang="en-US" sz="1600" b="1" i="0" u="none" strike="noStrike" kern="1200" cap="none" spc="0" normalizeH="0" baseline="0" noProof="0" dirty="0">
                <a:ln>
                  <a:noFill/>
                </a:ln>
                <a:solidFill>
                  <a:srgbClr val="000000"/>
                </a:solidFill>
                <a:effectLst/>
                <a:uLnTx/>
                <a:uFillTx/>
                <a:latin typeface="Arial" charset="0"/>
                <a:ea typeface="+mn-ea"/>
                <a:cs typeface="+mn-cs"/>
              </a:rPr>
              <a:t>LegalReportsBatch.gs</a:t>
            </a:r>
          </a:p>
        </p:txBody>
      </p:sp>
      <p:sp>
        <p:nvSpPr>
          <p:cNvPr id="61" name="AutoShape 37"/>
          <p:cNvSpPr>
            <a:spLocks noChangeArrowheads="1"/>
          </p:cNvSpPr>
          <p:nvPr/>
        </p:nvSpPr>
        <p:spPr bwMode="auto">
          <a:xfrm>
            <a:off x="4293394" y="1744298"/>
            <a:ext cx="3326606" cy="2510099"/>
          </a:xfrm>
          <a:prstGeom prst="verticalScroll">
            <a:avLst>
              <a:gd name="adj" fmla="val 6889"/>
            </a:avLst>
          </a:prstGeom>
          <a:solidFill>
            <a:srgbClr val="FFC521"/>
          </a:solidFill>
          <a:ln w="12700">
            <a:solidFill>
              <a:schemeClr val="bg1"/>
            </a:solidFill>
            <a:round/>
            <a:headEnd/>
            <a:tailEnd/>
          </a:ln>
          <a:effectLst>
            <a:outerShdw blurRad="50800" dist="38100" dir="2700000" algn="tl" rotWithShape="0">
              <a:prstClr val="black">
                <a:alpha val="40000"/>
              </a:prstClr>
            </a:outerShdw>
          </a:effec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62" name="Rectangle 12"/>
          <p:cNvSpPr>
            <a:spLocks noChangeArrowheads="1"/>
          </p:cNvSpPr>
          <p:nvPr/>
        </p:nvSpPr>
        <p:spPr bwMode="auto">
          <a:xfrm>
            <a:off x="4418807" y="2022192"/>
            <a:ext cx="292020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srgbClr val="000000"/>
                </a:solidFill>
                <a:effectLst/>
                <a:uLnTx/>
                <a:uFillTx/>
                <a:latin typeface="Arial"/>
                <a:ea typeface="+mn-ea"/>
                <a:cs typeface="+mn-cs"/>
              </a:rPr>
              <a:t>ActivityEsc</a:t>
            </a: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Archive</a:t>
            </a:r>
            <a:br>
              <a:rPr kumimoji="0" lang="en-US" sz="1800" b="1" i="0" u="none" strike="noStrike" kern="1200" cap="none" spc="0" normalizeH="0" baseline="0" noProof="0" dirty="0">
                <a:ln>
                  <a:noFill/>
                </a:ln>
                <a:solidFill>
                  <a:srgbClr val="000000"/>
                </a:solidFill>
                <a:effectLst/>
                <a:uLnTx/>
                <a:uFillTx/>
                <a:latin typeface="Arial"/>
                <a:ea typeface="+mn-ea"/>
                <a:cs typeface="+mn-cs"/>
              </a:rPr>
            </a:br>
            <a:r>
              <a:rPr kumimoji="0" lang="en-US" sz="1800" b="1" i="0" u="none" strike="noStrike" kern="1200" cap="none" spc="0" normalizeH="0" baseline="0" noProof="0" dirty="0" err="1">
                <a:ln>
                  <a:noFill/>
                </a:ln>
                <a:solidFill>
                  <a:srgbClr val="000000"/>
                </a:solidFill>
                <a:effectLst/>
                <a:uLnTx/>
                <a:uFillTx/>
                <a:latin typeface="Arial"/>
                <a:ea typeface="+mn-ea"/>
                <a:cs typeface="+mn-cs"/>
              </a:rPr>
              <a:t>DataDistribution</a:t>
            </a:r>
            <a:r>
              <a:rPr kumimoji="0" lang="en-US" sz="1800" b="1" i="0" u="none" strike="noStrike" kern="1200" cap="none" spc="0" normalizeH="0" baseline="0" noProof="0" dirty="0">
                <a:ln>
                  <a:noFill/>
                </a:ln>
                <a:solidFill>
                  <a:srgbClr val="000000"/>
                </a:solidFill>
                <a:effectLst/>
                <a:uLnTx/>
                <a:uFillTx/>
                <a:latin typeface="Arial"/>
                <a:ea typeface="+mn-ea"/>
                <a:cs typeface="+mn-cs"/>
              </a:rPr>
              <a:t/>
            </a:r>
            <a:br>
              <a:rPr kumimoji="0" lang="en-US" sz="1800" b="1" i="0" u="none" strike="noStrike" kern="1200" cap="none" spc="0" normalizeH="0" baseline="0" noProof="0" dirty="0">
                <a:ln>
                  <a:noFill/>
                </a:ln>
                <a:solidFill>
                  <a:srgbClr val="000000"/>
                </a:solidFill>
                <a:effectLst/>
                <a:uLnTx/>
                <a:uFillTx/>
                <a:latin typeface="Arial"/>
                <a:ea typeface="+mn-ea"/>
                <a:cs typeface="+mn-cs"/>
              </a:rPr>
            </a:br>
            <a:r>
              <a:rPr kumimoji="0" lang="en-US" sz="1800" b="1" i="0" u="none" strike="noStrike" kern="1200" cap="none" spc="0" normalizeH="0" baseline="0" noProof="0" dirty="0" err="1">
                <a:ln>
                  <a:noFill/>
                </a:ln>
                <a:solidFill>
                  <a:srgbClr val="000000"/>
                </a:solidFill>
                <a:effectLst/>
                <a:uLnTx/>
                <a:uFillTx/>
                <a:latin typeface="Arial"/>
                <a:ea typeface="+mn-ea"/>
                <a:cs typeface="+mn-cs"/>
              </a:rPr>
              <a:t>FlagOverdueLegalReports</a:t>
            </a:r>
            <a:r>
              <a:rPr kumimoji="0" lang="en-US" sz="1800" b="0" i="0" u="none" strike="noStrike" kern="1200" cap="none" spc="0" normalizeH="0" baseline="0" noProof="0" dirty="0">
                <a:ln>
                  <a:noFill/>
                </a:ln>
                <a:solidFill>
                  <a:srgbClr val="000000"/>
                </a:solidFill>
                <a:effectLst/>
                <a:uLnTx/>
                <a:uFillTx/>
                <a:latin typeface="Arial"/>
                <a:ea typeface="+mn-ea"/>
                <a:cs typeface="+mn-cs"/>
              </a:rPr>
              <a:t/>
            </a:r>
            <a:br>
              <a:rPr kumimoji="0" lang="en-US" sz="1800" b="0" i="0" u="none" strike="noStrike" kern="1200" cap="none" spc="0" normalizeH="0" baseline="0" noProof="0" dirty="0">
                <a:ln>
                  <a:noFill/>
                </a:ln>
                <a:solidFill>
                  <a:srgbClr val="000000"/>
                </a:solidFill>
                <a:effectLst/>
                <a:uLnTx/>
                <a:uFillTx/>
                <a:latin typeface="Arial"/>
                <a:ea typeface="+mn-ea"/>
                <a:cs typeface="+mn-cs"/>
              </a:rPr>
            </a:br>
            <a:r>
              <a:rPr kumimoji="0" lang="en-US" sz="1800" b="0" i="0" u="none" strike="noStrike" kern="1200" cap="none" spc="0" normalizeH="0" baseline="0" noProof="0" dirty="0">
                <a:ln>
                  <a:noFill/>
                </a:ln>
                <a:solidFill>
                  <a:srgbClr val="000000"/>
                </a:solidFill>
                <a:effectLst/>
                <a:uLnTx/>
                <a:uFillTx/>
                <a:latin typeface="Arial"/>
                <a:ea typeface="+mn-ea"/>
                <a:cs typeface="+mn-cs"/>
              </a:rPr>
              <a:t>...</a:t>
            </a:r>
          </a:p>
        </p:txBody>
      </p:sp>
      <p:sp>
        <p:nvSpPr>
          <p:cNvPr id="63" name="Text Box 40"/>
          <p:cNvSpPr txBox="1">
            <a:spLocks noChangeArrowheads="1"/>
          </p:cNvSpPr>
          <p:nvPr/>
        </p:nvSpPr>
        <p:spPr bwMode="auto">
          <a:xfrm>
            <a:off x="4810126" y="1406159"/>
            <a:ext cx="2162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Courier New" pitchFamily="49" charset="0"/>
                <a:ea typeface="+mn-ea"/>
                <a:cs typeface="+mn-cs"/>
              </a:rPr>
              <a:t>switch (type):</a:t>
            </a:r>
          </a:p>
        </p:txBody>
      </p:sp>
      <p:sp>
        <p:nvSpPr>
          <p:cNvPr id="4" name="Left Brace 3"/>
          <p:cNvSpPr/>
          <p:nvPr/>
        </p:nvSpPr>
        <p:spPr bwMode="auto">
          <a:xfrm>
            <a:off x="3899207" y="2761097"/>
            <a:ext cx="180" cy="307777"/>
          </a:xfrm>
          <a:prstGeom prst="leftBrace">
            <a:avLst>
              <a:gd name="adj1" fmla="val 37751"/>
              <a:gd name="adj2" fmla="val 64229"/>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0" tIns="0" rIns="0" bIns="0" numCol="1" rtlCol="0" anchor="ctr" anchorCtr="0" compatLnSpc="1">
            <a:prstTxWarp prst="textNoShape">
              <a:avLst/>
            </a:prstTxWarp>
            <a:spAutoFit/>
          </a:bodyPr>
          <a:lstStyle/>
          <a:p>
            <a:pPr marL="0" marR="0" lvl="0" indent="0" algn="ctr" defTabSz="914400" rtl="0" eaLnBrk="1" fontAlgn="base" latinLnBrk="0" hangingPunct="1">
              <a:lnSpc>
                <a:spcPct val="100000"/>
              </a:lnSpc>
              <a:spcBef>
                <a:spcPct val="50000"/>
              </a:spcBef>
              <a:spcAft>
                <a:spcPct val="30000"/>
              </a:spcAft>
              <a:buClr>
                <a:srgbClr val="FFFFFF"/>
              </a:buClr>
              <a:buSzTx/>
              <a:buFontTx/>
              <a:buNone/>
              <a:tabLst/>
              <a:defRPr/>
            </a:pPr>
            <a:endParaRPr kumimoji="0" lang="en-US" sz="2000" b="1" i="0" u="none" strike="noStrike" kern="1200" cap="none" spc="0" normalizeH="0" baseline="0" noProof="0">
              <a:ln>
                <a:noFill/>
              </a:ln>
              <a:solidFill>
                <a:srgbClr val="FF0000"/>
              </a:solidFill>
              <a:effectLst/>
              <a:uLnTx/>
              <a:uFillTx/>
              <a:latin typeface="Arial" charset="0"/>
              <a:ea typeface="+mn-ea"/>
              <a:cs typeface="+mn-cs"/>
            </a:endParaRPr>
          </a:p>
        </p:txBody>
      </p:sp>
      <p:grpSp>
        <p:nvGrpSpPr>
          <p:cNvPr id="65" name="icn PreDefPlugins"/>
          <p:cNvGrpSpPr/>
          <p:nvPr/>
        </p:nvGrpSpPr>
        <p:grpSpPr>
          <a:xfrm>
            <a:off x="2268849" y="2641482"/>
            <a:ext cx="855350" cy="1058878"/>
            <a:chOff x="8250577" y="1176727"/>
            <a:chExt cx="1115460" cy="1380882"/>
          </a:xfrm>
        </p:grpSpPr>
        <p:pic>
          <p:nvPicPr>
            <p:cNvPr id="66"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7" name="icon Plugin"/>
            <p:cNvGrpSpPr>
              <a:grpSpLocks/>
            </p:cNvGrpSpPr>
            <p:nvPr/>
          </p:nvGrpSpPr>
          <p:grpSpPr bwMode="auto">
            <a:xfrm>
              <a:off x="8250577" y="1252418"/>
              <a:ext cx="408338" cy="746782"/>
              <a:chOff x="4500" y="2723"/>
              <a:chExt cx="186" cy="340"/>
            </a:xfrm>
            <a:effectLst>
              <a:outerShdw blurRad="50800" dist="38100" dir="2700000" algn="tl" rotWithShape="0">
                <a:prstClr val="black">
                  <a:alpha val="40000"/>
                </a:prstClr>
              </a:outerShdw>
            </a:effectLst>
          </p:grpSpPr>
          <p:sp>
            <p:nvSpPr>
              <p:cNvPr id="69" name="Rectangle 12"/>
              <p:cNvSpPr>
                <a:spLocks noChangeArrowheads="1"/>
              </p:cNvSpPr>
              <p:nvPr/>
            </p:nvSpPr>
            <p:spPr bwMode="auto">
              <a:xfrm>
                <a:off x="4620" y="2723"/>
                <a:ext cx="0" cy="16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0" name="Rectangle 13"/>
              <p:cNvSpPr>
                <a:spLocks noChangeArrowheads="1"/>
              </p:cNvSpPr>
              <p:nvPr/>
            </p:nvSpPr>
            <p:spPr bwMode="auto">
              <a:xfrm>
                <a:off x="4686" y="2723"/>
                <a:ext cx="0" cy="16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1" name="Freeform 14"/>
              <p:cNvSpPr>
                <a:spLocks/>
              </p:cNvSpPr>
              <p:nvPr/>
            </p:nvSpPr>
            <p:spPr bwMode="auto">
              <a:xfrm>
                <a:off x="4500" y="2899"/>
                <a:ext cx="0" cy="164"/>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2" name="Freeform 15"/>
              <p:cNvSpPr>
                <a:spLocks/>
              </p:cNvSpPr>
              <p:nvPr/>
            </p:nvSpPr>
            <p:spPr bwMode="auto">
              <a:xfrm>
                <a:off x="4590" y="2833"/>
                <a:ext cx="0" cy="164"/>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pic>
        <p:nvPicPr>
          <p:cNvPr id="41"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1593" y="2021805"/>
            <a:ext cx="1225854" cy="132800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8362090"/>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Custom batch process </a:t>
            </a:r>
            <a:r>
              <a:rPr lang="en-US" dirty="0" smtClean="0"/>
              <a:t>classes</a:t>
            </a:r>
            <a:endParaRPr lang="en-US" dirty="0"/>
          </a:p>
        </p:txBody>
      </p:sp>
      <p:sp>
        <p:nvSpPr>
          <p:cNvPr id="4" name="Content Placeholder 3"/>
          <p:cNvSpPr>
            <a:spLocks noGrp="1"/>
          </p:cNvSpPr>
          <p:nvPr>
            <p:ph idx="1"/>
          </p:nvPr>
        </p:nvSpPr>
        <p:spPr>
          <a:xfrm>
            <a:off x="661755" y="861824"/>
            <a:ext cx="11091333" cy="5538976"/>
          </a:xfrm>
        </p:spPr>
        <p:txBody>
          <a:bodyPr/>
          <a:lstStyle/>
          <a:p>
            <a:r>
              <a:rPr lang="en-US" b="1" dirty="0" smtClean="0">
                <a:latin typeface="Courier New" pitchFamily="49" charset="0"/>
                <a:cs typeface="Courier New" pitchFamily="49" charset="0"/>
              </a:rPr>
              <a:t>ProcessesPlugin</a:t>
            </a:r>
            <a:r>
              <a:rPr lang="en-US" dirty="0" smtClean="0"/>
              <a:t> implements the </a:t>
            </a:r>
            <a:r>
              <a:rPr lang="en-US" b="1" dirty="0" err="1">
                <a:latin typeface="Courier New" pitchFamily="49" charset="0"/>
                <a:cs typeface="Courier New" pitchFamily="49" charset="0"/>
              </a:rPr>
              <a:t>IProcessesPlugin</a:t>
            </a:r>
            <a:endParaRPr lang="en-US" b="1" dirty="0">
              <a:latin typeface="Courier New" pitchFamily="49" charset="0"/>
              <a:cs typeface="Courier New" pitchFamily="49" charset="0"/>
            </a:endParaRPr>
          </a:p>
          <a:p>
            <a:r>
              <a:rPr lang="en-US" b="1" dirty="0">
                <a:latin typeface="Courier New" pitchFamily="49" charset="0"/>
                <a:cs typeface="Courier New" pitchFamily="49" charset="0"/>
              </a:rPr>
              <a:t>ProcessesPlugin</a:t>
            </a:r>
            <a:r>
              <a:rPr lang="en-US" dirty="0" smtClean="0"/>
              <a:t> overrides </a:t>
            </a:r>
            <a:r>
              <a:rPr lang="en-US" b="1" dirty="0" err="1" smtClean="0">
                <a:latin typeface="Courier New" pitchFamily="49" charset="0"/>
                <a:cs typeface="Courier New" pitchFamily="49" charset="0"/>
              </a:rPr>
              <a:t>createBatchProcess</a:t>
            </a:r>
            <a:r>
              <a:rPr lang="en-US" b="1" dirty="0" smtClean="0">
                <a:latin typeface="Courier New" pitchFamily="49" charset="0"/>
                <a:cs typeface="Courier New" pitchFamily="49" charset="0"/>
              </a:rPr>
              <a:t>()</a:t>
            </a:r>
          </a:p>
          <a:p>
            <a:r>
              <a:rPr lang="en-US" b="1" dirty="0" err="1" smtClean="0">
                <a:latin typeface="Courier New" pitchFamily="49" charset="0"/>
                <a:cs typeface="Courier New" pitchFamily="49" charset="0"/>
              </a:rPr>
              <a:t>createBatchProcess</a:t>
            </a:r>
            <a:r>
              <a:rPr lang="en-US" b="1" dirty="0" smtClean="0">
                <a:latin typeface="Courier New" pitchFamily="49" charset="0"/>
                <a:cs typeface="Courier New" pitchFamily="49" charset="0"/>
              </a:rPr>
              <a:t>()</a:t>
            </a:r>
            <a:r>
              <a:rPr lang="en-US" dirty="0" smtClean="0"/>
              <a:t> </a:t>
            </a:r>
          </a:p>
          <a:p>
            <a:pPr lvl="1"/>
            <a:r>
              <a:rPr lang="en-US" dirty="0" smtClean="0"/>
              <a:t>evaluates BatchProcessType</a:t>
            </a:r>
            <a:endParaRPr lang="en-US" dirty="0"/>
          </a:p>
          <a:p>
            <a:pPr lvl="1"/>
            <a:r>
              <a:rPr lang="en-US" dirty="0" smtClean="0"/>
              <a:t>instantiates a custom </a:t>
            </a:r>
            <a:r>
              <a:rPr lang="en-US" dirty="0"/>
              <a:t>batch process </a:t>
            </a:r>
            <a:r>
              <a:rPr lang="en-US" dirty="0" smtClean="0"/>
              <a:t>object from a Gosu or Java class</a:t>
            </a:r>
          </a:p>
          <a:p>
            <a:pPr lvl="1"/>
            <a:r>
              <a:rPr lang="en-US" dirty="0" smtClean="0"/>
              <a:t>returns a </a:t>
            </a:r>
            <a:r>
              <a:rPr lang="en-US" b="1" dirty="0" err="1" smtClean="0">
                <a:latin typeface="Courier New" pitchFamily="49" charset="0"/>
                <a:cs typeface="Courier New" pitchFamily="49" charset="0"/>
              </a:rPr>
              <a:t>batchProcess</a:t>
            </a:r>
            <a:r>
              <a:rPr lang="en-US" dirty="0" smtClean="0"/>
              <a:t> object</a:t>
            </a:r>
          </a:p>
          <a:p>
            <a:r>
              <a:rPr lang="en-US" dirty="0" smtClean="0"/>
              <a:t>Gosu class must extend the </a:t>
            </a:r>
            <a:r>
              <a:rPr lang="en-US" b="1" dirty="0" err="1" smtClean="0">
                <a:latin typeface="Courier New" pitchFamily="49" charset="0"/>
                <a:cs typeface="Courier New" pitchFamily="49" charset="0"/>
              </a:rPr>
              <a:t>BatchProcessBase</a:t>
            </a:r>
            <a:r>
              <a:rPr lang="en-US" dirty="0" smtClean="0"/>
              <a:t> and override the </a:t>
            </a:r>
            <a:r>
              <a:rPr lang="en-US" b="1" dirty="0" err="1" smtClean="0">
                <a:latin typeface="Courier New" pitchFamily="49" charset="0"/>
                <a:cs typeface="Courier New" pitchFamily="49" charset="0"/>
              </a:rPr>
              <a:t>doWork</a:t>
            </a:r>
            <a:r>
              <a:rPr lang="en-US" b="1" dirty="0" smtClean="0">
                <a:latin typeface="Courier New" pitchFamily="49" charset="0"/>
                <a:cs typeface="Courier New" pitchFamily="49" charset="0"/>
              </a:rPr>
              <a:t>() </a:t>
            </a:r>
            <a:r>
              <a:rPr lang="en-US" dirty="0" smtClean="0"/>
              <a:t>function</a:t>
            </a:r>
            <a:endParaRPr lang="en-US" dirty="0"/>
          </a:p>
        </p:txBody>
      </p:sp>
    </p:spTree>
    <p:extLst>
      <p:ext uri="{BB962C8B-B14F-4D97-AF65-F5344CB8AC3E}">
        <p14:creationId xmlns:p14="http://schemas.microsoft.com/office/powerpoint/2010/main" val="942882492"/>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Batch process flags </a:t>
            </a:r>
            <a:r>
              <a:rPr lang="en-US" dirty="0" err="1" smtClean="0"/>
              <a:t>ABDoctors</a:t>
            </a:r>
            <a:endParaRPr lang="en-US" dirty="0"/>
          </a:p>
        </p:txBody>
      </p:sp>
      <p:sp>
        <p:nvSpPr>
          <p:cNvPr id="5" name="Text Placeholder 4"/>
          <p:cNvSpPr>
            <a:spLocks noGrp="1"/>
          </p:cNvSpPr>
          <p:nvPr>
            <p:ph type="body" sz="quarter" idx="10"/>
          </p:nvPr>
        </p:nvSpPr>
        <p:spPr/>
        <p:txBody>
          <a:bodyPr/>
          <a:lstStyle/>
          <a:p>
            <a:r>
              <a:rPr lang="en-US" dirty="0" smtClean="0"/>
              <a:t>with overdue legal reports</a:t>
            </a:r>
            <a:endParaRPr lang="en-US" dirty="0"/>
          </a:p>
        </p:txBody>
      </p:sp>
      <p:sp>
        <p:nvSpPr>
          <p:cNvPr id="6" name="Content Placeholder 5" hidden="1"/>
          <p:cNvSpPr>
            <a:spLocks noGrp="1"/>
          </p:cNvSpPr>
          <p:nvPr>
            <p:ph idx="1"/>
          </p:nvPr>
        </p:nvSpPr>
        <p:spPr/>
        <p:txBody>
          <a:bodyPr/>
          <a:lstStyle/>
          <a:p>
            <a:endParaRPr lang="en-US" dirty="0"/>
          </a:p>
        </p:txBody>
      </p:sp>
      <p:pic>
        <p:nvPicPr>
          <p:cNvPr id="4101"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r="48204"/>
          <a:stretch/>
        </p:blipFill>
        <p:spPr bwMode="auto">
          <a:xfrm>
            <a:off x="2292808" y="1142185"/>
            <a:ext cx="3193593" cy="277333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1" name="Rounded Rectangle 10"/>
          <p:cNvSpPr/>
          <p:nvPr/>
        </p:nvSpPr>
        <p:spPr bwMode="auto">
          <a:xfrm>
            <a:off x="2314580" y="2961503"/>
            <a:ext cx="1767203" cy="399553"/>
          </a:xfrm>
          <a:prstGeom prst="roundRect">
            <a:avLst>
              <a:gd name="adj" fmla="val 9976"/>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1676400"/>
            <a:ext cx="4865714" cy="23400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2" name="Rounded Rectangle 11"/>
          <p:cNvSpPr/>
          <p:nvPr/>
        </p:nvSpPr>
        <p:spPr bwMode="auto">
          <a:xfrm>
            <a:off x="8458201" y="3542267"/>
            <a:ext cx="441517" cy="306457"/>
          </a:xfrm>
          <a:prstGeom prst="roundRect">
            <a:avLst>
              <a:gd name="adj" fmla="val 9976"/>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410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3315" y="4114800"/>
            <a:ext cx="6140953" cy="237714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cxnSp>
        <p:nvCxnSpPr>
          <p:cNvPr id="10" name="Elbow Connector 9"/>
          <p:cNvCxnSpPr>
            <a:stCxn id="11" idx="3"/>
          </p:cNvCxnSpPr>
          <p:nvPr/>
        </p:nvCxnSpPr>
        <p:spPr bwMode="auto">
          <a:xfrm>
            <a:off x="4081782" y="3161280"/>
            <a:ext cx="4224018" cy="380987"/>
          </a:xfrm>
          <a:prstGeom prst="bentConnector3">
            <a:avLst>
              <a:gd name="adj1" fmla="val 92522"/>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22" name="Rounded Rectangle 21"/>
          <p:cNvSpPr/>
          <p:nvPr/>
        </p:nvSpPr>
        <p:spPr bwMode="auto">
          <a:xfrm>
            <a:off x="4762500" y="2652667"/>
            <a:ext cx="2667000" cy="617671"/>
          </a:xfrm>
          <a:prstGeom prst="roundRect">
            <a:avLst/>
          </a:prstGeom>
          <a:solidFill>
            <a:schemeClr val="tx1"/>
          </a:solid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Report NOT received </a:t>
            </a:r>
            <a:br>
              <a:rPr kumimoji="0" lang="en-US" sz="1800" b="0" i="0" u="none" strike="noStrike" kern="1200" cap="none" spc="0" normalizeH="0" baseline="0" noProof="0" dirty="0">
                <a:ln>
                  <a:noFill/>
                </a:ln>
                <a:solidFill>
                  <a:srgbClr val="000000"/>
                </a:solidFill>
                <a:effectLst/>
                <a:uLnTx/>
                <a:uFillTx/>
                <a:latin typeface="Arial"/>
                <a:ea typeface="+mn-ea"/>
                <a:cs typeface="+mn-cs"/>
              </a:rPr>
            </a:br>
            <a:r>
              <a:rPr kumimoji="0" lang="en-US" sz="1800" b="0" i="0" u="none" strike="noStrike" kern="1200" cap="none" spc="0" normalizeH="0" baseline="0" noProof="0" dirty="0">
                <a:ln>
                  <a:noFill/>
                </a:ln>
                <a:solidFill>
                  <a:srgbClr val="000000"/>
                </a:solidFill>
                <a:effectLst/>
                <a:uLnTx/>
                <a:uFillTx/>
                <a:latin typeface="Arial"/>
                <a:ea typeface="+mn-ea"/>
                <a:cs typeface="+mn-cs"/>
              </a:rPr>
              <a:t>in the allotted time</a:t>
            </a:r>
          </a:p>
        </p:txBody>
      </p:sp>
      <p:cxnSp>
        <p:nvCxnSpPr>
          <p:cNvPr id="50" name="Elbow Connector 49"/>
          <p:cNvCxnSpPr/>
          <p:nvPr/>
        </p:nvCxnSpPr>
        <p:spPr bwMode="auto">
          <a:xfrm rot="5400000">
            <a:off x="7275137" y="4076231"/>
            <a:ext cx="1564536" cy="1255809"/>
          </a:xfrm>
          <a:prstGeom prst="bentConnector3">
            <a:avLst>
              <a:gd name="adj1" fmla="val 50000"/>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940793352"/>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implement custom batch </a:t>
            </a:r>
            <a:r>
              <a:rPr lang="en-US" dirty="0" smtClean="0"/>
              <a:t>process</a:t>
            </a:r>
            <a:endParaRPr lang="en-US" dirty="0"/>
          </a:p>
        </p:txBody>
      </p:sp>
      <p:sp>
        <p:nvSpPr>
          <p:cNvPr id="3" name="Content Placeholder 2"/>
          <p:cNvSpPr>
            <a:spLocks noGrp="1"/>
          </p:cNvSpPr>
          <p:nvPr>
            <p:ph idx="1"/>
          </p:nvPr>
        </p:nvSpPr>
        <p:spPr>
          <a:xfrm>
            <a:off x="692151" y="685800"/>
            <a:ext cx="11091333" cy="5715000"/>
          </a:xfrm>
        </p:spPr>
        <p:txBody>
          <a:bodyPr/>
          <a:lstStyle/>
          <a:p>
            <a:pPr marL="457200" indent="-457200">
              <a:buFont typeface="+mj-lt"/>
              <a:buAutoNum type="arabicPeriod"/>
            </a:pPr>
            <a:r>
              <a:rPr lang="en-US" dirty="0"/>
              <a:t>Add </a:t>
            </a:r>
            <a:r>
              <a:rPr lang="en-US" dirty="0" smtClean="0"/>
              <a:t>a batch </a:t>
            </a:r>
            <a:r>
              <a:rPr lang="en-US" dirty="0"/>
              <a:t>process </a:t>
            </a:r>
            <a:r>
              <a:rPr lang="en-US" dirty="0" smtClean="0"/>
              <a:t>typecode to the </a:t>
            </a:r>
            <a:r>
              <a:rPr lang="en-US" dirty="0"/>
              <a:t>BatchProcessType </a:t>
            </a:r>
            <a:r>
              <a:rPr lang="en-US" dirty="0" smtClean="0"/>
              <a:t>typelist</a:t>
            </a:r>
          </a:p>
          <a:p>
            <a:pPr marL="800100" lvl="1" indent="-457200"/>
            <a:r>
              <a:rPr lang="en-US" dirty="0" smtClean="0"/>
              <a:t>Define typecode categories to specify the batch process execution options</a:t>
            </a:r>
            <a:endParaRPr lang="en-US" dirty="0"/>
          </a:p>
          <a:p>
            <a:pPr marL="457200" indent="-457200">
              <a:buFont typeface="+mj-lt"/>
              <a:buAutoNum type="arabicPeriod"/>
            </a:pPr>
            <a:r>
              <a:rPr lang="en-US" dirty="0"/>
              <a:t>Create </a:t>
            </a:r>
            <a:r>
              <a:rPr lang="en-US" dirty="0" smtClean="0"/>
              <a:t>a new custom batch process class </a:t>
            </a:r>
          </a:p>
          <a:p>
            <a:pPr marL="800100" lvl="1" indent="-457200"/>
            <a:r>
              <a:rPr lang="en-US" dirty="0" smtClean="0"/>
              <a:t>Extends </a:t>
            </a:r>
            <a:r>
              <a:rPr lang="en-US" dirty="0" err="1" smtClean="0"/>
              <a:t>BatchProcessBase</a:t>
            </a:r>
            <a:r>
              <a:rPr lang="en-US" dirty="0" smtClean="0"/>
              <a:t>, implements a specific constructor syntax, and overrides </a:t>
            </a:r>
            <a:r>
              <a:rPr lang="en-US" dirty="0" err="1" smtClean="0"/>
              <a:t>doWork</a:t>
            </a:r>
            <a:r>
              <a:rPr lang="en-US" dirty="0" smtClean="0"/>
              <a:t>() </a:t>
            </a:r>
            <a:endParaRPr lang="en-US" dirty="0"/>
          </a:p>
          <a:p>
            <a:pPr marL="457200" indent="-457200">
              <a:buFont typeface="+mj-lt"/>
              <a:buAutoNum type="arabicPeriod"/>
            </a:pPr>
            <a:r>
              <a:rPr lang="en-US" dirty="0" smtClean="0"/>
              <a:t>Implement and modify </a:t>
            </a:r>
            <a:r>
              <a:rPr lang="en-US" dirty="0"/>
              <a:t>the ProcessesPlugin class </a:t>
            </a:r>
            <a:r>
              <a:rPr lang="en-US" dirty="0" smtClean="0"/>
              <a:t>to instantiate and return the custom batch process object</a:t>
            </a:r>
          </a:p>
          <a:p>
            <a:pPr marL="457200" indent="-457200">
              <a:buFont typeface="+mj-lt"/>
              <a:buAutoNum type="arabicPeriod"/>
            </a:pPr>
            <a:r>
              <a:rPr lang="en-US" dirty="0" smtClean="0"/>
              <a:t>Configure scheduler-config.xml</a:t>
            </a:r>
          </a:p>
          <a:p>
            <a:pPr marL="457200" indent="-457200">
              <a:buFont typeface="+mj-lt"/>
              <a:buAutoNum type="arabicPeriod"/>
            </a:pPr>
            <a:r>
              <a:rPr lang="en-US" dirty="0" smtClean="0"/>
              <a:t>Deploy your changes</a:t>
            </a:r>
            <a:endParaRPr lang="en-US" dirty="0"/>
          </a:p>
          <a:p>
            <a:endParaRPr lang="en-US" dirty="0"/>
          </a:p>
        </p:txBody>
      </p:sp>
    </p:spTree>
    <p:extLst>
      <p:ext uri="{BB962C8B-B14F-4D97-AF65-F5344CB8AC3E}">
        <p14:creationId xmlns:p14="http://schemas.microsoft.com/office/powerpoint/2010/main" val="219940650"/>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32" name="Picture 12" descr="C:\Users\sluersen\AppData\Local\Temp\SNAGHTML1478cc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5630" y="914400"/>
            <a:ext cx="5920741" cy="264292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Step 1: Add BatchProcessType typecode</a:t>
            </a:r>
            <a:endParaRPr lang="en-US" dirty="0"/>
          </a:p>
        </p:txBody>
      </p:sp>
      <p:sp>
        <p:nvSpPr>
          <p:cNvPr id="3" name="Content Placeholder 2"/>
          <p:cNvSpPr>
            <a:spLocks noGrp="1"/>
          </p:cNvSpPr>
          <p:nvPr>
            <p:ph idx="1"/>
          </p:nvPr>
        </p:nvSpPr>
        <p:spPr>
          <a:xfrm>
            <a:off x="692151" y="3810000"/>
            <a:ext cx="11091333" cy="2590800"/>
          </a:xfrm>
        </p:spPr>
        <p:txBody>
          <a:bodyPr/>
          <a:lstStyle/>
          <a:p>
            <a:r>
              <a:rPr lang="en-US" dirty="0" smtClean="0"/>
              <a:t>Each typecode </a:t>
            </a:r>
            <a:br>
              <a:rPr lang="en-US" dirty="0" smtClean="0"/>
            </a:br>
            <a:r>
              <a:rPr lang="en-US" dirty="0" smtClean="0"/>
              <a:t>represents a batch process</a:t>
            </a:r>
          </a:p>
          <a:p>
            <a:pPr lvl="1"/>
            <a:r>
              <a:rPr lang="en-US" dirty="0" smtClean="0"/>
              <a:t>Guidewire does NOT </a:t>
            </a:r>
            <a:br>
              <a:rPr lang="en-US" dirty="0" smtClean="0"/>
            </a:br>
            <a:r>
              <a:rPr lang="en-US" dirty="0" smtClean="0"/>
              <a:t>support modification of </a:t>
            </a:r>
            <a:br>
              <a:rPr lang="en-US" dirty="0" smtClean="0"/>
            </a:br>
            <a:r>
              <a:rPr lang="en-US" dirty="0" smtClean="0"/>
              <a:t>internal batch processes</a:t>
            </a:r>
          </a:p>
          <a:p>
            <a:r>
              <a:rPr lang="en-US" dirty="0" smtClean="0"/>
              <a:t>Add Typecode then add </a:t>
            </a:r>
            <a:br>
              <a:rPr lang="en-US" dirty="0" smtClean="0"/>
            </a:br>
            <a:r>
              <a:rPr lang="en-US" dirty="0" smtClean="0"/>
              <a:t>Category of </a:t>
            </a:r>
            <a:r>
              <a:rPr lang="en-US" dirty="0" err="1" smtClean="0"/>
              <a:t>BatchProcessTypeUsage</a:t>
            </a:r>
            <a:endParaRPr lang="en-US" dirty="0"/>
          </a:p>
        </p:txBody>
      </p:sp>
      <p:pic>
        <p:nvPicPr>
          <p:cNvPr id="5130" name="Picture 10" descr="C:\Users\sluersen\AppData\Local\Temp\SNAGHTML146619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4230" y="3391989"/>
            <a:ext cx="4447435" cy="2343150"/>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1760574"/>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p:cNvSpPr/>
          <p:nvPr/>
        </p:nvSpPr>
        <p:spPr bwMode="auto">
          <a:xfrm>
            <a:off x="7772400" y="2819400"/>
            <a:ext cx="2057400" cy="381000"/>
          </a:xfrm>
          <a:prstGeom prst="roundRect">
            <a:avLst/>
          </a:prstGeom>
          <a:solidFill>
            <a:schemeClr val="tx1"/>
          </a:solidFill>
          <a:ln w="19050" algn="ctr">
            <a:solidFill>
              <a:schemeClr val="tx1"/>
            </a:solidFill>
            <a:round/>
            <a:headEnd/>
            <a:tailEnd/>
          </a:ln>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p:cNvSpPr>
            <a:spLocks noGrp="1"/>
          </p:cNvSpPr>
          <p:nvPr>
            <p:ph type="title"/>
          </p:nvPr>
        </p:nvSpPr>
        <p:spPr/>
        <p:txBody>
          <a:bodyPr/>
          <a:lstStyle/>
          <a:p>
            <a:r>
              <a:rPr lang="en-US" dirty="0"/>
              <a:t>Step </a:t>
            </a:r>
            <a:r>
              <a:rPr lang="en-US" dirty="0" smtClean="0"/>
              <a:t>2: Create a batch process class</a:t>
            </a:r>
            <a:endParaRPr lang="en-US" dirty="0"/>
          </a:p>
        </p:txBody>
      </p:sp>
      <p:sp>
        <p:nvSpPr>
          <p:cNvPr id="3" name="Content Placeholder 2"/>
          <p:cNvSpPr>
            <a:spLocks noGrp="1"/>
          </p:cNvSpPr>
          <p:nvPr>
            <p:ph idx="1"/>
          </p:nvPr>
        </p:nvSpPr>
        <p:spPr>
          <a:xfrm>
            <a:off x="2043113" y="3465444"/>
            <a:ext cx="8472487" cy="2895600"/>
          </a:xfrm>
        </p:spPr>
        <p:txBody>
          <a:bodyPr/>
          <a:lstStyle/>
          <a:p>
            <a:r>
              <a:rPr lang="en-US" dirty="0"/>
              <a:t>Recommended naming convention:</a:t>
            </a:r>
          </a:p>
          <a:p>
            <a:pPr lvl="1"/>
            <a:r>
              <a:rPr lang="en-US" dirty="0"/>
              <a:t>Package: </a:t>
            </a:r>
            <a:r>
              <a:rPr lang="en-US" b="1" dirty="0">
                <a:latin typeface="Courier New" pitchFamily="49" charset="0"/>
                <a:cs typeface="Courier New" pitchFamily="49" charset="0"/>
              </a:rPr>
              <a:t>&lt;company&gt;.&lt;</a:t>
            </a:r>
            <a:r>
              <a:rPr lang="en-US" b="1" dirty="0" err="1">
                <a:latin typeface="Courier New" pitchFamily="49" charset="0"/>
                <a:cs typeface="Courier New" pitchFamily="49" charset="0"/>
              </a:rPr>
              <a:t>app_code</a:t>
            </a:r>
            <a:r>
              <a:rPr lang="en-US" b="1" dirty="0">
                <a:latin typeface="Courier New" pitchFamily="49" charset="0"/>
                <a:cs typeface="Courier New" pitchFamily="49" charset="0"/>
              </a:rPr>
              <a:t>&gt;.batch.&lt;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p>
          <a:p>
            <a:pPr lvl="1"/>
            <a:r>
              <a:rPr lang="en-US" dirty="0"/>
              <a:t>Class: </a:t>
            </a:r>
            <a:r>
              <a:rPr lang="en-US" b="1" dirty="0">
                <a:latin typeface="Courier New" pitchFamily="49" charset="0"/>
                <a:cs typeface="Courier New" pitchFamily="49" charset="0"/>
              </a:rPr>
              <a:t>&lt;</a:t>
            </a:r>
            <a:r>
              <a:rPr lang="en-US" b="1" dirty="0" err="1">
                <a:latin typeface="Courier New" pitchFamily="49" charset="0"/>
                <a:cs typeface="Courier New" pitchFamily="49" charset="0"/>
              </a:rPr>
              <a:t>meaningfulName</a:t>
            </a:r>
            <a:r>
              <a:rPr lang="en-US" b="1" dirty="0">
                <a:latin typeface="Courier New" pitchFamily="49" charset="0"/>
                <a:cs typeface="Courier New" pitchFamily="49" charset="0"/>
              </a:rPr>
              <a:t>&gt;Batch</a:t>
            </a:r>
          </a:p>
          <a:p>
            <a:r>
              <a:rPr lang="en-US" dirty="0" smtClean="0"/>
              <a:t>Custom </a:t>
            </a:r>
            <a:r>
              <a:rPr lang="en-US" dirty="0"/>
              <a:t>batch process </a:t>
            </a:r>
            <a:r>
              <a:rPr lang="en-US" dirty="0" smtClean="0"/>
              <a:t>class (Gosu or Java) </a:t>
            </a:r>
            <a:r>
              <a:rPr lang="en-US" dirty="0"/>
              <a:t>must:</a:t>
            </a:r>
          </a:p>
          <a:p>
            <a:pPr lvl="1"/>
            <a:r>
              <a:rPr lang="en-US" dirty="0"/>
              <a:t>Extend </a:t>
            </a:r>
            <a:r>
              <a:rPr lang="en-US" dirty="0" smtClean="0"/>
              <a:t> </a:t>
            </a:r>
            <a:r>
              <a:rPr lang="en-US" b="1" dirty="0" err="1" smtClean="0">
                <a:latin typeface="Courier New" pitchFamily="49" charset="0"/>
                <a:cs typeface="Courier New" pitchFamily="49" charset="0"/>
              </a:rPr>
              <a:t>BatchProcessBase</a:t>
            </a:r>
            <a:endParaRPr lang="en-US" b="1" dirty="0">
              <a:latin typeface="Courier New" pitchFamily="49" charset="0"/>
              <a:cs typeface="Courier New" pitchFamily="49" charset="0"/>
            </a:endParaRPr>
          </a:p>
          <a:p>
            <a:pPr lvl="1"/>
            <a:r>
              <a:rPr lang="en-US" dirty="0"/>
              <a:t>Have a </a:t>
            </a:r>
            <a:r>
              <a:rPr lang="en-US" dirty="0" smtClean="0"/>
              <a:t> </a:t>
            </a:r>
            <a:r>
              <a:rPr lang="en-US" b="1" dirty="0" smtClean="0">
                <a:latin typeface="Courier New" pitchFamily="49" charset="0"/>
                <a:cs typeface="Courier New" pitchFamily="49" charset="0"/>
              </a:rPr>
              <a:t>construct</a:t>
            </a:r>
            <a:r>
              <a:rPr lang="en-US" b="1" dirty="0">
                <a:latin typeface="Courier New" pitchFamily="49" charset="0"/>
                <a:cs typeface="Courier New" pitchFamily="49" charset="0"/>
              </a:rPr>
              <a:t>() </a:t>
            </a:r>
            <a:r>
              <a:rPr lang="en-US" dirty="0"/>
              <a:t>method that must call </a:t>
            </a:r>
            <a:r>
              <a:rPr lang="en-US" b="1" dirty="0">
                <a:latin typeface="Courier New" pitchFamily="49" charset="0"/>
                <a:cs typeface="Courier New" pitchFamily="49" charset="0"/>
              </a:rPr>
              <a:t>super()</a:t>
            </a:r>
            <a:r>
              <a:rPr lang="en-US" dirty="0"/>
              <a:t>, passing appropriate typecode </a:t>
            </a:r>
            <a:r>
              <a:rPr lang="en-US" dirty="0" smtClean="0"/>
              <a:t>value</a:t>
            </a:r>
          </a:p>
          <a:p>
            <a:pPr lvl="1"/>
            <a:r>
              <a:rPr lang="en-US" dirty="0" smtClean="0"/>
              <a:t>Override the  </a:t>
            </a:r>
            <a:r>
              <a:rPr lang="en-US" b="1" dirty="0" err="1" smtClean="0">
                <a:latin typeface="Courier New" pitchFamily="49" charset="0"/>
                <a:cs typeface="Courier New" pitchFamily="49" charset="0"/>
              </a:rPr>
              <a:t>doWork</a:t>
            </a:r>
            <a:r>
              <a:rPr lang="en-US" b="1" dirty="0" smtClean="0">
                <a:latin typeface="Courier New" pitchFamily="49" charset="0"/>
                <a:cs typeface="Courier New" pitchFamily="49" charset="0"/>
              </a:rPr>
              <a:t>() </a:t>
            </a:r>
            <a:r>
              <a:rPr lang="en-US" dirty="0" smtClean="0"/>
              <a:t>method</a:t>
            </a:r>
          </a:p>
          <a:p>
            <a:pPr lvl="1"/>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03514"/>
            <a:ext cx="8391267" cy="2449286"/>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ounded Rectangle 4"/>
          <p:cNvSpPr/>
          <p:nvPr/>
        </p:nvSpPr>
        <p:spPr bwMode="auto">
          <a:xfrm>
            <a:off x="8077200" y="1839685"/>
            <a:ext cx="1866900" cy="617671"/>
          </a:xfrm>
          <a:prstGeom prst="roundRect">
            <a:avLst/>
          </a:prstGeom>
          <a:solidFill>
            <a:schemeClr val="tx1"/>
          </a:solid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Type Code value</a:t>
            </a:r>
          </a:p>
        </p:txBody>
      </p:sp>
      <p:cxnSp>
        <p:nvCxnSpPr>
          <p:cNvPr id="7" name="Elbow Connector 6"/>
          <p:cNvCxnSpPr>
            <a:stCxn id="5" idx="3"/>
            <a:endCxn id="23" idx="2"/>
          </p:cNvCxnSpPr>
          <p:nvPr/>
        </p:nvCxnSpPr>
        <p:spPr bwMode="auto">
          <a:xfrm flipH="1">
            <a:off x="8801100" y="2148520"/>
            <a:ext cx="1143000" cy="1051880"/>
          </a:xfrm>
          <a:prstGeom prst="bentConnector4">
            <a:avLst>
              <a:gd name="adj1" fmla="val -49524"/>
              <a:gd name="adj2" fmla="val 131047"/>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28698696"/>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bwMode="auto">
          <a:xfrm>
            <a:off x="2009775" y="914400"/>
            <a:ext cx="457200" cy="53340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 name="Title 3"/>
          <p:cNvSpPr>
            <a:spLocks noGrp="1"/>
          </p:cNvSpPr>
          <p:nvPr>
            <p:ph type="title"/>
          </p:nvPr>
        </p:nvSpPr>
        <p:spPr/>
        <p:txBody>
          <a:bodyPr/>
          <a:lstStyle/>
          <a:p>
            <a:r>
              <a:rPr lang="en-US" dirty="0" smtClean="0"/>
              <a:t>Example: Commit </a:t>
            </a:r>
            <a:r>
              <a:rPr lang="en-US" dirty="0"/>
              <a:t>data in a batch </a:t>
            </a:r>
            <a:r>
              <a:rPr lang="en-US" dirty="0" smtClean="0"/>
              <a:t>process</a:t>
            </a:r>
            <a:endParaRPr lang="en-US" dirty="0"/>
          </a:p>
        </p:txBody>
      </p:sp>
      <p:sp>
        <p:nvSpPr>
          <p:cNvPr id="6" name="Rectangle 5"/>
          <p:cNvSpPr/>
          <p:nvPr/>
        </p:nvSpPr>
        <p:spPr>
          <a:xfrm>
            <a:off x="1981200" y="905934"/>
            <a:ext cx="8686800" cy="5472267"/>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13 </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override function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doWork</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…16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Transaction.runWithNewBundle</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(\bundle -&gt; {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…24    </a:t>
            </a:r>
            <a:r>
              <a:rPr kumimoji="0" lang="en-US" sz="1600" b="1" i="0" u="none" strike="noStrike" kern="1200" cap="none" spc="0" normalizeH="0" baseline="0" noProof="0" dirty="0" err="1">
                <a:ln>
                  <a:noFill/>
                </a:ln>
                <a:solidFill>
                  <a:srgbClr val="000080"/>
                </a:solidFill>
                <a:effectLst/>
                <a:uLnTx/>
                <a:uFillTx/>
                <a:latin typeface="Courier New"/>
                <a:ea typeface="Times New Roman"/>
                <a:cs typeface="Times New Roman"/>
              </a:rPr>
              <a:t>var</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messageQuery</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Query.make</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(Message)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…27    </a:t>
            </a:r>
            <a:r>
              <a:rPr kumimoji="0" lang="en-US" sz="1600" b="1" i="0" u="none" strike="noStrike" kern="1200" cap="none" spc="0" normalizeH="0" baseline="0" noProof="0" dirty="0" err="1">
                <a:ln>
                  <a:noFill/>
                </a:ln>
                <a:solidFill>
                  <a:srgbClr val="000080"/>
                </a:solidFill>
                <a:effectLst/>
                <a:uLnTx/>
                <a:uFillTx/>
                <a:latin typeface="Courier New"/>
                <a:ea typeface="Times New Roman"/>
                <a:cs typeface="Times New Roman"/>
              </a:rPr>
              <a:t>var</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resultsObj</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messageQuery.select</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28    </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for </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currentMessage</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in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resultsObj</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29     </a:t>
            </a:r>
            <a:r>
              <a:rPr kumimoji="0" lang="en-US" sz="1600" b="1" i="0" u="none" strike="noStrike" kern="1200" cap="none" spc="0" normalizeH="0" baseline="0" noProof="0" dirty="0" err="1">
                <a:ln>
                  <a:noFill/>
                </a:ln>
                <a:solidFill>
                  <a:srgbClr val="000080"/>
                </a:solidFill>
                <a:effectLst/>
                <a:uLnTx/>
                <a:uFillTx/>
                <a:latin typeface="Courier New"/>
                <a:ea typeface="Times New Roman"/>
                <a:cs typeface="Times New Roman"/>
              </a:rPr>
              <a:t>var</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relatedContact</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currentMessage.MessageRoot</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b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b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as </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ABContact)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…31     </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if </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relatedContact.FlagEntries.hasMatch</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currentEntry</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-&gt;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32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currentEntry.Reason</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b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b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FlagEntryReason.TC_OVERDUE_LEGAL_REPORT</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…35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relatedContact</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bundle.add</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relatedContact</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36      </a:t>
            </a:r>
            <a:r>
              <a:rPr kumimoji="0" lang="en-US" sz="1600" b="1" i="0" u="none" strike="noStrike" kern="1200" cap="none" spc="0" normalizeH="0" baseline="0" noProof="0" dirty="0" err="1">
                <a:ln>
                  <a:noFill/>
                </a:ln>
                <a:solidFill>
                  <a:srgbClr val="000080"/>
                </a:solidFill>
                <a:effectLst/>
                <a:uLnTx/>
                <a:uFillTx/>
                <a:latin typeface="Courier New"/>
                <a:ea typeface="Times New Roman"/>
                <a:cs typeface="Times New Roman"/>
              </a:rPr>
              <a:t>var</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newEntry</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r>
              <a:rPr kumimoji="0" lang="en-US" sz="1600" b="1" i="0" u="none" strike="noStrike" kern="1200" cap="none" spc="0" normalizeH="0" baseline="0" noProof="0" dirty="0">
                <a:ln>
                  <a:noFill/>
                </a:ln>
                <a:solidFill>
                  <a:srgbClr val="000080"/>
                </a:solidFill>
                <a:effectLst/>
                <a:uLnTx/>
                <a:uFillTx/>
                <a:latin typeface="Courier New"/>
                <a:ea typeface="Times New Roman"/>
                <a:cs typeface="Times New Roman"/>
              </a:rPr>
              <a:t>new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FlagEntry</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37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newEntry.FlagDate</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gw.api.util.DateUtil.currentDate</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38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newEntry.Reason</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FlagEntryReason.TC_OVERDUE_LEGAL_REPORT</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39      </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relatedContact.addToFlagEntries</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a:t>
            </a:r>
            <a:r>
              <a:rPr kumimoji="0" lang="en-US" sz="1600" b="1" i="0" u="none" strike="noStrike" kern="1200" cap="none" spc="0" normalizeH="0" baseline="0" noProof="0" dirty="0" err="1">
                <a:ln>
                  <a:noFill/>
                </a:ln>
                <a:solidFill>
                  <a:srgbClr val="000000"/>
                </a:solidFill>
                <a:effectLst/>
                <a:uLnTx/>
                <a:uFillTx/>
                <a:latin typeface="Courier New"/>
                <a:ea typeface="Times New Roman"/>
                <a:cs typeface="Times New Roman"/>
              </a:rPr>
              <a:t>newEntry</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…41     }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42    }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…47   }, </a:t>
            </a:r>
            <a:r>
              <a:rPr kumimoji="0" lang="en-US" sz="1600" b="1" i="0" u="none" strike="noStrike" kern="1200" cap="none" spc="0" normalizeH="0" baseline="0" noProof="0" dirty="0">
                <a:ln>
                  <a:noFill/>
                </a:ln>
                <a:solidFill>
                  <a:srgbClr val="008000"/>
                </a:solidFill>
                <a:effectLst/>
                <a:uLnTx/>
                <a:uFillTx/>
                <a:latin typeface="Courier New"/>
                <a:ea typeface="Times New Roman"/>
                <a:cs typeface="Times New Roman"/>
              </a:rPr>
              <a:t>"</a:t>
            </a:r>
            <a:r>
              <a:rPr kumimoji="0" lang="en-US" sz="1600" b="1" i="0" u="none" strike="noStrike" kern="1200" cap="none" spc="0" normalizeH="0" baseline="0" noProof="0" dirty="0" err="1">
                <a:ln>
                  <a:noFill/>
                </a:ln>
                <a:solidFill>
                  <a:srgbClr val="008000"/>
                </a:solidFill>
                <a:effectLst/>
                <a:uLnTx/>
                <a:uFillTx/>
                <a:latin typeface="Courier New"/>
                <a:ea typeface="Times New Roman"/>
                <a:cs typeface="Times New Roman"/>
              </a:rPr>
              <a:t>su</a:t>
            </a:r>
            <a:r>
              <a:rPr kumimoji="0" lang="en-US" sz="1600" b="1" i="0" u="none" strike="noStrike" kern="1200" cap="none" spc="0" normalizeH="0" baseline="0" noProof="0" dirty="0">
                <a:ln>
                  <a:noFill/>
                </a:ln>
                <a:solidFill>
                  <a:srgbClr val="008000"/>
                </a:solidFill>
                <a:effectLst/>
                <a:uLnTx/>
                <a:uFillTx/>
                <a:latin typeface="Courier New"/>
                <a:ea typeface="Times New Roman"/>
                <a:cs typeface="Times New Roman"/>
              </a:rPr>
              <a:t>"</a:t>
            </a: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 </a:t>
            </a:r>
          </a:p>
          <a:p>
            <a:pPr marL="0" marR="0" lvl="0" indent="0" algn="l" defTabSz="914400" rtl="0" eaLnBrk="1" fontAlgn="auto" latinLnBrk="0" hangingPunct="1">
              <a:lnSpc>
                <a:spcPct val="115000"/>
              </a:lnSpc>
              <a:spcBef>
                <a:spcPts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600" b="1" i="0" u="none" strike="noStrike" kern="1200" cap="none" spc="0" normalizeH="0" baseline="0" noProof="0" dirty="0">
                <a:ln>
                  <a:noFill/>
                </a:ln>
                <a:solidFill>
                  <a:srgbClr val="000000"/>
                </a:solidFill>
                <a:effectLst/>
                <a:uLnTx/>
                <a:uFillTx/>
                <a:latin typeface="Courier New"/>
                <a:ea typeface="Times New Roman"/>
                <a:cs typeface="Times New Roman"/>
              </a:rPr>
              <a:t>…54 }</a:t>
            </a:r>
            <a:endParaRPr kumimoji="0" lang="en-US" sz="1600" b="1" i="0" u="none" strike="noStrike" kern="1200" cap="none" spc="0" normalizeH="0" baseline="0" noProof="0" dirty="0">
              <a:ln>
                <a:noFill/>
              </a:ln>
              <a:solidFill>
                <a:srgbClr val="FFFFFF"/>
              </a:solidFill>
              <a:effectLst/>
              <a:uLnTx/>
              <a:uFillTx/>
              <a:latin typeface="Calibri"/>
              <a:ea typeface="Calibri"/>
              <a:cs typeface="Times New Roman"/>
            </a:endParaRPr>
          </a:p>
        </p:txBody>
      </p:sp>
      <p:sp>
        <p:nvSpPr>
          <p:cNvPr id="7" name="Rounded Rectangle 6"/>
          <p:cNvSpPr/>
          <p:nvPr/>
        </p:nvSpPr>
        <p:spPr bwMode="auto">
          <a:xfrm>
            <a:off x="1981200" y="1219201"/>
            <a:ext cx="8382000" cy="339719"/>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9" name="Rounded Rectangle 8"/>
          <p:cNvSpPr/>
          <p:nvPr/>
        </p:nvSpPr>
        <p:spPr bwMode="auto">
          <a:xfrm>
            <a:off x="1905000" y="3733801"/>
            <a:ext cx="8458200" cy="346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Rounded Rectangle 9"/>
          <p:cNvSpPr/>
          <p:nvPr/>
        </p:nvSpPr>
        <p:spPr bwMode="auto">
          <a:xfrm>
            <a:off x="1981200" y="5715000"/>
            <a:ext cx="8382000" cy="341944"/>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750794965"/>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2009775" y="1219200"/>
            <a:ext cx="457200" cy="50292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p:cNvSpPr>
            <a:spLocks noGrp="1"/>
          </p:cNvSpPr>
          <p:nvPr>
            <p:ph type="title"/>
          </p:nvPr>
        </p:nvSpPr>
        <p:spPr/>
        <p:txBody>
          <a:bodyPr/>
          <a:lstStyle/>
          <a:p>
            <a:r>
              <a:rPr lang="en-US" dirty="0" smtClean="0"/>
              <a:t>Step 3a: Create the ProcessesPlugin class</a:t>
            </a:r>
            <a:br>
              <a:rPr lang="en-US" dirty="0" smtClean="0"/>
            </a:br>
            <a:endParaRPr lang="en-US" dirty="0"/>
          </a:p>
        </p:txBody>
      </p:sp>
      <p:sp>
        <p:nvSpPr>
          <p:cNvPr id="4" name="Text Placeholder 3"/>
          <p:cNvSpPr>
            <a:spLocks noGrp="1"/>
          </p:cNvSpPr>
          <p:nvPr>
            <p:ph type="body" sz="quarter" idx="10"/>
          </p:nvPr>
        </p:nvSpPr>
        <p:spPr/>
        <p:txBody>
          <a:bodyPr/>
          <a:lstStyle/>
          <a:p>
            <a:r>
              <a:rPr lang="en-US" dirty="0" smtClean="0"/>
              <a:t>BillingCenter and ContactManager</a:t>
            </a:r>
            <a:endParaRPr lang="en-US" dirty="0"/>
          </a:p>
        </p:txBody>
      </p:sp>
      <p:sp>
        <p:nvSpPr>
          <p:cNvPr id="5" name="Rectangle 4"/>
          <p:cNvSpPr/>
          <p:nvPr/>
        </p:nvSpPr>
        <p:spPr>
          <a:xfrm>
            <a:off x="1943100" y="1219199"/>
            <a:ext cx="8648700" cy="501675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package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acme.ta.batch</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3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uses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gw.plugin.processing.IProcessesPlugin</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4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uses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gw.processes.BatchProcess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5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uses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acme.ta.batch.legalreport.FlagOverdueLegalReportsBatch</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6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7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class </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ProcessesPlugin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implements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IProcessesPlugin</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8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construct</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9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10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override function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createBatchProcess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type:BatchProcessType</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arguments : Object[]) :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11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switch</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(type) {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12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case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BatchProcessType.TC_FLAGOVERDUELEGALREPORTS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13          </a:t>
            </a:r>
            <a:r>
              <a:rPr kumimoji="0" lang="en-US" sz="1600" b="1" i="0" u="none" strike="noStrike" kern="1200" cap="none" spc="0" normalizeH="0" baseline="0" noProof="0" dirty="0" err="1">
                <a:ln>
                  <a:noFill/>
                </a:ln>
                <a:solidFill>
                  <a:srgbClr val="000080"/>
                </a:solidFill>
                <a:effectLst/>
                <a:uLnTx/>
                <a:uFillTx/>
                <a:latin typeface="Courier New" pitchFamily="49" charset="0"/>
                <a:ea typeface="+mn-ea"/>
                <a:cs typeface="Courier New" pitchFamily="49" charset="0"/>
              </a:rPr>
              <a:t>var</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myBatchProcess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new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FlagOverdueLegalReportsBatch</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14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return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myBatchProcess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15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default</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16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return null</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17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18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19 }</a:t>
            </a:r>
            <a:endParaRPr kumimoji="0" lang="en-US" sz="1600" b="1" i="0" u="none" strike="noStrike" kern="1200" cap="none" spc="0" normalizeH="0" baseline="0" noProof="0" dirty="0">
              <a:ln>
                <a:noFill/>
              </a:ln>
              <a:solidFill>
                <a:srgbClr val="FFFFFF"/>
              </a:solidFill>
              <a:effectLst/>
              <a:uLnTx/>
              <a:uFillTx/>
              <a:latin typeface="Courier New" pitchFamily="49" charset="0"/>
              <a:ea typeface="+mn-ea"/>
              <a:cs typeface="Courier New" pitchFamily="49" charset="0"/>
            </a:endParaRPr>
          </a:p>
        </p:txBody>
      </p:sp>
    </p:spTree>
    <p:extLst>
      <p:ext uri="{BB962C8B-B14F-4D97-AF65-F5344CB8AC3E}">
        <p14:creationId xmlns:p14="http://schemas.microsoft.com/office/powerpoint/2010/main" val="1310325630"/>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3a: Modify ProcessesPlugin class</a:t>
            </a:r>
            <a:br>
              <a:rPr lang="en-US" dirty="0" smtClean="0"/>
            </a:br>
            <a:endParaRPr lang="en-US" dirty="0"/>
          </a:p>
        </p:txBody>
      </p:sp>
      <p:sp>
        <p:nvSpPr>
          <p:cNvPr id="4" name="Text Placeholder 3"/>
          <p:cNvSpPr>
            <a:spLocks noGrp="1"/>
          </p:cNvSpPr>
          <p:nvPr>
            <p:ph type="body" sz="quarter" idx="10"/>
          </p:nvPr>
        </p:nvSpPr>
        <p:spPr/>
        <p:txBody>
          <a:bodyPr/>
          <a:lstStyle/>
          <a:p>
            <a:r>
              <a:rPr lang="en-US" dirty="0" smtClean="0"/>
              <a:t>ClaimCenter and PolicyCenter</a:t>
            </a:r>
            <a:endParaRPr lang="en-US" dirty="0"/>
          </a:p>
        </p:txBody>
      </p:sp>
      <p:sp>
        <p:nvSpPr>
          <p:cNvPr id="3" name="Content Placeholder 2"/>
          <p:cNvSpPr>
            <a:spLocks noGrp="1"/>
          </p:cNvSpPr>
          <p:nvPr>
            <p:ph idx="1"/>
          </p:nvPr>
        </p:nvSpPr>
        <p:spPr>
          <a:xfrm>
            <a:off x="2045208" y="5105401"/>
            <a:ext cx="8321040" cy="1295399"/>
          </a:xfrm>
        </p:spPr>
        <p:txBody>
          <a:bodyPr/>
          <a:lstStyle/>
          <a:p>
            <a:r>
              <a:rPr lang="en-US" dirty="0" smtClean="0"/>
              <a:t>Add a reference to the full qualified class</a:t>
            </a:r>
          </a:p>
          <a:p>
            <a:r>
              <a:rPr lang="en-US" dirty="0" smtClean="0"/>
              <a:t>Add </a:t>
            </a:r>
            <a:r>
              <a:rPr lang="en-US" dirty="0"/>
              <a:t>a case statement </a:t>
            </a:r>
            <a:r>
              <a:rPr lang="en-US" dirty="0" smtClean="0"/>
              <a:t>for the given typecode</a:t>
            </a:r>
          </a:p>
          <a:p>
            <a:pPr lvl="1"/>
            <a:r>
              <a:rPr lang="en-US" dirty="0" smtClean="0"/>
              <a:t>Return an instantiated custom batch process object</a:t>
            </a:r>
            <a:endParaRPr lang="en-US" dirty="0"/>
          </a:p>
        </p:txBody>
      </p:sp>
      <p:sp>
        <p:nvSpPr>
          <p:cNvPr id="6" name="Rectangle 5"/>
          <p:cNvSpPr/>
          <p:nvPr/>
        </p:nvSpPr>
        <p:spPr bwMode="auto">
          <a:xfrm>
            <a:off x="2009775" y="1219200"/>
            <a:ext cx="457200" cy="3733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Rectangle 6"/>
          <p:cNvSpPr/>
          <p:nvPr/>
        </p:nvSpPr>
        <p:spPr>
          <a:xfrm>
            <a:off x="1943100" y="1219199"/>
            <a:ext cx="8648700" cy="37856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4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uses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gw.processes.BatchProcess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8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uses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acme.ta.batch.legalreport.FlagOverdueLegalReportsBatch</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10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class </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ProcessesPlugin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implements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IProcessesPlugin</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…13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override function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createBatchProcess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type:BatchProcessType</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arguments : Object[]) :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14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switch</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(type) {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…21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case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BatchProcessType.TC_FLAGOVERDUELEGALREPORTS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22          </a:t>
            </a:r>
            <a:r>
              <a:rPr kumimoji="0" lang="en-US" sz="1600" b="1" i="0" u="none" strike="noStrike" kern="1200" cap="none" spc="0" normalizeH="0" baseline="0" noProof="0" dirty="0" err="1">
                <a:ln>
                  <a:noFill/>
                </a:ln>
                <a:solidFill>
                  <a:srgbClr val="000080"/>
                </a:solidFill>
                <a:effectLst/>
                <a:uLnTx/>
                <a:uFillTx/>
                <a:latin typeface="Courier New" pitchFamily="49" charset="0"/>
                <a:ea typeface="+mn-ea"/>
                <a:cs typeface="Courier New" pitchFamily="49" charset="0"/>
              </a:rPr>
              <a:t>var</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myBatchProcess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new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FlagOverdueLegalReportsBatch</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23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return </a:t>
            </a:r>
            <a:r>
              <a:rPr kumimoji="0" lang="en-US" sz="1600" b="1" i="0" u="none" strike="noStrike" kern="1200" cap="none" spc="0" normalizeH="0" baseline="0" noProof="0" dirty="0" err="1">
                <a:ln>
                  <a:noFill/>
                </a:ln>
                <a:solidFill>
                  <a:srgbClr val="000000"/>
                </a:solidFill>
                <a:effectLst/>
                <a:uLnTx/>
                <a:uFillTx/>
                <a:latin typeface="Courier New" pitchFamily="49" charset="0"/>
                <a:ea typeface="+mn-ea"/>
                <a:cs typeface="Courier New" pitchFamily="49" charset="0"/>
              </a:rPr>
              <a:t>myBatchProcess</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…24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default</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25          </a:t>
            </a:r>
            <a:r>
              <a:rPr kumimoji="0" lang="en-US" sz="1600" b="1" i="0" u="none" strike="noStrike" kern="1200" cap="none" spc="0" normalizeH="0" baseline="0" noProof="0" dirty="0">
                <a:ln>
                  <a:noFill/>
                </a:ln>
                <a:solidFill>
                  <a:srgbClr val="000080"/>
                </a:solidFill>
                <a:effectLst/>
                <a:uLnTx/>
                <a:uFillTx/>
                <a:latin typeface="Courier New" pitchFamily="49" charset="0"/>
                <a:ea typeface="+mn-ea"/>
                <a:cs typeface="Courier New" pitchFamily="49" charset="0"/>
              </a:rPr>
              <a:t>return null</a:t>
            </a: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a:t>
            </a:r>
            <a:b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b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26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27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itchFamily="49" charset="0"/>
                <a:ea typeface="+mn-ea"/>
                <a:cs typeface="Courier New" pitchFamily="49" charset="0"/>
              </a:rPr>
              <a:t> 28 }</a:t>
            </a:r>
            <a:endParaRPr kumimoji="0" lang="en-US" sz="1600" b="1" i="0" u="none" strike="noStrike" kern="1200" cap="none" spc="0" normalizeH="0" baseline="0" noProof="0" dirty="0">
              <a:ln>
                <a:noFill/>
              </a:ln>
              <a:solidFill>
                <a:srgbClr val="FFFFFF"/>
              </a:solidFill>
              <a:effectLst/>
              <a:uLnTx/>
              <a:uFillTx/>
              <a:latin typeface="Courier New" pitchFamily="49" charset="0"/>
              <a:ea typeface="+mn-ea"/>
              <a:cs typeface="Courier New" pitchFamily="49" charset="0"/>
            </a:endParaRPr>
          </a:p>
        </p:txBody>
      </p:sp>
    </p:spTree>
    <p:extLst>
      <p:ext uri="{BB962C8B-B14F-4D97-AF65-F5344CB8AC3E}">
        <p14:creationId xmlns:p14="http://schemas.microsoft.com/office/powerpoint/2010/main" val="3694132203"/>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a:t>
            </a:r>
            <a:r>
              <a:rPr lang="en-US" dirty="0" smtClean="0"/>
              <a:t>3b: Create the </a:t>
            </a:r>
            <a:r>
              <a:rPr lang="en-US" dirty="0" err="1" smtClean="0"/>
              <a:t>IProcessesPlugin.gwp</a:t>
            </a:r>
            <a:endParaRPr lang="en-US" dirty="0"/>
          </a:p>
        </p:txBody>
      </p:sp>
      <p:sp>
        <p:nvSpPr>
          <p:cNvPr id="9" name="Content Placeholder 8"/>
          <p:cNvSpPr>
            <a:spLocks noGrp="1"/>
          </p:cNvSpPr>
          <p:nvPr>
            <p:ph sz="half" idx="1"/>
          </p:nvPr>
        </p:nvSpPr>
        <p:spPr/>
        <p:txBody>
          <a:bodyPr/>
          <a:lstStyle/>
          <a:p>
            <a:r>
              <a:rPr lang="en-US" dirty="0"/>
              <a:t>Create the plugin</a:t>
            </a:r>
          </a:p>
          <a:p>
            <a:pPr lvl="1"/>
            <a:r>
              <a:rPr lang="en-US" b="1" dirty="0">
                <a:latin typeface="Courier New" pitchFamily="49" charset="0"/>
                <a:cs typeface="Courier New" pitchFamily="49" charset="0"/>
              </a:rPr>
              <a:t>/config/plugin</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registry</a:t>
            </a:r>
            <a:r>
              <a:rPr lang="en-US" b="1" dirty="0">
                <a:latin typeface="Courier New" pitchFamily="49" charset="0"/>
                <a:cs typeface="Courier New" pitchFamily="49" charset="0"/>
              </a:rPr>
              <a:t>/</a:t>
            </a:r>
          </a:p>
          <a:p>
            <a:endParaRPr lang="en-US" dirty="0"/>
          </a:p>
          <a:p>
            <a:endParaRPr lang="en-US" dirty="0"/>
          </a:p>
          <a:p>
            <a:endParaRPr lang="en-US" dirty="0"/>
          </a:p>
          <a:p>
            <a:endParaRPr lang="en-US" dirty="0"/>
          </a:p>
          <a:p>
            <a:endParaRPr lang="en-US" dirty="0"/>
          </a:p>
        </p:txBody>
      </p:sp>
      <p:sp>
        <p:nvSpPr>
          <p:cNvPr id="10" name="Content Placeholder 9"/>
          <p:cNvSpPr>
            <a:spLocks noGrp="1"/>
          </p:cNvSpPr>
          <p:nvPr>
            <p:ph sz="half" idx="2"/>
          </p:nvPr>
        </p:nvSpPr>
        <p:spPr/>
        <p:txBody>
          <a:bodyPr/>
          <a:lstStyle/>
          <a:p>
            <a:r>
              <a:rPr lang="en-US" dirty="0"/>
              <a:t>Specify </a:t>
            </a:r>
            <a:r>
              <a:rPr lang="en-US" dirty="0" smtClean="0"/>
              <a:t>the Plugin</a:t>
            </a:r>
          </a:p>
          <a:p>
            <a:pPr lvl="1"/>
            <a:r>
              <a:rPr lang="en-US" dirty="0" err="1" smtClean="0"/>
              <a:t>IProcessesPlugin</a:t>
            </a:r>
            <a:r>
              <a:rPr lang="en-US" dirty="0" smtClean="0"/>
              <a:t> </a:t>
            </a:r>
            <a:r>
              <a:rPr lang="en-US" dirty="0"/>
              <a:t>name </a:t>
            </a:r>
            <a:endParaRPr lang="en-US" dirty="0" smtClean="0"/>
          </a:p>
          <a:p>
            <a:pPr lvl="1"/>
            <a:r>
              <a:rPr lang="en-US" dirty="0" err="1" smtClean="0"/>
              <a:t>IProcessesPlugin</a:t>
            </a:r>
            <a:r>
              <a:rPr lang="en-US" dirty="0" smtClean="0"/>
              <a:t> </a:t>
            </a:r>
            <a:r>
              <a:rPr lang="en-US" dirty="0"/>
              <a:t>interface</a:t>
            </a:r>
          </a:p>
          <a:p>
            <a:endParaRPr lang="en-US" dirty="0"/>
          </a:p>
          <a:p>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825" y="2209802"/>
            <a:ext cx="3360000" cy="212571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31" name="Picture 7" descr="C:\Users\sluersen\AppData\Local\Temp\SNAGHTML1391e3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825" y="4153612"/>
            <a:ext cx="1560000" cy="903809"/>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3" name="Picture 9" descr="C:\Users\sluersen\AppData\Local\Temp\SNAGHTML1601e1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9258" y="2362200"/>
            <a:ext cx="3776191" cy="174571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49775" y="4228085"/>
            <a:ext cx="1114286" cy="108952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5" name="Text Placeholder 2" hidden="1"/>
          <p:cNvSpPr txBox="1">
            <a:spLocks/>
          </p:cNvSpPr>
          <p:nvPr/>
        </p:nvSpPr>
        <p:spPr bwMode="auto">
          <a:xfrm>
            <a:off x="2009775" y="486429"/>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1" fontAlgn="base" hangingPunct="1">
              <a:spcBef>
                <a:spcPct val="40000"/>
              </a:spcBef>
              <a:spcAft>
                <a:spcPct val="0"/>
              </a:spcAft>
              <a:buClr>
                <a:srgbClr val="04628C"/>
              </a:buClr>
              <a:buSzPct val="90000"/>
              <a:buFont typeface="Arial" charset="0"/>
              <a:buNone/>
              <a:defRPr lang="en-US" sz="2800" b="1" dirty="0">
                <a:solidFill>
                  <a:srgbClr val="04628C"/>
                </a:solidFill>
                <a:latin typeface="+mj-lt"/>
                <a:ea typeface="Arial" pitchFamily="34" charset="0"/>
                <a:cs typeface="Arial" pitchFamily="34"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defRPr/>
            </a:pPr>
            <a:r>
              <a:rPr kumimoji="0" lang="en-US" sz="2800" b="1" i="0" u="none" strike="noStrike" kern="0" cap="none" spc="0" normalizeH="0" baseline="0" noProof="0">
                <a:ln>
                  <a:noFill/>
                </a:ln>
                <a:solidFill>
                  <a:srgbClr val="04628C"/>
                </a:solidFill>
                <a:effectLst/>
                <a:uLnTx/>
                <a:uFillTx/>
                <a:latin typeface="Arial"/>
                <a:cs typeface="Arial" pitchFamily="34" charset="0"/>
              </a:rPr>
              <a:t>BillingCenter and ContactManager</a:t>
            </a:r>
          </a:p>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defRPr/>
            </a:pPr>
            <a:endParaRPr kumimoji="0" lang="en-US" sz="2800" b="1" i="0" u="none" strike="noStrike" kern="0" cap="none" spc="0" normalizeH="0" baseline="0" noProof="0">
              <a:ln>
                <a:noFill/>
              </a:ln>
              <a:solidFill>
                <a:srgbClr val="04628C"/>
              </a:solidFill>
              <a:effectLst/>
              <a:uLnTx/>
              <a:uFillTx/>
              <a:latin typeface="Arial"/>
              <a:cs typeface="Arial" pitchFamily="34" charset="0"/>
            </a:endParaRPr>
          </a:p>
        </p:txBody>
      </p:sp>
    </p:spTree>
    <p:extLst>
      <p:ext uri="{BB962C8B-B14F-4D97-AF65-F5344CB8AC3E}">
        <p14:creationId xmlns:p14="http://schemas.microsoft.com/office/powerpoint/2010/main" val="2195615559"/>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3c: Implement the </a:t>
            </a:r>
            <a:r>
              <a:rPr lang="en-US" dirty="0" err="1" smtClean="0"/>
              <a:t>IProcessesPlugin</a:t>
            </a:r>
            <a:endParaRPr lang="en-US" dirty="0"/>
          </a:p>
        </p:txBody>
      </p:sp>
      <p:sp>
        <p:nvSpPr>
          <p:cNvPr id="4" name="Content Placeholder 3"/>
          <p:cNvSpPr>
            <a:spLocks noGrp="1"/>
          </p:cNvSpPr>
          <p:nvPr>
            <p:ph idx="1"/>
          </p:nvPr>
        </p:nvSpPr>
        <p:spPr/>
        <p:txBody>
          <a:bodyPr/>
          <a:lstStyle/>
          <a:p>
            <a:r>
              <a:rPr lang="en-US" b="1" dirty="0" smtClean="0">
                <a:latin typeface="Courier New" pitchFamily="49" charset="0"/>
                <a:cs typeface="Courier New" pitchFamily="49" charset="0"/>
              </a:rPr>
              <a:t>/config/plugin/registry/</a:t>
            </a:r>
            <a:r>
              <a:rPr lang="en-US" b="1" dirty="0" err="1" smtClean="0">
                <a:latin typeface="Courier New" pitchFamily="49" charset="0"/>
                <a:cs typeface="Courier New" pitchFamily="49" charset="0"/>
              </a:rPr>
              <a:t>IProcessesPlugin.gwp</a:t>
            </a:r>
            <a:endParaRPr lang="en-US" b="1" dirty="0">
              <a:latin typeface="Courier New" pitchFamily="49" charset="0"/>
              <a:cs typeface="Courier New" pitchFamily="49" charset="0"/>
            </a:endParaRPr>
          </a:p>
          <a:p>
            <a:r>
              <a:rPr lang="en-US" dirty="0" smtClean="0"/>
              <a:t>Check </a:t>
            </a:r>
            <a:r>
              <a:rPr lang="en-US" dirty="0"/>
              <a:t>Enabled</a:t>
            </a:r>
          </a:p>
          <a:p>
            <a:r>
              <a:rPr lang="en-US" dirty="0"/>
              <a:t>Select the custom batch process class</a:t>
            </a:r>
          </a:p>
          <a:p>
            <a:r>
              <a:rPr lang="en-US" dirty="0"/>
              <a:t>Specific parameter name/value pairs if required</a:t>
            </a:r>
          </a:p>
          <a:p>
            <a:pPr lvl="1"/>
            <a:endParaRPr lang="en-US" dirty="0"/>
          </a:p>
          <a:p>
            <a:pPr lvl="1"/>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792552"/>
            <a:ext cx="6934200" cy="3421048"/>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7" name="Rounded Rectangle 6"/>
          <p:cNvSpPr/>
          <p:nvPr/>
        </p:nvSpPr>
        <p:spPr bwMode="auto">
          <a:xfrm>
            <a:off x="6096000" y="5029201"/>
            <a:ext cx="990600" cy="346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Rounded Rectangle 7"/>
          <p:cNvSpPr/>
          <p:nvPr/>
        </p:nvSpPr>
        <p:spPr bwMode="auto">
          <a:xfrm>
            <a:off x="6042992" y="3996490"/>
            <a:ext cx="2286000" cy="346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71397482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a:t>
            </a:r>
            <a:r>
              <a:rPr lang="en-US" dirty="0"/>
              <a:t>4</a:t>
            </a:r>
            <a:r>
              <a:rPr lang="en-US" dirty="0" smtClean="0"/>
              <a:t>: Configure scheduler-config.xml</a:t>
            </a:r>
            <a:endParaRPr lang="en-US" dirty="0"/>
          </a:p>
        </p:txBody>
      </p:sp>
      <p:sp>
        <p:nvSpPr>
          <p:cNvPr id="4" name="Content Placeholder 3"/>
          <p:cNvSpPr>
            <a:spLocks noGrp="1"/>
          </p:cNvSpPr>
          <p:nvPr>
            <p:ph idx="1"/>
          </p:nvPr>
        </p:nvSpPr>
        <p:spPr>
          <a:xfrm>
            <a:off x="838200" y="931444"/>
            <a:ext cx="9500616" cy="5088356"/>
          </a:xfrm>
        </p:spPr>
        <p:txBody>
          <a:bodyPr/>
          <a:lstStyle/>
          <a:p>
            <a:pPr lvl="1"/>
            <a:endParaRPr lang="en-US" dirty="0"/>
          </a:p>
          <a:p>
            <a:pPr lvl="1"/>
            <a:r>
              <a:rPr lang="en-US" dirty="0" smtClean="0"/>
              <a:t>The scheduler-config.xml is found under </a:t>
            </a:r>
            <a:r>
              <a:rPr lang="en-US" dirty="0" err="1" smtClean="0"/>
              <a:t>configuration.config.scheduler</a:t>
            </a:r>
            <a:endParaRPr lang="en-US" dirty="0" smtClean="0"/>
          </a:p>
          <a:p>
            <a:pPr lvl="1"/>
            <a:r>
              <a:rPr lang="en-US" b="1" dirty="0" err="1" smtClean="0"/>
              <a:t>dayofmonth</a:t>
            </a:r>
            <a:r>
              <a:rPr lang="en-US" b="1" dirty="0" smtClean="0"/>
              <a:t>=“?”</a:t>
            </a:r>
            <a:r>
              <a:rPr lang="en-US" dirty="0" smtClean="0"/>
              <a:t>, </a:t>
            </a:r>
            <a:r>
              <a:rPr lang="en-US" dirty="0"/>
              <a:t>Indicates no specific value. Used only for </a:t>
            </a:r>
            <a:r>
              <a:rPr lang="en-US" dirty="0" err="1"/>
              <a:t>dayofmonth</a:t>
            </a:r>
            <a:r>
              <a:rPr lang="en-US" dirty="0"/>
              <a:t> and </a:t>
            </a:r>
            <a:r>
              <a:rPr lang="en-US" dirty="0" err="1"/>
              <a:t>dayofweek</a:t>
            </a:r>
            <a:r>
              <a:rPr lang="en-US" dirty="0"/>
              <a:t> </a:t>
            </a:r>
            <a:r>
              <a:rPr lang="en-US" dirty="0" smtClean="0"/>
              <a:t>attributes.</a:t>
            </a:r>
          </a:p>
          <a:p>
            <a:pPr lvl="1"/>
            <a:r>
              <a:rPr lang="en-US" b="1" dirty="0" err="1" smtClean="0"/>
              <a:t>dayofweek</a:t>
            </a:r>
            <a:r>
              <a:rPr lang="en-US" b="1" dirty="0"/>
              <a:t>=“*”</a:t>
            </a:r>
            <a:r>
              <a:rPr lang="en-US" dirty="0"/>
              <a:t>, Indicates all values i.e all days of the week</a:t>
            </a:r>
            <a:endParaRPr lang="en-US" dirty="0" smtClean="0"/>
          </a:p>
          <a:p>
            <a:pPr lvl="1"/>
            <a:r>
              <a:rPr lang="en-US" b="1" dirty="0" smtClean="0"/>
              <a:t>hours = “3” </a:t>
            </a:r>
            <a:r>
              <a:rPr lang="en-US" dirty="0" smtClean="0"/>
              <a:t>means 3 am using 24 hours clock</a:t>
            </a:r>
            <a:endParaRPr lang="en-US" dirty="0"/>
          </a:p>
        </p:txBody>
      </p:sp>
      <p:pic>
        <p:nvPicPr>
          <p:cNvPr id="3" name="Picture 2"/>
          <p:cNvPicPr>
            <a:picLocks noChangeAspect="1"/>
          </p:cNvPicPr>
          <p:nvPr/>
        </p:nvPicPr>
        <p:blipFill>
          <a:blip r:embed="rId3"/>
          <a:stretch>
            <a:fillRect/>
          </a:stretch>
        </p:blipFill>
        <p:spPr>
          <a:xfrm>
            <a:off x="2362201" y="3657600"/>
            <a:ext cx="5872975" cy="1563908"/>
          </a:xfrm>
          <a:prstGeom prst="rect">
            <a:avLst/>
          </a:prstGeom>
        </p:spPr>
      </p:pic>
    </p:spTree>
    <p:extLst>
      <p:ext uri="{BB962C8B-B14F-4D97-AF65-F5344CB8AC3E}">
        <p14:creationId xmlns:p14="http://schemas.microsoft.com/office/powerpoint/2010/main" val="421966976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87"/>
          <p:cNvSpPr/>
          <p:nvPr/>
        </p:nvSpPr>
        <p:spPr bwMode="auto">
          <a:xfrm>
            <a:off x="6324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0" name="Rounded Rectangle 79"/>
          <p:cNvSpPr/>
          <p:nvPr/>
        </p:nvSpPr>
        <p:spPr bwMode="auto">
          <a:xfrm>
            <a:off x="2086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marL="0" marR="0" lvl="0" indent="0" algn="ctr" defTabSz="914400" rtl="0" eaLnBrk="1" fontAlgn="auto" latinLnBrk="0" hangingPunct="1">
              <a:lnSpc>
                <a:spcPct val="100000"/>
              </a:lnSpc>
              <a:spcBef>
                <a:spcPct val="50000"/>
              </a:spcBef>
              <a:spcAft>
                <a:spcPct val="30000"/>
              </a:spcAft>
              <a:buClr>
                <a:srgbClr val="FFFFFF"/>
              </a:buClr>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 name="Title 1"/>
          <p:cNvSpPr>
            <a:spLocks noGrp="1"/>
          </p:cNvSpPr>
          <p:nvPr>
            <p:ph type="title"/>
          </p:nvPr>
        </p:nvSpPr>
        <p:spPr/>
        <p:txBody>
          <a:bodyPr/>
          <a:lstStyle/>
          <a:p>
            <a:r>
              <a:rPr lang="en-US" dirty="0"/>
              <a:t>Step 5</a:t>
            </a:r>
            <a:r>
              <a:rPr lang="en-US" dirty="0" smtClean="0"/>
              <a:t>: </a:t>
            </a:r>
            <a:r>
              <a:rPr lang="en-US" dirty="0"/>
              <a:t>Deploy the implementation</a:t>
            </a:r>
          </a:p>
        </p:txBody>
      </p:sp>
      <p:sp>
        <p:nvSpPr>
          <p:cNvPr id="6" name="Subtitle 5"/>
          <p:cNvSpPr>
            <a:spLocks noGrp="1"/>
          </p:cNvSpPr>
          <p:nvPr>
            <p:ph type="subTitle" idx="10"/>
          </p:nvPr>
        </p:nvSpPr>
        <p:spPr/>
        <p:txBody>
          <a:bodyPr/>
          <a:lstStyle/>
          <a:p>
            <a:r>
              <a:rPr lang="en-US" dirty="0" smtClean="0"/>
              <a:t>Restart Server</a:t>
            </a:r>
            <a:endParaRPr lang="en-US" dirty="0"/>
          </a:p>
        </p:txBody>
      </p:sp>
      <p:sp>
        <p:nvSpPr>
          <p:cNvPr id="7" name="Text Placeholder 6"/>
          <p:cNvSpPr>
            <a:spLocks noGrp="1"/>
          </p:cNvSpPr>
          <p:nvPr>
            <p:ph type="body" sz="quarter" idx="11"/>
          </p:nvPr>
        </p:nvSpPr>
        <p:spPr/>
        <p:txBody>
          <a:bodyPr/>
          <a:lstStyle/>
          <a:p>
            <a:r>
              <a:rPr lang="en-US" smtClean="0"/>
              <a:t>Reload </a:t>
            </a:r>
            <a:r>
              <a:rPr lang="en-US" dirty="0" smtClean="0"/>
              <a:t>Changed classes</a:t>
            </a:r>
            <a:endParaRPr lang="en-US" dirty="0"/>
          </a:p>
        </p:txBody>
      </p:sp>
      <p:sp>
        <p:nvSpPr>
          <p:cNvPr id="5" name="Content Placeholder 4"/>
          <p:cNvSpPr>
            <a:spLocks noGrp="1"/>
          </p:cNvSpPr>
          <p:nvPr>
            <p:ph sz="half" idx="2"/>
          </p:nvPr>
        </p:nvSpPr>
        <p:spPr/>
        <p:txBody>
          <a:bodyPr/>
          <a:lstStyle/>
          <a:p>
            <a:r>
              <a:rPr lang="en-US" dirty="0"/>
              <a:t>Gosu </a:t>
            </a:r>
            <a:r>
              <a:rPr lang="en-US" dirty="0" smtClean="0"/>
              <a:t>Class</a:t>
            </a:r>
          </a:p>
        </p:txBody>
      </p:sp>
      <p:sp>
        <p:nvSpPr>
          <p:cNvPr id="4" name="Content Placeholder 3"/>
          <p:cNvSpPr>
            <a:spLocks noGrp="1"/>
          </p:cNvSpPr>
          <p:nvPr>
            <p:ph sz="half" idx="1"/>
          </p:nvPr>
        </p:nvSpPr>
        <p:spPr/>
        <p:txBody>
          <a:bodyPr/>
          <a:lstStyle/>
          <a:p>
            <a:r>
              <a:rPr lang="en-US" dirty="0"/>
              <a:t>Typelist Extensions </a:t>
            </a:r>
          </a:p>
          <a:p>
            <a:r>
              <a:rPr lang="en-US" dirty="0"/>
              <a:t>Plugin registry </a:t>
            </a:r>
            <a:r>
              <a:rPr lang="en-US" dirty="0" smtClean="0"/>
              <a:t>file</a:t>
            </a:r>
            <a:endParaRPr lang="en-US" dirty="0"/>
          </a:p>
        </p:txBody>
      </p:sp>
      <p:sp>
        <p:nvSpPr>
          <p:cNvPr id="75" name="Rectangle 74"/>
          <p:cNvSpPr/>
          <p:nvPr/>
        </p:nvSpPr>
        <p:spPr>
          <a:xfrm>
            <a:off x="6781801" y="5393226"/>
            <a:ext cx="731289"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a:ea typeface="+mn-ea"/>
                <a:cs typeface="+mn-cs"/>
              </a:rPr>
              <a:t>Gosu</a:t>
            </a:r>
            <a:br>
              <a:rPr kumimoji="0" lang="en-US" sz="1600" b="1" i="0" u="none" strike="noStrike" kern="1200" cap="none" spc="0" normalizeH="0" baseline="0" noProof="0" dirty="0">
                <a:ln>
                  <a:noFill/>
                </a:ln>
                <a:solidFill>
                  <a:srgbClr val="000000"/>
                </a:solidFill>
                <a:effectLst/>
                <a:uLnTx/>
                <a:uFillTx/>
                <a:latin typeface="Arial"/>
                <a:ea typeface="+mn-ea"/>
                <a:cs typeface="+mn-cs"/>
              </a:rPr>
            </a:br>
            <a:r>
              <a:rPr kumimoji="0" lang="en-US" sz="1600" b="1" i="0" u="none" strike="noStrike" kern="1200" cap="none" spc="0" normalizeH="0" baseline="0" noProof="0" dirty="0">
                <a:ln>
                  <a:noFill/>
                </a:ln>
                <a:solidFill>
                  <a:srgbClr val="000000"/>
                </a:solidFill>
                <a:effectLst/>
                <a:uLnTx/>
                <a:uFillTx/>
                <a:latin typeface="Arial"/>
                <a:ea typeface="+mn-ea"/>
                <a:cs typeface="+mn-cs"/>
              </a:rPr>
              <a:t>Class</a:t>
            </a:r>
          </a:p>
        </p:txBody>
      </p:sp>
      <p:sp>
        <p:nvSpPr>
          <p:cNvPr id="41" name="Rectangle 40"/>
          <p:cNvSpPr/>
          <p:nvPr/>
        </p:nvSpPr>
        <p:spPr>
          <a:xfrm>
            <a:off x="2525639" y="5080427"/>
            <a:ext cx="1164100"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a:ea typeface="+mn-ea"/>
                <a:cs typeface="+mn-cs"/>
              </a:rPr>
              <a:t>Typelist </a:t>
            </a:r>
            <a:br>
              <a:rPr kumimoji="0" lang="en-US" sz="1600" b="1" i="0" u="none" strike="noStrike" kern="1200" cap="none" spc="0" normalizeH="0" baseline="0" noProof="0" dirty="0">
                <a:ln>
                  <a:noFill/>
                </a:ln>
                <a:solidFill>
                  <a:srgbClr val="000000"/>
                </a:solidFill>
                <a:effectLst/>
                <a:uLnTx/>
                <a:uFillTx/>
                <a:latin typeface="Arial"/>
                <a:ea typeface="+mn-ea"/>
                <a:cs typeface="+mn-cs"/>
              </a:rPr>
            </a:br>
            <a:r>
              <a:rPr kumimoji="0" lang="en-US" sz="1600" b="1" i="0" u="none" strike="noStrike" kern="1200" cap="none" spc="0" normalizeH="0" baseline="0" noProof="0" dirty="0">
                <a:ln>
                  <a:noFill/>
                </a:ln>
                <a:solidFill>
                  <a:srgbClr val="000000"/>
                </a:solidFill>
                <a:effectLst/>
                <a:uLnTx/>
                <a:uFillTx/>
                <a:latin typeface="Arial"/>
                <a:ea typeface="+mn-ea"/>
                <a:cs typeface="+mn-cs"/>
              </a:rPr>
              <a:t>Extension</a:t>
            </a:r>
          </a:p>
        </p:txBody>
      </p:sp>
      <p:sp>
        <p:nvSpPr>
          <p:cNvPr id="29" name="Rectangle 28"/>
          <p:cNvSpPr/>
          <p:nvPr/>
        </p:nvSpPr>
        <p:spPr>
          <a:xfrm>
            <a:off x="4292303" y="5078245"/>
            <a:ext cx="869148"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a:ea typeface="+mn-ea"/>
                <a:cs typeface="+mn-cs"/>
              </a:rPr>
              <a:t>Plugin </a:t>
            </a:r>
            <a:br>
              <a:rPr kumimoji="0" lang="en-US" sz="1600" b="1" i="0" u="none" strike="noStrike" kern="1200" cap="none" spc="0" normalizeH="0" baseline="0" noProof="0" dirty="0">
                <a:ln>
                  <a:noFill/>
                </a:ln>
                <a:solidFill>
                  <a:srgbClr val="000000"/>
                </a:solidFill>
                <a:effectLst/>
                <a:uLnTx/>
                <a:uFillTx/>
                <a:latin typeface="Arial"/>
                <a:ea typeface="+mn-ea"/>
                <a:cs typeface="+mn-cs"/>
              </a:rPr>
            </a:br>
            <a:r>
              <a:rPr kumimoji="0" lang="en-US" sz="1600" b="1" i="0" u="none" strike="noStrike" kern="1200" cap="none" spc="0" normalizeH="0" baseline="0" noProof="0" dirty="0">
                <a:ln>
                  <a:noFill/>
                </a:ln>
                <a:solidFill>
                  <a:srgbClr val="000000"/>
                </a:solidFill>
                <a:effectLst/>
                <a:uLnTx/>
                <a:uFillTx/>
                <a:latin typeface="Arial"/>
                <a:ea typeface="+mn-ea"/>
                <a:cs typeface="+mn-cs"/>
              </a:rPr>
              <a:t>File</a:t>
            </a:r>
          </a:p>
        </p:txBody>
      </p:sp>
      <p:grpSp>
        <p:nvGrpSpPr>
          <p:cNvPr id="30" name="icon GWP file"/>
          <p:cNvGrpSpPr/>
          <p:nvPr/>
        </p:nvGrpSpPr>
        <p:grpSpPr>
          <a:xfrm>
            <a:off x="4199530" y="3807150"/>
            <a:ext cx="961922" cy="1188319"/>
            <a:chOff x="4592776" y="2146900"/>
            <a:chExt cx="1125704" cy="1390650"/>
          </a:xfrm>
        </p:grpSpPr>
        <p:pic>
          <p:nvPicPr>
            <p:cNvPr id="3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616" y="2146900"/>
              <a:ext cx="1058864"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3" name="icon Plugin"/>
            <p:cNvGrpSpPr>
              <a:grpSpLocks/>
            </p:cNvGrpSpPr>
            <p:nvPr/>
          </p:nvGrpSpPr>
          <p:grpSpPr bwMode="auto">
            <a:xfrm>
              <a:off x="4592776" y="2240734"/>
              <a:ext cx="408338" cy="713836"/>
              <a:chOff x="4500" y="2731"/>
              <a:chExt cx="186" cy="325"/>
            </a:xfrm>
            <a:effectLst>
              <a:outerShdw blurRad="50800" dist="38100" dir="2700000" algn="tl" rotWithShape="0">
                <a:prstClr val="black">
                  <a:alpha val="40000"/>
                </a:prstClr>
              </a:outerShdw>
            </a:effectLst>
          </p:grpSpPr>
          <p:sp>
            <p:nvSpPr>
              <p:cNvPr id="45" name="Rectangle 12"/>
              <p:cNvSpPr>
                <a:spLocks noChangeArrowheads="1"/>
              </p:cNvSpPr>
              <p:nvPr/>
            </p:nvSpPr>
            <p:spPr bwMode="auto">
              <a:xfrm>
                <a:off x="4620" y="2731"/>
                <a:ext cx="0" cy="148"/>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Rectangle 13"/>
              <p:cNvSpPr>
                <a:spLocks noChangeArrowheads="1"/>
              </p:cNvSpPr>
              <p:nvPr/>
            </p:nvSpPr>
            <p:spPr bwMode="auto">
              <a:xfrm>
                <a:off x="4686" y="2731"/>
                <a:ext cx="0" cy="148"/>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7" name="Freeform 14"/>
              <p:cNvSpPr>
                <a:spLocks/>
              </p:cNvSpPr>
              <p:nvPr/>
            </p:nvSpPr>
            <p:spPr bwMode="auto">
              <a:xfrm>
                <a:off x="4500" y="2908"/>
                <a:ext cx="0" cy="148"/>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8" name="Freeform 15"/>
              <p:cNvSpPr>
                <a:spLocks/>
              </p:cNvSpPr>
              <p:nvPr/>
            </p:nvSpPr>
            <p:spPr bwMode="auto">
              <a:xfrm>
                <a:off x="4590" y="2842"/>
                <a:ext cx="0" cy="148"/>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3246" y="3807149"/>
            <a:ext cx="1175017" cy="12995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icn Classe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1485" y="3752529"/>
            <a:ext cx="1503765"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69283324"/>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latin typeface="Courier New" pitchFamily="49" charset="0"/>
                <a:cs typeface="Courier New" pitchFamily="49" charset="0"/>
              </a:rPr>
              <a:t>checkInitialConditions</a:t>
            </a:r>
            <a:r>
              <a:rPr lang="en-US" dirty="0" smtClean="0">
                <a:latin typeface="Courier New" pitchFamily="49" charset="0"/>
                <a:cs typeface="Courier New" pitchFamily="49" charset="0"/>
              </a:rPr>
              <a:t> method</a:t>
            </a:r>
            <a:endParaRPr lang="en-US" dirty="0">
              <a:latin typeface="Courier New" pitchFamily="49" charset="0"/>
              <a:cs typeface="Courier New" pitchFamily="49" charset="0"/>
            </a:endParaRPr>
          </a:p>
        </p:txBody>
      </p:sp>
      <p:sp>
        <p:nvSpPr>
          <p:cNvPr id="5" name="Content Placeholder 4"/>
          <p:cNvSpPr>
            <a:spLocks noGrp="1"/>
          </p:cNvSpPr>
          <p:nvPr>
            <p:ph idx="1"/>
          </p:nvPr>
        </p:nvSpPr>
        <p:spPr>
          <a:xfrm>
            <a:off x="692151" y="3886200"/>
            <a:ext cx="11091333" cy="2514600"/>
          </a:xfrm>
        </p:spPr>
        <p:txBody>
          <a:bodyPr/>
          <a:lstStyle/>
          <a:p>
            <a:r>
              <a:rPr lang="en-US" b="1" dirty="0" err="1" smtClean="0">
                <a:latin typeface="Courier New" pitchFamily="49" charset="0"/>
                <a:cs typeface="Courier New" pitchFamily="49" charset="0"/>
              </a:rPr>
              <a:t>checkInitialConditions</a:t>
            </a:r>
            <a:r>
              <a:rPr lang="en-US" b="1" dirty="0">
                <a:latin typeface="Courier New" pitchFamily="49" charset="0"/>
                <a:cs typeface="Courier New" pitchFamily="49" charset="0"/>
              </a:rPr>
              <a:t>() </a:t>
            </a:r>
            <a:endParaRPr lang="en-US" b="1" dirty="0" smtClean="0">
              <a:latin typeface="Courier New" pitchFamily="49" charset="0"/>
              <a:cs typeface="Courier New" pitchFamily="49" charset="0"/>
            </a:endParaRPr>
          </a:p>
          <a:p>
            <a:pPr lvl="1"/>
            <a:r>
              <a:rPr lang="en-US" dirty="0" smtClean="0"/>
              <a:t>Used </a:t>
            </a:r>
            <a:r>
              <a:rPr lang="en-US" dirty="0"/>
              <a:t>to determine if conditions are met to begin processing	</a:t>
            </a:r>
          </a:p>
          <a:p>
            <a:pPr lvl="2"/>
            <a:r>
              <a:rPr lang="en-US" dirty="0"/>
              <a:t>Return true: </a:t>
            </a:r>
            <a:r>
              <a:rPr lang="en-US" dirty="0" err="1"/>
              <a:t>doWork</a:t>
            </a:r>
            <a:r>
              <a:rPr lang="en-US" dirty="0"/>
              <a:t>() will be called</a:t>
            </a:r>
          </a:p>
          <a:p>
            <a:pPr lvl="2"/>
            <a:r>
              <a:rPr lang="en-US" dirty="0"/>
              <a:t>Return false: only a history event will be written</a:t>
            </a:r>
          </a:p>
          <a:p>
            <a:pPr lvl="2"/>
            <a:r>
              <a:rPr lang="en-US" dirty="0" smtClean="0"/>
              <a:t>Default : true</a:t>
            </a:r>
            <a:endParaRPr lang="en-US" dirty="0"/>
          </a:p>
        </p:txBody>
      </p:sp>
      <p:pic>
        <p:nvPicPr>
          <p:cNvPr id="2" name="Picture 1"/>
          <p:cNvPicPr>
            <a:picLocks noChangeAspect="1"/>
          </p:cNvPicPr>
          <p:nvPr/>
        </p:nvPicPr>
        <p:blipFill>
          <a:blip r:embed="rId3"/>
          <a:stretch>
            <a:fillRect/>
          </a:stretch>
        </p:blipFill>
        <p:spPr>
          <a:xfrm>
            <a:off x="2017776" y="609600"/>
            <a:ext cx="8321041" cy="3124200"/>
          </a:xfrm>
          <a:prstGeom prst="rect">
            <a:avLst/>
          </a:prstGeom>
        </p:spPr>
      </p:pic>
    </p:spTree>
    <p:extLst>
      <p:ext uri="{BB962C8B-B14F-4D97-AF65-F5344CB8AC3E}">
        <p14:creationId xmlns:p14="http://schemas.microsoft.com/office/powerpoint/2010/main" val="3379463659"/>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latin typeface="Courier New" pitchFamily="49" charset="0"/>
                <a:cs typeface="Courier New" pitchFamily="49" charset="0"/>
              </a:rPr>
              <a:t>requestTermination</a:t>
            </a:r>
            <a:r>
              <a:rPr lang="en-US" dirty="0" smtClean="0">
                <a:latin typeface="Courier New" pitchFamily="49" charset="0"/>
                <a:cs typeface="Courier New" pitchFamily="49" charset="0"/>
              </a:rPr>
              <a:t> method</a:t>
            </a:r>
            <a:endParaRPr lang="en-US" dirty="0"/>
          </a:p>
        </p:txBody>
      </p:sp>
      <p:sp>
        <p:nvSpPr>
          <p:cNvPr id="5" name="Content Placeholder 4"/>
          <p:cNvSpPr>
            <a:spLocks noGrp="1"/>
          </p:cNvSpPr>
          <p:nvPr>
            <p:ph idx="1"/>
          </p:nvPr>
        </p:nvSpPr>
        <p:spPr>
          <a:xfrm>
            <a:off x="692151" y="762000"/>
            <a:ext cx="3346449" cy="5638800"/>
          </a:xfrm>
        </p:spPr>
        <p:txBody>
          <a:bodyPr/>
          <a:lstStyle/>
          <a:p>
            <a:r>
              <a:rPr lang="en-US" b="1" dirty="0" err="1" smtClean="0">
                <a:latin typeface="Courier New" pitchFamily="49" charset="0"/>
                <a:cs typeface="Courier New" pitchFamily="49" charset="0"/>
              </a:rPr>
              <a:t>requestTermination</a:t>
            </a:r>
            <a:r>
              <a:rPr lang="en-US" b="1" dirty="0">
                <a:latin typeface="Courier New" pitchFamily="49" charset="0"/>
                <a:cs typeface="Courier New" pitchFamily="49" charset="0"/>
              </a:rPr>
              <a:t>() </a:t>
            </a:r>
            <a:r>
              <a:rPr lang="en-US" dirty="0"/>
              <a:t>method</a:t>
            </a:r>
          </a:p>
          <a:p>
            <a:pPr lvl="1"/>
            <a:r>
              <a:rPr lang="en-US" dirty="0"/>
              <a:t>Called by Guidewire to request that process self-terminate</a:t>
            </a:r>
          </a:p>
          <a:p>
            <a:pPr lvl="2"/>
            <a:r>
              <a:rPr lang="en-US" dirty="0"/>
              <a:t>Return true if request will be honored</a:t>
            </a:r>
          </a:p>
          <a:p>
            <a:pPr lvl="2"/>
            <a:r>
              <a:rPr lang="en-US" dirty="0"/>
              <a:t>Return false if request will not be honored</a:t>
            </a:r>
          </a:p>
          <a:p>
            <a:pPr lvl="1"/>
            <a:r>
              <a:rPr lang="en-US" dirty="0"/>
              <a:t>Handled by setting monitor flag in code and exiting </a:t>
            </a:r>
            <a:r>
              <a:rPr lang="en-US" dirty="0" smtClean="0"/>
              <a:t>any loops</a:t>
            </a:r>
          </a:p>
          <a:p>
            <a:pPr marL="0" indent="0">
              <a:buNone/>
            </a:pPr>
            <a:endParaRPr lang="en-US" dirty="0"/>
          </a:p>
        </p:txBody>
      </p:sp>
      <p:pic>
        <p:nvPicPr>
          <p:cNvPr id="2" name="Picture 1"/>
          <p:cNvPicPr>
            <a:picLocks noChangeAspect="1"/>
          </p:cNvPicPr>
          <p:nvPr/>
        </p:nvPicPr>
        <p:blipFill>
          <a:blip r:embed="rId3"/>
          <a:stretch>
            <a:fillRect/>
          </a:stretch>
        </p:blipFill>
        <p:spPr>
          <a:xfrm>
            <a:off x="4191000" y="762000"/>
            <a:ext cx="5098169" cy="4572000"/>
          </a:xfrm>
          <a:prstGeom prst="rect">
            <a:avLst/>
          </a:prstGeom>
        </p:spPr>
      </p:pic>
    </p:spTree>
    <p:extLst>
      <p:ext uri="{BB962C8B-B14F-4D97-AF65-F5344CB8AC3E}">
        <p14:creationId xmlns:p14="http://schemas.microsoft.com/office/powerpoint/2010/main" val="367075264"/>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helpful methods and properties</a:t>
            </a:r>
            <a:endParaRPr lang="en-US" dirty="0"/>
          </a:p>
        </p:txBody>
      </p:sp>
      <p:sp>
        <p:nvSpPr>
          <p:cNvPr id="3" name="Content Placeholder 2"/>
          <p:cNvSpPr>
            <a:spLocks noGrp="1"/>
          </p:cNvSpPr>
          <p:nvPr>
            <p:ph idx="1"/>
          </p:nvPr>
        </p:nvSpPr>
        <p:spPr>
          <a:xfrm>
            <a:off x="838200" y="861824"/>
            <a:ext cx="11091333" cy="5005576"/>
          </a:xfrm>
        </p:spPr>
        <p:txBody>
          <a:bodyPr/>
          <a:lstStyle/>
          <a:p>
            <a:r>
              <a:rPr lang="en-US" b="1" dirty="0" err="1">
                <a:latin typeface="Courier New" pitchFamily="49" charset="0"/>
                <a:cs typeface="Courier New" pitchFamily="49" charset="0"/>
              </a:rPr>
              <a:t>OperationsExpected</a:t>
            </a:r>
            <a:r>
              <a:rPr lang="en-US" dirty="0"/>
              <a:t> property</a:t>
            </a:r>
          </a:p>
          <a:p>
            <a:pPr lvl="1"/>
            <a:r>
              <a:rPr lang="en-US" dirty="0"/>
              <a:t>Set this once after determining number of items to be processed</a:t>
            </a:r>
          </a:p>
          <a:p>
            <a:pPr lvl="1"/>
            <a:r>
              <a:rPr lang="en-US" dirty="0"/>
              <a:t>Used to provide feedback in the UI for UI Runnable Processes</a:t>
            </a:r>
          </a:p>
          <a:p>
            <a:r>
              <a:rPr lang="en-US" b="1" dirty="0" err="1">
                <a:latin typeface="Courier New" pitchFamily="49" charset="0"/>
                <a:cs typeface="Courier New" pitchFamily="49" charset="0"/>
              </a:rPr>
              <a:t>incrementOperationsCompleted</a:t>
            </a:r>
            <a:r>
              <a:rPr lang="en-US" b="1" dirty="0">
                <a:latin typeface="Courier New" pitchFamily="49" charset="0"/>
                <a:cs typeface="Courier New" pitchFamily="49" charset="0"/>
              </a:rPr>
              <a:t>()</a:t>
            </a:r>
          </a:p>
          <a:p>
            <a:pPr lvl="1"/>
            <a:r>
              <a:rPr lang="en-US" dirty="0"/>
              <a:t>Call after processing an item, regardless of success or failure</a:t>
            </a:r>
          </a:p>
          <a:p>
            <a:r>
              <a:rPr lang="en-US" b="1" dirty="0" err="1">
                <a:latin typeface="Courier New" pitchFamily="49" charset="0"/>
                <a:cs typeface="Courier New" pitchFamily="49" charset="0"/>
              </a:rPr>
              <a:t>incrementOperationsFailed</a:t>
            </a:r>
            <a:r>
              <a:rPr lang="en-US" b="1" dirty="0">
                <a:latin typeface="Courier New" pitchFamily="49" charset="0"/>
                <a:cs typeface="Courier New" pitchFamily="49" charset="0"/>
              </a:rPr>
              <a:t>()</a:t>
            </a:r>
          </a:p>
          <a:p>
            <a:pPr lvl="1"/>
            <a:r>
              <a:rPr lang="en-US" dirty="0"/>
              <a:t>Call in addition to </a:t>
            </a:r>
            <a:r>
              <a:rPr lang="en-US" dirty="0" err="1"/>
              <a:t>incrementOperationsCompleted</a:t>
            </a:r>
            <a:r>
              <a:rPr lang="en-US" dirty="0"/>
              <a:t>() for failed </a:t>
            </a:r>
            <a:r>
              <a:rPr lang="en-US" dirty="0" smtClean="0"/>
              <a:t>items</a:t>
            </a:r>
          </a:p>
          <a:p>
            <a:r>
              <a:rPr lang="en-US" b="1" dirty="0">
                <a:latin typeface="Courier New" pitchFamily="49" charset="0"/>
                <a:cs typeface="Courier New" pitchFamily="49" charset="0"/>
              </a:rPr>
              <a:t>Exclusive</a:t>
            </a:r>
            <a:r>
              <a:rPr lang="en-US" dirty="0"/>
              <a:t> property</a:t>
            </a:r>
          </a:p>
          <a:p>
            <a:pPr lvl="1"/>
            <a:r>
              <a:rPr lang="en-US" dirty="0"/>
              <a:t>Can another instance of this batch process start while this process is running?</a:t>
            </a:r>
          </a:p>
          <a:p>
            <a:pPr lvl="1"/>
            <a:endParaRPr lang="en-US" dirty="0"/>
          </a:p>
          <a:p>
            <a:endParaRPr lang="en-US" dirty="0"/>
          </a:p>
        </p:txBody>
      </p:sp>
    </p:spTree>
    <p:extLst>
      <p:ext uri="{BB962C8B-B14F-4D97-AF65-F5344CB8AC3E}">
        <p14:creationId xmlns:p14="http://schemas.microsoft.com/office/powerpoint/2010/main" val="3685220700"/>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9975" y="2971800"/>
            <a:ext cx="11094720" cy="742951"/>
          </a:xfrm>
        </p:spPr>
        <p:txBody>
          <a:bodyPr/>
          <a:lstStyle/>
          <a:p>
            <a:pPr algn="ctr"/>
            <a:r>
              <a:rPr lang="en-US" sz="4400" dirty="0" smtClean="0"/>
              <a:t>Best practices</a:t>
            </a:r>
            <a:endParaRPr lang="en-US" sz="4400" dirty="0"/>
          </a:p>
        </p:txBody>
      </p:sp>
      <p:sp>
        <p:nvSpPr>
          <p:cNvPr id="3" name="Content Placeholder 2"/>
          <p:cNvSpPr>
            <a:spLocks noGrp="1"/>
          </p:cNvSpPr>
          <p:nvPr>
            <p:ph idx="1"/>
          </p:nvPr>
        </p:nvSpPr>
        <p:spPr>
          <a:xfrm>
            <a:off x="692151" y="-76200"/>
            <a:ext cx="11091333" cy="1143000"/>
          </a:xfrm>
        </p:spPr>
        <p:txBody>
          <a:bodyPr/>
          <a:lstStyle/>
          <a:p>
            <a:pPr lvl="1"/>
            <a:endParaRPr lang="en-US" sz="3600" dirty="0">
              <a:latin typeface="+mj-lt"/>
            </a:endParaRPr>
          </a:p>
          <a:p>
            <a:pPr lvl="1"/>
            <a:endParaRPr lang="en-US" sz="3600" dirty="0">
              <a:latin typeface="+mj-lt"/>
            </a:endParaRPr>
          </a:p>
          <a:p>
            <a:pPr lvl="1"/>
            <a:endParaRPr lang="en-US" sz="3600" dirty="0">
              <a:latin typeface="+mj-lt"/>
            </a:endParaRPr>
          </a:p>
          <a:p>
            <a:pPr marL="0" indent="0">
              <a:buNone/>
            </a:pPr>
            <a:endParaRPr lang="en-US" dirty="0"/>
          </a:p>
        </p:txBody>
      </p:sp>
    </p:spTree>
    <p:extLst>
      <p:ext uri="{BB962C8B-B14F-4D97-AF65-F5344CB8AC3E}">
        <p14:creationId xmlns:p14="http://schemas.microsoft.com/office/powerpoint/2010/main" val="1692902966"/>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Updating database </a:t>
            </a:r>
            <a:endParaRPr lang="en-US" dirty="0"/>
          </a:p>
        </p:txBody>
      </p:sp>
      <p:sp>
        <p:nvSpPr>
          <p:cNvPr id="3" name="Content Placeholder 2"/>
          <p:cNvSpPr>
            <a:spLocks noGrp="1"/>
          </p:cNvSpPr>
          <p:nvPr>
            <p:ph idx="1"/>
          </p:nvPr>
        </p:nvSpPr>
        <p:spPr>
          <a:xfrm>
            <a:off x="692151" y="990600"/>
            <a:ext cx="11091333" cy="5410200"/>
          </a:xfrm>
        </p:spPr>
        <p:txBody>
          <a:bodyPr/>
          <a:lstStyle/>
          <a:p>
            <a:pPr lvl="1"/>
            <a:r>
              <a:rPr lang="en-US" dirty="0" smtClean="0"/>
              <a:t>No </a:t>
            </a:r>
            <a:r>
              <a:rPr lang="en-US" b="1" dirty="0"/>
              <a:t>Current</a:t>
            </a:r>
            <a:r>
              <a:rPr lang="en-US" dirty="0"/>
              <a:t> </a:t>
            </a:r>
            <a:r>
              <a:rPr lang="en-US" dirty="0" smtClean="0"/>
              <a:t>bundle for </a:t>
            </a:r>
            <a:r>
              <a:rPr lang="en-US" dirty="0" err="1" smtClean="0"/>
              <a:t>batchprocess</a:t>
            </a:r>
            <a:endParaRPr lang="en-US" dirty="0" smtClean="0"/>
          </a:p>
          <a:p>
            <a:pPr marL="400050" lvl="1" indent="0">
              <a:buNone/>
            </a:pPr>
            <a:endParaRPr lang="en-US" dirty="0"/>
          </a:p>
          <a:p>
            <a:pPr lvl="1"/>
            <a:r>
              <a:rPr lang="en-US" dirty="0"/>
              <a:t>Use </a:t>
            </a:r>
            <a:r>
              <a:rPr lang="en-US" dirty="0" err="1"/>
              <a:t>Transaciton.runwithNewBundle</a:t>
            </a:r>
            <a:r>
              <a:rPr lang="en-US" dirty="0"/>
              <a:t>(/bundle-&gt;{},”user”} or </a:t>
            </a:r>
            <a:r>
              <a:rPr lang="en-US" dirty="0" err="1"/>
              <a:t>Transaction.newBundle</a:t>
            </a:r>
            <a:r>
              <a:rPr lang="en-US" dirty="0" smtClean="0"/>
              <a:t>()</a:t>
            </a:r>
          </a:p>
          <a:p>
            <a:pPr marL="400050" lvl="1" indent="0">
              <a:buNone/>
            </a:pPr>
            <a:endParaRPr lang="en-US" dirty="0"/>
          </a:p>
          <a:p>
            <a:pPr lvl="1"/>
            <a:r>
              <a:rPr lang="en-US" dirty="0"/>
              <a:t>If you expect to update a large number of rows</a:t>
            </a:r>
          </a:p>
          <a:p>
            <a:pPr lvl="2"/>
            <a:r>
              <a:rPr lang="en-US" sz="2000" dirty="0"/>
              <a:t>Consider using paging with regular commit</a:t>
            </a:r>
          </a:p>
          <a:p>
            <a:pPr lvl="2"/>
            <a:r>
              <a:rPr lang="en-US" sz="2000" dirty="0"/>
              <a:t>Keep bundle size small</a:t>
            </a:r>
          </a:p>
          <a:p>
            <a:pPr lvl="2"/>
            <a:r>
              <a:rPr lang="en-US" sz="2000" dirty="0"/>
              <a:t>Be careful with assessors</a:t>
            </a:r>
          </a:p>
          <a:p>
            <a:pPr lvl="2"/>
            <a:r>
              <a:rPr lang="en-US" sz="2000" dirty="0"/>
              <a:t>Use Query best practices-</a:t>
            </a:r>
          </a:p>
          <a:p>
            <a:pPr lvl="3"/>
            <a:r>
              <a:rPr lang="en-US" sz="2000" dirty="0"/>
              <a:t>Do filtration in database rather than in application</a:t>
            </a:r>
          </a:p>
          <a:p>
            <a:pPr marL="1084263" lvl="3" indent="0">
              <a:buNone/>
            </a:pPr>
            <a:endParaRPr lang="en-US" dirty="0"/>
          </a:p>
          <a:p>
            <a:endParaRPr lang="en-US" dirty="0"/>
          </a:p>
        </p:txBody>
      </p:sp>
    </p:spTree>
    <p:extLst>
      <p:ext uri="{BB962C8B-B14F-4D97-AF65-F5344CB8AC3E}">
        <p14:creationId xmlns:p14="http://schemas.microsoft.com/office/powerpoint/2010/main" val="20861836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Best practices- Updating database </a:t>
            </a:r>
            <a:endParaRPr lang="en-US" dirty="0"/>
          </a:p>
        </p:txBody>
      </p:sp>
      <p:sp>
        <p:nvSpPr>
          <p:cNvPr id="3" name="Content Placeholder 2"/>
          <p:cNvSpPr>
            <a:spLocks noGrp="1"/>
          </p:cNvSpPr>
          <p:nvPr>
            <p:ph idx="1"/>
          </p:nvPr>
        </p:nvSpPr>
        <p:spPr>
          <a:xfrm>
            <a:off x="692151" y="762000"/>
            <a:ext cx="11091333" cy="5638800"/>
          </a:xfrm>
        </p:spPr>
        <p:txBody>
          <a:bodyPr/>
          <a:lstStyle/>
          <a:p>
            <a:r>
              <a:rPr lang="en-US" b="1" dirty="0" smtClean="0"/>
              <a:t>Problematic approach</a:t>
            </a:r>
          </a:p>
          <a:p>
            <a:endParaRPr lang="en-US" b="1" dirty="0" smtClean="0"/>
          </a:p>
          <a:p>
            <a:endParaRPr lang="en-US" b="1" dirty="0"/>
          </a:p>
          <a:p>
            <a:endParaRPr lang="en-US" b="1" dirty="0" smtClean="0"/>
          </a:p>
          <a:p>
            <a:endParaRPr lang="en-US" b="1" dirty="0"/>
          </a:p>
          <a:p>
            <a:endParaRPr lang="en-US" b="1" dirty="0" smtClean="0"/>
          </a:p>
          <a:p>
            <a:r>
              <a:rPr lang="en-US" dirty="0" smtClean="0"/>
              <a:t>Above approach has below problems</a:t>
            </a:r>
          </a:p>
          <a:p>
            <a:pPr lvl="1"/>
            <a:r>
              <a:rPr lang="en-US" dirty="0" smtClean="0"/>
              <a:t>Memory : The result set is possibly large</a:t>
            </a:r>
          </a:p>
          <a:p>
            <a:pPr lvl="1"/>
            <a:r>
              <a:rPr lang="en-US" dirty="0" smtClean="0"/>
              <a:t>Bundle performance</a:t>
            </a:r>
          </a:p>
          <a:p>
            <a:pPr lvl="2"/>
            <a:r>
              <a:rPr lang="en-US" dirty="0" smtClean="0"/>
              <a:t>All rows from query added to bundle</a:t>
            </a:r>
          </a:p>
          <a:p>
            <a:pPr lvl="2"/>
            <a:r>
              <a:rPr lang="en-US" dirty="0" smtClean="0"/>
              <a:t>If assessors are used for these entities those will also be added to the bundle.</a:t>
            </a:r>
            <a:endParaRPr lang="en-US" dirty="0"/>
          </a:p>
        </p:txBody>
      </p:sp>
      <p:pic>
        <p:nvPicPr>
          <p:cNvPr id="4" name="Picture 3"/>
          <p:cNvPicPr>
            <a:picLocks noChangeAspect="1"/>
          </p:cNvPicPr>
          <p:nvPr/>
        </p:nvPicPr>
        <p:blipFill>
          <a:blip r:embed="rId3"/>
          <a:stretch>
            <a:fillRect/>
          </a:stretch>
        </p:blipFill>
        <p:spPr>
          <a:xfrm>
            <a:off x="2438401" y="1358782"/>
            <a:ext cx="3988005" cy="2298818"/>
          </a:xfrm>
          <a:prstGeom prst="rect">
            <a:avLst/>
          </a:prstGeom>
        </p:spPr>
      </p:pic>
    </p:spTree>
    <p:extLst>
      <p:ext uri="{BB962C8B-B14F-4D97-AF65-F5344CB8AC3E}">
        <p14:creationId xmlns:p14="http://schemas.microsoft.com/office/powerpoint/2010/main" val="657020794"/>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Better approach- paging with regular commits</a:t>
            </a:r>
          </a:p>
        </p:txBody>
      </p:sp>
      <p:pic>
        <p:nvPicPr>
          <p:cNvPr id="5" name="Picture 4"/>
          <p:cNvPicPr>
            <a:picLocks noChangeAspect="1"/>
          </p:cNvPicPr>
          <p:nvPr/>
        </p:nvPicPr>
        <p:blipFill>
          <a:blip r:embed="rId3"/>
          <a:stretch>
            <a:fillRect/>
          </a:stretch>
        </p:blipFill>
        <p:spPr>
          <a:xfrm>
            <a:off x="2286000" y="1066800"/>
            <a:ext cx="5994708" cy="3537132"/>
          </a:xfrm>
          <a:prstGeom prst="rect">
            <a:avLst/>
          </a:prstGeom>
        </p:spPr>
      </p:pic>
    </p:spTree>
    <p:extLst>
      <p:ext uri="{BB962C8B-B14F-4D97-AF65-F5344CB8AC3E}">
        <p14:creationId xmlns:p14="http://schemas.microsoft.com/office/powerpoint/2010/main" val="2310067649"/>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Paging with modifications</a:t>
            </a:r>
          </a:p>
        </p:txBody>
      </p:sp>
      <p:sp>
        <p:nvSpPr>
          <p:cNvPr id="3" name="Content Placeholder 2"/>
          <p:cNvSpPr>
            <a:spLocks noGrp="1"/>
          </p:cNvSpPr>
          <p:nvPr>
            <p:ph idx="1"/>
          </p:nvPr>
        </p:nvSpPr>
        <p:spPr>
          <a:xfrm>
            <a:off x="457200" y="990600"/>
            <a:ext cx="9919716" cy="5486400"/>
          </a:xfrm>
        </p:spPr>
        <p:txBody>
          <a:bodyPr/>
          <a:lstStyle/>
          <a:p>
            <a:r>
              <a:rPr lang="en-US" sz="2000" dirty="0"/>
              <a:t>In the below case assume that  the query is retrieving records whose flag is true, and the page size is two. In the first iteration(page) query will return records </a:t>
            </a:r>
            <a:r>
              <a:rPr lang="en-US" sz="2000" b="1" i="1" dirty="0"/>
              <a:t>1 </a:t>
            </a:r>
            <a:r>
              <a:rPr lang="en-US" sz="2000" dirty="0"/>
              <a:t>and </a:t>
            </a:r>
            <a:r>
              <a:rPr lang="en-US" sz="2000" b="1" i="1" dirty="0"/>
              <a:t>3</a:t>
            </a:r>
            <a:r>
              <a:rPr lang="en-US" sz="2000" dirty="0"/>
              <a:t>. In the second iteration query should ideally return records </a:t>
            </a:r>
            <a:r>
              <a:rPr lang="en-US" sz="2000" b="1" i="1" dirty="0"/>
              <a:t>4</a:t>
            </a:r>
            <a:r>
              <a:rPr lang="en-US" sz="2000" dirty="0"/>
              <a:t> and </a:t>
            </a:r>
            <a:r>
              <a:rPr lang="en-US" sz="2000" b="1" i="1" dirty="0"/>
              <a:t>5</a:t>
            </a:r>
            <a:r>
              <a:rPr lang="en-US" sz="2000" dirty="0"/>
              <a:t> , but after the first iteration if the batch process changes the value of ‘flag’ in record </a:t>
            </a:r>
            <a:r>
              <a:rPr lang="en-US" sz="2000" b="1" i="1" dirty="0"/>
              <a:t>3</a:t>
            </a:r>
            <a:r>
              <a:rPr lang="en-US" sz="2000" dirty="0"/>
              <a:t> to false, only record </a:t>
            </a:r>
            <a:r>
              <a:rPr lang="en-US" sz="2000" b="1" i="1" dirty="0"/>
              <a:t>5</a:t>
            </a:r>
            <a:r>
              <a:rPr lang="en-US" sz="2000" dirty="0"/>
              <a:t> will be returned and record 4 will be skipped in the second page’s result</a:t>
            </a:r>
          </a:p>
          <a:p>
            <a:r>
              <a:rPr lang="en-US" sz="2000" dirty="0"/>
              <a:t>This can be overcome by id chunking (explained in notes)</a:t>
            </a:r>
          </a:p>
          <a:p>
            <a:pPr marL="0" indent="0">
              <a:buNone/>
            </a:pPr>
            <a:r>
              <a:rPr lang="en-US" sz="2000" kern="1200" dirty="0">
                <a:solidFill>
                  <a:schemeClr val="tx1"/>
                </a:solidFill>
                <a:cs typeface="Arial" pitchFamily="34" charset="0"/>
              </a:rPr>
              <a:t>BatchBat</a:t>
            </a:r>
            <a:r>
              <a:rPr lang="en-US" sz="2000" kern="1200" dirty="0">
                <a:solidFill>
                  <a:schemeClr val="tx1"/>
                </a:solidFill>
                <a:latin typeface="Arial" pitchFamily="34" charset="0"/>
                <a:cs typeface="Arial" pitchFamily="34" charset="0"/>
              </a:rPr>
              <a:t>BatchProcessBase.setChunkingById</a:t>
            </a:r>
            <a:r>
              <a:rPr lang="en-US" sz="2000" kern="1200" dirty="0">
                <a:solidFill>
                  <a:schemeClr val="tx1"/>
                </a:solidFill>
                <a:cs typeface="Arial" pitchFamily="34" charset="0"/>
              </a:rPr>
              <a:t>chProcessBase.setChunkingById</a:t>
            </a:r>
            <a:endParaRPr lang="en-US" sz="2000" dirty="0"/>
          </a:p>
          <a:p>
            <a:endParaRPr lang="en-US" dirty="0" smtClean="0"/>
          </a:p>
          <a:p>
            <a:endParaRPr lang="en-US" dirty="0"/>
          </a:p>
          <a:p>
            <a:endParaRPr lang="en-US" dirty="0" smtClean="0"/>
          </a:p>
          <a:p>
            <a:endParaRPr lang="en-US" dirty="0" smtClean="0"/>
          </a:p>
          <a:p>
            <a:endParaRPr lang="en-US" dirty="0"/>
          </a:p>
          <a:p>
            <a:endParaRPr lang="en-US" dirty="0"/>
          </a:p>
          <a:p>
            <a:endParaRPr lang="en-US" dirty="0" smtClean="0"/>
          </a:p>
          <a:p>
            <a:endParaRPr lang="en-US" dirty="0"/>
          </a:p>
          <a:p>
            <a:endParaRPr lang="en-US" dirty="0" smtClean="0"/>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783783995"/>
              </p:ext>
            </p:extLst>
          </p:nvPr>
        </p:nvGraphicFramePr>
        <p:xfrm>
          <a:off x="5791200" y="3721101"/>
          <a:ext cx="3505200" cy="2578759"/>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872952937"/>
                    </a:ext>
                  </a:extLst>
                </a:gridCol>
                <a:gridCol w="1752600">
                  <a:extLst>
                    <a:ext uri="{9D8B030D-6E8A-4147-A177-3AD203B41FA5}">
                      <a16:colId xmlns:a16="http://schemas.microsoft.com/office/drawing/2014/main" val="1979851071"/>
                    </a:ext>
                  </a:extLst>
                </a:gridCol>
              </a:tblGrid>
              <a:tr h="384199">
                <a:tc>
                  <a:txBody>
                    <a:bodyPr/>
                    <a:lstStyle/>
                    <a:p>
                      <a:r>
                        <a:rPr lang="en-US" dirty="0" smtClean="0"/>
                        <a:t>Row Number</a:t>
                      </a:r>
                      <a:endParaRPr lang="en-US" dirty="0"/>
                    </a:p>
                  </a:txBody>
                  <a:tcPr/>
                </a:tc>
                <a:tc>
                  <a:txBody>
                    <a:bodyPr/>
                    <a:lstStyle/>
                    <a:p>
                      <a:r>
                        <a:rPr lang="en-US" dirty="0" smtClean="0"/>
                        <a:t>Flag</a:t>
                      </a:r>
                      <a:endParaRPr lang="en-US" dirty="0"/>
                    </a:p>
                  </a:txBody>
                  <a:tcPr/>
                </a:tc>
                <a:extLst>
                  <a:ext uri="{0D108BD9-81ED-4DB2-BD59-A6C34878D82A}">
                    <a16:rowId xmlns:a16="http://schemas.microsoft.com/office/drawing/2014/main" val="2044680491"/>
                  </a:ext>
                </a:extLst>
              </a:tr>
              <a:tr h="329667">
                <a:tc>
                  <a:txBody>
                    <a:bodyPr/>
                    <a:lstStyle/>
                    <a:p>
                      <a:r>
                        <a:rPr lang="en-US" dirty="0" smtClean="0"/>
                        <a:t>1</a:t>
                      </a:r>
                      <a:endParaRPr lang="en-US" dirty="0"/>
                    </a:p>
                  </a:txBody>
                  <a:tcPr/>
                </a:tc>
                <a:tc>
                  <a:txBody>
                    <a:bodyPr/>
                    <a:lstStyle/>
                    <a:p>
                      <a:r>
                        <a:rPr lang="en-US" dirty="0" smtClean="0"/>
                        <a:t>True</a:t>
                      </a:r>
                      <a:endParaRPr lang="en-US" dirty="0"/>
                    </a:p>
                  </a:txBody>
                  <a:tcPr/>
                </a:tc>
                <a:extLst>
                  <a:ext uri="{0D108BD9-81ED-4DB2-BD59-A6C34878D82A}">
                    <a16:rowId xmlns:a16="http://schemas.microsoft.com/office/drawing/2014/main" val="1296418993"/>
                  </a:ext>
                </a:extLst>
              </a:tr>
              <a:tr h="329667">
                <a:tc>
                  <a:txBody>
                    <a:bodyPr/>
                    <a:lstStyle/>
                    <a:p>
                      <a:r>
                        <a:rPr lang="en-US" dirty="0" smtClean="0"/>
                        <a:t>2</a:t>
                      </a:r>
                      <a:endParaRPr lang="en-US" dirty="0"/>
                    </a:p>
                  </a:txBody>
                  <a:tcPr/>
                </a:tc>
                <a:tc>
                  <a:txBody>
                    <a:bodyPr/>
                    <a:lstStyle/>
                    <a:p>
                      <a:r>
                        <a:rPr lang="en-US" dirty="0" smtClean="0"/>
                        <a:t>False</a:t>
                      </a:r>
                      <a:endParaRPr lang="en-US" dirty="0"/>
                    </a:p>
                  </a:txBody>
                  <a:tcPr/>
                </a:tc>
                <a:extLst>
                  <a:ext uri="{0D108BD9-81ED-4DB2-BD59-A6C34878D82A}">
                    <a16:rowId xmlns:a16="http://schemas.microsoft.com/office/drawing/2014/main" val="3829920353"/>
                  </a:ext>
                </a:extLst>
              </a:tr>
              <a:tr h="329667">
                <a:tc>
                  <a:txBody>
                    <a:bodyPr/>
                    <a:lstStyle/>
                    <a:p>
                      <a:r>
                        <a:rPr lang="en-US" dirty="0" smtClean="0"/>
                        <a:t>3</a:t>
                      </a:r>
                      <a:endParaRPr lang="en-US" dirty="0"/>
                    </a:p>
                  </a:txBody>
                  <a:tcPr/>
                </a:tc>
                <a:tc>
                  <a:txBody>
                    <a:bodyPr/>
                    <a:lstStyle/>
                    <a:p>
                      <a:r>
                        <a:rPr lang="en-US" dirty="0" smtClean="0"/>
                        <a:t>True</a:t>
                      </a:r>
                      <a:endParaRPr lang="en-US" dirty="0"/>
                    </a:p>
                  </a:txBody>
                  <a:tcPr/>
                </a:tc>
                <a:extLst>
                  <a:ext uri="{0D108BD9-81ED-4DB2-BD59-A6C34878D82A}">
                    <a16:rowId xmlns:a16="http://schemas.microsoft.com/office/drawing/2014/main" val="36387568"/>
                  </a:ext>
                </a:extLst>
              </a:tr>
              <a:tr h="329667">
                <a:tc>
                  <a:txBody>
                    <a:bodyPr/>
                    <a:lstStyle/>
                    <a:p>
                      <a:r>
                        <a:rPr lang="en-US" dirty="0" smtClean="0"/>
                        <a:t>4</a:t>
                      </a:r>
                      <a:endParaRPr lang="en-US" dirty="0"/>
                    </a:p>
                  </a:txBody>
                  <a:tcPr/>
                </a:tc>
                <a:tc>
                  <a:txBody>
                    <a:bodyPr/>
                    <a:lstStyle/>
                    <a:p>
                      <a:r>
                        <a:rPr lang="en-US" dirty="0" smtClean="0"/>
                        <a:t>True</a:t>
                      </a:r>
                      <a:endParaRPr lang="en-US" dirty="0"/>
                    </a:p>
                  </a:txBody>
                  <a:tcPr/>
                </a:tc>
                <a:extLst>
                  <a:ext uri="{0D108BD9-81ED-4DB2-BD59-A6C34878D82A}">
                    <a16:rowId xmlns:a16="http://schemas.microsoft.com/office/drawing/2014/main" val="91393243"/>
                  </a:ext>
                </a:extLst>
              </a:tr>
              <a:tr h="329667">
                <a:tc>
                  <a:txBody>
                    <a:bodyPr/>
                    <a:lstStyle/>
                    <a:p>
                      <a:r>
                        <a:rPr lang="en-US" dirty="0" smtClean="0"/>
                        <a:t>5</a:t>
                      </a:r>
                      <a:endParaRPr lang="en-US" dirty="0"/>
                    </a:p>
                  </a:txBody>
                  <a:tcPr/>
                </a:tc>
                <a:tc>
                  <a:txBody>
                    <a:bodyPr/>
                    <a:lstStyle/>
                    <a:p>
                      <a:r>
                        <a:rPr lang="en-US" dirty="0" smtClean="0"/>
                        <a:t>True</a:t>
                      </a:r>
                      <a:endParaRPr lang="en-US" dirty="0"/>
                    </a:p>
                  </a:txBody>
                  <a:tcPr/>
                </a:tc>
                <a:extLst>
                  <a:ext uri="{0D108BD9-81ED-4DB2-BD59-A6C34878D82A}">
                    <a16:rowId xmlns:a16="http://schemas.microsoft.com/office/drawing/2014/main" val="4244863516"/>
                  </a:ext>
                </a:extLst>
              </a:tr>
              <a:tr h="329667">
                <a:tc>
                  <a:txBody>
                    <a:bodyPr/>
                    <a:lstStyle/>
                    <a:p>
                      <a:r>
                        <a:rPr lang="en-US" dirty="0" smtClean="0"/>
                        <a:t>6</a:t>
                      </a:r>
                      <a:endParaRPr lang="en-US" dirty="0"/>
                    </a:p>
                  </a:txBody>
                  <a:tcPr/>
                </a:tc>
                <a:tc>
                  <a:txBody>
                    <a:bodyPr/>
                    <a:lstStyle/>
                    <a:p>
                      <a:r>
                        <a:rPr lang="en-US" dirty="0" smtClean="0"/>
                        <a:t>false</a:t>
                      </a:r>
                      <a:endParaRPr lang="en-US" dirty="0"/>
                    </a:p>
                  </a:txBody>
                  <a:tcPr/>
                </a:tc>
                <a:extLst>
                  <a:ext uri="{0D108BD9-81ED-4DB2-BD59-A6C34878D82A}">
                    <a16:rowId xmlns:a16="http://schemas.microsoft.com/office/drawing/2014/main" val="1990838677"/>
                  </a:ext>
                </a:extLst>
              </a:tr>
            </a:tbl>
          </a:graphicData>
        </a:graphic>
      </p:graphicFrame>
    </p:spTree>
    <p:extLst>
      <p:ext uri="{BB962C8B-B14F-4D97-AF65-F5344CB8AC3E}">
        <p14:creationId xmlns:p14="http://schemas.microsoft.com/office/powerpoint/2010/main" val="405766583"/>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endParaRPr lang="en-US" dirty="0" smtClean="0"/>
          </a:p>
          <a:p>
            <a:pPr lvl="1"/>
            <a:r>
              <a:rPr lang="en-US" dirty="0" smtClean="0"/>
              <a:t>Describe </a:t>
            </a:r>
            <a:r>
              <a:rPr lang="en-US" dirty="0"/>
              <a:t>the role batch processes play in Guidewire applications</a:t>
            </a:r>
          </a:p>
          <a:p>
            <a:pPr lvl="1"/>
            <a:endParaRPr lang="en-US" dirty="0"/>
          </a:p>
          <a:p>
            <a:pPr lvl="1"/>
            <a:r>
              <a:rPr lang="en-US" dirty="0"/>
              <a:t>Schedule batch processes</a:t>
            </a:r>
          </a:p>
          <a:p>
            <a:pPr lvl="1"/>
            <a:endParaRPr lang="en-US" dirty="0"/>
          </a:p>
          <a:p>
            <a:pPr lvl="1"/>
            <a:r>
              <a:rPr lang="en-US" dirty="0"/>
              <a:t>Implement custom batch processes</a:t>
            </a:r>
          </a:p>
          <a:p>
            <a:pPr lvl="1"/>
            <a:endParaRPr lang="en-US" dirty="0"/>
          </a:p>
        </p:txBody>
      </p:sp>
    </p:spTree>
    <p:extLst>
      <p:ext uri="{BB962C8B-B14F-4D97-AF65-F5344CB8AC3E}">
        <p14:creationId xmlns:p14="http://schemas.microsoft.com/office/powerpoint/2010/main" val="596066326"/>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DEMO</a:t>
            </a:r>
            <a:endParaRPr lang="en-US" sz="4000" kern="0" dirty="0"/>
          </a:p>
        </p:txBody>
      </p:sp>
    </p:spTree>
    <p:extLst>
      <p:ext uri="{BB962C8B-B14F-4D97-AF65-F5344CB8AC3E}">
        <p14:creationId xmlns:p14="http://schemas.microsoft.com/office/powerpoint/2010/main" val="22317518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0" indent="0">
              <a:buNone/>
            </a:pPr>
            <a:r>
              <a:rPr lang="en-US" sz="2400" dirty="0">
                <a:solidFill>
                  <a:schemeClr val="bg1"/>
                </a:solidFill>
              </a:rPr>
              <a:t>This demonstration will create a batch process that checks if an </a:t>
            </a:r>
            <a:r>
              <a:rPr lang="en-US" sz="2400" dirty="0" err="1">
                <a:solidFill>
                  <a:schemeClr val="bg1"/>
                </a:solidFill>
              </a:rPr>
              <a:t>ABPerson</a:t>
            </a:r>
            <a:r>
              <a:rPr lang="en-US" sz="2400" dirty="0">
                <a:solidFill>
                  <a:schemeClr val="bg1"/>
                </a:solidFill>
              </a:rPr>
              <a:t> has either a phone number or </a:t>
            </a:r>
            <a:r>
              <a:rPr lang="en-US" sz="2400" dirty="0" smtClean="0">
                <a:solidFill>
                  <a:schemeClr val="bg1"/>
                </a:solidFill>
              </a:rPr>
              <a:t>email. </a:t>
            </a:r>
            <a:r>
              <a:rPr lang="en-US" sz="2400" dirty="0">
                <a:solidFill>
                  <a:schemeClr val="bg1"/>
                </a:solidFill>
              </a:rPr>
              <a:t>If they </a:t>
            </a:r>
            <a:r>
              <a:rPr lang="en-US" sz="2400" dirty="0" smtClean="0">
                <a:solidFill>
                  <a:schemeClr val="bg1"/>
                </a:solidFill>
              </a:rPr>
              <a:t>don’t, </a:t>
            </a:r>
            <a:r>
              <a:rPr lang="en-US" sz="2400" dirty="0">
                <a:solidFill>
                  <a:schemeClr val="bg1"/>
                </a:solidFill>
              </a:rPr>
              <a:t>flag the </a:t>
            </a:r>
            <a:r>
              <a:rPr lang="en-US" sz="2400" dirty="0" smtClean="0">
                <a:solidFill>
                  <a:schemeClr val="bg1"/>
                </a:solidFill>
              </a:rPr>
              <a:t>contact.</a:t>
            </a:r>
            <a:endParaRPr lang="en-US" sz="2400" dirty="0">
              <a:solidFill>
                <a:schemeClr val="bg1"/>
              </a:solidFill>
            </a:endParaRPr>
          </a:p>
          <a:p>
            <a:pPr marL="0" indent="0">
              <a:buNone/>
            </a:pPr>
            <a:endParaRPr lang="en-US" sz="2400" dirty="0">
              <a:solidFill>
                <a:schemeClr val="bg1"/>
              </a:solidFill>
            </a:endParaRPr>
          </a:p>
          <a:p>
            <a:pPr marL="0" indent="0">
              <a:buNone/>
            </a:pPr>
            <a:r>
              <a:rPr lang="en-US" sz="2400" b="1" dirty="0">
                <a:solidFill>
                  <a:schemeClr val="bg1"/>
                </a:solidFill>
              </a:rPr>
              <a:t>Requires</a:t>
            </a:r>
            <a:endParaRPr lang="en-US" sz="2400" dirty="0">
              <a:solidFill>
                <a:schemeClr val="bg1"/>
              </a:solidFill>
            </a:endParaRPr>
          </a:p>
          <a:p>
            <a:r>
              <a:rPr lang="en-US" sz="2400" dirty="0">
                <a:solidFill>
                  <a:schemeClr val="bg1"/>
                </a:solidFill>
              </a:rPr>
              <a:t>Training App</a:t>
            </a:r>
          </a:p>
          <a:p>
            <a:r>
              <a:rPr lang="en-US" sz="2400" dirty="0">
                <a:solidFill>
                  <a:schemeClr val="bg1"/>
                </a:solidFill>
              </a:rPr>
              <a:t>GW Studio</a:t>
            </a:r>
          </a:p>
          <a:p>
            <a:r>
              <a:rPr lang="en-US" sz="2400" dirty="0">
                <a:solidFill>
                  <a:schemeClr val="bg1"/>
                </a:solidFill>
              </a:rPr>
              <a:t>Supported web </a:t>
            </a:r>
            <a:r>
              <a:rPr lang="en-US" sz="2400" dirty="0" smtClean="0">
                <a:solidFill>
                  <a:schemeClr val="bg1"/>
                </a:solidFill>
              </a:rPr>
              <a:t>browser</a:t>
            </a:r>
            <a:endParaRPr lang="en-US" sz="2400" dirty="0">
              <a:solidFill>
                <a:schemeClr val="bg1"/>
              </a:solidFill>
            </a:endParaRPr>
          </a:p>
        </p:txBody>
      </p:sp>
    </p:spTree>
    <p:extLst>
      <p:ext uri="{BB962C8B-B14F-4D97-AF65-F5344CB8AC3E}">
        <p14:creationId xmlns:p14="http://schemas.microsoft.com/office/powerpoint/2010/main" val="38194040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LAB</a:t>
            </a:r>
            <a:endParaRPr lang="en-US" sz="4000" kern="0" dirty="0"/>
          </a:p>
        </p:txBody>
      </p:sp>
    </p:spTree>
    <p:extLst>
      <p:ext uri="{BB962C8B-B14F-4D97-AF65-F5344CB8AC3E}">
        <p14:creationId xmlns:p14="http://schemas.microsoft.com/office/powerpoint/2010/main" val="23947583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a:t>
            </a:r>
            <a:r>
              <a:rPr lang="en-US" sz="2400" dirty="0" smtClean="0">
                <a:solidFill>
                  <a:schemeClr val="bg1"/>
                </a:solidFill>
              </a:rPr>
              <a:t>“Batch Processes” </a:t>
            </a:r>
            <a:r>
              <a:rPr lang="en-US" sz="2400" dirty="0">
                <a:solidFill>
                  <a:schemeClr val="bg1"/>
                </a:solidFill>
              </a:rPr>
              <a:t>chapter in the “InsuranceSuite 10 Integration: Kickstart “ work book</a:t>
            </a:r>
          </a:p>
        </p:txBody>
      </p:sp>
    </p:spTree>
    <p:extLst>
      <p:ext uri="{BB962C8B-B14F-4D97-AF65-F5344CB8AC3E}">
        <p14:creationId xmlns:p14="http://schemas.microsoft.com/office/powerpoint/2010/main" val="26730640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are the three ways a batch process can be run? Which of the three is the most common?</a:t>
            </a:r>
          </a:p>
          <a:p>
            <a:r>
              <a:rPr lang="en-US" dirty="0"/>
              <a:t>When you add a new batch process typecode to BatchProcessType, why must you add one or more categories to the typecode?</a:t>
            </a:r>
          </a:p>
          <a:p>
            <a:r>
              <a:rPr lang="en-US" dirty="0"/>
              <a:t>When creating a custom batch process, do you need to implement the ProcessesPlugin or just modify it?</a:t>
            </a:r>
          </a:p>
          <a:p>
            <a:r>
              <a:rPr lang="en-US" dirty="0"/>
              <a:t>For a custom batch process, what method or methods are required?</a:t>
            </a:r>
          </a:p>
          <a:p>
            <a:r>
              <a:rPr lang="en-US" dirty="0"/>
              <a:t>How does a batch process commit changes to the database?</a:t>
            </a:r>
          </a:p>
          <a:p>
            <a:endParaRPr lang="en-US" dirty="0"/>
          </a:p>
        </p:txBody>
      </p:sp>
    </p:spTree>
    <p:extLst>
      <p:ext uri="{BB962C8B-B14F-4D97-AF65-F5344CB8AC3E}">
        <p14:creationId xmlns:p14="http://schemas.microsoft.com/office/powerpoint/2010/main" val="1901572886"/>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88" b="19488"/>
          <a:stretch>
            <a:fillRect/>
          </a:stretch>
        </p:blipFill>
        <p:spPr/>
      </p:pic>
      <p:sp>
        <p:nvSpPr>
          <p:cNvPr id="3" name="Text Placeholder 2"/>
          <p:cNvSpPr>
            <a:spLocks noGrp="1"/>
          </p:cNvSpPr>
          <p:nvPr>
            <p:ph type="body" sz="quarter" idx="11"/>
          </p:nvPr>
        </p:nvSpPr>
        <p:spPr/>
        <p:txBody>
          <a:bodyPr/>
          <a:lstStyle/>
          <a:p>
            <a:endParaRPr lang="en-US" dirty="0"/>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819420817"/>
      </p:ext>
    </p:extLst>
  </p:cSld>
  <p:clrMapOvr>
    <a:masterClrMapping/>
  </p:clrMapOvr>
  <p:timing>
    <p:tnLst>
      <p:par>
        <p:cTn id="1" dur="indefinite" restart="never" nodeType="tmRoot"/>
      </p:par>
    </p:tnLst>
  </p:timing>
</p:sld>
</file>

<file path=ppt/theme/theme1.xml><?xml version="1.0" encoding="utf-8"?>
<a:theme xmlns:a="http://schemas.openxmlformats.org/drawingml/2006/main" name="1_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00A4987-B96F-4ACD-86C9-E95943D7D073}"/>
</file>

<file path=customXml/itemProps2.xml><?xml version="1.0" encoding="utf-8"?>
<ds:datastoreItem xmlns:ds="http://schemas.openxmlformats.org/officeDocument/2006/customXml" ds:itemID="{CD75D66F-AF89-4D34-91C6-7D82954E09CB}">
  <ds:schemaRefs>
    <ds:schemaRef ds:uri="http://schemas.microsoft.com/sharepoint/v3/contenttype/forms"/>
  </ds:schemaRefs>
</ds:datastoreItem>
</file>

<file path=customXml/itemProps3.xml><?xml version="1.0" encoding="utf-8"?>
<ds:datastoreItem xmlns:ds="http://schemas.openxmlformats.org/officeDocument/2006/customXml" ds:itemID="{3FF265FF-48DC-4BE4-B9FE-5DB5E0AF1172}">
  <ds:schemaRefs>
    <ds:schemaRef ds:uri="http://purl.org/dc/dcmitype/"/>
    <ds:schemaRef ds:uri="http://schemas.microsoft.com/office/2006/metadata/properties"/>
    <ds:schemaRef ds:uri="http://schemas.microsoft.com/office/2006/documentManagement/types"/>
    <ds:schemaRef ds:uri="http://schemas.openxmlformats.org/package/2006/metadata/core-properties"/>
    <ds:schemaRef ds:uri="ec2ac320-4691-4145-9221-fe31435db753"/>
    <ds:schemaRef ds:uri="http://purl.org/dc/terms/"/>
    <ds:schemaRef ds:uri="http://www.w3.org/XML/1998/namespace"/>
    <ds:schemaRef ds:uri="http://schemas.microsoft.com/office/infopath/2007/PartnerControl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7781</TotalTime>
  <Words>5453</Words>
  <Application>Microsoft Office PowerPoint</Application>
  <PresentationFormat>Widescreen</PresentationFormat>
  <Paragraphs>496</Paragraphs>
  <Slides>44</Slides>
  <Notes>41</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44</vt:i4>
      </vt:variant>
    </vt:vector>
  </HeadingPairs>
  <TitlesOfParts>
    <vt:vector size="52" baseType="lpstr">
      <vt:lpstr>Arial</vt:lpstr>
      <vt:lpstr>Calibri</vt:lpstr>
      <vt:lpstr>Courier New</vt:lpstr>
      <vt:lpstr>Times New Roman</vt:lpstr>
      <vt:lpstr>Wingdings</vt:lpstr>
      <vt:lpstr>Wingdings 3</vt:lpstr>
      <vt:lpstr>1_Emerald_Template</vt:lpstr>
      <vt:lpstr>Emerald_Template</vt:lpstr>
      <vt:lpstr>InsuranceSuite 10 Integration</vt:lpstr>
      <vt:lpstr>PowerPoint Presentation</vt:lpstr>
      <vt:lpstr>Batch processes</vt:lpstr>
      <vt:lpstr>Predefined batch processes</vt:lpstr>
      <vt:lpstr>Custom batch processes</vt:lpstr>
      <vt:lpstr>Executing batch processes</vt:lpstr>
      <vt:lpstr>Batch process execution options</vt:lpstr>
      <vt:lpstr>Batch processes and messaging</vt:lpstr>
      <vt:lpstr>PowerPoint Presentation</vt:lpstr>
      <vt:lpstr>Batch Process Info UI Screen</vt:lpstr>
      <vt:lpstr>Chart and History cards</vt:lpstr>
      <vt:lpstr>Scheduling a batch process</vt:lpstr>
      <vt:lpstr>PowerPoint Presentation</vt:lpstr>
      <vt:lpstr>Scheduled batch processes</vt:lpstr>
      <vt:lpstr>Running a batch process from an API</vt:lpstr>
      <vt:lpstr>PowerPoint Presentation</vt:lpstr>
      <vt:lpstr>Custom batch process architecture (1)</vt:lpstr>
      <vt:lpstr>Custom batch process classes</vt:lpstr>
      <vt:lpstr>Use case: Batch process flags ABDoctors</vt:lpstr>
      <vt:lpstr>Steps to implement custom batch process</vt:lpstr>
      <vt:lpstr>Step 1: Add BatchProcessType typecode</vt:lpstr>
      <vt:lpstr>Step 2: Create a batch process class</vt:lpstr>
      <vt:lpstr>Example: Commit data in a batch process</vt:lpstr>
      <vt:lpstr>Step 3a: Create the ProcessesPlugin class </vt:lpstr>
      <vt:lpstr>Step 3a: Modify ProcessesPlugin class </vt:lpstr>
      <vt:lpstr>Step 3b: Create the IProcessesPlugin.gwp</vt:lpstr>
      <vt:lpstr>Step 3c: Implement the IProcessesPlugin</vt:lpstr>
      <vt:lpstr>Step 4: Configure scheduler-config.xml</vt:lpstr>
      <vt:lpstr>Step 5: Deploy the implementation</vt:lpstr>
      <vt:lpstr>checkInitialConditions method</vt:lpstr>
      <vt:lpstr>requestTermination method</vt:lpstr>
      <vt:lpstr>Other helpful methods and properties</vt:lpstr>
      <vt:lpstr>Best practices</vt:lpstr>
      <vt:lpstr>Updating database </vt:lpstr>
      <vt:lpstr>Best practices- Updating database </vt:lpstr>
      <vt:lpstr>Better approach- paging with regular commits</vt:lpstr>
      <vt:lpstr>Paging with modifications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Gosu Bundles</dc:title>
  <dc:subject>Guidewire 8.0 Application Integration Gosu Bundles</dc:subject>
  <dc:creator>Seth Luersen</dc:creator>
  <cp:keywords>Emerald; Integration; 8.0.1</cp:keywords>
  <cp:lastModifiedBy>G, Manoj (Cognizant)</cp:lastModifiedBy>
  <cp:revision>405</cp:revision>
  <dcterms:created xsi:type="dcterms:W3CDTF">2013-08-19T16:16:51Z</dcterms:created>
  <dcterms:modified xsi:type="dcterms:W3CDTF">2020-12-31T11:40:12Z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