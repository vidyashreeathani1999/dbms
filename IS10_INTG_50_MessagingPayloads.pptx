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26"/>
  </p:notesMasterIdLst>
  <p:handoutMasterIdLst>
    <p:handoutMasterId r:id="rId27"/>
  </p:handoutMasterIdLst>
  <p:sldIdLst>
    <p:sldId id="298" r:id="rId5"/>
    <p:sldId id="299" r:id="rId6"/>
    <p:sldId id="260" r:id="rId7"/>
    <p:sldId id="265" r:id="rId8"/>
    <p:sldId id="268" r:id="rId9"/>
    <p:sldId id="263" r:id="rId10"/>
    <p:sldId id="296" r:id="rId11"/>
    <p:sldId id="271" r:id="rId12"/>
    <p:sldId id="272" r:id="rId13"/>
    <p:sldId id="274" r:id="rId14"/>
    <p:sldId id="273" r:id="rId15"/>
    <p:sldId id="275" r:id="rId16"/>
    <p:sldId id="276" r:id="rId17"/>
    <p:sldId id="297" r:id="rId18"/>
    <p:sldId id="306" r:id="rId19"/>
    <p:sldId id="307" r:id="rId20"/>
    <p:sldId id="303" r:id="rId21"/>
    <p:sldId id="304" r:id="rId22"/>
    <p:sldId id="259" r:id="rId23"/>
    <p:sldId id="261" r:id="rId24"/>
    <p:sldId id="30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93901C5-D0A5-4770-81BC-94A7D3D12928}">
          <p14:sldIdLst>
            <p14:sldId id="298"/>
            <p14:sldId id="299"/>
          </p14:sldIdLst>
        </p14:section>
        <p14:section name="Message payload" id="{8B92C6BE-4FD3-4567-B05C-340375973F49}">
          <p14:sldIdLst>
            <p14:sldId id="260"/>
            <p14:sldId id="265"/>
            <p14:sldId id="268"/>
          </p14:sldIdLst>
        </p14:section>
        <p14:section name="Gosu template" id="{35464B94-1A7C-407E-8569-30AB1F3028B8}">
          <p14:sldIdLst>
            <p14:sldId id="263"/>
            <p14:sldId id="296"/>
            <p14:sldId id="271"/>
            <p14:sldId id="272"/>
            <p14:sldId id="274"/>
            <p14:sldId id="273"/>
            <p14:sldId id="275"/>
            <p14:sldId id="276"/>
            <p14:sldId id="297"/>
            <p14:sldId id="306"/>
            <p14:sldId id="307"/>
            <p14:sldId id="303"/>
            <p14:sldId id="304"/>
          </p14:sldIdLst>
        </p14:section>
        <p14:section name="Review" id="{9A6E5A00-7050-43F0-A3C4-65318AF3F559}">
          <p14:sldIdLst>
            <p14:sldId id="259"/>
            <p14:sldId id="261"/>
            <p14:sldId id="302"/>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9" clrIdx="0"/>
  <p:cmAuthor id="1" name="Guidewire Education" initials="sluersen"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A8E5BD-7EEA-4FC1-9BC4-5213F49109C0}" v="120" dt="2020-12-24T08:04:45.568"/>
    <p1510:client id="{5EC3DE02-7E4C-4C06-8951-05650E254D4C}" v="1" dt="2020-12-30T11:54:11.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97" autoAdjust="0"/>
    <p:restoredTop sz="61387" autoAdjust="0"/>
  </p:normalViewPr>
  <p:slideViewPr>
    <p:cSldViewPr showGuides="1">
      <p:cViewPr varScale="1">
        <p:scale>
          <a:sx n="42" d="100"/>
          <a:sy n="42" d="100"/>
        </p:scale>
        <p:origin x="1836" y="40"/>
      </p:cViewPr>
      <p:guideLst>
        <p:guide orient="horz"/>
        <p:guide/>
      </p:guideLst>
    </p:cSldViewPr>
  </p:slideViewPr>
  <p:outlineViewPr>
    <p:cViewPr>
      <p:scale>
        <a:sx n="33" d="100"/>
        <a:sy n="33" d="100"/>
      </p:scale>
      <p:origin x="0" y="-330"/>
    </p:cViewPr>
  </p:outlineViewPr>
  <p:notesTextViewPr>
    <p:cViewPr>
      <p:scale>
        <a:sx n="200" d="100"/>
        <a:sy n="200" d="100"/>
      </p:scale>
      <p:origin x="0" y="0"/>
    </p:cViewPr>
  </p:notesTextViewPr>
  <p:sorterViewPr>
    <p:cViewPr>
      <p:scale>
        <a:sx n="100" d="100"/>
        <a:sy n="100" d="100"/>
      </p:scale>
      <p:origin x="0" y="0"/>
    </p:cViewPr>
  </p:sorterViewPr>
  <p:notesViewPr>
    <p:cSldViewPr showGuides="1">
      <p:cViewPr varScale="1">
        <p:scale>
          <a:sx n="102" d="100"/>
          <a:sy n="102" d="100"/>
        </p:scale>
        <p:origin x="-342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yyadiyilsahadevan, Anoop (Cognizant)" userId="S::419183@cognizant.com::8c404ecf-14f2-4a93-b2ed-b27452a8597f" providerId="AD" clId="Web-{5EC3DE02-7E4C-4C06-8951-05650E254D4C}"/>
    <pc:docChg chg="delSld modSection">
      <pc:chgData name="Neyyadiyilsahadevan, Anoop (Cognizant)" userId="S::419183@cognizant.com::8c404ecf-14f2-4a93-b2ed-b27452a8597f" providerId="AD" clId="Web-{5EC3DE02-7E4C-4C06-8951-05650E254D4C}" dt="2020-12-30T11:54:11.717" v="0"/>
      <pc:docMkLst>
        <pc:docMk/>
      </pc:docMkLst>
      <pc:sldChg chg="del">
        <pc:chgData name="Neyyadiyilsahadevan, Anoop (Cognizant)" userId="S::419183@cognizant.com::8c404ecf-14f2-4a93-b2ed-b27452a8597f" providerId="AD" clId="Web-{5EC3DE02-7E4C-4C06-8951-05650E254D4C}" dt="2020-12-30T11:54:11.717" v="0"/>
        <pc:sldMkLst>
          <pc:docMk/>
          <pc:sldMk cId="1782835168" sldId="305"/>
        </pc:sldMkLst>
      </pc:sldChg>
    </pc:docChg>
  </pc:docChgLst>
  <pc:docChgLst>
    <pc:chgData name="Kanagavel, Saravanan (Cognizant)" userId="S::241962@cognizant.com::d0c3f32b-5ee3-422c-96ca-cc104dbd3e95" providerId="AD" clId="Web-{40A8E5BD-7EEA-4FC1-9BC4-5213F49109C0}"/>
    <pc:docChg chg="modSld">
      <pc:chgData name="Kanagavel, Saravanan (Cognizant)" userId="S::241962@cognizant.com::d0c3f32b-5ee3-422c-96ca-cc104dbd3e95" providerId="AD" clId="Web-{40A8E5BD-7EEA-4FC1-9BC4-5213F49109C0}" dt="2020-12-24T08:04:45.567" v="119" actId="20577"/>
      <pc:docMkLst>
        <pc:docMk/>
      </pc:docMkLst>
      <pc:sldChg chg="modSp">
        <pc:chgData name="Kanagavel, Saravanan (Cognizant)" userId="S::241962@cognizant.com::d0c3f32b-5ee3-422c-96ca-cc104dbd3e95" providerId="AD" clId="Web-{40A8E5BD-7EEA-4FC1-9BC4-5213F49109C0}" dt="2020-12-24T08:04:45.567" v="119" actId="20577"/>
        <pc:sldMkLst>
          <pc:docMk/>
          <pc:sldMk cId="1571139134" sldId="307"/>
        </pc:sldMkLst>
        <pc:spChg chg="mod">
          <ac:chgData name="Kanagavel, Saravanan (Cognizant)" userId="S::241962@cognizant.com::d0c3f32b-5ee3-422c-96ca-cc104dbd3e95" providerId="AD" clId="Web-{40A8E5BD-7EEA-4FC1-9BC4-5213F49109C0}" dt="2020-12-24T08:04:45.567" v="119" actId="20577"/>
          <ac:spMkLst>
            <pc:docMk/>
            <pc:sldMk cId="1571139134" sldId="307"/>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12/30/2020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2001-2014.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499144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message payload contains static and/or</a:t>
            </a:r>
            <a:r>
              <a:rPr lang="en-US" baseline="0" dirty="0"/>
              <a:t> </a:t>
            </a:r>
            <a:r>
              <a:rPr lang="en-US" dirty="0"/>
              <a:t>dynamically generated data. For example, the payload for bank account message might contain the bank name, routing number, and account number of the given bank account as comma-separated values. The specific values for the bank name, routing number, and account number must be generated dynamically for each bank account message.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1651055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Gosu template and XML models</a:t>
            </a:r>
            <a:r>
              <a:rPr lang="en-US" baseline="0" dirty="0"/>
              <a:t> are not the only ways for generating a message payload, but they are commonly used. Likewise, message payload generation is not purpose of a Gosu template or XML model.</a:t>
            </a:r>
          </a:p>
          <a:p>
            <a:endParaRPr lang="en-US" dirty="0"/>
          </a:p>
          <a:p>
            <a:r>
              <a:rPr lang="en-US" dirty="0"/>
              <a:t>Other features that can be used to generate payloads include:</a:t>
            </a:r>
          </a:p>
          <a:p>
            <a:pPr marL="171450" indent="-171450">
              <a:buFont typeface="Arial" pitchFamily="34" charset="0"/>
              <a:buChar char="•"/>
            </a:pPr>
            <a:r>
              <a:rPr lang="en-US" dirty="0"/>
              <a:t>Manually creating untyped XML using the XmlElement class (as discussed in the "Gosu and XML" lesson)</a:t>
            </a:r>
          </a:p>
          <a:p>
            <a:pPr marL="171450" indent="-171450">
              <a:buFont typeface="Arial" pitchFamily="34" charset="0"/>
              <a:buChar char="•"/>
            </a:pPr>
            <a:r>
              <a:rPr lang="en-US" dirty="0"/>
              <a:t>Manually creating strongly typed XML from an XSD type (as discussed in the "Gosu and XML" lesson)</a:t>
            </a:r>
          </a:p>
          <a:p>
            <a:pPr marL="171450" indent="-171450">
              <a:buFont typeface="Arial" pitchFamily="34" charset="0"/>
              <a:buChar char="•"/>
            </a:pPr>
            <a:r>
              <a:rPr lang="en-US" dirty="0"/>
              <a:t>Gosu string templates (as discussed in the notes in the "Gosu templates" section of this lesson)</a:t>
            </a:r>
          </a:p>
          <a:p>
            <a:pPr marL="171450" indent="-171450">
              <a:buFont typeface="Arial" pitchFamily="34" charset="0"/>
              <a:buChar char="•"/>
            </a:pPr>
            <a:r>
              <a:rPr lang="en-US" dirty="0"/>
              <a:t>Any logic that creates a string suitable for use as a payload.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131498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Gosu</a:t>
            </a:r>
            <a:r>
              <a:rPr lang="en-US" baseline="0" dirty="0"/>
              <a:t> includes a native template system. Templates are text with embedded Gosu code within a larger block of text. The embedded Gosu code optionally can calculate a value and export the results as text in the location the code appears in the template text.</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3078612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There are two</a:t>
            </a:r>
            <a:r>
              <a:rPr lang="en-US" baseline="0" dirty="0"/>
              <a:t> mechanisms to use Gosu Templates: template syntax inside text literals and separate template files. The simplest way to use to templates is to embed Gosu expressions that evaluate at run time and generate text in the place of embedded Gosu expressions.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3845376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At the top of the template, create a parameter definition with the following syntax:&lt;%@ params (paramList)%&gt;.  Just like a standard Gosu function, it is possible to define one or more parameters. Parameters can be of any type an in the form of “name : type”.  Parameters are comma delimited.  Later in the template, it is possible to evaluate the parameter objects. </a:t>
            </a:r>
          </a:p>
          <a:p>
            <a:endParaRPr lang="en-US" dirty="0"/>
          </a:p>
          <a:p>
            <a:r>
              <a:rPr lang="en-US" dirty="0"/>
              <a:t>You can use template expression syntax (${ and }) to evaluate parameters. Template expression syntax returns a result and generates additional text. You can use template scriptlet syntax (&lt;% and %&gt;) to evaluate or reference parameters. Scriptlet syntax only executes Gosu statements.</a:t>
            </a:r>
          </a:p>
          <a:p>
            <a:endParaRPr lang="en-US" dirty="0"/>
          </a:p>
          <a:p>
            <a:r>
              <a:rPr lang="en-US" dirty="0"/>
              <a:t>Except for the line that specifies input parameters, any white space in a template is reflected in the template output.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1658076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dirty="0"/>
              <a:t>There are two forms of template expression syntax for rendering dynamic text: ${…}, &lt;%=…%&gt;.</a:t>
            </a:r>
          </a:p>
          <a:p>
            <a:pPr eaLnBrk="1" hangingPunct="1"/>
            <a:endParaRPr lang="en-US" dirty="0"/>
          </a:p>
          <a:p>
            <a:pPr eaLnBrk="1" hangingPunct="1"/>
            <a:r>
              <a:rPr lang="en-US" dirty="0"/>
              <a:t>${ value to Render } is the preferred syntax. &lt;%= valueToRender %&gt; is an alternative syntax. There is no advantage to using one syntax over the other. For the sake of simplicity, this lesson uses the first syntax exclusively.</a:t>
            </a:r>
          </a:p>
          <a:p>
            <a:pPr eaLnBrk="1" hangingPunct="1"/>
            <a:endParaRPr lang="en-US" dirty="0"/>
          </a:p>
          <a:p>
            <a:pPr eaLnBrk="1" hangingPunct="1"/>
            <a:r>
              <a:rPr lang="en-US" dirty="0"/>
              <a:t>Gosu runs your template expression syntax at run time. At compile time, Gosu uses the built-in type checking system to ensure the embedded expression is valid and type safe. For instance, if the expression does not return a value of type String, Gosu attempts to coerce the result to the type String.</a:t>
            </a:r>
          </a:p>
          <a:p>
            <a:pPr eaLnBrk="1" hangingPunct="1"/>
            <a:endParaRPr lang="en-US" dirty="0"/>
          </a:p>
          <a:p>
            <a:r>
              <a:rPr lang="en-US" dirty="0"/>
              <a:t>You can also use template expression syntax to embed a Gosu expression in String literals (as opposed to having the template text stored in a separate .gst file). This can be useful if there is a relatively short but complex dynamic string that needs to be generated in a method or business rule where having the template in a separate file is less practical. For example, if an Event Fired rule needs to send only a public ID and the number of evaluations, then it might be preferable to write the Event Fired rule like this: </a:t>
            </a:r>
          </a:p>
          <a:p>
            <a:endParaRPr lang="en-US" dirty="0"/>
          </a:p>
          <a:p>
            <a:r>
              <a:rPr lang="en-US" dirty="0">
                <a:latin typeface="Courier New" pitchFamily="49" charset="0"/>
                <a:cs typeface="Courier New" pitchFamily="49" charset="0"/>
              </a:rPr>
              <a:t>msg = messageContext.createMessage(</a:t>
            </a:r>
            <a:br>
              <a:rPr lang="en-US" dirty="0">
                <a:latin typeface="Courier New" pitchFamily="49" charset="0"/>
                <a:cs typeface="Courier New" pitchFamily="49" charset="0"/>
              </a:rPr>
            </a:br>
            <a:r>
              <a:rPr lang="en-US" dirty="0">
                <a:latin typeface="Courier New" pitchFamily="49" charset="0"/>
                <a:cs typeface="Courier New" pitchFamily="49" charset="0"/>
              </a:rPr>
              <a:t>publicID,${anABcontact.PublicID}\nNumOfEvals,${anABcontact.VendorEvaluations.length})</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1658076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dirty="0"/>
              <a:t>Text enclosed within &lt;% and %&gt; evaluate as Gosu at run-time and are referred</a:t>
            </a:r>
            <a:r>
              <a:rPr lang="en-US" baseline="0" dirty="0"/>
              <a:t> to as </a:t>
            </a:r>
            <a:r>
              <a:rPr lang="en-US" dirty="0"/>
              <a:t>scriptlet tags.  Unlike the alternative</a:t>
            </a:r>
            <a:r>
              <a:rPr lang="en-US" baseline="0" dirty="0"/>
              <a:t> expression syntax, there is no </a:t>
            </a:r>
            <a:r>
              <a:rPr lang="en-US" dirty="0"/>
              <a:t>equals sign in the opening tag.  </a:t>
            </a:r>
          </a:p>
          <a:p>
            <a:pPr eaLnBrk="1" hangingPunct="1"/>
            <a:endParaRPr lang="en-US" dirty="0"/>
          </a:p>
          <a:p>
            <a:pPr eaLnBrk="1" hangingPunct="1"/>
            <a:r>
              <a:rPr lang="en-US" dirty="0"/>
              <a:t>The parser evaluates the scriptlet tags in the order that the appear.  Scriptlet tags do not generate template output. All plain text between scriptlet tags generates output within the scope and the logic of the scriptlet code.  Use this feature to write advanced logic that uses Gosu code that you spread across multiple scriptlet tags. The scope of the Gosu continues across scriptlet tags. </a:t>
            </a:r>
          </a:p>
          <a:p>
            <a:endParaRPr lang="en-US" dirty="0"/>
          </a:p>
          <a:p>
            <a:r>
              <a:rPr lang="en-US" dirty="0"/>
              <a:t>In the sample code,</a:t>
            </a:r>
            <a:r>
              <a:rPr lang="en-US" baseline="0" dirty="0"/>
              <a:t> you can observe how the sricptlet functions to add an extra name-value pair to the output when the BankAccount AccountType equals savings.</a:t>
            </a:r>
          </a:p>
          <a:p>
            <a:endParaRPr lang="en-US" dirty="0"/>
          </a:p>
          <a:p>
            <a:r>
              <a:rPr lang="en-US" dirty="0"/>
              <a:t>Acme has a business requirement which states that, when verifying savings accounts, the age of the message must be submitted. Because the age of the message cannot be determined when the message is created, the Gosu template adds a placeholder for late binding: &lt;@@ageOfMessageInSeconds@@&gt;.  The</a:t>
            </a:r>
            <a:r>
              <a:rPr lang="en-US" baseline="0" dirty="0"/>
              <a:t> name-value pair conveys to the </a:t>
            </a:r>
            <a:r>
              <a:rPr lang="en-US" dirty="0"/>
              <a:t>external system the age of the message</a:t>
            </a:r>
            <a:r>
              <a:rPr lang="en-US" baseline="0" dirty="0"/>
              <a:t>, but only for </a:t>
            </a:r>
            <a:r>
              <a:rPr lang="en-US" dirty="0"/>
              <a:t>savings accounts. </a:t>
            </a:r>
          </a:p>
          <a:p>
            <a:endParaRPr lang="en-US" dirty="0"/>
          </a:p>
          <a:p>
            <a:r>
              <a:rPr lang="en-US" dirty="0"/>
              <a:t>The Sending Messages lesson</a:t>
            </a:r>
            <a:r>
              <a:rPr lang="en-US" baseline="0" dirty="0"/>
              <a:t> discusses late binding in more detail.</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1658076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template is a first-class object in the Gosu type system within its package namespace. Technically, templates are not instantiated as objects.  To run a template, reference your template and call the static renderToString() method of the template, and if required, pass any required parameters.</a:t>
            </a:r>
          </a:p>
          <a:p>
            <a:endParaRPr lang="en-US" dirty="0"/>
          </a:p>
          <a:p>
            <a:r>
              <a:rPr lang="en-US" dirty="0"/>
              <a:t>If you first reference a template in a “uses” statement, as in the example above, you do not need to use a fully qualified name later on.  Otherwise, the template must be referenced using a fully qualified name, e.g., acme.ta.messaging.bank.BankAccountDataTemplate.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2151300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example above shows the triggering entity in the user interface for</a:t>
            </a:r>
            <a:r>
              <a:rPr lang="en-US" baseline="0" dirty="0"/>
              <a:t> </a:t>
            </a:r>
            <a:r>
              <a:rPr lang="en-US" dirty="0"/>
              <a:t>a bank account for William</a:t>
            </a:r>
            <a:r>
              <a:rPr lang="en-US" baseline="0" dirty="0"/>
              <a:t> Andy who</a:t>
            </a:r>
            <a:r>
              <a:rPr lang="en-US" dirty="0"/>
              <a:t>se public ID is ab:5. </a:t>
            </a:r>
          </a:p>
          <a:p>
            <a:endParaRPr lang="en-US" dirty="0"/>
          </a:p>
          <a:p>
            <a:r>
              <a:rPr lang="en-US" dirty="0"/>
              <a:t>The Event Fired Rules determine</a:t>
            </a:r>
            <a:r>
              <a:rPr lang="en-US" baseline="0" dirty="0"/>
              <a:t> that the message payload requires an </a:t>
            </a:r>
            <a:r>
              <a:rPr lang="en-US" dirty="0"/>
              <a:t>Gosu</a:t>
            </a:r>
            <a:r>
              <a:rPr lang="en-US" baseline="0" dirty="0"/>
              <a:t> Template </a:t>
            </a:r>
            <a:r>
              <a:rPr lang="en-US" dirty="0"/>
              <a:t>because the Account Type is Checking or Savings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2383366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You can r</a:t>
            </a:r>
            <a:r>
              <a:rPr lang="en-US" dirty="0"/>
              <a:t>estart the server from Studio by stopping a running server (debug mode is ok)</a:t>
            </a:r>
            <a:r>
              <a:rPr lang="en-US" baseline="0" dirty="0"/>
              <a:t> </a:t>
            </a:r>
            <a:r>
              <a:rPr lang="en-US" dirty="0"/>
              <a:t>and after</a:t>
            </a:r>
            <a:r>
              <a:rPr lang="en-US" baseline="0" dirty="0"/>
              <a:t> the server stops, then </a:t>
            </a:r>
            <a:r>
              <a:rPr lang="en-US" dirty="0"/>
              <a:t>running the server</a:t>
            </a:r>
            <a:r>
              <a:rPr lang="en-US" baseline="0" dirty="0"/>
              <a:t> again in either Run or Debug mode.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42122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64517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15487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91896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Answers</a:t>
            </a:r>
          </a:p>
          <a:p>
            <a:r>
              <a:rPr lang="en-US" dirty="0"/>
              <a:t>1) True.</a:t>
            </a:r>
          </a:p>
          <a:p>
            <a:r>
              <a:rPr lang="en-US" dirty="0"/>
              <a:t>2) True.</a:t>
            </a:r>
          </a:p>
          <a:p>
            <a:r>
              <a:rPr lang="en-US" dirty="0"/>
              <a:t>3) Both. Gosu templates can do this either by having the related objects passed to it or by having the triggering object passed to it and using its foreign keys to navigate to the related objects. XML models can do this by including fields from the related objects.</a:t>
            </a:r>
          </a:p>
          <a:p>
            <a:r>
              <a:rPr lang="en-US" dirty="0"/>
              <a:t>4) False – Gosu</a:t>
            </a:r>
            <a:r>
              <a:rPr lang="en-US" baseline="0" dirty="0"/>
              <a:t> Templates can be anywhere</a:t>
            </a:r>
            <a:r>
              <a:rPr lang="en-US" dirty="0"/>
              <a: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26070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402"/>
            <a:ext cx="5444067"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3368468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4387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2492022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2001-2014. All 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grpSp>
      <p:pic>
        <p:nvPicPr>
          <p:cNvPr id="1031" name="pic Logo Text" descr="guidewire.png"/>
          <p:cNvPicPr>
            <a:picLocks noChangeAspect="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7" r:id="rId2"/>
    <p:sldLayoutId id="2147483768" r:id="rId3"/>
    <p:sldLayoutId id="2147483771" r:id="rId4"/>
    <p:sldLayoutId id="2147483779" r:id="rId5"/>
    <p:sldLayoutId id="2147483793" r:id="rId6"/>
    <p:sldLayoutId id="2147483794" r:id="rId7"/>
    <p:sldLayoutId id="2147483799" r:id="rId8"/>
    <p:sldLayoutId id="2147483800" r:id="rId9"/>
    <p:sldLayoutId id="2147483801" r:id="rId10"/>
    <p:sldLayoutId id="2147483804" r:id="rId11"/>
    <p:sldLayoutId id="2147483806" r:id="rId12"/>
    <p:sldLayoutId id="2147483807" r:id="rId13"/>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png"/><Relationship Id="rId7"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7.emf"/><Relationship Id="rId5" Type="http://schemas.openxmlformats.org/officeDocument/2006/relationships/image" Target="../media/image5.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a:solidFill>
                  <a:srgbClr val="04628C"/>
                </a:solidFill>
              </a:rPr>
              <a:t>InsuranceSuite 10 Integration</a:t>
            </a: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a:solidFill>
                  <a:srgbClr val="00B0F0"/>
                </a:solidFill>
              </a:rPr>
              <a:t>Messaging Payloads</a:t>
            </a:r>
            <a:endParaRPr lang="en-US" sz="2400" b="0" dirty="0">
              <a:solidFill>
                <a:srgbClr val="00B0F0"/>
              </a:solidFill>
              <a:ea typeface="+mn-ea"/>
            </a:endParaRPr>
          </a:p>
        </p:txBody>
      </p:sp>
    </p:spTree>
    <p:extLst>
      <p:ext uri="{BB962C8B-B14F-4D97-AF65-F5344CB8AC3E}">
        <p14:creationId xmlns:p14="http://schemas.microsoft.com/office/powerpoint/2010/main" val="1286283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role that message payloads play in messaging</a:t>
            </a:r>
          </a:p>
          <a:p>
            <a:pPr lvl="1"/>
            <a:r>
              <a:rPr lang="en-US" dirty="0"/>
              <a:t>Use Gosu templates to generate message payloads (for any type of text format)</a:t>
            </a:r>
          </a:p>
          <a:p>
            <a:pPr lvl="1"/>
            <a:endParaRPr lang="en-US" dirty="0"/>
          </a:p>
          <a:p>
            <a:pPr lvl="1"/>
            <a:endParaRPr lang="en-US" dirty="0"/>
          </a:p>
        </p:txBody>
      </p:sp>
    </p:spTree>
    <p:extLst>
      <p:ext uri="{BB962C8B-B14F-4D97-AF65-F5344CB8AC3E}">
        <p14:creationId xmlns:p14="http://schemas.microsoft.com/office/powerpoint/2010/main" val="225119541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fr-FR" dirty="0">
                <a:solidFill>
                  <a:schemeClr val="bg1"/>
                </a:solidFill>
              </a:rPr>
              <a:t>Message payloads</a:t>
            </a:r>
          </a:p>
          <a:p>
            <a:r>
              <a:rPr lang="fr-FR" dirty="0"/>
              <a:t>Gosu templates</a:t>
            </a:r>
          </a:p>
          <a:p>
            <a:pPr marL="0" indent="0">
              <a:buNone/>
            </a:pPr>
            <a:endParaRPr lang="en-US" dirty="0"/>
          </a:p>
        </p:txBody>
      </p:sp>
      <p:sp>
        <p:nvSpPr>
          <p:cNvPr id="4" name="Title 2"/>
          <p:cNvSpPr txBox="1">
            <a:spLocks/>
          </p:cNvSpPr>
          <p:nvPr/>
        </p:nvSpPr>
        <p:spPr>
          <a:xfrm>
            <a:off x="658368" y="118873"/>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t>Lesson Outline</a:t>
            </a:r>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3" name="icn Rule S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2334" y="3352800"/>
            <a:ext cx="1107466" cy="999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a:spLocks noGrp="1"/>
          </p:cNvSpPr>
          <p:nvPr>
            <p:ph type="title"/>
          </p:nvPr>
        </p:nvSpPr>
        <p:spPr/>
        <p:txBody>
          <a:bodyPr/>
          <a:lstStyle/>
          <a:p>
            <a:r>
              <a:rPr lang="en-US" dirty="0"/>
              <a:t>Message payload</a:t>
            </a:r>
          </a:p>
        </p:txBody>
      </p:sp>
      <p:sp>
        <p:nvSpPr>
          <p:cNvPr id="4" name="Content Placeholder 3"/>
          <p:cNvSpPr>
            <a:spLocks noGrp="1"/>
          </p:cNvSpPr>
          <p:nvPr>
            <p:ph idx="1"/>
          </p:nvPr>
        </p:nvSpPr>
        <p:spPr/>
        <p:txBody>
          <a:bodyPr/>
          <a:lstStyle/>
          <a:p>
            <a:r>
              <a:rPr lang="en-US" dirty="0"/>
              <a:t>A </a:t>
            </a:r>
            <a:r>
              <a:rPr lang="en-US" b="1" dirty="0"/>
              <a:t>message payload </a:t>
            </a:r>
            <a:r>
              <a:rPr lang="en-US" dirty="0"/>
              <a:t>is data generated in Event Fired rules that is sent to the external system</a:t>
            </a:r>
          </a:p>
          <a:p>
            <a:r>
              <a:rPr lang="en-US" dirty="0"/>
              <a:t>The payload typically:</a:t>
            </a:r>
          </a:p>
          <a:p>
            <a:pPr lvl="1"/>
            <a:r>
              <a:rPr lang="en-US" dirty="0"/>
              <a:t>Contains dynamically generated data</a:t>
            </a:r>
          </a:p>
          <a:p>
            <a:pPr lvl="1"/>
            <a:r>
              <a:rPr lang="en-US" dirty="0"/>
              <a:t>Is formatted based on the needs of the external system</a:t>
            </a:r>
          </a:p>
          <a:p>
            <a:endParaRPr lang="en-US" dirty="0"/>
          </a:p>
        </p:txBody>
      </p:sp>
      <p:sp>
        <p:nvSpPr>
          <p:cNvPr id="5" name="Rectangle 101"/>
          <p:cNvSpPr>
            <a:spLocks noChangeArrowheads="1"/>
          </p:cNvSpPr>
          <p:nvPr/>
        </p:nvSpPr>
        <p:spPr bwMode="auto">
          <a:xfrm>
            <a:off x="6096000" y="5221299"/>
            <a:ext cx="2590800" cy="276999"/>
          </a:xfrm>
          <a:prstGeom prst="rect">
            <a:avLst/>
          </a:prstGeom>
          <a:noFill/>
          <a:ln w="28575" algn="ctr">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6" name="Rectangle 85"/>
          <p:cNvSpPr>
            <a:spLocks noChangeArrowheads="1"/>
          </p:cNvSpPr>
          <p:nvPr/>
        </p:nvSpPr>
        <p:spPr bwMode="auto">
          <a:xfrm>
            <a:off x="4122328" y="5217987"/>
            <a:ext cx="1828800" cy="276999"/>
          </a:xfrm>
          <a:prstGeom prst="rect">
            <a:avLst/>
          </a:prstGeom>
          <a:noFill/>
          <a:ln w="28575" algn="ctr">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sp>
        <p:nvSpPr>
          <p:cNvPr id="7" name="Line 2"/>
          <p:cNvSpPr>
            <a:spLocks noChangeShapeType="1"/>
          </p:cNvSpPr>
          <p:nvPr/>
        </p:nvSpPr>
        <p:spPr bwMode="auto">
          <a:xfrm>
            <a:off x="5613400" y="5297251"/>
            <a:ext cx="3281362"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8" name="Text Box 4"/>
          <p:cNvSpPr txBox="1">
            <a:spLocks noChangeArrowheads="1"/>
          </p:cNvSpPr>
          <p:nvPr/>
        </p:nvSpPr>
        <p:spPr bwMode="auto">
          <a:xfrm>
            <a:off x="7722010" y="3823734"/>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a:solidFill>
                  <a:schemeClr val="bg1"/>
                </a:solidFill>
              </a:rPr>
              <a:t>Event Fired Rules</a:t>
            </a:r>
          </a:p>
        </p:txBody>
      </p:sp>
      <p:sp>
        <p:nvSpPr>
          <p:cNvPr id="17" name="Text Box 13"/>
          <p:cNvSpPr txBox="1">
            <a:spLocks noChangeArrowheads="1"/>
          </p:cNvSpPr>
          <p:nvPr/>
        </p:nvSpPr>
        <p:spPr bwMode="auto">
          <a:xfrm>
            <a:off x="2133601" y="5554426"/>
            <a:ext cx="136048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EventAware</a:t>
            </a:r>
            <a:br>
              <a:rPr lang="en-US" sz="1600" dirty="0">
                <a:solidFill>
                  <a:schemeClr val="bg1"/>
                </a:solidFill>
              </a:rPr>
            </a:br>
            <a:r>
              <a:rPr lang="en-US" sz="1600" dirty="0">
                <a:solidFill>
                  <a:schemeClr val="bg1"/>
                </a:solidFill>
              </a:rPr>
              <a:t>entity</a:t>
            </a:r>
          </a:p>
        </p:txBody>
      </p:sp>
      <p:sp>
        <p:nvSpPr>
          <p:cNvPr id="18" name="Text Box 14"/>
          <p:cNvSpPr txBox="1">
            <a:spLocks noChangeArrowheads="1"/>
          </p:cNvSpPr>
          <p:nvPr/>
        </p:nvSpPr>
        <p:spPr bwMode="auto">
          <a:xfrm>
            <a:off x="4526448" y="5586176"/>
            <a:ext cx="95995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br>
              <a:rPr lang="en-US" sz="1600" dirty="0">
                <a:solidFill>
                  <a:schemeClr val="bg1"/>
                </a:solidFill>
              </a:rPr>
            </a:br>
            <a:r>
              <a:rPr lang="en-US" sz="1600" dirty="0">
                <a:solidFill>
                  <a:schemeClr val="bg1"/>
                </a:solidFill>
              </a:rPr>
              <a:t>context</a:t>
            </a:r>
          </a:p>
        </p:txBody>
      </p:sp>
      <p:sp>
        <p:nvSpPr>
          <p:cNvPr id="62" name="Line 75"/>
          <p:cNvSpPr>
            <a:spLocks noChangeShapeType="1"/>
          </p:cNvSpPr>
          <p:nvPr/>
        </p:nvSpPr>
        <p:spPr bwMode="auto">
          <a:xfrm>
            <a:off x="3127375" y="5275026"/>
            <a:ext cx="1308100"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3" name="Text Box 76"/>
          <p:cNvSpPr txBox="1">
            <a:spLocks noChangeArrowheads="1"/>
          </p:cNvSpPr>
          <p:nvPr/>
        </p:nvSpPr>
        <p:spPr bwMode="auto">
          <a:xfrm>
            <a:off x="2363708" y="4253252"/>
            <a:ext cx="1674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solidFill>
                  <a:schemeClr val="bg1"/>
                </a:solidFill>
              </a:rPr>
              <a:t>Entity Event</a:t>
            </a:r>
          </a:p>
        </p:txBody>
      </p:sp>
      <p:sp>
        <p:nvSpPr>
          <p:cNvPr id="64" name="Text Box 84"/>
          <p:cNvSpPr txBox="1">
            <a:spLocks noChangeArrowheads="1"/>
          </p:cNvSpPr>
          <p:nvPr/>
        </p:nvSpPr>
        <p:spPr bwMode="auto">
          <a:xfrm>
            <a:off x="7283109" y="5722011"/>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message</a:t>
            </a:r>
          </a:p>
        </p:txBody>
      </p:sp>
      <p:sp>
        <p:nvSpPr>
          <p:cNvPr id="70" name="Text Box 4"/>
          <p:cNvSpPr txBox="1">
            <a:spLocks noChangeArrowheads="1"/>
          </p:cNvSpPr>
          <p:nvPr/>
        </p:nvSpPr>
        <p:spPr bwMode="auto">
          <a:xfrm>
            <a:off x="5093499" y="4035712"/>
            <a:ext cx="117650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a:solidFill>
                  <a:schemeClr val="bg1"/>
                </a:solidFill>
              </a:rPr>
              <a:t>Destination</a:t>
            </a:r>
          </a:p>
        </p:txBody>
      </p:sp>
      <p:sp>
        <p:nvSpPr>
          <p:cNvPr id="72" name="Line 75"/>
          <p:cNvSpPr>
            <a:spLocks noChangeShapeType="1"/>
          </p:cNvSpPr>
          <p:nvPr/>
        </p:nvSpPr>
        <p:spPr bwMode="auto">
          <a:xfrm>
            <a:off x="7253414" y="4069955"/>
            <a:ext cx="0" cy="495694"/>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27" name="icn Msg Payload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4572000"/>
            <a:ext cx="838200" cy="533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5" name="Text Box 4"/>
          <p:cNvSpPr txBox="1">
            <a:spLocks noChangeArrowheads="1"/>
          </p:cNvSpPr>
          <p:nvPr/>
        </p:nvSpPr>
        <p:spPr bwMode="auto">
          <a:xfrm>
            <a:off x="6172201" y="4605094"/>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a:solidFill>
                  <a:schemeClr val="bg1"/>
                </a:solidFill>
              </a:rPr>
              <a:t>message payload</a:t>
            </a:r>
          </a:p>
        </p:txBody>
      </p:sp>
      <p:pic>
        <p:nvPicPr>
          <p:cNvPr id="74" name="icn Ms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2009" y="5173644"/>
            <a:ext cx="745588" cy="479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6" name="icn Entity EventAware"/>
          <p:cNvGrpSpPr/>
          <p:nvPr/>
        </p:nvGrpSpPr>
        <p:grpSpPr>
          <a:xfrm>
            <a:off x="2369454" y="4518647"/>
            <a:ext cx="991127" cy="1161320"/>
            <a:chOff x="2448995" y="2044222"/>
            <a:chExt cx="1532365" cy="1795498"/>
          </a:xfrm>
        </p:grpSpPr>
        <p:pic>
          <p:nvPicPr>
            <p:cNvPr id="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8" name="Group 77"/>
            <p:cNvGrpSpPr/>
            <p:nvPr/>
          </p:nvGrpSpPr>
          <p:grpSpPr>
            <a:xfrm>
              <a:off x="3298002" y="2109793"/>
              <a:ext cx="569146" cy="552157"/>
              <a:chOff x="8351520" y="2281418"/>
              <a:chExt cx="1021080" cy="990600"/>
            </a:xfrm>
          </p:grpSpPr>
          <p:sp>
            <p:nvSpPr>
              <p:cNvPr id="79" name="Arc 78"/>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
            <p:nvSpPr>
              <p:cNvPr id="80" name="Arc 79"/>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grpSp>
      </p:grpSp>
      <p:pic>
        <p:nvPicPr>
          <p:cNvPr id="82" name="icn Msg Contex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9086" y="4732880"/>
            <a:ext cx="967314" cy="9271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66" name="tbl XX_Msg"/>
          <p:cNvGraphicFramePr>
            <a:graphicFrameLocks noGrp="1"/>
          </p:cNvGraphicFramePr>
          <p:nvPr>
            <p:extLst>
              <p:ext uri="{D42A27DB-BD31-4B8C-83A1-F6EECF244321}">
                <p14:modId xmlns:p14="http://schemas.microsoft.com/office/powerpoint/2010/main" val="1106356158"/>
              </p:ext>
            </p:extLst>
          </p:nvPr>
        </p:nvGraphicFramePr>
        <p:xfrm>
          <a:off x="8839200" y="4648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dirty="0"/>
                        <a:t>xx_message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tc>
                <a:tc>
                  <a:txBody>
                    <a:bodyPr/>
                    <a:lstStyle/>
                    <a:p>
                      <a:endParaRPr lang="en-US" sz="800"/>
                    </a:p>
                  </a:txBody>
                  <a:tcPr/>
                </a:tc>
                <a:tc>
                  <a:txBody>
                    <a:bodyPr/>
                    <a:lstStyle/>
                    <a:p>
                      <a:endParaRPr lang="en-US" sz="800" dirty="0"/>
                    </a:p>
                  </a:txBody>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4"/>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5"/>
                  </a:ext>
                </a:extLst>
              </a:tr>
            </a:tbl>
          </a:graphicData>
        </a:graphic>
      </p:graphicFrame>
      <p:pic>
        <p:nvPicPr>
          <p:cNvPr id="67" name="icn Msg Destinati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45550" y="3352800"/>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72448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easy ways for generating payloads</a:t>
            </a:r>
          </a:p>
        </p:txBody>
      </p:sp>
      <p:sp>
        <p:nvSpPr>
          <p:cNvPr id="3" name="Content Placeholder 2"/>
          <p:cNvSpPr>
            <a:spLocks noGrp="1"/>
          </p:cNvSpPr>
          <p:nvPr>
            <p:ph sz="half" idx="1"/>
          </p:nvPr>
        </p:nvSpPr>
        <p:spPr/>
        <p:txBody>
          <a:bodyPr/>
          <a:lstStyle/>
          <a:p>
            <a:r>
              <a:rPr lang="en-US" dirty="0"/>
              <a:t>Gosu templates</a:t>
            </a:r>
          </a:p>
          <a:p>
            <a:pPr lvl="1"/>
            <a:r>
              <a:rPr lang="en-US" dirty="0"/>
              <a:t>Create formatted strings </a:t>
            </a:r>
            <a:br>
              <a:rPr lang="en-US" dirty="0"/>
            </a:br>
            <a:r>
              <a:rPr lang="en-US" dirty="0"/>
              <a:t>with entity data</a:t>
            </a:r>
          </a:p>
        </p:txBody>
      </p:sp>
      <p:sp>
        <p:nvSpPr>
          <p:cNvPr id="92" name="Content Placeholder 91"/>
          <p:cNvSpPr>
            <a:spLocks noGrp="1"/>
          </p:cNvSpPr>
          <p:nvPr>
            <p:ph sz="half" idx="2"/>
          </p:nvPr>
        </p:nvSpPr>
        <p:spPr/>
        <p:txBody>
          <a:bodyPr/>
          <a:lstStyle/>
          <a:p>
            <a:r>
              <a:rPr lang="en-US" dirty="0"/>
              <a:t>XML models</a:t>
            </a:r>
          </a:p>
          <a:p>
            <a:pPr lvl="1"/>
            <a:r>
              <a:rPr lang="en-US" dirty="0"/>
              <a:t>Strongly typed XML </a:t>
            </a:r>
            <a:br>
              <a:rPr lang="en-US" dirty="0"/>
            </a:br>
            <a:r>
              <a:rPr lang="en-US" dirty="0"/>
              <a:t>with XSD validation</a:t>
            </a:r>
          </a:p>
          <a:p>
            <a:pPr lvl="1"/>
            <a:r>
              <a:rPr lang="en-US" dirty="0"/>
              <a:t>Supports object graph</a:t>
            </a:r>
          </a:p>
          <a:p>
            <a:endParaRPr lang="en-US" dirty="0"/>
          </a:p>
        </p:txBody>
      </p:sp>
      <p:sp>
        <p:nvSpPr>
          <p:cNvPr id="95" name="Rectangle 101"/>
          <p:cNvSpPr>
            <a:spLocks noChangeArrowheads="1"/>
          </p:cNvSpPr>
          <p:nvPr/>
        </p:nvSpPr>
        <p:spPr bwMode="auto">
          <a:xfrm>
            <a:off x="6096000" y="5221299"/>
            <a:ext cx="2590800" cy="276999"/>
          </a:xfrm>
          <a:prstGeom prst="rect">
            <a:avLst/>
          </a:prstGeom>
          <a:noFill/>
          <a:ln w="28575" algn="ctr">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pic>
        <p:nvPicPr>
          <p:cNvPr id="117" name="icn Msg Pay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7664" y="3592277"/>
            <a:ext cx="1276083" cy="81205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8" name="Text Box 4"/>
          <p:cNvSpPr txBox="1">
            <a:spLocks noChangeArrowheads="1"/>
          </p:cNvSpPr>
          <p:nvPr/>
        </p:nvSpPr>
        <p:spPr bwMode="auto">
          <a:xfrm>
            <a:off x="2323376" y="3561905"/>
            <a:ext cx="94984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Gosu Template</a:t>
            </a:r>
          </a:p>
        </p:txBody>
      </p:sp>
      <p:sp>
        <p:nvSpPr>
          <p:cNvPr id="119" name="Text Box 4"/>
          <p:cNvSpPr txBox="1">
            <a:spLocks noChangeArrowheads="1"/>
          </p:cNvSpPr>
          <p:nvPr/>
        </p:nvSpPr>
        <p:spPr bwMode="auto">
          <a:xfrm>
            <a:off x="2323376" y="5925980"/>
            <a:ext cx="80806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a:solidFill>
                  <a:schemeClr val="bg1"/>
                </a:solidFill>
              </a:rPr>
              <a:t>XML </a:t>
            </a:r>
            <a:br>
              <a:rPr lang="en-US" sz="1600" dirty="0">
                <a:solidFill>
                  <a:schemeClr val="bg1"/>
                </a:solidFill>
              </a:rPr>
            </a:br>
            <a:r>
              <a:rPr lang="en-US" sz="1600" dirty="0">
                <a:solidFill>
                  <a:schemeClr val="bg1"/>
                </a:solidFill>
              </a:rPr>
              <a:t>model</a:t>
            </a:r>
          </a:p>
        </p:txBody>
      </p:sp>
      <p:sp>
        <p:nvSpPr>
          <p:cNvPr id="120" name="Text Box 4"/>
          <p:cNvSpPr txBox="1">
            <a:spLocks noChangeArrowheads="1"/>
          </p:cNvSpPr>
          <p:nvPr/>
        </p:nvSpPr>
        <p:spPr bwMode="auto">
          <a:xfrm>
            <a:off x="4265623" y="4449335"/>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a:solidFill>
                  <a:schemeClr val="bg1"/>
                </a:solidFill>
              </a:rPr>
              <a:t>message payload</a:t>
            </a:r>
          </a:p>
        </p:txBody>
      </p:sp>
      <p:cxnSp>
        <p:nvCxnSpPr>
          <p:cNvPr id="125" name="Elbow Connector 124"/>
          <p:cNvCxnSpPr/>
          <p:nvPr/>
        </p:nvCxnSpPr>
        <p:spPr bwMode="auto">
          <a:xfrm flipV="1">
            <a:off x="3273220" y="4547158"/>
            <a:ext cx="871538" cy="627742"/>
          </a:xfrm>
          <a:prstGeom prst="bentConnector3">
            <a:avLst>
              <a:gd name="adj1" fmla="val 50000"/>
            </a:avLst>
          </a:prstGeom>
          <a:noFill/>
          <a:ln w="28575">
            <a:solidFill>
              <a:schemeClr val="accent1"/>
            </a:solidFill>
            <a:prstDash val="sysDot"/>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29" name="Elbow Connector 128"/>
          <p:cNvCxnSpPr/>
          <p:nvPr/>
        </p:nvCxnSpPr>
        <p:spPr bwMode="auto">
          <a:xfrm>
            <a:off x="3276600" y="2925083"/>
            <a:ext cx="871538" cy="627742"/>
          </a:xfrm>
          <a:prstGeom prst="bentConnector3">
            <a:avLst>
              <a:gd name="adj1" fmla="val 50000"/>
            </a:avLst>
          </a:prstGeom>
          <a:noFill/>
          <a:ln w="28575">
            <a:solidFill>
              <a:schemeClr val="accent1"/>
            </a:solidFill>
            <a:prstDash val="sysDot"/>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72" name="Text Box 4"/>
          <p:cNvSpPr txBox="1">
            <a:spLocks noChangeArrowheads="1"/>
          </p:cNvSpPr>
          <p:nvPr/>
        </p:nvSpPr>
        <p:spPr bwMode="auto">
          <a:xfrm>
            <a:off x="7722010" y="3823734"/>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a:solidFill>
                  <a:schemeClr val="bg1"/>
                </a:solidFill>
              </a:rPr>
              <a:t>Event Fired Rules</a:t>
            </a:r>
          </a:p>
        </p:txBody>
      </p:sp>
      <p:sp>
        <p:nvSpPr>
          <p:cNvPr id="73" name="Text Box 84"/>
          <p:cNvSpPr txBox="1">
            <a:spLocks noChangeArrowheads="1"/>
          </p:cNvSpPr>
          <p:nvPr/>
        </p:nvSpPr>
        <p:spPr bwMode="auto">
          <a:xfrm>
            <a:off x="7283109" y="5722011"/>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sz="1600" dirty="0">
                <a:solidFill>
                  <a:schemeClr val="bg1"/>
                </a:solidFill>
              </a:rPr>
              <a:t>message</a:t>
            </a:r>
          </a:p>
        </p:txBody>
      </p:sp>
      <p:pic>
        <p:nvPicPr>
          <p:cNvPr id="74" name="icn Msg Payload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4572000"/>
            <a:ext cx="838200" cy="533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5" name="Text Box 4"/>
          <p:cNvSpPr txBox="1">
            <a:spLocks noChangeArrowheads="1"/>
          </p:cNvSpPr>
          <p:nvPr/>
        </p:nvSpPr>
        <p:spPr bwMode="auto">
          <a:xfrm>
            <a:off x="6172201" y="4605094"/>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a:solidFill>
                  <a:schemeClr val="bg1"/>
                </a:solidFill>
              </a:rPr>
              <a:t>message payload</a:t>
            </a:r>
          </a:p>
        </p:txBody>
      </p:sp>
      <p:pic>
        <p:nvPicPr>
          <p:cNvPr id="77" name="icn Ms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2009" y="5173644"/>
            <a:ext cx="745588" cy="479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icn XML Mode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3375" y="4572000"/>
            <a:ext cx="1018178" cy="1225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icn Gosu Templat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3376" y="2346710"/>
            <a:ext cx="1027129" cy="121519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1" name="tbl XX_Msg"/>
          <p:cNvGraphicFramePr>
            <a:graphicFrameLocks noGrp="1"/>
          </p:cNvGraphicFramePr>
          <p:nvPr>
            <p:extLst>
              <p:ext uri="{D42A27DB-BD31-4B8C-83A1-F6EECF244321}">
                <p14:modId xmlns:p14="http://schemas.microsoft.com/office/powerpoint/2010/main" val="2680846690"/>
              </p:ext>
            </p:extLst>
          </p:nvPr>
        </p:nvGraphicFramePr>
        <p:xfrm>
          <a:off x="8839200" y="4648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dirty="0"/>
                        <a:t>xx_message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tc>
                <a:tc>
                  <a:txBody>
                    <a:bodyPr/>
                    <a:lstStyle/>
                    <a:p>
                      <a:endParaRPr lang="en-US" sz="800"/>
                    </a:p>
                  </a:txBody>
                  <a:tcPr/>
                </a:tc>
                <a:tc>
                  <a:txBody>
                    <a:bodyPr/>
                    <a:lstStyle/>
                    <a:p>
                      <a:endParaRPr lang="en-US" sz="800" dirty="0"/>
                    </a:p>
                  </a:txBody>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4"/>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5"/>
                  </a:ext>
                </a:extLst>
              </a:tr>
            </a:tbl>
          </a:graphicData>
        </a:graphic>
      </p:graphicFrame>
      <p:pic>
        <p:nvPicPr>
          <p:cNvPr id="33" name="icn Rule Set"/>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72334" y="3352800"/>
            <a:ext cx="1107466" cy="999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Line 75"/>
          <p:cNvSpPr>
            <a:spLocks noChangeShapeType="1"/>
          </p:cNvSpPr>
          <p:nvPr/>
        </p:nvSpPr>
        <p:spPr bwMode="auto">
          <a:xfrm>
            <a:off x="7253414" y="4069955"/>
            <a:ext cx="0" cy="495694"/>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Tree>
    <p:extLst>
      <p:ext uri="{BB962C8B-B14F-4D97-AF65-F5344CB8AC3E}">
        <p14:creationId xmlns:p14="http://schemas.microsoft.com/office/powerpoint/2010/main" val="37847392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fr-FR" dirty="0"/>
              <a:t>Message payloads</a:t>
            </a:r>
          </a:p>
          <a:p>
            <a:r>
              <a:rPr lang="fr-FR" dirty="0">
                <a:solidFill>
                  <a:schemeClr val="bg1"/>
                </a:solidFill>
              </a:rPr>
              <a:t>Gosu templates</a:t>
            </a:r>
          </a:p>
          <a:p>
            <a:pPr marL="0" indent="0">
              <a:buNone/>
            </a:pPr>
            <a:endParaRPr lang="en-US" dirty="0"/>
          </a:p>
        </p:txBody>
      </p:sp>
      <p:sp>
        <p:nvSpPr>
          <p:cNvPr id="4" name="Title 2"/>
          <p:cNvSpPr txBox="1">
            <a:spLocks/>
          </p:cNvSpPr>
          <p:nvPr/>
        </p:nvSpPr>
        <p:spPr>
          <a:xfrm>
            <a:off x="658368" y="118873"/>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t>Lesson Outline</a:t>
            </a:r>
          </a:p>
        </p:txBody>
      </p:sp>
    </p:spTree>
    <p:extLst>
      <p:ext uri="{BB962C8B-B14F-4D97-AF65-F5344CB8AC3E}">
        <p14:creationId xmlns:p14="http://schemas.microsoft.com/office/powerpoint/2010/main" val="364681802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Gosu template</a:t>
            </a:r>
          </a:p>
        </p:txBody>
      </p:sp>
      <p:sp>
        <p:nvSpPr>
          <p:cNvPr id="4" name="Content Placeholder 3"/>
          <p:cNvSpPr>
            <a:spLocks noGrp="1"/>
          </p:cNvSpPr>
          <p:nvPr>
            <p:ph idx="1"/>
          </p:nvPr>
        </p:nvSpPr>
        <p:spPr>
          <a:xfrm>
            <a:off x="2045208" y="3048000"/>
            <a:ext cx="8321040" cy="3352800"/>
          </a:xfrm>
        </p:spPr>
        <p:txBody>
          <a:bodyPr/>
          <a:lstStyle/>
          <a:p>
            <a:r>
              <a:rPr lang="en-US" dirty="0"/>
              <a:t>A </a:t>
            </a:r>
            <a:r>
              <a:rPr lang="en-US" b="1" dirty="0"/>
              <a:t>Gosu template </a:t>
            </a:r>
            <a:r>
              <a:rPr lang="en-US" dirty="0"/>
              <a:t>is a file that generates dynamic, formatted text based on input parameters</a:t>
            </a:r>
          </a:p>
          <a:p>
            <a:r>
              <a:rPr lang="en-US" dirty="0"/>
              <a:t>Always evaluates to a string</a:t>
            </a:r>
          </a:p>
          <a:p>
            <a:r>
              <a:rPr lang="en-US" dirty="0"/>
              <a:t>Accepts any number of input parameters</a:t>
            </a:r>
          </a:p>
          <a:p>
            <a:r>
              <a:rPr lang="en-US" dirty="0"/>
              <a:t>Evaluates parameters and derived values into text</a:t>
            </a:r>
          </a:p>
          <a:p>
            <a:r>
              <a:rPr lang="en-US" dirty="0"/>
              <a:t>Supports scriptlet syntax for API calls and control of flow</a:t>
            </a:r>
          </a:p>
          <a:p>
            <a:endParaRPr lang="en-US" dirty="0"/>
          </a:p>
        </p:txBody>
      </p:sp>
      <p:sp>
        <p:nvSpPr>
          <p:cNvPr id="30" name="Line 4"/>
          <p:cNvSpPr>
            <a:spLocks noChangeShapeType="1"/>
          </p:cNvSpPr>
          <p:nvPr/>
        </p:nvSpPr>
        <p:spPr bwMode="auto">
          <a:xfrm>
            <a:off x="4800601" y="1722438"/>
            <a:ext cx="25622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41" name="Text Box 15"/>
          <p:cNvSpPr txBox="1">
            <a:spLocks noChangeArrowheads="1"/>
          </p:cNvSpPr>
          <p:nvPr/>
        </p:nvSpPr>
        <p:spPr bwMode="auto">
          <a:xfrm>
            <a:off x="2198689" y="1397001"/>
            <a:ext cx="26511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tabLst>
                <a:tab pos="1139825" algn="l"/>
              </a:tabLst>
              <a:defRPr b="1">
                <a:solidFill>
                  <a:srgbClr val="FF0000"/>
                </a:solidFill>
                <a:latin typeface="Arial" charset="0"/>
              </a:defRPr>
            </a:lvl1pPr>
            <a:lvl2pPr marL="742950" indent="-285750">
              <a:tabLst>
                <a:tab pos="1139825" algn="l"/>
              </a:tabLst>
              <a:defRPr b="1">
                <a:solidFill>
                  <a:srgbClr val="FF0000"/>
                </a:solidFill>
                <a:latin typeface="Arial" charset="0"/>
              </a:defRPr>
            </a:lvl2pPr>
            <a:lvl3pPr marL="1143000" indent="-228600">
              <a:tabLst>
                <a:tab pos="1139825" algn="l"/>
              </a:tabLst>
              <a:defRPr b="1">
                <a:solidFill>
                  <a:srgbClr val="FF0000"/>
                </a:solidFill>
                <a:latin typeface="Arial" charset="0"/>
              </a:defRPr>
            </a:lvl3pPr>
            <a:lvl4pPr marL="1600200" indent="-228600">
              <a:tabLst>
                <a:tab pos="1139825" algn="l"/>
              </a:tabLst>
              <a:defRPr b="1">
                <a:solidFill>
                  <a:srgbClr val="FF0000"/>
                </a:solidFill>
                <a:latin typeface="Arial" charset="0"/>
              </a:defRPr>
            </a:lvl4pPr>
            <a:lvl5pPr marL="2057400" indent="-228600">
              <a:tabLst>
                <a:tab pos="1139825" algn="l"/>
              </a:tabLst>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9pPr>
          </a:lstStyle>
          <a:p>
            <a:pPr algn="l"/>
            <a:r>
              <a:rPr lang="en-US" dirty="0">
                <a:solidFill>
                  <a:schemeClr val="bg1"/>
                </a:solidFill>
              </a:rPr>
              <a:t>(publicID)	(bankName)</a:t>
            </a:r>
            <a:br>
              <a:rPr lang="en-US" dirty="0">
                <a:solidFill>
                  <a:schemeClr val="bg1"/>
                </a:solidFill>
              </a:rPr>
            </a:br>
            <a:r>
              <a:rPr lang="en-US" dirty="0">
                <a:solidFill>
                  <a:schemeClr val="bg1"/>
                </a:solidFill>
              </a:rPr>
              <a:t>ab:68,	FastCash</a:t>
            </a:r>
          </a:p>
        </p:txBody>
      </p:sp>
      <p:sp>
        <p:nvSpPr>
          <p:cNvPr id="42" name="Text Box 16"/>
          <p:cNvSpPr txBox="1">
            <a:spLocks noChangeArrowheads="1"/>
          </p:cNvSpPr>
          <p:nvPr/>
        </p:nvSpPr>
        <p:spPr bwMode="auto">
          <a:xfrm>
            <a:off x="7477126" y="1019176"/>
            <a:ext cx="2441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tabLst>
                <a:tab pos="1139825" algn="l"/>
              </a:tabLst>
              <a:defRPr b="1">
                <a:solidFill>
                  <a:srgbClr val="FF0000"/>
                </a:solidFill>
                <a:latin typeface="Arial" charset="0"/>
              </a:defRPr>
            </a:lvl1pPr>
            <a:lvl2pPr marL="742950" indent="-285750">
              <a:tabLst>
                <a:tab pos="1139825" algn="l"/>
              </a:tabLst>
              <a:defRPr b="1">
                <a:solidFill>
                  <a:srgbClr val="FF0000"/>
                </a:solidFill>
                <a:latin typeface="Arial" charset="0"/>
              </a:defRPr>
            </a:lvl2pPr>
            <a:lvl3pPr marL="1143000" indent="-228600">
              <a:tabLst>
                <a:tab pos="1139825" algn="l"/>
              </a:tabLst>
              <a:defRPr b="1">
                <a:solidFill>
                  <a:srgbClr val="FF0000"/>
                </a:solidFill>
                <a:latin typeface="Arial" charset="0"/>
              </a:defRPr>
            </a:lvl3pPr>
            <a:lvl4pPr marL="1600200" indent="-228600">
              <a:tabLst>
                <a:tab pos="1139825" algn="l"/>
              </a:tabLst>
              <a:defRPr b="1">
                <a:solidFill>
                  <a:srgbClr val="FF0000"/>
                </a:solidFill>
                <a:latin typeface="Arial" charset="0"/>
              </a:defRPr>
            </a:lvl4pPr>
            <a:lvl5pPr marL="2057400" indent="-228600">
              <a:tabLst>
                <a:tab pos="1139825" algn="l"/>
              </a:tabLst>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9pPr>
          </a:lstStyle>
          <a:p>
            <a:pPr algn="l"/>
            <a:r>
              <a:rPr lang="en-US" dirty="0">
                <a:solidFill>
                  <a:schemeClr val="bg1"/>
                </a:solidFill>
              </a:rPr>
              <a:t>publicID,ab:68</a:t>
            </a:r>
            <a:br>
              <a:rPr lang="en-US" dirty="0">
                <a:solidFill>
                  <a:schemeClr val="bg1"/>
                </a:solidFill>
              </a:rPr>
            </a:br>
            <a:r>
              <a:rPr lang="en-US" dirty="0">
                <a:solidFill>
                  <a:schemeClr val="bg1"/>
                </a:solidFill>
              </a:rPr>
              <a:t>bankName,FastCash</a:t>
            </a:r>
          </a:p>
        </p:txBody>
      </p:sp>
      <p:sp>
        <p:nvSpPr>
          <p:cNvPr id="43" name="Rectangle 17"/>
          <p:cNvSpPr>
            <a:spLocks noChangeArrowheads="1"/>
          </p:cNvSpPr>
          <p:nvPr/>
        </p:nvSpPr>
        <p:spPr bwMode="auto">
          <a:xfrm>
            <a:off x="7416801" y="1449795"/>
            <a:ext cx="65" cy="276999"/>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dirty="0"/>
          </a:p>
        </p:txBody>
      </p:sp>
      <p:sp>
        <p:nvSpPr>
          <p:cNvPr id="20" name="Text Box 4"/>
          <p:cNvSpPr txBox="1">
            <a:spLocks noChangeArrowheads="1"/>
          </p:cNvSpPr>
          <p:nvPr/>
        </p:nvSpPr>
        <p:spPr bwMode="auto">
          <a:xfrm>
            <a:off x="5486401" y="2141894"/>
            <a:ext cx="10181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Gosu Template</a:t>
            </a:r>
          </a:p>
        </p:txBody>
      </p:sp>
      <p:pic>
        <p:nvPicPr>
          <p:cNvPr id="2050" name="icn Gosu Templ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1" y="914401"/>
            <a:ext cx="1018177" cy="12083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048519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C:\Users\sluersen\AppData\Local\Temp\SNAGHTML1b3ea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4067755"/>
            <a:ext cx="7848600" cy="201821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Steps to create a Gosu template</a:t>
            </a:r>
          </a:p>
        </p:txBody>
      </p:sp>
      <p:sp>
        <p:nvSpPr>
          <p:cNvPr id="3" name="Content Placeholder 2"/>
          <p:cNvSpPr>
            <a:spLocks noGrp="1"/>
          </p:cNvSpPr>
          <p:nvPr>
            <p:ph sz="half" idx="1"/>
          </p:nvPr>
        </p:nvSpPr>
        <p:spPr/>
        <p:txBody>
          <a:bodyPr/>
          <a:lstStyle/>
          <a:p>
            <a:r>
              <a:rPr lang="en-US" dirty="0"/>
              <a:t>To create a Gosu template:</a:t>
            </a:r>
          </a:p>
          <a:p>
            <a:pPr lvl="1">
              <a:buFont typeface="Courier New" panose="02070309020205020404" pitchFamily="49" charset="0"/>
              <a:buChar char="o"/>
            </a:pPr>
            <a:r>
              <a:rPr lang="en-US" dirty="0"/>
              <a:t>Right-click the parent package</a:t>
            </a:r>
          </a:p>
          <a:p>
            <a:pPr lvl="1">
              <a:buFont typeface="Courier New" panose="02070309020205020404" pitchFamily="49" charset="0"/>
              <a:buChar char="o"/>
            </a:pPr>
            <a:r>
              <a:rPr lang="en-US" dirty="0"/>
              <a:t>Select </a:t>
            </a:r>
            <a:r>
              <a:rPr lang="en-US" sz="1800" b="1" dirty="0"/>
              <a:t>New </a:t>
            </a:r>
            <a:r>
              <a:rPr lang="en-US" sz="1800" b="1" dirty="0">
                <a:sym typeface="Wingdings" pitchFamily="2" charset="2"/>
              </a:rPr>
              <a:t> Gosu </a:t>
            </a:r>
            <a:r>
              <a:rPr lang="en-US" sz="1800" b="1" dirty="0"/>
              <a:t>Template</a:t>
            </a:r>
            <a:endParaRPr lang="en-US" b="1" dirty="0"/>
          </a:p>
          <a:p>
            <a:pPr lvl="1">
              <a:buFont typeface="Courier New" panose="02070309020205020404" pitchFamily="49" charset="0"/>
              <a:buChar char="o"/>
            </a:pPr>
            <a:r>
              <a:rPr lang="en-US" dirty="0"/>
              <a:t>Provide a name for the template</a:t>
            </a:r>
          </a:p>
          <a:p>
            <a:pPr lvl="2">
              <a:buFont typeface="Courier New" panose="02070309020205020404" pitchFamily="49" charset="0"/>
              <a:buChar char="o"/>
            </a:pPr>
            <a:r>
              <a:rPr lang="en-US" sz="1600" b="1" dirty="0"/>
              <a:t>&lt;entity/description&gt;Template</a:t>
            </a:r>
            <a:endParaRPr lang="en-US" b="1" dirty="0"/>
          </a:p>
          <a:p>
            <a:r>
              <a:rPr lang="en-US" dirty="0"/>
              <a:t>All Gosu template files have a .</a:t>
            </a:r>
            <a:r>
              <a:rPr lang="en-US" dirty="0" err="1"/>
              <a:t>gst</a:t>
            </a:r>
            <a:r>
              <a:rPr lang="en-US" dirty="0"/>
              <a:t> extension</a:t>
            </a:r>
          </a:p>
          <a:p>
            <a:endParaRPr lang="en-US" dirty="0"/>
          </a:p>
        </p:txBody>
      </p:sp>
      <p:pic>
        <p:nvPicPr>
          <p:cNvPr id="2051" name="pic Men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1" y="903646"/>
            <a:ext cx="2085975" cy="222055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 DLG" descr="C:\Users\sluersen\AppData\Local\Temp\SNAGHTML184ecb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1" y="2666420"/>
            <a:ext cx="2333625" cy="17531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5" name="Elbow Connector 4"/>
          <p:cNvCxnSpPr/>
          <p:nvPr/>
        </p:nvCxnSpPr>
        <p:spPr bwMode="auto">
          <a:xfrm>
            <a:off x="8926514" y="1741847"/>
            <a:ext cx="492127" cy="947123"/>
          </a:xfrm>
          <a:prstGeom prst="bentConnector2">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3" name="Elbow Connector 12"/>
          <p:cNvCxnSpPr/>
          <p:nvPr/>
        </p:nvCxnSpPr>
        <p:spPr bwMode="auto">
          <a:xfrm rot="5400000">
            <a:off x="8127206" y="4241006"/>
            <a:ext cx="838200" cy="890588"/>
          </a:xfrm>
          <a:prstGeom prst="bentConnector2">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02577931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2" descr="C:\Users\sluersen\AppData\Local\Temp\SNAGHTML1b3ea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14400"/>
            <a:ext cx="8382001" cy="21553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r>
              <a:rPr lang="en-US" dirty="0"/>
              <a:t>Gosu Template syntax: parameters</a:t>
            </a:r>
          </a:p>
        </p:txBody>
      </p:sp>
      <p:sp>
        <p:nvSpPr>
          <p:cNvPr id="3" name="Content Placeholder 2"/>
          <p:cNvSpPr>
            <a:spLocks noGrp="1"/>
          </p:cNvSpPr>
          <p:nvPr>
            <p:ph idx="1"/>
          </p:nvPr>
        </p:nvSpPr>
        <p:spPr>
          <a:xfrm>
            <a:off x="2043113" y="3733800"/>
            <a:ext cx="8318500" cy="2667000"/>
          </a:xfrm>
        </p:spPr>
        <p:txBody>
          <a:bodyPr/>
          <a:lstStyle/>
          <a:p>
            <a:r>
              <a:rPr lang="en-US" dirty="0"/>
              <a:t>Input parameter declaration syntax:</a:t>
            </a:r>
          </a:p>
          <a:p>
            <a:pPr lvl="1"/>
            <a:r>
              <a:rPr lang="en-US" b="1" dirty="0">
                <a:latin typeface="Courier New" pitchFamily="49" charset="0"/>
                <a:cs typeface="Courier New" pitchFamily="49" charset="0"/>
              </a:rPr>
              <a:t>&lt;%@ params ( param1 : type, param2 : type, …) %&gt;</a:t>
            </a:r>
          </a:p>
          <a:p>
            <a:pPr lvl="1"/>
            <a:endParaRPr lang="en-US" b="1" dirty="0">
              <a:latin typeface="Courier New" pitchFamily="49" charset="0"/>
              <a:cs typeface="Courier New" pitchFamily="49" charset="0"/>
            </a:endParaRPr>
          </a:p>
          <a:p>
            <a:r>
              <a:rPr lang="en-US" dirty="0"/>
              <a:t>Note</a:t>
            </a:r>
          </a:p>
          <a:p>
            <a:pPr lvl="1"/>
            <a:r>
              <a:rPr lang="en-US" dirty="0"/>
              <a:t>White space and line breaks are rendered in the Gosu Templates</a:t>
            </a:r>
          </a:p>
        </p:txBody>
      </p:sp>
      <p:sp>
        <p:nvSpPr>
          <p:cNvPr id="6" name="Rounded Rectangle 5"/>
          <p:cNvSpPr/>
          <p:nvPr/>
        </p:nvSpPr>
        <p:spPr bwMode="auto">
          <a:xfrm>
            <a:off x="2667000" y="1276160"/>
            <a:ext cx="7162800" cy="249692"/>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241488107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2" descr="C:\Users\sluersen\AppData\Local\Temp\SNAGHTML1b3ea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14400"/>
            <a:ext cx="8382001" cy="21553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r>
              <a:rPr lang="en-US" dirty="0"/>
              <a:t>Gosu Template syntax: expressions</a:t>
            </a:r>
          </a:p>
        </p:txBody>
      </p:sp>
      <p:sp>
        <p:nvSpPr>
          <p:cNvPr id="3" name="Content Placeholder 2"/>
          <p:cNvSpPr>
            <a:spLocks noGrp="1"/>
          </p:cNvSpPr>
          <p:nvPr>
            <p:ph idx="1"/>
          </p:nvPr>
        </p:nvSpPr>
        <p:spPr/>
        <p:txBody>
          <a:bodyPr/>
          <a:lstStyle/>
          <a:p>
            <a:r>
              <a:rPr lang="en-US" dirty="0"/>
              <a:t>Template expression syntax</a:t>
            </a:r>
          </a:p>
          <a:p>
            <a:pPr lvl="1"/>
            <a:r>
              <a:rPr lang="en-US" b="1" dirty="0">
                <a:latin typeface="Courier New" pitchFamily="49" charset="0"/>
                <a:cs typeface="Courier New" pitchFamily="49" charset="0"/>
              </a:rPr>
              <a:t>${param1}</a:t>
            </a:r>
            <a:r>
              <a:rPr lang="en-US" dirty="0"/>
              <a:t>  or  </a:t>
            </a:r>
            <a:r>
              <a:rPr lang="en-US" b="1" dirty="0">
                <a:latin typeface="Courier New" pitchFamily="49" charset="0"/>
                <a:cs typeface="Courier New" pitchFamily="49" charset="0"/>
              </a:rPr>
              <a:t>&lt;%= param1 %&gt;</a:t>
            </a:r>
          </a:p>
          <a:p>
            <a:r>
              <a:rPr lang="en-US" dirty="0"/>
              <a:t>Static text is outside of a template expression, template parameter, or template scriptlet</a:t>
            </a:r>
          </a:p>
          <a:p>
            <a:pPr lvl="1"/>
            <a:r>
              <a:rPr lang="en-US" dirty="0"/>
              <a:t>Line 2 </a:t>
            </a:r>
            <a:r>
              <a:rPr lang="en-US" dirty="0">
                <a:sym typeface="Wingdings" pitchFamily="2" charset="2"/>
              </a:rPr>
              <a:t> </a:t>
            </a:r>
            <a:r>
              <a:rPr lang="en-US" dirty="0"/>
              <a:t>contact, is treated as static text</a:t>
            </a:r>
          </a:p>
          <a:p>
            <a:pPr lvl="1"/>
            <a:endParaRPr lang="en-US" b="1" dirty="0">
              <a:latin typeface="Courier New" pitchFamily="49" charset="0"/>
              <a:cs typeface="Courier New" pitchFamily="49" charset="0"/>
            </a:endParaRPr>
          </a:p>
        </p:txBody>
      </p:sp>
      <p:sp>
        <p:nvSpPr>
          <p:cNvPr id="6" name="Rounded Rectangle 5"/>
          <p:cNvSpPr/>
          <p:nvPr/>
        </p:nvSpPr>
        <p:spPr bwMode="auto">
          <a:xfrm>
            <a:off x="2590800" y="1447800"/>
            <a:ext cx="2336800" cy="304800"/>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 name="Text Box 6"/>
          <p:cNvSpPr txBox="1">
            <a:spLocks noChangeArrowheads="1"/>
          </p:cNvSpPr>
          <p:nvPr/>
        </p:nvSpPr>
        <p:spPr bwMode="auto">
          <a:xfrm>
            <a:off x="8534401" y="1438088"/>
            <a:ext cx="1856343" cy="1169551"/>
          </a:xfrm>
          <a:prstGeom prst="rect">
            <a:avLst/>
          </a:prstGeom>
          <a:solidFill>
            <a:srgbClr val="EAEAEA">
              <a:alpha val="50196"/>
            </a:srgbClr>
          </a:solidFill>
          <a:ln>
            <a:noFill/>
          </a:ln>
        </p:spPr>
        <p:txBody>
          <a:bodyPr wrap="square" lIns="91440" tIns="91440" rIns="91440" bIns="9144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t>if contactID is "ab:68",</a:t>
            </a:r>
            <a:br>
              <a:rPr lang="en-US" sz="1600" dirty="0"/>
            </a:br>
            <a:r>
              <a:rPr lang="en-US" sz="1600" dirty="0"/>
              <a:t>this renders as: </a:t>
            </a:r>
            <a:r>
              <a:rPr lang="en-US" sz="1600" dirty="0">
                <a:solidFill>
                  <a:srgbClr val="0033CC"/>
                </a:solidFill>
              </a:rPr>
              <a:t>contact,ab:68</a:t>
            </a:r>
          </a:p>
        </p:txBody>
      </p:sp>
      <p:cxnSp>
        <p:nvCxnSpPr>
          <p:cNvPr id="11" name="Elbow Connector 10"/>
          <p:cNvCxnSpPr>
            <a:stCxn id="6" idx="3"/>
            <a:endCxn id="7" idx="1"/>
          </p:cNvCxnSpPr>
          <p:nvPr/>
        </p:nvCxnSpPr>
        <p:spPr bwMode="auto">
          <a:xfrm>
            <a:off x="4927600" y="1600201"/>
            <a:ext cx="3606800" cy="422663"/>
          </a:xfrm>
          <a:prstGeom prst="bentConnector3">
            <a:avLst>
              <a:gd name="adj1" fmla="val 50000"/>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64110935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2" descr="C:\Users\sluersen\AppData\Local\Temp\SNAGHTML1b3eae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14400"/>
            <a:ext cx="8382001" cy="215537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p:txBody>
          <a:bodyPr/>
          <a:lstStyle/>
          <a:p>
            <a:r>
              <a:rPr lang="en-US" dirty="0"/>
              <a:t>Gosu Template syntax: </a:t>
            </a:r>
            <a:r>
              <a:rPr lang="en-US" dirty="0" err="1"/>
              <a:t>scriptlets</a:t>
            </a:r>
            <a:endParaRPr lang="en-US" dirty="0"/>
          </a:p>
        </p:txBody>
      </p:sp>
      <p:sp>
        <p:nvSpPr>
          <p:cNvPr id="3" name="Content Placeholder 2"/>
          <p:cNvSpPr>
            <a:spLocks noGrp="1"/>
          </p:cNvSpPr>
          <p:nvPr>
            <p:ph idx="1"/>
          </p:nvPr>
        </p:nvSpPr>
        <p:spPr/>
        <p:txBody>
          <a:bodyPr/>
          <a:lstStyle/>
          <a:p>
            <a:r>
              <a:rPr lang="en-US" dirty="0"/>
              <a:t>Evaluate scriptlet syntax</a:t>
            </a:r>
          </a:p>
          <a:p>
            <a:pPr lvl="1"/>
            <a:r>
              <a:rPr lang="en-US" b="1" dirty="0">
                <a:latin typeface="Courier New" pitchFamily="49" charset="0"/>
                <a:cs typeface="Courier New" pitchFamily="49" charset="0"/>
              </a:rPr>
              <a:t>&lt;% if (something=true) { %&gt; … &lt;% } %&gt;  </a:t>
            </a:r>
          </a:p>
          <a:p>
            <a:r>
              <a:rPr lang="en-US" dirty="0"/>
              <a:t>Text within </a:t>
            </a:r>
            <a:r>
              <a:rPr lang="en-US" b="1" dirty="0">
                <a:latin typeface="Courier New" pitchFamily="49" charset="0"/>
                <a:cs typeface="Courier New" pitchFamily="49" charset="0"/>
              </a:rPr>
              <a:t>&lt;%</a:t>
            </a:r>
            <a:r>
              <a:rPr lang="en-US" dirty="0"/>
              <a:t> and </a:t>
            </a:r>
            <a:r>
              <a:rPr lang="en-US" b="1" dirty="0">
                <a:latin typeface="Courier New" pitchFamily="49" charset="0"/>
                <a:cs typeface="Courier New" pitchFamily="49" charset="0"/>
              </a:rPr>
              <a:t>%&gt;</a:t>
            </a:r>
            <a:r>
              <a:rPr lang="en-US" dirty="0"/>
              <a:t> evaluated as Gosu at run-time</a:t>
            </a:r>
          </a:p>
          <a:p>
            <a:r>
              <a:rPr lang="en-US" dirty="0"/>
              <a:t>Scope is across </a:t>
            </a:r>
            <a:r>
              <a:rPr lang="en-US" dirty="0" err="1"/>
              <a:t>scriptlet</a:t>
            </a:r>
            <a:r>
              <a:rPr lang="en-US" dirty="0"/>
              <a:t> tags, </a:t>
            </a:r>
            <a:r>
              <a:rPr lang="en-US" dirty="0" err="1"/>
              <a:t>e.g</a:t>
            </a:r>
            <a:r>
              <a:rPr lang="en-US" dirty="0"/>
              <a:t> Conditional logic, variable assignments, loops, etc.</a:t>
            </a:r>
          </a:p>
          <a:p>
            <a:endParaRPr lang="en-US" dirty="0"/>
          </a:p>
        </p:txBody>
      </p:sp>
      <p:sp>
        <p:nvSpPr>
          <p:cNvPr id="6" name="Rounded Rectangle 5"/>
          <p:cNvSpPr/>
          <p:nvPr/>
        </p:nvSpPr>
        <p:spPr bwMode="auto">
          <a:xfrm>
            <a:off x="2666999" y="2590800"/>
            <a:ext cx="7696201" cy="478972"/>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262054689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914400"/>
            <a:ext cx="8134195" cy="19812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1618488" y="117662"/>
            <a:ext cx="9107424" cy="742951"/>
          </a:xfrm>
        </p:spPr>
        <p:txBody>
          <a:bodyPr/>
          <a:lstStyle/>
          <a:p>
            <a:r>
              <a:rPr lang="en-US" dirty="0"/>
              <a:t>Generating String output using Gosu Template</a:t>
            </a:r>
          </a:p>
        </p:txBody>
      </p:sp>
      <p:sp>
        <p:nvSpPr>
          <p:cNvPr id="3" name="Content Placeholder 2"/>
          <p:cNvSpPr>
            <a:spLocks noGrp="1"/>
          </p:cNvSpPr>
          <p:nvPr>
            <p:ph idx="1"/>
          </p:nvPr>
        </p:nvSpPr>
        <p:spPr>
          <a:xfrm>
            <a:off x="1828800" y="3657600"/>
            <a:ext cx="8686800" cy="2743200"/>
          </a:xfrm>
        </p:spPr>
        <p:txBody>
          <a:bodyPr/>
          <a:lstStyle/>
          <a:p>
            <a:r>
              <a:rPr lang="en-US" dirty="0"/>
              <a:t>Syntax</a:t>
            </a:r>
          </a:p>
          <a:p>
            <a:r>
              <a:rPr lang="en-US" sz="2000" dirty="0" err="1"/>
              <a:t>var</a:t>
            </a:r>
            <a:r>
              <a:rPr lang="en-US" sz="2000" dirty="0"/>
              <a:t> </a:t>
            </a:r>
            <a:r>
              <a:rPr lang="en-US" sz="2000" b="1" dirty="0">
                <a:latin typeface="Courier New" pitchFamily="49" charset="0"/>
                <a:cs typeface="Courier New" pitchFamily="49" charset="0"/>
              </a:rPr>
              <a:t>payload =   </a:t>
            </a:r>
            <a:r>
              <a:rPr lang="en-US" sz="2000" b="1" dirty="0" err="1">
                <a:latin typeface="Courier New" pitchFamily="49" charset="0"/>
                <a:cs typeface="Courier New" pitchFamily="49" charset="0"/>
              </a:rPr>
              <a:t>TemplateName.renderToString</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paramList</a:t>
            </a:r>
            <a:r>
              <a:rPr lang="en-US" sz="2000" b="1" dirty="0">
                <a:latin typeface="Courier New" pitchFamily="49" charset="0"/>
                <a:cs typeface="Courier New" pitchFamily="49" charset="0"/>
              </a:rPr>
              <a:t>)</a:t>
            </a:r>
            <a:br>
              <a:rPr lang="en-US" b="1" dirty="0">
                <a:latin typeface="Courier New" pitchFamily="49" charset="0"/>
                <a:cs typeface="Courier New" pitchFamily="49" charset="0"/>
              </a:rPr>
            </a:br>
            <a:endParaRPr lang="en-US" b="1" dirty="0">
              <a:latin typeface="Courier New" pitchFamily="49" charset="0"/>
              <a:cs typeface="Courier New" pitchFamily="49" charset="0"/>
            </a:endParaRPr>
          </a:p>
          <a:p>
            <a:r>
              <a:rPr lang="en-US" sz="2000" dirty="0" err="1"/>
              <a:t>TemplateName</a:t>
            </a:r>
            <a:r>
              <a:rPr lang="en-US" sz="2000" dirty="0"/>
              <a:t>: the Gosu template class name</a:t>
            </a:r>
          </a:p>
          <a:p>
            <a:r>
              <a:rPr lang="en-US" sz="2000" dirty="0" err="1"/>
              <a:t>TemplateName.renderToString</a:t>
            </a:r>
            <a:r>
              <a:rPr lang="en-US" sz="2000" dirty="0"/>
              <a:t>(</a:t>
            </a:r>
            <a:r>
              <a:rPr lang="en-US" sz="2000" dirty="0" err="1"/>
              <a:t>paramList</a:t>
            </a:r>
            <a:r>
              <a:rPr lang="en-US" sz="2000" dirty="0"/>
              <a:t>): returns a serialized string</a:t>
            </a:r>
          </a:p>
          <a:p>
            <a:endParaRPr lang="en-US" b="1" dirty="0">
              <a:latin typeface="Courier New" pitchFamily="49" charset="0"/>
              <a:cs typeface="Courier New" pitchFamily="49" charset="0"/>
            </a:endParaRPr>
          </a:p>
        </p:txBody>
      </p:sp>
      <p:sp>
        <p:nvSpPr>
          <p:cNvPr id="5" name="Rounded Rectangle 4"/>
          <p:cNvSpPr/>
          <p:nvPr/>
        </p:nvSpPr>
        <p:spPr bwMode="auto">
          <a:xfrm>
            <a:off x="2781300" y="1704898"/>
            <a:ext cx="7162800" cy="695402"/>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7447590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Gosu template payload example</a:t>
            </a:r>
          </a:p>
        </p:txBody>
      </p:sp>
      <p:sp>
        <p:nvSpPr>
          <p:cNvPr id="9" name="txt Console Output"/>
          <p:cNvSpPr txBox="1"/>
          <p:nvPr/>
        </p:nvSpPr>
        <p:spPr>
          <a:xfrm>
            <a:off x="5105401" y="3733800"/>
            <a:ext cx="3629463" cy="2636062"/>
          </a:xfrm>
          <a:prstGeom prst="rect">
            <a:avLst/>
          </a:prstGeom>
          <a:noFill/>
          <a:scene3d>
            <a:camera prst="perspectiveFront"/>
            <a:lightRig rig="threePt" dir="t"/>
          </a:scene3d>
        </p:spPr>
        <p:txBody>
          <a:bodyPr wrap="square" rtlCol="0">
            <a:noAutofit/>
          </a:bodyPr>
          <a:lstStyle/>
          <a:p>
            <a:r>
              <a:rPr lang="en-US" sz="1600" b="1" dirty="0">
                <a:solidFill>
                  <a:schemeClr val="bg1"/>
                </a:solidFill>
                <a:latin typeface="Courier New" pitchFamily="49" charset="0"/>
                <a:cs typeface="Courier New" pitchFamily="49" charset="0"/>
              </a:rPr>
              <a:t>The Request Plugin transformed the payload</a:t>
            </a:r>
          </a:p>
          <a:p>
            <a:r>
              <a:rPr lang="en-US" sz="1600" b="1" dirty="0">
                <a:solidFill>
                  <a:schemeClr val="bg1"/>
                </a:solidFill>
                <a:latin typeface="Courier New" pitchFamily="49" charset="0"/>
                <a:cs typeface="Courier New" pitchFamily="49" charset="0"/>
              </a:rPr>
              <a:t>Sending payload to console for Message ID 630 as: </a:t>
            </a:r>
          </a:p>
          <a:p>
            <a:endParaRPr lang="en-US" sz="1600" b="1" dirty="0">
              <a:solidFill>
                <a:schemeClr val="bg1"/>
              </a:solidFill>
              <a:latin typeface="Courier New" pitchFamily="49" charset="0"/>
              <a:cs typeface="Courier New" pitchFamily="49" charset="0"/>
            </a:endParaRPr>
          </a:p>
          <a:p>
            <a:r>
              <a:rPr lang="en-US" sz="1600" b="1" dirty="0">
                <a:solidFill>
                  <a:schemeClr val="bg1"/>
                </a:solidFill>
                <a:latin typeface="Courier New" pitchFamily="49" charset="0"/>
                <a:cs typeface="Courier New" pitchFamily="49" charset="0"/>
              </a:rPr>
              <a:t>contact,ab:5</a:t>
            </a:r>
          </a:p>
          <a:p>
            <a:r>
              <a:rPr lang="en-US" sz="1600" b="1" dirty="0">
                <a:solidFill>
                  <a:schemeClr val="bg1"/>
                </a:solidFill>
                <a:latin typeface="Courier New" pitchFamily="49" charset="0"/>
                <a:cs typeface="Courier New" pitchFamily="49" charset="0"/>
              </a:rPr>
              <a:t>bankName,Big Bank</a:t>
            </a:r>
          </a:p>
          <a:p>
            <a:r>
              <a:rPr lang="en-US" sz="1600" b="1" dirty="0">
                <a:solidFill>
                  <a:schemeClr val="bg1"/>
                </a:solidFill>
                <a:latin typeface="Courier New" pitchFamily="49" charset="0"/>
                <a:cs typeface="Courier New" pitchFamily="49" charset="0"/>
              </a:rPr>
              <a:t>routingNumber,111-111</a:t>
            </a:r>
          </a:p>
          <a:p>
            <a:r>
              <a:rPr lang="en-US" sz="1600" b="1" dirty="0">
                <a:solidFill>
                  <a:schemeClr val="bg1"/>
                </a:solidFill>
                <a:latin typeface="Courier New" pitchFamily="49" charset="0"/>
                <a:cs typeface="Courier New" pitchFamily="49" charset="0"/>
              </a:rPr>
              <a:t>accountNumber,0123456789</a:t>
            </a:r>
          </a:p>
          <a:p>
            <a:r>
              <a:rPr lang="en-US" sz="1600" b="1" dirty="0">
                <a:solidFill>
                  <a:schemeClr val="bg1"/>
                </a:solidFill>
                <a:latin typeface="Courier New" pitchFamily="49" charset="0"/>
                <a:cs typeface="Courier New" pitchFamily="49" charset="0"/>
              </a:rPr>
              <a:t>accountType,savings</a:t>
            </a:r>
          </a:p>
        </p:txBody>
      </p:sp>
      <p:sp>
        <p:nvSpPr>
          <p:cNvPr id="99" name="Rectangle 101"/>
          <p:cNvSpPr>
            <a:spLocks noChangeArrowheads="1"/>
          </p:cNvSpPr>
          <p:nvPr/>
        </p:nvSpPr>
        <p:spPr bwMode="auto">
          <a:xfrm>
            <a:off x="1982962" y="3503548"/>
            <a:ext cx="8382824" cy="3125852"/>
          </a:xfrm>
          <a:prstGeom prst="rect">
            <a:avLst/>
          </a:prstGeom>
          <a:noFill/>
          <a:ln w="28575" algn="ctr">
            <a:solidFill>
              <a:srgbClr val="6666FF"/>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dirty="0"/>
          </a:p>
        </p:txBody>
      </p:sp>
      <p:pic>
        <p:nvPicPr>
          <p:cNvPr id="107" name="icn Msg Pay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4406900"/>
            <a:ext cx="1337130" cy="8509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8" name="Text Box 4"/>
          <p:cNvSpPr txBox="1">
            <a:spLocks noChangeArrowheads="1"/>
          </p:cNvSpPr>
          <p:nvPr/>
        </p:nvSpPr>
        <p:spPr bwMode="auto">
          <a:xfrm>
            <a:off x="3854848" y="5298758"/>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a:solidFill>
                  <a:schemeClr val="bg1"/>
                </a:solidFill>
              </a:rPr>
              <a:t>message payload</a:t>
            </a:r>
          </a:p>
        </p:txBody>
      </p:sp>
      <p:cxnSp>
        <p:nvCxnSpPr>
          <p:cNvPr id="111" name="Elbow Connector 110"/>
          <p:cNvCxnSpPr/>
          <p:nvPr/>
        </p:nvCxnSpPr>
        <p:spPr bwMode="auto">
          <a:xfrm>
            <a:off x="3129556" y="4064433"/>
            <a:ext cx="1311669" cy="262731"/>
          </a:xfrm>
          <a:prstGeom prst="bentConnector2">
            <a:avLst/>
          </a:prstGeom>
          <a:noFill/>
          <a:ln w="28575">
            <a:solidFill>
              <a:schemeClr val="accent1"/>
            </a:solidFill>
            <a:prstDash val="sysDot"/>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127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161" y="927101"/>
            <a:ext cx="7561203" cy="160811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19" name="Rounded Rectangle 118"/>
          <p:cNvSpPr/>
          <p:nvPr/>
        </p:nvSpPr>
        <p:spPr bwMode="auto">
          <a:xfrm>
            <a:off x="2660361" y="2217499"/>
            <a:ext cx="7203747" cy="327550"/>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25" name="Rounded Rectangle 124"/>
          <p:cNvSpPr/>
          <p:nvPr/>
        </p:nvSpPr>
        <p:spPr bwMode="auto">
          <a:xfrm>
            <a:off x="2286003" y="914400"/>
            <a:ext cx="767355" cy="351178"/>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11277" name="Elbow Connector 11276"/>
          <p:cNvCxnSpPr>
            <a:stCxn id="125" idx="1"/>
          </p:cNvCxnSpPr>
          <p:nvPr/>
        </p:nvCxnSpPr>
        <p:spPr bwMode="auto">
          <a:xfrm rot="10800000" flipH="1" flipV="1">
            <a:off x="2286002" y="1089989"/>
            <a:ext cx="200961" cy="2221713"/>
          </a:xfrm>
          <a:prstGeom prst="bentConnector3">
            <a:avLst>
              <a:gd name="adj1" fmla="val -113753"/>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31" name="Text Box 4"/>
          <p:cNvSpPr txBox="1">
            <a:spLocks noChangeArrowheads="1"/>
          </p:cNvSpPr>
          <p:nvPr/>
        </p:nvSpPr>
        <p:spPr bwMode="auto">
          <a:xfrm>
            <a:off x="2323376" y="5037494"/>
            <a:ext cx="94984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a:spcAft>
                <a:spcPct val="30000"/>
              </a:spcAft>
              <a:buClr>
                <a:schemeClr val="tx1"/>
              </a:buClr>
              <a:buFontTx/>
              <a:buNone/>
              <a:defRPr sz="1600" b="1">
                <a:solidFill>
                  <a:schemeClr val="bg1"/>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Gosu Template</a:t>
            </a:r>
          </a:p>
        </p:txBody>
      </p:sp>
      <p:sp>
        <p:nvSpPr>
          <p:cNvPr id="35" name="Text Box 4"/>
          <p:cNvSpPr txBox="1">
            <a:spLocks noChangeArrowheads="1"/>
          </p:cNvSpPr>
          <p:nvPr/>
        </p:nvSpPr>
        <p:spPr bwMode="auto">
          <a:xfrm>
            <a:off x="3738639" y="2911420"/>
            <a:ext cx="1172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eaLnBrk="1" hangingPunct="1">
              <a:spcAft>
                <a:spcPct val="30000"/>
              </a:spcAft>
              <a:buClr>
                <a:schemeClr val="tx1"/>
              </a:buClr>
              <a:buFontTx/>
              <a:buNone/>
            </a:pPr>
            <a:r>
              <a:rPr lang="en-US" sz="1600" dirty="0">
                <a:solidFill>
                  <a:schemeClr val="bg1"/>
                </a:solidFill>
              </a:rPr>
              <a:t>Event Fired Rules</a:t>
            </a:r>
          </a:p>
        </p:txBody>
      </p:sp>
      <p:pic>
        <p:nvPicPr>
          <p:cNvPr id="36" name="icn Rule Se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90800" y="2671337"/>
            <a:ext cx="1135982" cy="1025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Line 2"/>
          <p:cNvSpPr>
            <a:spLocks noChangeShapeType="1"/>
          </p:cNvSpPr>
          <p:nvPr/>
        </p:nvSpPr>
        <p:spPr bwMode="auto">
          <a:xfrm>
            <a:off x="8305800" y="5986749"/>
            <a:ext cx="2724162" cy="27276"/>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8" name="Text Box 84"/>
          <p:cNvSpPr txBox="1">
            <a:spLocks noChangeArrowheads="1"/>
          </p:cNvSpPr>
          <p:nvPr/>
        </p:nvSpPr>
        <p:spPr bwMode="auto">
          <a:xfrm>
            <a:off x="8832736" y="6199475"/>
            <a:ext cx="1155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sz="1600" dirty="0">
                <a:solidFill>
                  <a:schemeClr val="bg1"/>
                </a:solidFill>
              </a:rPr>
              <a:t>message</a:t>
            </a:r>
          </a:p>
        </p:txBody>
      </p:sp>
      <p:pic>
        <p:nvPicPr>
          <p:cNvPr id="39" name="icn Ms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59239" y="5704849"/>
            <a:ext cx="745588" cy="479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icn Gosu Templat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6482" y="3756649"/>
            <a:ext cx="1018177" cy="12083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480650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 Code Changes</a:t>
            </a:r>
          </a:p>
        </p:txBody>
      </p:sp>
      <p:sp>
        <p:nvSpPr>
          <p:cNvPr id="6" name="Subtitle 5"/>
          <p:cNvSpPr>
            <a:spLocks noGrp="1"/>
          </p:cNvSpPr>
          <p:nvPr>
            <p:ph type="subTitle" idx="10"/>
          </p:nvPr>
        </p:nvSpPr>
        <p:spPr>
          <a:xfrm>
            <a:off x="1919369" y="888111"/>
            <a:ext cx="4087368" cy="838200"/>
          </a:xfrm>
        </p:spPr>
        <p:txBody>
          <a:bodyPr/>
          <a:lstStyle/>
          <a:p>
            <a:r>
              <a:rPr lang="en-US" b="1" dirty="0"/>
              <a:t>Restart Server</a:t>
            </a:r>
            <a:br>
              <a:rPr lang="en-US" b="1" dirty="0"/>
            </a:br>
            <a:endParaRPr lang="en-US" b="1" dirty="0"/>
          </a:p>
        </p:txBody>
      </p:sp>
      <p:sp>
        <p:nvSpPr>
          <p:cNvPr id="5" name="Text Placeholder 4"/>
          <p:cNvSpPr>
            <a:spLocks noGrp="1"/>
          </p:cNvSpPr>
          <p:nvPr>
            <p:ph type="body" sz="quarter" idx="11"/>
          </p:nvPr>
        </p:nvSpPr>
        <p:spPr/>
        <p:txBody>
          <a:bodyPr/>
          <a:lstStyle/>
          <a:p>
            <a:r>
              <a:rPr lang="en-US" b="1" dirty="0"/>
              <a:t>Reload Changed Classes </a:t>
            </a:r>
          </a:p>
        </p:txBody>
      </p:sp>
      <p:sp>
        <p:nvSpPr>
          <p:cNvPr id="3" name="Content Placeholder 2"/>
          <p:cNvSpPr>
            <a:spLocks noGrp="1"/>
          </p:cNvSpPr>
          <p:nvPr>
            <p:ph sz="half" idx="2"/>
          </p:nvPr>
        </p:nvSpPr>
        <p:spPr/>
        <p:txBody>
          <a:bodyPr/>
          <a:lstStyle/>
          <a:p>
            <a:r>
              <a:rPr lang="en-US" dirty="0"/>
              <a:t>Modified Gosu Template</a:t>
            </a:r>
          </a:p>
        </p:txBody>
      </p:sp>
      <p:sp>
        <p:nvSpPr>
          <p:cNvPr id="4" name="Content Placeholder 3"/>
          <p:cNvSpPr>
            <a:spLocks noGrp="1"/>
          </p:cNvSpPr>
          <p:nvPr>
            <p:ph sz="half" idx="1"/>
          </p:nvPr>
        </p:nvSpPr>
        <p:spPr/>
        <p:txBody>
          <a:bodyPr/>
          <a:lstStyle/>
          <a:p>
            <a:r>
              <a:rPr lang="en-US" dirty="0"/>
              <a:t>New Gosu Template</a:t>
            </a:r>
          </a:p>
        </p:txBody>
      </p:sp>
      <p:pic>
        <p:nvPicPr>
          <p:cNvPr id="8" name="Picture 7"/>
          <p:cNvPicPr>
            <a:picLocks noChangeAspect="1"/>
          </p:cNvPicPr>
          <p:nvPr/>
        </p:nvPicPr>
        <p:blipFill>
          <a:blip r:embed="rId3"/>
          <a:stretch>
            <a:fillRect/>
          </a:stretch>
        </p:blipFill>
        <p:spPr>
          <a:xfrm>
            <a:off x="2043114" y="3206682"/>
            <a:ext cx="3976687" cy="3041718"/>
          </a:xfrm>
          <a:prstGeom prst="rect">
            <a:avLst/>
          </a:prstGeom>
        </p:spPr>
      </p:pic>
      <p:pic>
        <p:nvPicPr>
          <p:cNvPr id="9" name="Picture 8"/>
          <p:cNvPicPr>
            <a:picLocks noChangeAspect="1"/>
          </p:cNvPicPr>
          <p:nvPr/>
        </p:nvPicPr>
        <p:blipFill>
          <a:blip r:embed="rId4"/>
          <a:stretch>
            <a:fillRect/>
          </a:stretch>
        </p:blipFill>
        <p:spPr>
          <a:xfrm>
            <a:off x="7162800" y="3206682"/>
            <a:ext cx="2743200" cy="3041718"/>
          </a:xfrm>
          <a:prstGeom prst="rect">
            <a:avLst/>
          </a:prstGeom>
        </p:spPr>
      </p:pic>
    </p:spTree>
    <p:extLst>
      <p:ext uri="{BB962C8B-B14F-4D97-AF65-F5344CB8AC3E}">
        <p14:creationId xmlns:p14="http://schemas.microsoft.com/office/powerpoint/2010/main" val="365222694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DEMO</a:t>
            </a:r>
          </a:p>
        </p:txBody>
      </p:sp>
    </p:spTree>
    <p:extLst>
      <p:ext uri="{BB962C8B-B14F-4D97-AF65-F5344CB8AC3E}">
        <p14:creationId xmlns:p14="http://schemas.microsoft.com/office/powerpoint/2010/main" val="946607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a:solidFill>
                  <a:schemeClr val="bg1"/>
                </a:solidFill>
                <a:cs typeface="Arial"/>
              </a:rPr>
              <a:t>In this demo we will see how to use an existing </a:t>
            </a:r>
            <a:r>
              <a:rPr lang="en-US" sz="2400" err="1">
                <a:solidFill>
                  <a:schemeClr val="bg1"/>
                </a:solidFill>
                <a:cs typeface="Arial"/>
              </a:rPr>
              <a:t>Gosu</a:t>
            </a:r>
            <a:r>
              <a:rPr lang="en-US" sz="2400" dirty="0">
                <a:solidFill>
                  <a:schemeClr val="bg1"/>
                </a:solidFill>
                <a:cs typeface="Arial"/>
              </a:rPr>
              <a:t> template to </a:t>
            </a:r>
            <a:r>
              <a:rPr lang="en-US" sz="2400">
                <a:solidFill>
                  <a:schemeClr val="bg1"/>
                </a:solidFill>
                <a:cs typeface="Arial"/>
              </a:rPr>
              <a:t>generate String payload with bank account information</a:t>
            </a:r>
            <a:endParaRPr lang="en-US">
              <a:solidFill>
                <a:schemeClr val="bg1"/>
              </a:solidFill>
            </a:endParaRPr>
          </a:p>
          <a:p>
            <a:r>
              <a:rPr lang="en-US" sz="2400" dirty="0">
                <a:solidFill>
                  <a:schemeClr val="bg1"/>
                </a:solidFill>
                <a:cs typeface="Arial"/>
              </a:rPr>
              <a:t>We will be using Guidewire </a:t>
            </a:r>
            <a:r>
              <a:rPr lang="en-US" sz="2400" err="1">
                <a:solidFill>
                  <a:schemeClr val="bg1"/>
                </a:solidFill>
                <a:cs typeface="Arial"/>
              </a:rPr>
              <a:t>TrainingApp</a:t>
            </a:r>
            <a:r>
              <a:rPr lang="en-US" sz="2400">
                <a:solidFill>
                  <a:schemeClr val="bg1"/>
                </a:solidFill>
                <a:cs typeface="Arial"/>
              </a:rPr>
              <a:t> studio</a:t>
            </a:r>
          </a:p>
          <a:p>
            <a:r>
              <a:rPr lang="en-US" sz="2400" dirty="0">
                <a:solidFill>
                  <a:schemeClr val="bg1"/>
                </a:solidFill>
                <a:cs typeface="Arial"/>
              </a:rPr>
              <a:t>Open </a:t>
            </a:r>
            <a:r>
              <a:rPr lang="en-US" sz="2400" dirty="0" err="1">
                <a:solidFill>
                  <a:schemeClr val="bg1"/>
                </a:solidFill>
                <a:cs typeface="Arial"/>
              </a:rPr>
              <a:t>BankAccountDataTemplate</a:t>
            </a:r>
            <a:r>
              <a:rPr lang="en-US" sz="2400" dirty="0">
                <a:solidFill>
                  <a:schemeClr val="bg1"/>
                </a:solidFill>
                <a:cs typeface="Arial"/>
              </a:rPr>
              <a:t> file and examine the input required for </a:t>
            </a:r>
            <a:r>
              <a:rPr lang="en-US" sz="2400">
                <a:solidFill>
                  <a:schemeClr val="bg1"/>
                </a:solidFill>
                <a:cs typeface="Arial"/>
              </a:rPr>
              <a:t>it, fields in it</a:t>
            </a:r>
            <a:endParaRPr lang="en-US" sz="2400" dirty="0">
              <a:solidFill>
                <a:schemeClr val="bg1"/>
              </a:solidFill>
            </a:endParaRPr>
          </a:p>
          <a:p>
            <a:r>
              <a:rPr lang="en-US" sz="2400" dirty="0">
                <a:solidFill>
                  <a:schemeClr val="bg1"/>
                </a:solidFill>
                <a:cs typeface="Arial"/>
              </a:rPr>
              <a:t>Use </a:t>
            </a:r>
            <a:r>
              <a:rPr lang="en-US" sz="2400" err="1">
                <a:solidFill>
                  <a:schemeClr val="bg1"/>
                </a:solidFill>
                <a:cs typeface="Arial"/>
              </a:rPr>
              <a:t>Gosu</a:t>
            </a:r>
            <a:r>
              <a:rPr lang="en-US" sz="2400" dirty="0">
                <a:solidFill>
                  <a:schemeClr val="bg1"/>
                </a:solidFill>
                <a:cs typeface="Arial"/>
              </a:rPr>
              <a:t> scratch pad to Query the data and use the </a:t>
            </a:r>
            <a:r>
              <a:rPr lang="en-US" sz="2400" err="1">
                <a:solidFill>
                  <a:schemeClr val="bg1"/>
                </a:solidFill>
                <a:cs typeface="Arial"/>
              </a:rPr>
              <a:t>gosu</a:t>
            </a:r>
            <a:r>
              <a:rPr lang="en-US" sz="2400">
                <a:solidFill>
                  <a:schemeClr val="bg1"/>
                </a:solidFill>
                <a:cs typeface="Arial"/>
              </a:rPr>
              <a:t> template to print the String payload</a:t>
            </a:r>
            <a:endParaRPr lang="en-US" sz="2400" dirty="0">
              <a:solidFill>
                <a:schemeClr val="bg1"/>
              </a:solidFill>
            </a:endParaRPr>
          </a:p>
        </p:txBody>
      </p:sp>
    </p:spTree>
    <p:extLst>
      <p:ext uri="{BB962C8B-B14F-4D97-AF65-F5344CB8AC3E}">
        <p14:creationId xmlns:p14="http://schemas.microsoft.com/office/powerpoint/2010/main" val="1571139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LAB</a:t>
            </a:r>
          </a:p>
        </p:txBody>
      </p:sp>
    </p:spTree>
    <p:extLst>
      <p:ext uri="{BB962C8B-B14F-4D97-AF65-F5344CB8AC3E}">
        <p14:creationId xmlns:p14="http://schemas.microsoft.com/office/powerpoint/2010/main" val="4161410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a:t>
            </a:r>
            <a:r>
              <a:rPr lang="en-US" sz="2400">
                <a:solidFill>
                  <a:schemeClr val="bg1"/>
                </a:solidFill>
              </a:rPr>
              <a:t>Gosu Templates” </a:t>
            </a:r>
            <a:r>
              <a:rPr lang="en-US" sz="2400" dirty="0">
                <a:solidFill>
                  <a:schemeClr val="bg1"/>
                </a:solidFill>
              </a:rPr>
              <a:t>chapter in the “InsuranceSuite 10 Integration: Kickstart “ work book</a:t>
            </a:r>
          </a:p>
        </p:txBody>
      </p:sp>
    </p:spTree>
    <p:extLst>
      <p:ext uri="{BB962C8B-B14F-4D97-AF65-F5344CB8AC3E}">
        <p14:creationId xmlns:p14="http://schemas.microsoft.com/office/powerpoint/2010/main" val="883242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marL="400050" lvl="1" indent="0">
              <a:buNone/>
            </a:pPr>
            <a:endParaRPr lang="en-US" dirty="0"/>
          </a:p>
          <a:p>
            <a:pPr lvl="2"/>
            <a:r>
              <a:rPr lang="en-US" dirty="0"/>
              <a:t>Describe the role that message payloads play in messaging</a:t>
            </a:r>
          </a:p>
          <a:p>
            <a:pPr lvl="2"/>
            <a:r>
              <a:rPr lang="en-US" dirty="0"/>
              <a:t>Use Gosu templates to generate message payloads (for any type of text format)</a:t>
            </a:r>
          </a:p>
          <a:p>
            <a:endParaRPr lang="en-US" dirty="0"/>
          </a:p>
        </p:txBody>
      </p:sp>
      <p:sp>
        <p:nvSpPr>
          <p:cNvPr id="4" name="Title 2"/>
          <p:cNvSpPr txBox="1">
            <a:spLocks/>
          </p:cNvSpPr>
          <p:nvPr/>
        </p:nvSpPr>
        <p:spPr>
          <a:xfrm>
            <a:off x="658368" y="118873"/>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t>Lesson Objectives Review</a:t>
            </a:r>
          </a:p>
        </p:txBody>
      </p:sp>
      <p:sp>
        <p:nvSpPr>
          <p:cNvPr id="5" name="Text Placeholder 2"/>
          <p:cNvSpPr txBox="1">
            <a:spLocks/>
          </p:cNvSpPr>
          <p:nvPr/>
        </p:nvSpPr>
        <p:spPr bwMode="auto">
          <a:xfrm>
            <a:off x="304800" y="810768"/>
            <a:ext cx="4191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lang="en-US" sz="2000" dirty="0" smtClean="0">
                <a:solidFill>
                  <a:schemeClr val="bg1"/>
                </a:solidFill>
                <a:latin typeface="+mn-lt"/>
                <a:ea typeface="Calibri" pitchFamily="34" charset="0"/>
                <a:cs typeface="Calibri" pitchFamily="34"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pPr marL="400050" lvl="1" indent="0">
              <a:buFont typeface="Calibri" pitchFamily="34" charset="0"/>
              <a:buNone/>
            </a:pPr>
            <a:endParaRPr lang="en-US" kern="0" dirty="0"/>
          </a:p>
          <a:p>
            <a:pPr>
              <a:buFont typeface="Arial" panose="020B0604020202020204" pitchFamily="34" charset="0"/>
              <a:buChar char="•"/>
            </a:pPr>
            <a:r>
              <a:rPr lang="en-US" kern="0" dirty="0"/>
              <a:t>You should now be able to:</a:t>
            </a:r>
          </a:p>
        </p:txBody>
      </p:sp>
    </p:spTree>
    <p:extLst>
      <p:ext uri="{BB962C8B-B14F-4D97-AF65-F5344CB8AC3E}">
        <p14:creationId xmlns:p14="http://schemas.microsoft.com/office/powerpoint/2010/main" val="169660435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Identify if each statement about Gosu Templates is True of False.</a:t>
            </a:r>
          </a:p>
          <a:p>
            <a:r>
              <a:rPr lang="en-US" dirty="0"/>
              <a:t>It can take any number of input values.</a:t>
            </a:r>
          </a:p>
          <a:p>
            <a:r>
              <a:rPr lang="en-US" dirty="0"/>
              <a:t>It can make use of conditional statements and for loops.</a:t>
            </a:r>
          </a:p>
          <a:p>
            <a:r>
              <a:rPr lang="en-US" dirty="0"/>
              <a:t>It can include values from both the object that triggered the message event and objects related to the triggering object.</a:t>
            </a:r>
          </a:p>
          <a:p>
            <a:r>
              <a:rPr lang="en-US" dirty="0"/>
              <a:t>It can be used only for payload generation</a:t>
            </a:r>
          </a:p>
        </p:txBody>
      </p:sp>
      <p:sp>
        <p:nvSpPr>
          <p:cNvPr id="4" name="Title 2"/>
          <p:cNvSpPr txBox="1">
            <a:spLocks/>
          </p:cNvSpPr>
          <p:nvPr/>
        </p:nvSpPr>
        <p:spPr>
          <a:xfrm>
            <a:off x="658368" y="118873"/>
            <a:ext cx="11094720" cy="742951"/>
          </a:xfrm>
          <a:prstGeom prst="rect">
            <a:avLst/>
          </a:prstGeom>
        </p:spPr>
        <p:txBody>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kern="0" dirty="0"/>
              <a:t>Review Questions</a:t>
            </a:r>
          </a:p>
        </p:txBody>
      </p:sp>
    </p:spTree>
    <p:extLst>
      <p:ext uri="{BB962C8B-B14F-4D97-AF65-F5344CB8AC3E}">
        <p14:creationId xmlns:p14="http://schemas.microsoft.com/office/powerpoint/2010/main" val="141883182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endParaRPr lang="en-US" dirty="0"/>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516531728"/>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D371DC-BFA3-48B8-A94B-783DB8B07C03}"/>
</file>

<file path=customXml/itemProps2.xml><?xml version="1.0" encoding="utf-8"?>
<ds:datastoreItem xmlns:ds="http://schemas.openxmlformats.org/officeDocument/2006/customXml" ds:itemID="{B6F94036-ED8B-4707-8581-291C9CA5166C}">
  <ds:schemaRefs>
    <ds:schemaRef ds:uri="http://schemas.microsoft.com/office/2006/documentManagement/types"/>
    <ds:schemaRef ds:uri="http://purl.org/dc/elements/1.1/"/>
    <ds:schemaRef ds:uri="http://schemas.microsoft.com/office/infopath/2007/PartnerControls"/>
    <ds:schemaRef ds:uri="http://purl.org/dc/terms/"/>
    <ds:schemaRef ds:uri="http://purl.org/dc/dcmitype/"/>
    <ds:schemaRef ds:uri="http://schemas.openxmlformats.org/package/2006/metadata/core-properties"/>
    <ds:schemaRef ds:uri="ec2ac320-4691-4145-9221-fe31435db75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4DEE88BC-D817-44B3-BF48-D0924EA233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1577</TotalTime>
  <Words>1742</Words>
  <Application>Microsoft Office PowerPoint</Application>
  <PresentationFormat>Widescreen</PresentationFormat>
  <Paragraphs>170</Paragraphs>
  <Slides>21</Slides>
  <Notes>18</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Emerald_Template</vt:lpstr>
      <vt:lpstr>InsuranceSuite 10 Integration</vt:lpstr>
      <vt:lpstr>PowerPoint Presentation</vt:lpstr>
      <vt:lpstr>PowerPoint Presentation</vt:lpstr>
      <vt:lpstr>Message payload</vt:lpstr>
      <vt:lpstr>Two easy ways for generating payloads</vt:lpstr>
      <vt:lpstr>PowerPoint Presentation</vt:lpstr>
      <vt:lpstr>Gosu template</vt:lpstr>
      <vt:lpstr>Steps to create a Gosu template</vt:lpstr>
      <vt:lpstr>Gosu Template syntax: parameters</vt:lpstr>
      <vt:lpstr>Gosu Template syntax: expressions</vt:lpstr>
      <vt:lpstr>Gosu Template syntax: scriptlets</vt:lpstr>
      <vt:lpstr>Generating String output using Gosu Template</vt:lpstr>
      <vt:lpstr>Gosu template payload example</vt:lpstr>
      <vt:lpstr>Deploy Code Changes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Payloads</dc:title>
  <dc:subject>Guidewire 8.0 Application Integration Messaging Payloads</dc:subject>
  <dc:creator>Seth Luersen</dc:creator>
  <cp:keywords>Emerald;Guidewire 8.0 Application Integration;Messaging Payloads</cp:keywords>
  <dc:description>8.0.1</dc:description>
  <cp:lastModifiedBy>Neyyadiyilsahadevan, Anoop (Cognizant)</cp:lastModifiedBy>
  <cp:revision>178</cp:revision>
  <dcterms:created xsi:type="dcterms:W3CDTF">2013-08-19T16:16:51Z</dcterms:created>
  <dcterms:modified xsi:type="dcterms:W3CDTF">2020-12-30T11:54:11Z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