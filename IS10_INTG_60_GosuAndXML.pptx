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3" r:id="rId4"/>
  </p:sldMasterIdLst>
  <p:notesMasterIdLst>
    <p:notesMasterId r:id="rId65"/>
  </p:notesMasterIdLst>
  <p:handoutMasterIdLst>
    <p:handoutMasterId r:id="rId66"/>
  </p:handoutMasterIdLst>
  <p:sldIdLst>
    <p:sldId id="328" r:id="rId5"/>
    <p:sldId id="257" r:id="rId6"/>
    <p:sldId id="258" r:id="rId7"/>
    <p:sldId id="304" r:id="rId8"/>
    <p:sldId id="276" r:id="rId9"/>
    <p:sldId id="277" r:id="rId10"/>
    <p:sldId id="278" r:id="rId11"/>
    <p:sldId id="279" r:id="rId12"/>
    <p:sldId id="280" r:id="rId13"/>
    <p:sldId id="264" r:id="rId14"/>
    <p:sldId id="265" r:id="rId15"/>
    <p:sldId id="300" r:id="rId16"/>
    <p:sldId id="281" r:id="rId17"/>
    <p:sldId id="282" r:id="rId18"/>
    <p:sldId id="283" r:id="rId19"/>
    <p:sldId id="266" r:id="rId20"/>
    <p:sldId id="267" r:id="rId21"/>
    <p:sldId id="307" r:id="rId22"/>
    <p:sldId id="284" r:id="rId23"/>
    <p:sldId id="286" r:id="rId24"/>
    <p:sldId id="287" r:id="rId25"/>
    <p:sldId id="285" r:id="rId26"/>
    <p:sldId id="288" r:id="rId27"/>
    <p:sldId id="269" r:id="rId28"/>
    <p:sldId id="270" r:id="rId29"/>
    <p:sldId id="309" r:id="rId30"/>
    <p:sldId id="289" r:id="rId31"/>
    <p:sldId id="290" r:id="rId32"/>
    <p:sldId id="272" r:id="rId33"/>
    <p:sldId id="317" r:id="rId34"/>
    <p:sldId id="273" r:id="rId35"/>
    <p:sldId id="318" r:id="rId36"/>
    <p:sldId id="319" r:id="rId37"/>
    <p:sldId id="292" r:id="rId38"/>
    <p:sldId id="320" r:id="rId39"/>
    <p:sldId id="293" r:id="rId40"/>
    <p:sldId id="299" r:id="rId41"/>
    <p:sldId id="310" r:id="rId42"/>
    <p:sldId id="298" r:id="rId43"/>
    <p:sldId id="274" r:id="rId44"/>
    <p:sldId id="301" r:id="rId45"/>
    <p:sldId id="311" r:id="rId46"/>
    <p:sldId id="302" r:id="rId47"/>
    <p:sldId id="312" r:id="rId48"/>
    <p:sldId id="313" r:id="rId49"/>
    <p:sldId id="314" r:id="rId50"/>
    <p:sldId id="315" r:id="rId51"/>
    <p:sldId id="316" r:id="rId52"/>
    <p:sldId id="332" r:id="rId53"/>
    <p:sldId id="333" r:id="rId54"/>
    <p:sldId id="331" r:id="rId55"/>
    <p:sldId id="334" r:id="rId56"/>
    <p:sldId id="260" r:id="rId57"/>
    <p:sldId id="330" r:id="rId58"/>
    <p:sldId id="324" r:id="rId59"/>
    <p:sldId id="329" r:id="rId60"/>
    <p:sldId id="326" r:id="rId61"/>
    <p:sldId id="261" r:id="rId62"/>
    <p:sldId id="321" r:id="rId63"/>
    <p:sldId id="32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BE88CA-60B1-41F9-9D82-E2AD85DAA7FD}">
          <p14:sldIdLst>
            <p14:sldId id="328"/>
            <p14:sldId id="257"/>
          </p14:sldIdLst>
        </p14:section>
        <p14:section name="Overview" id="{0CA6634F-C6FD-4BBA-B04E-9ED03905FDE5}">
          <p14:sldIdLst>
            <p14:sldId id="258"/>
            <p14:sldId id="304"/>
            <p14:sldId id="276"/>
            <p14:sldId id="277"/>
            <p14:sldId id="278"/>
            <p14:sldId id="279"/>
            <p14:sldId id="280"/>
          </p14:sldIdLst>
        </p14:section>
        <p14:section name="XML Class" id="{DF2CDF89-1290-407C-A856-E873FD9BFD9E}">
          <p14:sldIdLst>
            <p14:sldId id="264"/>
            <p14:sldId id="265"/>
            <p14:sldId id="300"/>
            <p14:sldId id="281"/>
            <p14:sldId id="282"/>
            <p14:sldId id="283"/>
          </p14:sldIdLst>
        </p14:section>
        <p14:section name="Reading" id="{A4CFB517-A2DA-4442-8078-2ADE5A313F18}">
          <p14:sldIdLst>
            <p14:sldId id="266"/>
            <p14:sldId id="267"/>
            <p14:sldId id="307"/>
            <p14:sldId id="284"/>
            <p14:sldId id="286"/>
            <p14:sldId id="287"/>
            <p14:sldId id="285"/>
            <p14:sldId id="288"/>
          </p14:sldIdLst>
        </p14:section>
        <p14:section name="Writing" id="{C9298063-A77E-4D13-9725-62F6923D2E73}">
          <p14:sldIdLst>
            <p14:sldId id="269"/>
            <p14:sldId id="270"/>
            <p14:sldId id="309"/>
            <p14:sldId id="289"/>
            <p14:sldId id="290"/>
          </p14:sldIdLst>
        </p14:section>
        <p14:section name="Strongly-typed" id="{0B0CFD27-2475-4A30-A117-C176BC7369F2}">
          <p14:sldIdLst>
            <p14:sldId id="272"/>
            <p14:sldId id="317"/>
            <p14:sldId id="273"/>
            <p14:sldId id="318"/>
            <p14:sldId id="319"/>
            <p14:sldId id="292"/>
            <p14:sldId id="320"/>
            <p14:sldId id="293"/>
            <p14:sldId id="299"/>
            <p14:sldId id="310"/>
            <p14:sldId id="298"/>
          </p14:sldIdLst>
        </p14:section>
        <p14:section name="XML Tools" id="{FE5B9D67-357B-48E6-8310-BEDF5B6E551A}">
          <p14:sldIdLst>
            <p14:sldId id="274"/>
            <p14:sldId id="301"/>
            <p14:sldId id="311"/>
            <p14:sldId id="302"/>
            <p14:sldId id="312"/>
            <p14:sldId id="313"/>
            <p14:sldId id="314"/>
            <p14:sldId id="315"/>
            <p14:sldId id="316"/>
            <p14:sldId id="332"/>
            <p14:sldId id="333"/>
            <p14:sldId id="331"/>
            <p14:sldId id="334"/>
          </p14:sldIdLst>
        </p14:section>
        <p14:section name="Review" id="{CD3E2942-0691-4B15-B842-079311E6BD2A}">
          <p14:sldIdLst>
            <p14:sldId id="260"/>
            <p14:sldId id="330"/>
            <p14:sldId id="324"/>
            <p14:sldId id="329"/>
            <p14:sldId id="326"/>
            <p14:sldId id="261"/>
            <p14:sldId id="321"/>
            <p14:sldId id="327"/>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6B8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6AC22D-E59E-4869-B342-0BC24BFB3373}" v="1" dt="2021-03-24T08:19:55.063"/>
    <p1510:client id="{CE0D4B45-0D4E-4689-AD21-4DA1302CE3DF}" v="1" dt="2021-03-24T12:09:28.895"/>
    <p1510:client id="{F6643567-A0B8-496B-873F-CDEA967081F7}" v="122" dt="2020-12-14T07:31:45.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guide/>
      </p:guideLst>
    </p:cSldViewPr>
  </p:slideViewPr>
  <p:notesViewPr>
    <p:cSldViewPr snapToGrid="0">
      <p:cViewPr>
        <p:scale>
          <a:sx n="1" d="2"/>
          <a:sy n="1" d="2"/>
        </p:scale>
        <p:origin x="0" y="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Priyadharshini (Cognizant)" userId="S::888356@cognizant.com::642862ec-6159-4a24-a642-752c6e32b8df" providerId="AD" clId="Web-{CE0D4B45-0D4E-4689-AD21-4DA1302CE3DF}"/>
    <pc:docChg chg="modSld">
      <pc:chgData name="S, Priyadharshini (Cognizant)" userId="S::888356@cognizant.com::642862ec-6159-4a24-a642-752c6e32b8df" providerId="AD" clId="Web-{CE0D4B45-0D4E-4689-AD21-4DA1302CE3DF}" dt="2021-03-24T12:09:28.895" v="0" actId="1076"/>
      <pc:docMkLst>
        <pc:docMk/>
      </pc:docMkLst>
      <pc:sldChg chg="modSp">
        <pc:chgData name="S, Priyadharshini (Cognizant)" userId="S::888356@cognizant.com::642862ec-6159-4a24-a642-752c6e32b8df" providerId="AD" clId="Web-{CE0D4B45-0D4E-4689-AD21-4DA1302CE3DF}" dt="2021-03-24T12:09:28.895" v="0" actId="1076"/>
        <pc:sldMkLst>
          <pc:docMk/>
          <pc:sldMk cId="438354054" sldId="333"/>
        </pc:sldMkLst>
        <pc:picChg chg="mod">
          <ac:chgData name="S, Priyadharshini (Cognizant)" userId="S::888356@cognizant.com::642862ec-6159-4a24-a642-752c6e32b8df" providerId="AD" clId="Web-{CE0D4B45-0D4E-4689-AD21-4DA1302CE3DF}" dt="2021-03-24T12:09:28.895" v="0" actId="1076"/>
          <ac:picMkLst>
            <pc:docMk/>
            <pc:sldMk cId="438354054" sldId="333"/>
            <ac:picMk id="5" creationId="{00000000-0000-0000-0000-000000000000}"/>
          </ac:picMkLst>
        </pc:picChg>
      </pc:sldChg>
    </pc:docChg>
  </pc:docChgLst>
  <pc:docChgLst>
    <pc:chgData name="Kanagavel, Saravanan (Cognizant)" userId="S::241962@cognizant.com::d0c3f32b-5ee3-422c-96ca-cc104dbd3e95" providerId="AD" clId="Web-{F6643567-A0B8-496B-873F-CDEA967081F7}"/>
    <pc:docChg chg="modSld">
      <pc:chgData name="Kanagavel, Saravanan (Cognizant)" userId="S::241962@cognizant.com::d0c3f32b-5ee3-422c-96ca-cc104dbd3e95" providerId="AD" clId="Web-{F6643567-A0B8-496B-873F-CDEA967081F7}" dt="2020-12-14T07:31:45.293" v="121" actId="20577"/>
      <pc:docMkLst>
        <pc:docMk/>
      </pc:docMkLst>
      <pc:sldChg chg="modSp">
        <pc:chgData name="Kanagavel, Saravanan (Cognizant)" userId="S::241962@cognizant.com::d0c3f32b-5ee3-422c-96ca-cc104dbd3e95" providerId="AD" clId="Web-{F6643567-A0B8-496B-873F-CDEA967081F7}" dt="2020-12-14T07:31:45.293" v="121" actId="20577"/>
        <pc:sldMkLst>
          <pc:docMk/>
          <pc:sldMk cId="2609824057" sldId="324"/>
        </pc:sldMkLst>
        <pc:spChg chg="mod">
          <ac:chgData name="Kanagavel, Saravanan (Cognizant)" userId="S::241962@cognizant.com::d0c3f32b-5ee3-422c-96ca-cc104dbd3e95" providerId="AD" clId="Web-{F6643567-A0B8-496B-873F-CDEA967081F7}" dt="2020-12-14T07:31:45.293" v="121" actId="20577"/>
          <ac:spMkLst>
            <pc:docMk/>
            <pc:sldMk cId="2609824057" sldId="324"/>
            <ac:spMk id="2" creationId="{00000000-0000-0000-0000-000000000000}"/>
          </ac:spMkLst>
        </pc:spChg>
      </pc:sldChg>
    </pc:docChg>
  </pc:docChgLst>
  <pc:docChgLst>
    <pc:chgData name="P, Venkatesh (Cognizant)" userId="S::888339@cognizant.com::08463487-7481-4a88-a2de-0a636b37f37b" providerId="AD" clId="Web-{446AC22D-E59E-4869-B342-0BC24BFB3373}"/>
    <pc:docChg chg="modSld">
      <pc:chgData name="P, Venkatesh (Cognizant)" userId="S::888339@cognizant.com::08463487-7481-4a88-a2de-0a636b37f37b" providerId="AD" clId="Web-{446AC22D-E59E-4869-B342-0BC24BFB3373}" dt="2021-03-24T08:19:55.063" v="0" actId="1076"/>
      <pc:docMkLst>
        <pc:docMk/>
      </pc:docMkLst>
      <pc:sldChg chg="modSp">
        <pc:chgData name="P, Venkatesh (Cognizant)" userId="S::888339@cognizant.com::08463487-7481-4a88-a2de-0a636b37f37b" providerId="AD" clId="Web-{446AC22D-E59E-4869-B342-0BC24BFB3373}" dt="2021-03-24T08:19:55.063" v="0" actId="1076"/>
        <pc:sldMkLst>
          <pc:docMk/>
          <pc:sldMk cId="1009244965" sldId="301"/>
        </pc:sldMkLst>
        <pc:spChg chg="mod">
          <ac:chgData name="P, Venkatesh (Cognizant)" userId="S::888339@cognizant.com::08463487-7481-4a88-a2de-0a636b37f37b" providerId="AD" clId="Web-{446AC22D-E59E-4869-B342-0BC24BFB3373}" dt="2021-03-24T08:19:55.063" v="0" actId="1076"/>
          <ac:spMkLst>
            <pc:docMk/>
            <pc:sldMk cId="1009244965" sldId="301"/>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pt>
    <dgm:pt modelId="{6322B716-AD5B-469B-B6C9-D0812BACD5A7}" type="pres">
      <dgm:prSet presAssocID="{3A326F82-BBA9-4891-9C01-CECB348137C8}" presName="Name13" presStyleLbl="parChTrans1D2" presStyleIdx="1" presStyleCnt="2"/>
      <dgm:spPr/>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pt>
  </dgm:ptLst>
  <dgm:cxnLst>
    <dgm:cxn modelId="{B71D7101-C357-4054-8DF6-75BC9504F852}" type="presOf" srcId="{793D828B-ABA0-4426-901D-04DE2ED6B75D}" destId="{0841F29B-CD42-48F9-A39F-404F3AF3FBB7}" srcOrd="0" destOrd="0" presId="urn:microsoft.com/office/officeart/2005/8/layout/hierarchy3"/>
    <dgm:cxn modelId="{65FBD82F-C558-4986-9BE2-A1ACFADE0055}" type="presOf" srcId="{3A326F82-BBA9-4891-9C01-CECB348137C8}" destId="{6322B716-AD5B-469B-B6C9-D0812BACD5A7}" srcOrd="0" destOrd="0" presId="urn:microsoft.com/office/officeart/2005/8/layout/hierarchy3"/>
    <dgm:cxn modelId="{32B8A144-4FEA-4A8D-B21F-3492B7942368}" type="presOf" srcId="{706F2198-8270-4483-8D92-DBEF04746BF9}" destId="{A3BDD698-BF91-4341-84D0-8FC2D3514B78}" srcOrd="0" destOrd="0" presId="urn:microsoft.com/office/officeart/2005/8/layout/hierarchy3"/>
    <dgm:cxn modelId="{A0891454-E6F6-458D-9645-E9062241DD6B}" type="presOf" srcId="{1DB55942-BFD5-4174-94A7-42C9A424B9F6}" destId="{0CF3438D-9A90-4C81-8E47-64AFAEE046B7}"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DF0B4EBE-2CD5-40E5-9F19-CBC70A70E181}" type="presOf" srcId="{864EE0E4-4AEC-42CD-84A4-9E9EF1B8E343}" destId="{ED8E1768-E956-4EB5-B9F8-EB5B483D2A11}"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9A141EEA-8219-4097-BA82-616E1AB3C623}" type="presOf" srcId="{793D828B-ABA0-4426-901D-04DE2ED6B75D}" destId="{0367EBEA-8E8A-4C1C-9D5F-0D323918105D}" srcOrd="1" destOrd="0" presId="urn:microsoft.com/office/officeart/2005/8/layout/hierarchy3"/>
    <dgm:cxn modelId="{1A3704F1-D539-43AF-A700-383E53E0753A}" srcId="{FAF3C371-E138-4677-9576-65DF20BE5FDF}" destId="{793D828B-ABA0-4426-901D-04DE2ED6B75D}" srcOrd="0" destOrd="0" parTransId="{C03F9808-E416-4B8F-84A0-B67D2FEE9D58}" sibTransId="{13565037-477F-4D41-8406-838E86242C08}"/>
    <dgm:cxn modelId="{F1368EFC-A72F-464E-98E6-0A737E6316FB}" type="presOf" srcId="{FAF3C371-E138-4677-9576-65DF20BE5FDF}" destId="{8DEF5889-9A79-4B8B-99E3-4E06D6E458CD}" srcOrd="0" destOrd="0" presId="urn:microsoft.com/office/officeart/2005/8/layout/hierarchy3"/>
    <dgm:cxn modelId="{3334A81F-465D-436E-B407-88B648A9164C}" type="presParOf" srcId="{8DEF5889-9A79-4B8B-99E3-4E06D6E458CD}" destId="{626844CA-C713-45A5-A7D1-D1977E3F3038}" srcOrd="0" destOrd="0" presId="urn:microsoft.com/office/officeart/2005/8/layout/hierarchy3"/>
    <dgm:cxn modelId="{1BB99AB7-9F7C-4331-A5A2-AC00CA391789}" type="presParOf" srcId="{626844CA-C713-45A5-A7D1-D1977E3F3038}" destId="{AC35E0B6-787E-4C0B-BB5C-73C7D7A35BC6}" srcOrd="0" destOrd="0" presId="urn:microsoft.com/office/officeart/2005/8/layout/hierarchy3"/>
    <dgm:cxn modelId="{9479C326-72D3-4691-A0F3-7CA24E8C56E3}" type="presParOf" srcId="{AC35E0B6-787E-4C0B-BB5C-73C7D7A35BC6}" destId="{0841F29B-CD42-48F9-A39F-404F3AF3FBB7}" srcOrd="0" destOrd="0" presId="urn:microsoft.com/office/officeart/2005/8/layout/hierarchy3"/>
    <dgm:cxn modelId="{FB40958B-8BFF-4971-9F61-6C56B3D12A79}" type="presParOf" srcId="{AC35E0B6-787E-4C0B-BB5C-73C7D7A35BC6}" destId="{0367EBEA-8E8A-4C1C-9D5F-0D323918105D}" srcOrd="1" destOrd="0" presId="urn:microsoft.com/office/officeart/2005/8/layout/hierarchy3"/>
    <dgm:cxn modelId="{A51CCD55-9DDD-4F3C-96D3-6EAE8B14BA7E}" type="presParOf" srcId="{626844CA-C713-45A5-A7D1-D1977E3F3038}" destId="{C9B148D1-9C1B-48E8-BB22-8940EB28892A}" srcOrd="1" destOrd="0" presId="urn:microsoft.com/office/officeart/2005/8/layout/hierarchy3"/>
    <dgm:cxn modelId="{716A5F80-B970-4606-ADD2-823D2F733F27}" type="presParOf" srcId="{C9B148D1-9C1B-48E8-BB22-8940EB28892A}" destId="{A3BDD698-BF91-4341-84D0-8FC2D3514B78}" srcOrd="0" destOrd="0" presId="urn:microsoft.com/office/officeart/2005/8/layout/hierarchy3"/>
    <dgm:cxn modelId="{A7AF24BC-7683-49BB-BD46-C35904881989}" type="presParOf" srcId="{C9B148D1-9C1B-48E8-BB22-8940EB28892A}" destId="{ED8E1768-E956-4EB5-B9F8-EB5B483D2A11}" srcOrd="1" destOrd="0" presId="urn:microsoft.com/office/officeart/2005/8/layout/hierarchy3"/>
    <dgm:cxn modelId="{4DA1E163-082E-4372-AE5C-0F13C652A08E}" type="presParOf" srcId="{C9B148D1-9C1B-48E8-BB22-8940EB28892A}" destId="{6322B716-AD5B-469B-B6C9-D0812BACD5A7}" srcOrd="2" destOrd="0" presId="urn:microsoft.com/office/officeart/2005/8/layout/hierarchy3"/>
    <dgm:cxn modelId="{A0319C11-3E08-4C94-BFDA-63D56681C539}"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pt>
    <dgm:pt modelId="{6322B716-AD5B-469B-B6C9-D0812BACD5A7}" type="pres">
      <dgm:prSet presAssocID="{3A326F82-BBA9-4891-9C01-CECB348137C8}" presName="Name13" presStyleLbl="parChTrans1D2" presStyleIdx="1" presStyleCnt="2"/>
      <dgm:spPr/>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pt>
  </dgm:ptLst>
  <dgm:cxnLst>
    <dgm:cxn modelId="{8BD89E32-25B9-45C5-89B7-1B80C3937414}" type="presOf" srcId="{3A326F82-BBA9-4891-9C01-CECB348137C8}" destId="{6322B716-AD5B-469B-B6C9-D0812BACD5A7}" srcOrd="0" destOrd="0" presId="urn:microsoft.com/office/officeart/2005/8/layout/hierarchy3"/>
    <dgm:cxn modelId="{F2912A61-F7A3-4480-A8E3-71EDEF34486B}" type="presOf" srcId="{793D828B-ABA0-4426-901D-04DE2ED6B75D}" destId="{0841F29B-CD42-48F9-A39F-404F3AF3FBB7}" srcOrd="0" destOrd="0" presId="urn:microsoft.com/office/officeart/2005/8/layout/hierarchy3"/>
    <dgm:cxn modelId="{62CDD274-D638-4720-AA7D-67401A2E4946}" type="presOf" srcId="{793D828B-ABA0-4426-901D-04DE2ED6B75D}" destId="{0367EBEA-8E8A-4C1C-9D5F-0D323918105D}" srcOrd="1"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29F65F85-7B70-4C9A-B64A-090E86BE39F4}" type="presOf" srcId="{1DB55942-BFD5-4174-94A7-42C9A424B9F6}" destId="{0CF3438D-9A90-4C81-8E47-64AFAEE046B7}" srcOrd="0" destOrd="0" presId="urn:microsoft.com/office/officeart/2005/8/layout/hierarchy3"/>
    <dgm:cxn modelId="{040979A3-51B1-4ECB-8990-37DB67D275CC}" type="presOf" srcId="{FAF3C371-E138-4677-9576-65DF20BE5FDF}" destId="{8DEF5889-9A79-4B8B-99E3-4E06D6E458CD}" srcOrd="0" destOrd="0" presId="urn:microsoft.com/office/officeart/2005/8/layout/hierarchy3"/>
    <dgm:cxn modelId="{485899A5-1D44-437E-981C-D8C1BFE8431E}" type="presOf" srcId="{706F2198-8270-4483-8D92-DBEF04746BF9}" destId="{A3BDD698-BF91-4341-84D0-8FC2D3514B78}" srcOrd="0" destOrd="0" presId="urn:microsoft.com/office/officeart/2005/8/layout/hierarchy3"/>
    <dgm:cxn modelId="{B98D48C1-1DE7-4005-9D7E-11CF0E2E392C}" type="presOf" srcId="{864EE0E4-4AEC-42CD-84A4-9E9EF1B8E343}" destId="{ED8E1768-E956-4EB5-B9F8-EB5B483D2A11}"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1A3704F1-D539-43AF-A700-383E53E0753A}" srcId="{FAF3C371-E138-4677-9576-65DF20BE5FDF}" destId="{793D828B-ABA0-4426-901D-04DE2ED6B75D}" srcOrd="0" destOrd="0" parTransId="{C03F9808-E416-4B8F-84A0-B67D2FEE9D58}" sibTransId="{13565037-477F-4D41-8406-838E86242C08}"/>
    <dgm:cxn modelId="{1B8C6D6A-1FC3-430F-9CEC-8775B29BD26A}" type="presParOf" srcId="{8DEF5889-9A79-4B8B-99E3-4E06D6E458CD}" destId="{626844CA-C713-45A5-A7D1-D1977E3F3038}" srcOrd="0" destOrd="0" presId="urn:microsoft.com/office/officeart/2005/8/layout/hierarchy3"/>
    <dgm:cxn modelId="{D94A76C2-759C-43C9-818F-D415FA090521}" type="presParOf" srcId="{626844CA-C713-45A5-A7D1-D1977E3F3038}" destId="{AC35E0B6-787E-4C0B-BB5C-73C7D7A35BC6}" srcOrd="0" destOrd="0" presId="urn:microsoft.com/office/officeart/2005/8/layout/hierarchy3"/>
    <dgm:cxn modelId="{49713F0B-CDFD-4D37-8745-9C18E6361316}" type="presParOf" srcId="{AC35E0B6-787E-4C0B-BB5C-73C7D7A35BC6}" destId="{0841F29B-CD42-48F9-A39F-404F3AF3FBB7}" srcOrd="0" destOrd="0" presId="urn:microsoft.com/office/officeart/2005/8/layout/hierarchy3"/>
    <dgm:cxn modelId="{B9E9BA97-2E95-4039-B5B6-16781146E014}" type="presParOf" srcId="{AC35E0B6-787E-4C0B-BB5C-73C7D7A35BC6}" destId="{0367EBEA-8E8A-4C1C-9D5F-0D323918105D}" srcOrd="1" destOrd="0" presId="urn:microsoft.com/office/officeart/2005/8/layout/hierarchy3"/>
    <dgm:cxn modelId="{76E83D99-B587-4853-9ADA-E6FAA2F5F367}" type="presParOf" srcId="{626844CA-C713-45A5-A7D1-D1977E3F3038}" destId="{C9B148D1-9C1B-48E8-BB22-8940EB28892A}" srcOrd="1" destOrd="0" presId="urn:microsoft.com/office/officeart/2005/8/layout/hierarchy3"/>
    <dgm:cxn modelId="{DA2BFF3A-F9E0-42A8-9004-854F123A447A}" type="presParOf" srcId="{C9B148D1-9C1B-48E8-BB22-8940EB28892A}" destId="{A3BDD698-BF91-4341-84D0-8FC2D3514B78}" srcOrd="0" destOrd="0" presId="urn:microsoft.com/office/officeart/2005/8/layout/hierarchy3"/>
    <dgm:cxn modelId="{CF315C16-136F-4A8F-B598-AC24A74637FB}" type="presParOf" srcId="{C9B148D1-9C1B-48E8-BB22-8940EB28892A}" destId="{ED8E1768-E956-4EB5-B9F8-EB5B483D2A11}" srcOrd="1" destOrd="0" presId="urn:microsoft.com/office/officeart/2005/8/layout/hierarchy3"/>
    <dgm:cxn modelId="{6D41570B-058C-4285-BABD-5DAC730E4109}" type="presParOf" srcId="{C9B148D1-9C1B-48E8-BB22-8940EB28892A}" destId="{6322B716-AD5B-469B-B6C9-D0812BACD5A7}" srcOrd="2" destOrd="0" presId="urn:microsoft.com/office/officeart/2005/8/layout/hierarchy3"/>
    <dgm:cxn modelId="{FFB2909F-BD7D-4ACC-A7C6-8D901BC7292D}"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pt>
    <dgm:pt modelId="{6322B716-AD5B-469B-B6C9-D0812BACD5A7}" type="pres">
      <dgm:prSet presAssocID="{3A326F82-BBA9-4891-9C01-CECB348137C8}" presName="Name13" presStyleLbl="parChTrans1D2" presStyleIdx="1" presStyleCnt="2"/>
      <dgm:spPr/>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pt>
  </dgm:ptLst>
  <dgm:cxnLst>
    <dgm:cxn modelId="{4483E80F-5C4D-4C21-89FB-36C0109CA904}" type="presOf" srcId="{FAF3C371-E138-4677-9576-65DF20BE5FDF}" destId="{8DEF5889-9A79-4B8B-99E3-4E06D6E458CD}" srcOrd="0" destOrd="0" presId="urn:microsoft.com/office/officeart/2005/8/layout/hierarchy3"/>
    <dgm:cxn modelId="{7DD8DF17-D2CC-497B-B244-5BE44D2D5DF9}" type="presOf" srcId="{793D828B-ABA0-4426-901D-04DE2ED6B75D}" destId="{0367EBEA-8E8A-4C1C-9D5F-0D323918105D}" srcOrd="1" destOrd="0" presId="urn:microsoft.com/office/officeart/2005/8/layout/hierarchy3"/>
    <dgm:cxn modelId="{2102D83A-A5CB-45DA-9E3F-CE79E8870E69}" type="presOf" srcId="{864EE0E4-4AEC-42CD-84A4-9E9EF1B8E343}" destId="{ED8E1768-E956-4EB5-B9F8-EB5B483D2A11}" srcOrd="0" destOrd="0" presId="urn:microsoft.com/office/officeart/2005/8/layout/hierarchy3"/>
    <dgm:cxn modelId="{98440F68-5FF0-4FC6-A803-923E574E6015}" type="presOf" srcId="{3A326F82-BBA9-4891-9C01-CECB348137C8}" destId="{6322B716-AD5B-469B-B6C9-D0812BACD5A7}"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287AB0C4-1C89-42E4-AA0D-D74B5D09BC19}" type="presOf" srcId="{1DB55942-BFD5-4174-94A7-42C9A424B9F6}" destId="{0CF3438D-9A90-4C81-8E47-64AFAEE046B7}" srcOrd="0" destOrd="0" presId="urn:microsoft.com/office/officeart/2005/8/layout/hierarchy3"/>
    <dgm:cxn modelId="{4B66F4DE-6159-4C70-B821-0825E0B883F1}" type="presOf" srcId="{793D828B-ABA0-4426-901D-04DE2ED6B75D}" destId="{0841F29B-CD42-48F9-A39F-404F3AF3FBB7}"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FFE785EC-5622-4BAE-B23E-104D0BD74090}" type="presOf" srcId="{706F2198-8270-4483-8D92-DBEF04746BF9}" destId="{A3BDD698-BF91-4341-84D0-8FC2D3514B78}" srcOrd="0" destOrd="0" presId="urn:microsoft.com/office/officeart/2005/8/layout/hierarchy3"/>
    <dgm:cxn modelId="{1A3704F1-D539-43AF-A700-383E53E0753A}" srcId="{FAF3C371-E138-4677-9576-65DF20BE5FDF}" destId="{793D828B-ABA0-4426-901D-04DE2ED6B75D}" srcOrd="0" destOrd="0" parTransId="{C03F9808-E416-4B8F-84A0-B67D2FEE9D58}" sibTransId="{13565037-477F-4D41-8406-838E86242C08}"/>
    <dgm:cxn modelId="{1CCE34DA-C016-4F9A-AD7B-F867AA135754}" type="presParOf" srcId="{8DEF5889-9A79-4B8B-99E3-4E06D6E458CD}" destId="{626844CA-C713-45A5-A7D1-D1977E3F3038}" srcOrd="0" destOrd="0" presId="urn:microsoft.com/office/officeart/2005/8/layout/hierarchy3"/>
    <dgm:cxn modelId="{915DA9B6-D1E9-4951-AC2B-FF95B87D05FF}" type="presParOf" srcId="{626844CA-C713-45A5-A7D1-D1977E3F3038}" destId="{AC35E0B6-787E-4C0B-BB5C-73C7D7A35BC6}" srcOrd="0" destOrd="0" presId="urn:microsoft.com/office/officeart/2005/8/layout/hierarchy3"/>
    <dgm:cxn modelId="{E8EA1F84-5513-409F-8BD1-CF894E128D43}" type="presParOf" srcId="{AC35E0B6-787E-4C0B-BB5C-73C7D7A35BC6}" destId="{0841F29B-CD42-48F9-A39F-404F3AF3FBB7}" srcOrd="0" destOrd="0" presId="urn:microsoft.com/office/officeart/2005/8/layout/hierarchy3"/>
    <dgm:cxn modelId="{2EAD4A8D-B759-489A-BB34-DB567671BED3}" type="presParOf" srcId="{AC35E0B6-787E-4C0B-BB5C-73C7D7A35BC6}" destId="{0367EBEA-8E8A-4C1C-9D5F-0D323918105D}" srcOrd="1" destOrd="0" presId="urn:microsoft.com/office/officeart/2005/8/layout/hierarchy3"/>
    <dgm:cxn modelId="{EEA12ED8-2E81-49A1-9945-F5F3B9AD73CD}" type="presParOf" srcId="{626844CA-C713-45A5-A7D1-D1977E3F3038}" destId="{C9B148D1-9C1B-48E8-BB22-8940EB28892A}" srcOrd="1" destOrd="0" presId="urn:microsoft.com/office/officeart/2005/8/layout/hierarchy3"/>
    <dgm:cxn modelId="{134CBB08-5DCE-416A-A1F3-4B2F3DA1D519}" type="presParOf" srcId="{C9B148D1-9C1B-48E8-BB22-8940EB28892A}" destId="{A3BDD698-BF91-4341-84D0-8FC2D3514B78}" srcOrd="0" destOrd="0" presId="urn:microsoft.com/office/officeart/2005/8/layout/hierarchy3"/>
    <dgm:cxn modelId="{2475009E-3EC2-44A0-8621-FFDA6D81AE48}" type="presParOf" srcId="{C9B148D1-9C1B-48E8-BB22-8940EB28892A}" destId="{ED8E1768-E956-4EB5-B9F8-EB5B483D2A11}" srcOrd="1" destOrd="0" presId="urn:microsoft.com/office/officeart/2005/8/layout/hierarchy3"/>
    <dgm:cxn modelId="{E51C11E2-6D21-47BA-B58C-AB05AC7BB7CB}" type="presParOf" srcId="{C9B148D1-9C1B-48E8-BB22-8940EB28892A}" destId="{6322B716-AD5B-469B-B6C9-D0812BACD5A7}" srcOrd="2" destOrd="0" presId="urn:microsoft.com/office/officeart/2005/8/layout/hierarchy3"/>
    <dgm:cxn modelId="{F5C7B3E8-DFAB-4348-B02C-39493C922690}"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pt>
    <dgm:pt modelId="{6322B716-AD5B-469B-B6C9-D0812BACD5A7}" type="pres">
      <dgm:prSet presAssocID="{3A326F82-BBA9-4891-9C01-CECB348137C8}" presName="Name13" presStyleLbl="parChTrans1D2" presStyleIdx="1" presStyleCnt="2"/>
      <dgm:spPr/>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pt>
  </dgm:ptLst>
  <dgm:cxnLst>
    <dgm:cxn modelId="{F7140775-B127-4528-ABD0-F18B6396596E}" type="presOf" srcId="{3A326F82-BBA9-4891-9C01-CECB348137C8}" destId="{6322B716-AD5B-469B-B6C9-D0812BACD5A7}"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8F59B4AA-FB7F-4243-B423-09C332BD749D}" type="presOf" srcId="{FAF3C371-E138-4677-9576-65DF20BE5FDF}" destId="{8DEF5889-9A79-4B8B-99E3-4E06D6E458CD}" srcOrd="0" destOrd="0" presId="urn:microsoft.com/office/officeart/2005/8/layout/hierarchy3"/>
    <dgm:cxn modelId="{3541F6AC-7FA4-4E46-AE7E-05AE4A10972A}" type="presOf" srcId="{1DB55942-BFD5-4174-94A7-42C9A424B9F6}" destId="{0CF3438D-9A90-4C81-8E47-64AFAEE046B7}" srcOrd="0" destOrd="0" presId="urn:microsoft.com/office/officeart/2005/8/layout/hierarchy3"/>
    <dgm:cxn modelId="{4B3A43B6-353D-4A4C-874B-4892E2E9077B}" type="presOf" srcId="{864EE0E4-4AEC-42CD-84A4-9E9EF1B8E343}" destId="{ED8E1768-E956-4EB5-B9F8-EB5B483D2A11}" srcOrd="0" destOrd="0" presId="urn:microsoft.com/office/officeart/2005/8/layout/hierarchy3"/>
    <dgm:cxn modelId="{915EBBBB-3EF4-4DAF-8938-01CFD7EE0980}" type="presOf" srcId="{793D828B-ABA0-4426-901D-04DE2ED6B75D}" destId="{0367EBEA-8E8A-4C1C-9D5F-0D323918105D}" srcOrd="1" destOrd="0" presId="urn:microsoft.com/office/officeart/2005/8/layout/hierarchy3"/>
    <dgm:cxn modelId="{60A77ACF-3AAA-492A-80F2-21AD189159E8}" type="presOf" srcId="{793D828B-ABA0-4426-901D-04DE2ED6B75D}" destId="{0841F29B-CD42-48F9-A39F-404F3AF3FBB7}" srcOrd="0" destOrd="0" presId="urn:microsoft.com/office/officeart/2005/8/layout/hierarchy3"/>
    <dgm:cxn modelId="{EDCBF1DC-5288-48D6-B1D1-8BB8D9ECADF8}" type="presOf" srcId="{706F2198-8270-4483-8D92-DBEF04746BF9}" destId="{A3BDD698-BF91-4341-84D0-8FC2D3514B78}"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1A3704F1-D539-43AF-A700-383E53E0753A}" srcId="{FAF3C371-E138-4677-9576-65DF20BE5FDF}" destId="{793D828B-ABA0-4426-901D-04DE2ED6B75D}" srcOrd="0" destOrd="0" parTransId="{C03F9808-E416-4B8F-84A0-B67D2FEE9D58}" sibTransId="{13565037-477F-4D41-8406-838E86242C08}"/>
    <dgm:cxn modelId="{DAB6CD8C-2B41-4A77-8EA2-72089478DD64}" type="presParOf" srcId="{8DEF5889-9A79-4B8B-99E3-4E06D6E458CD}" destId="{626844CA-C713-45A5-A7D1-D1977E3F3038}" srcOrd="0" destOrd="0" presId="urn:microsoft.com/office/officeart/2005/8/layout/hierarchy3"/>
    <dgm:cxn modelId="{45995F5F-E5DF-4545-84C4-678F01250444}" type="presParOf" srcId="{626844CA-C713-45A5-A7D1-D1977E3F3038}" destId="{AC35E0B6-787E-4C0B-BB5C-73C7D7A35BC6}" srcOrd="0" destOrd="0" presId="urn:microsoft.com/office/officeart/2005/8/layout/hierarchy3"/>
    <dgm:cxn modelId="{4D5CAB52-9A7D-4AC5-84B6-58E7D9464C93}" type="presParOf" srcId="{AC35E0B6-787E-4C0B-BB5C-73C7D7A35BC6}" destId="{0841F29B-CD42-48F9-A39F-404F3AF3FBB7}" srcOrd="0" destOrd="0" presId="urn:microsoft.com/office/officeart/2005/8/layout/hierarchy3"/>
    <dgm:cxn modelId="{8EEC98AA-CE64-4A2A-B31B-55DECD08EEB5}" type="presParOf" srcId="{AC35E0B6-787E-4C0B-BB5C-73C7D7A35BC6}" destId="{0367EBEA-8E8A-4C1C-9D5F-0D323918105D}" srcOrd="1" destOrd="0" presId="urn:microsoft.com/office/officeart/2005/8/layout/hierarchy3"/>
    <dgm:cxn modelId="{DB51AC26-FF2F-49C3-AA4F-5B3095072D11}" type="presParOf" srcId="{626844CA-C713-45A5-A7D1-D1977E3F3038}" destId="{C9B148D1-9C1B-48E8-BB22-8940EB28892A}" srcOrd="1" destOrd="0" presId="urn:microsoft.com/office/officeart/2005/8/layout/hierarchy3"/>
    <dgm:cxn modelId="{BDC6A2AD-1C3F-4AC3-91CA-A8C9FC05DAC3}" type="presParOf" srcId="{C9B148D1-9C1B-48E8-BB22-8940EB28892A}" destId="{A3BDD698-BF91-4341-84D0-8FC2D3514B78}" srcOrd="0" destOrd="0" presId="urn:microsoft.com/office/officeart/2005/8/layout/hierarchy3"/>
    <dgm:cxn modelId="{4ED0DDB4-DB8A-448A-96C6-517A3A1340DB}" type="presParOf" srcId="{C9B148D1-9C1B-48E8-BB22-8940EB28892A}" destId="{ED8E1768-E956-4EB5-B9F8-EB5B483D2A11}" srcOrd="1" destOrd="0" presId="urn:microsoft.com/office/officeart/2005/8/layout/hierarchy3"/>
    <dgm:cxn modelId="{58A94EF2-A52D-4A03-98D9-E6040F639B23}" type="presParOf" srcId="{C9B148D1-9C1B-48E8-BB22-8940EB28892A}" destId="{6322B716-AD5B-469B-B6C9-D0812BACD5A7}" srcOrd="2" destOrd="0" presId="urn:microsoft.com/office/officeart/2005/8/layout/hierarchy3"/>
    <dgm:cxn modelId="{28781B62-77C2-47B8-91DD-251337E0E5A5}"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408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1"/>
      <dgm:spPr/>
    </dgm:pt>
    <dgm:pt modelId="{ED8E1768-E956-4EB5-B9F8-EB5B483D2A11}" type="pres">
      <dgm:prSet presAssocID="{864EE0E4-4AEC-42CD-84A4-9E9EF1B8E343}" presName="childText" presStyleLbl="bgAcc1" presStyleIdx="0" presStyleCnt="1" custLinFactNeighborY="615">
        <dgm:presLayoutVars>
          <dgm:bulletEnabled val="1"/>
        </dgm:presLayoutVars>
      </dgm:prSet>
      <dgm:spPr>
        <a:prstGeom prst="cube">
          <a:avLst/>
        </a:prstGeom>
      </dgm:spPr>
    </dgm:pt>
  </dgm:ptLst>
  <dgm:cxnLst>
    <dgm:cxn modelId="{7A66ED28-4FBE-4341-972E-BB457E5B2226}" type="presOf" srcId="{793D828B-ABA0-4426-901D-04DE2ED6B75D}" destId="{0367EBEA-8E8A-4C1C-9D5F-0D323918105D}" srcOrd="1"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4DC72D95-EF15-4B8C-BB93-BB50D4CABAE0}" type="presOf" srcId="{706F2198-8270-4483-8D92-DBEF04746BF9}" destId="{A3BDD698-BF91-4341-84D0-8FC2D3514B78}" srcOrd="0" destOrd="0" presId="urn:microsoft.com/office/officeart/2005/8/layout/hierarchy3"/>
    <dgm:cxn modelId="{848AF5BF-2C9D-4DD3-A3E2-245D92EB52B1}" type="presOf" srcId="{FAF3C371-E138-4677-9576-65DF20BE5FDF}" destId="{8DEF5889-9A79-4B8B-99E3-4E06D6E458CD}" srcOrd="0" destOrd="0" presId="urn:microsoft.com/office/officeart/2005/8/layout/hierarchy3"/>
    <dgm:cxn modelId="{CD94F4D5-5ED3-4B4F-9D28-87DEBFBE6D31}" type="presOf" srcId="{864EE0E4-4AEC-42CD-84A4-9E9EF1B8E343}" destId="{ED8E1768-E956-4EB5-B9F8-EB5B483D2A11}" srcOrd="0" destOrd="0" presId="urn:microsoft.com/office/officeart/2005/8/layout/hierarchy3"/>
    <dgm:cxn modelId="{176BFDED-968C-4C77-9381-23C84E5EA069}" type="presOf" srcId="{793D828B-ABA0-4426-901D-04DE2ED6B75D}" destId="{0841F29B-CD42-48F9-A39F-404F3AF3FBB7}" srcOrd="0" destOrd="0" presId="urn:microsoft.com/office/officeart/2005/8/layout/hierarchy3"/>
    <dgm:cxn modelId="{1A3704F1-D539-43AF-A700-383E53E0753A}" srcId="{FAF3C371-E138-4677-9576-65DF20BE5FDF}" destId="{793D828B-ABA0-4426-901D-04DE2ED6B75D}" srcOrd="0" destOrd="0" parTransId="{C03F9808-E416-4B8F-84A0-B67D2FEE9D58}" sibTransId="{13565037-477F-4D41-8406-838E86242C08}"/>
    <dgm:cxn modelId="{2C6359E0-82B5-4D0C-B95A-10C8DF692096}" type="presParOf" srcId="{8DEF5889-9A79-4B8B-99E3-4E06D6E458CD}" destId="{626844CA-C713-45A5-A7D1-D1977E3F3038}" srcOrd="0" destOrd="0" presId="urn:microsoft.com/office/officeart/2005/8/layout/hierarchy3"/>
    <dgm:cxn modelId="{6C477F73-FBF6-45B9-9FB8-DD6CE8A23DB2}" type="presParOf" srcId="{626844CA-C713-45A5-A7D1-D1977E3F3038}" destId="{AC35E0B6-787E-4C0B-BB5C-73C7D7A35BC6}" srcOrd="0" destOrd="0" presId="urn:microsoft.com/office/officeart/2005/8/layout/hierarchy3"/>
    <dgm:cxn modelId="{2D01C8AE-E97B-4C34-9961-B08BBA20943D}" type="presParOf" srcId="{AC35E0B6-787E-4C0B-BB5C-73C7D7A35BC6}" destId="{0841F29B-CD42-48F9-A39F-404F3AF3FBB7}" srcOrd="0" destOrd="0" presId="urn:microsoft.com/office/officeart/2005/8/layout/hierarchy3"/>
    <dgm:cxn modelId="{1A6AC531-07DA-46A1-9C58-B5F554C046A0}" type="presParOf" srcId="{AC35E0B6-787E-4C0B-BB5C-73C7D7A35BC6}" destId="{0367EBEA-8E8A-4C1C-9D5F-0D323918105D}" srcOrd="1" destOrd="0" presId="urn:microsoft.com/office/officeart/2005/8/layout/hierarchy3"/>
    <dgm:cxn modelId="{5131D8B5-22D2-4437-8667-CDF7CFDF27B0}" type="presParOf" srcId="{626844CA-C713-45A5-A7D1-D1977E3F3038}" destId="{C9B148D1-9C1B-48E8-BB22-8940EB28892A}" srcOrd="1" destOrd="0" presId="urn:microsoft.com/office/officeart/2005/8/layout/hierarchy3"/>
    <dgm:cxn modelId="{5FEAF66C-217D-4C56-8092-74C72A20770F}" type="presParOf" srcId="{C9B148D1-9C1B-48E8-BB22-8940EB28892A}" destId="{A3BDD698-BF91-4341-84D0-8FC2D3514B78}" srcOrd="0" destOrd="0" presId="urn:microsoft.com/office/officeart/2005/8/layout/hierarchy3"/>
    <dgm:cxn modelId="{27D02C07-0569-40CD-ADE1-1D1F46D8FF13}" type="presParOf" srcId="{C9B148D1-9C1B-48E8-BB22-8940EB28892A}" destId="{ED8E1768-E956-4EB5-B9F8-EB5B483D2A11}" srcOrd="1"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a:t> </a:t>
          </a:r>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a:t> </a:t>
          </a:r>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pt>
    <dgm:pt modelId="{0367EBEA-8E8A-4C1C-9D5F-0D323918105D}" type="pres">
      <dgm:prSet presAssocID="{793D828B-ABA0-4426-901D-04DE2ED6B75D}" presName="rootConnector" presStyleLbl="node1" presStyleIdx="0" presStyleCnt="1"/>
      <dgm:spPr/>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pt>
    <dgm:pt modelId="{6322B716-AD5B-469B-B6C9-D0812BACD5A7}" type="pres">
      <dgm:prSet presAssocID="{3A326F82-BBA9-4891-9C01-CECB348137C8}" presName="Name13" presStyleLbl="parChTrans1D2" presStyleIdx="1" presStyleCnt="2"/>
      <dgm:spPr/>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pt>
  </dgm:ptLst>
  <dgm:cxnLst>
    <dgm:cxn modelId="{8F97962D-7FCA-4DE3-AC90-B0A380D69D7D}" type="presOf" srcId="{1DB55942-BFD5-4174-94A7-42C9A424B9F6}" destId="{0CF3438D-9A90-4C81-8E47-64AFAEE046B7}" srcOrd="0" destOrd="0" presId="urn:microsoft.com/office/officeart/2005/8/layout/hierarchy3"/>
    <dgm:cxn modelId="{D67EEB40-35A1-40AD-B99E-11930A97F48F}" type="presOf" srcId="{FAF3C371-E138-4677-9576-65DF20BE5FDF}" destId="{8DEF5889-9A79-4B8B-99E3-4E06D6E458CD}" srcOrd="0" destOrd="0" presId="urn:microsoft.com/office/officeart/2005/8/layout/hierarchy3"/>
    <dgm:cxn modelId="{9C7A2F62-201D-462D-9158-3532526B69F3}" type="presOf" srcId="{793D828B-ABA0-4426-901D-04DE2ED6B75D}" destId="{0367EBEA-8E8A-4C1C-9D5F-0D323918105D}" srcOrd="1" destOrd="0" presId="urn:microsoft.com/office/officeart/2005/8/layout/hierarchy3"/>
    <dgm:cxn modelId="{C0098547-7AAB-44B4-AA3D-2AE032B55521}" type="presOf" srcId="{793D828B-ABA0-4426-901D-04DE2ED6B75D}" destId="{0841F29B-CD42-48F9-A39F-404F3AF3FBB7}" srcOrd="0" destOrd="0" presId="urn:microsoft.com/office/officeart/2005/8/layout/hierarchy3"/>
    <dgm:cxn modelId="{21D6FD59-6DC2-4E38-8712-9C8AB4B43238}" type="presOf" srcId="{706F2198-8270-4483-8D92-DBEF04746BF9}" destId="{A3BDD698-BF91-4341-84D0-8FC2D3514B78}"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6E609880-8386-4CAA-8F74-3E4A23B6CDA9}" type="presOf" srcId="{3A326F82-BBA9-4891-9C01-CECB348137C8}" destId="{6322B716-AD5B-469B-B6C9-D0812BACD5A7}" srcOrd="0" destOrd="0" presId="urn:microsoft.com/office/officeart/2005/8/layout/hierarchy3"/>
    <dgm:cxn modelId="{F149A798-0447-4F92-B9ED-B46238C1D8C5}" type="presOf" srcId="{864EE0E4-4AEC-42CD-84A4-9E9EF1B8E343}" destId="{ED8E1768-E956-4EB5-B9F8-EB5B483D2A11}"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1A3704F1-D539-43AF-A700-383E53E0753A}" srcId="{FAF3C371-E138-4677-9576-65DF20BE5FDF}" destId="{793D828B-ABA0-4426-901D-04DE2ED6B75D}" srcOrd="0" destOrd="0" parTransId="{C03F9808-E416-4B8F-84A0-B67D2FEE9D58}" sibTransId="{13565037-477F-4D41-8406-838E86242C08}"/>
    <dgm:cxn modelId="{D8B28D5F-3D16-4144-AAD3-B0AC344B65FF}" type="presParOf" srcId="{8DEF5889-9A79-4B8B-99E3-4E06D6E458CD}" destId="{626844CA-C713-45A5-A7D1-D1977E3F3038}" srcOrd="0" destOrd="0" presId="urn:microsoft.com/office/officeart/2005/8/layout/hierarchy3"/>
    <dgm:cxn modelId="{2492AA37-131B-4AAB-A564-EDB166F3334E}" type="presParOf" srcId="{626844CA-C713-45A5-A7D1-D1977E3F3038}" destId="{AC35E0B6-787E-4C0B-BB5C-73C7D7A35BC6}" srcOrd="0" destOrd="0" presId="urn:microsoft.com/office/officeart/2005/8/layout/hierarchy3"/>
    <dgm:cxn modelId="{3B5A1FCE-2552-4E48-9EC1-59260272F099}" type="presParOf" srcId="{AC35E0B6-787E-4C0B-BB5C-73C7D7A35BC6}" destId="{0841F29B-CD42-48F9-A39F-404F3AF3FBB7}" srcOrd="0" destOrd="0" presId="urn:microsoft.com/office/officeart/2005/8/layout/hierarchy3"/>
    <dgm:cxn modelId="{836484C6-1EBD-45C9-81E0-BF79ED47FA9A}" type="presParOf" srcId="{AC35E0B6-787E-4C0B-BB5C-73C7D7A35BC6}" destId="{0367EBEA-8E8A-4C1C-9D5F-0D323918105D}" srcOrd="1" destOrd="0" presId="urn:microsoft.com/office/officeart/2005/8/layout/hierarchy3"/>
    <dgm:cxn modelId="{63FDB4F5-522B-4A4D-9051-94FE3555ED70}" type="presParOf" srcId="{626844CA-C713-45A5-A7D1-D1977E3F3038}" destId="{C9B148D1-9C1B-48E8-BB22-8940EB28892A}" srcOrd="1" destOrd="0" presId="urn:microsoft.com/office/officeart/2005/8/layout/hierarchy3"/>
    <dgm:cxn modelId="{0789F905-A01F-4663-BD1A-82144E7840A9}" type="presParOf" srcId="{C9B148D1-9C1B-48E8-BB22-8940EB28892A}" destId="{A3BDD698-BF91-4341-84D0-8FC2D3514B78}" srcOrd="0" destOrd="0" presId="urn:microsoft.com/office/officeart/2005/8/layout/hierarchy3"/>
    <dgm:cxn modelId="{E8861B9D-8410-47B2-A5B3-CCEE1F75B46E}" type="presParOf" srcId="{C9B148D1-9C1B-48E8-BB22-8940EB28892A}" destId="{ED8E1768-E956-4EB5-B9F8-EB5B483D2A11}" srcOrd="1" destOrd="0" presId="urn:microsoft.com/office/officeart/2005/8/layout/hierarchy3"/>
    <dgm:cxn modelId="{2D5F4FEA-158F-4643-A856-B6EA37C8267C}" type="presParOf" srcId="{C9B148D1-9C1B-48E8-BB22-8940EB28892A}" destId="{6322B716-AD5B-469B-B6C9-D0812BACD5A7}" srcOrd="2" destOrd="0" presId="urn:microsoft.com/office/officeart/2005/8/layout/hierarchy3"/>
    <dgm:cxn modelId="{0FB53782-0512-4803-ADEE-C0508DC97F03}"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7F867A-EDB4-4CE9-80E9-3B85B4FC571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346BC2B-9ECC-4773-BA6A-14E4C02F823D}">
      <dgm:prSet phldrT="[Text]"/>
      <dgm:spPr/>
      <dgm:t>
        <a:bodyPr/>
        <a:lstStyle/>
        <a:p>
          <a:r>
            <a:rPr lang="en-US"/>
            <a:t>Entity/Data model</a:t>
          </a:r>
        </a:p>
      </dgm:t>
    </dgm:pt>
    <dgm:pt modelId="{978483A4-E070-44A4-94DB-FCEE632DEE59}" type="parTrans" cxnId="{76041CE2-EE6C-4D13-82C9-E6FFD6AACF17}">
      <dgm:prSet/>
      <dgm:spPr/>
      <dgm:t>
        <a:bodyPr/>
        <a:lstStyle/>
        <a:p>
          <a:endParaRPr lang="en-US"/>
        </a:p>
      </dgm:t>
    </dgm:pt>
    <dgm:pt modelId="{ED31FA7E-861D-40B6-97ED-234477AB5F31}" type="sibTrans" cxnId="{76041CE2-EE6C-4D13-82C9-E6FFD6AACF17}">
      <dgm:prSet/>
      <dgm:spPr/>
      <dgm:t>
        <a:bodyPr/>
        <a:lstStyle/>
        <a:p>
          <a:endParaRPr lang="en-US"/>
        </a:p>
      </dgm:t>
    </dgm:pt>
    <dgm:pt modelId="{2510B2A4-B622-4F96-BE6E-8CF383A354BF}">
      <dgm:prSet phldrT="[Text]"/>
      <dgm:spPr/>
      <dgm:t>
        <a:bodyPr/>
        <a:lstStyle/>
        <a:p>
          <a:r>
            <a:rPr lang="en-US"/>
            <a:t>Virtual and DB backed properties</a:t>
          </a:r>
        </a:p>
      </dgm:t>
    </dgm:pt>
    <dgm:pt modelId="{874DA0E9-DFD1-4612-A732-30C22544BDDC}" type="parTrans" cxnId="{A4C63231-85E0-4297-B489-3E85E9A1A107}">
      <dgm:prSet/>
      <dgm:spPr/>
      <dgm:t>
        <a:bodyPr/>
        <a:lstStyle/>
        <a:p>
          <a:endParaRPr lang="en-US"/>
        </a:p>
      </dgm:t>
    </dgm:pt>
    <dgm:pt modelId="{FC6595A8-87C7-4666-A3DB-5DD5AD5C04B7}" type="sibTrans" cxnId="{A4C63231-85E0-4297-B489-3E85E9A1A107}">
      <dgm:prSet/>
      <dgm:spPr/>
      <dgm:t>
        <a:bodyPr/>
        <a:lstStyle/>
        <a:p>
          <a:endParaRPr lang="en-US"/>
        </a:p>
      </dgm:t>
    </dgm:pt>
    <dgm:pt modelId="{97FF0599-828A-47CA-AD98-21FE9373C8B1}">
      <dgm:prSet phldrT="[Text]"/>
      <dgm:spPr/>
      <dgm:t>
        <a:bodyPr/>
        <a:lstStyle/>
        <a:p>
          <a:r>
            <a:rPr lang="en-US"/>
            <a:t>Related Entities</a:t>
          </a:r>
        </a:p>
      </dgm:t>
    </dgm:pt>
    <dgm:pt modelId="{821A655E-EE73-4240-8828-EF323060D3C3}" type="parTrans" cxnId="{2EDA6237-E129-478D-8C34-48B6DD8DE30F}">
      <dgm:prSet/>
      <dgm:spPr/>
      <dgm:t>
        <a:bodyPr/>
        <a:lstStyle/>
        <a:p>
          <a:endParaRPr lang="en-US"/>
        </a:p>
      </dgm:t>
    </dgm:pt>
    <dgm:pt modelId="{78A524E1-8E38-42E2-8D28-1FBB0F123D49}" type="sibTrans" cxnId="{2EDA6237-E129-478D-8C34-48B6DD8DE30F}">
      <dgm:prSet/>
      <dgm:spPr/>
      <dgm:t>
        <a:bodyPr/>
        <a:lstStyle/>
        <a:p>
          <a:endParaRPr lang="en-US"/>
        </a:p>
      </dgm:t>
    </dgm:pt>
    <dgm:pt modelId="{8CF7478B-BA9B-4715-AB61-5C009ED1399F}">
      <dgm:prSet phldrT="[Text]"/>
      <dgm:spPr/>
      <dgm:t>
        <a:bodyPr/>
        <a:lstStyle/>
        <a:p>
          <a:r>
            <a:rPr lang="en-US" err="1"/>
            <a:t>Gosu</a:t>
          </a:r>
          <a:r>
            <a:rPr lang="en-US"/>
            <a:t> class</a:t>
          </a:r>
        </a:p>
      </dgm:t>
    </dgm:pt>
    <dgm:pt modelId="{BA283410-914C-4234-B574-3BCE18E637AD}" type="parTrans" cxnId="{EC4E26EF-03EC-4433-A87B-D13A4F2317BC}">
      <dgm:prSet/>
      <dgm:spPr/>
      <dgm:t>
        <a:bodyPr/>
        <a:lstStyle/>
        <a:p>
          <a:endParaRPr lang="en-US"/>
        </a:p>
      </dgm:t>
    </dgm:pt>
    <dgm:pt modelId="{4C18793D-3F83-416B-8EF6-5105402610DB}" type="sibTrans" cxnId="{EC4E26EF-03EC-4433-A87B-D13A4F2317BC}">
      <dgm:prSet/>
      <dgm:spPr/>
      <dgm:t>
        <a:bodyPr/>
        <a:lstStyle/>
        <a:p>
          <a:endParaRPr lang="en-US"/>
        </a:p>
      </dgm:t>
    </dgm:pt>
    <dgm:pt modelId="{76F1538A-806E-4649-8555-2CA9ACA7655B}">
      <dgm:prSet phldrT="[Text]"/>
      <dgm:spPr/>
      <dgm:t>
        <a:bodyPr/>
        <a:lstStyle/>
        <a:p>
          <a:r>
            <a:rPr lang="en-US"/>
            <a:t>Properties</a:t>
          </a:r>
        </a:p>
      </dgm:t>
    </dgm:pt>
    <dgm:pt modelId="{6CCEA648-A3C2-4C36-82D7-5B2E0B10A4B0}" type="parTrans" cxnId="{6EED00AA-3B25-4AB5-AA17-32C61F5D4AE3}">
      <dgm:prSet/>
      <dgm:spPr/>
      <dgm:t>
        <a:bodyPr/>
        <a:lstStyle/>
        <a:p>
          <a:endParaRPr lang="en-US"/>
        </a:p>
      </dgm:t>
    </dgm:pt>
    <dgm:pt modelId="{D438F693-8E0F-49AF-AB43-B2418A176A29}" type="sibTrans" cxnId="{6EED00AA-3B25-4AB5-AA17-32C61F5D4AE3}">
      <dgm:prSet/>
      <dgm:spPr/>
      <dgm:t>
        <a:bodyPr/>
        <a:lstStyle/>
        <a:p>
          <a:endParaRPr lang="en-US"/>
        </a:p>
      </dgm:t>
    </dgm:pt>
    <dgm:pt modelId="{CB7DA52F-892D-45B1-B364-BD234557ACEE}">
      <dgm:prSet phldrT="[Text]"/>
      <dgm:spPr/>
      <dgm:t>
        <a:bodyPr/>
        <a:lstStyle/>
        <a:p>
          <a:r>
            <a:rPr lang="en-US"/>
            <a:t>Java class</a:t>
          </a:r>
        </a:p>
      </dgm:t>
    </dgm:pt>
    <dgm:pt modelId="{51BDD17C-19A5-4861-B712-A42B433CE51E}" type="parTrans" cxnId="{EA93EF5C-4FC6-4F20-931F-06E04FF3E2CE}">
      <dgm:prSet/>
      <dgm:spPr/>
      <dgm:t>
        <a:bodyPr/>
        <a:lstStyle/>
        <a:p>
          <a:endParaRPr lang="en-US"/>
        </a:p>
      </dgm:t>
    </dgm:pt>
    <dgm:pt modelId="{BAECA72B-F5D5-4843-B678-771E1C696F78}" type="sibTrans" cxnId="{EA93EF5C-4FC6-4F20-931F-06E04FF3E2CE}">
      <dgm:prSet/>
      <dgm:spPr/>
      <dgm:t>
        <a:bodyPr/>
        <a:lstStyle/>
        <a:p>
          <a:endParaRPr lang="en-US"/>
        </a:p>
      </dgm:t>
    </dgm:pt>
    <dgm:pt modelId="{BFC6ADEE-78EB-447A-B55B-6FFF4F2FFC41}">
      <dgm:prSet phldrT="[Text]"/>
      <dgm:spPr/>
      <dgm:t>
        <a:bodyPr/>
        <a:lstStyle/>
        <a:p>
          <a:r>
            <a:rPr lang="en-US"/>
            <a:t>Properties(</a:t>
          </a:r>
          <a:r>
            <a:rPr lang="en-US" err="1"/>
            <a:t>getProperty</a:t>
          </a:r>
          <a:r>
            <a:rPr lang="en-US"/>
            <a:t> method)</a:t>
          </a:r>
        </a:p>
      </dgm:t>
    </dgm:pt>
    <dgm:pt modelId="{7F66C481-ED9B-4BE3-8AA4-FBCF6F60F4E2}" type="parTrans" cxnId="{40EC0495-2211-4B38-9F7C-39EF8350443A}">
      <dgm:prSet/>
      <dgm:spPr/>
      <dgm:t>
        <a:bodyPr/>
        <a:lstStyle/>
        <a:p>
          <a:endParaRPr lang="en-US"/>
        </a:p>
      </dgm:t>
    </dgm:pt>
    <dgm:pt modelId="{B6B4DFF4-678E-4EC0-B1DD-D0FDF4F6025F}" type="sibTrans" cxnId="{40EC0495-2211-4B38-9F7C-39EF8350443A}">
      <dgm:prSet/>
      <dgm:spPr/>
      <dgm:t>
        <a:bodyPr/>
        <a:lstStyle/>
        <a:p>
          <a:endParaRPr lang="en-US"/>
        </a:p>
      </dgm:t>
    </dgm:pt>
    <dgm:pt modelId="{6B80B2D6-A5F1-4E30-8B52-A5AB4C454244}" type="pres">
      <dgm:prSet presAssocID="{D87F867A-EDB4-4CE9-80E9-3B85B4FC5719}" presName="Name0" presStyleCnt="0">
        <dgm:presLayoutVars>
          <dgm:dir/>
          <dgm:animLvl val="lvl"/>
          <dgm:resizeHandles val="exact"/>
        </dgm:presLayoutVars>
      </dgm:prSet>
      <dgm:spPr/>
    </dgm:pt>
    <dgm:pt modelId="{1DE01F23-185B-4053-BAF7-F8A606ED642E}" type="pres">
      <dgm:prSet presAssocID="{C346BC2B-9ECC-4773-BA6A-14E4C02F823D}" presName="composite" presStyleCnt="0"/>
      <dgm:spPr/>
    </dgm:pt>
    <dgm:pt modelId="{717DDFA4-5300-4834-81F1-DABC2054D384}" type="pres">
      <dgm:prSet presAssocID="{C346BC2B-9ECC-4773-BA6A-14E4C02F823D}" presName="parTx" presStyleLbl="alignNode1" presStyleIdx="0" presStyleCnt="3" custScaleY="144788" custLinFactNeighborX="-103" custLinFactNeighborY="-22213">
        <dgm:presLayoutVars>
          <dgm:chMax val="0"/>
          <dgm:chPref val="0"/>
          <dgm:bulletEnabled val="1"/>
        </dgm:presLayoutVars>
      </dgm:prSet>
      <dgm:spPr/>
    </dgm:pt>
    <dgm:pt modelId="{772F7B05-270C-4C5A-8430-F13AAC15292B}" type="pres">
      <dgm:prSet presAssocID="{C346BC2B-9ECC-4773-BA6A-14E4C02F823D}" presName="desTx" presStyleLbl="alignAccFollowNode1" presStyleIdx="0" presStyleCnt="3">
        <dgm:presLayoutVars>
          <dgm:bulletEnabled val="1"/>
        </dgm:presLayoutVars>
      </dgm:prSet>
      <dgm:spPr/>
    </dgm:pt>
    <dgm:pt modelId="{303F5B03-8A03-4578-AE81-6E6757D032A7}" type="pres">
      <dgm:prSet presAssocID="{ED31FA7E-861D-40B6-97ED-234477AB5F31}" presName="space" presStyleCnt="0"/>
      <dgm:spPr/>
    </dgm:pt>
    <dgm:pt modelId="{11FF48F2-841B-4555-A009-0C67DF4949E1}" type="pres">
      <dgm:prSet presAssocID="{8CF7478B-BA9B-4715-AB61-5C009ED1399F}" presName="composite" presStyleCnt="0"/>
      <dgm:spPr/>
    </dgm:pt>
    <dgm:pt modelId="{B5030325-3054-4EB6-A568-4A61BFF1E15A}" type="pres">
      <dgm:prSet presAssocID="{8CF7478B-BA9B-4715-AB61-5C009ED1399F}" presName="parTx" presStyleLbl="alignNode1" presStyleIdx="1" presStyleCnt="3" custScaleY="144788" custLinFactNeighborX="-1822" custLinFactNeighborY="-22213">
        <dgm:presLayoutVars>
          <dgm:chMax val="0"/>
          <dgm:chPref val="0"/>
          <dgm:bulletEnabled val="1"/>
        </dgm:presLayoutVars>
      </dgm:prSet>
      <dgm:spPr/>
    </dgm:pt>
    <dgm:pt modelId="{0849A700-6D99-4495-9D3C-1331760FDE2C}" type="pres">
      <dgm:prSet presAssocID="{8CF7478B-BA9B-4715-AB61-5C009ED1399F}" presName="desTx" presStyleLbl="alignAccFollowNode1" presStyleIdx="1" presStyleCnt="3" custScaleX="100000" custLinFactNeighborX="-1822" custLinFactNeighborY="-2320">
        <dgm:presLayoutVars>
          <dgm:bulletEnabled val="1"/>
        </dgm:presLayoutVars>
      </dgm:prSet>
      <dgm:spPr/>
    </dgm:pt>
    <dgm:pt modelId="{8184E4F2-8065-48D8-81F0-D58DDF0DB616}" type="pres">
      <dgm:prSet presAssocID="{4C18793D-3F83-416B-8EF6-5105402610DB}" presName="space" presStyleCnt="0"/>
      <dgm:spPr/>
    </dgm:pt>
    <dgm:pt modelId="{737962BB-16B7-40D6-970E-EC2B41586BA5}" type="pres">
      <dgm:prSet presAssocID="{CB7DA52F-892D-45B1-B364-BD234557ACEE}" presName="composite" presStyleCnt="0"/>
      <dgm:spPr/>
    </dgm:pt>
    <dgm:pt modelId="{1588316F-ACDF-45E3-A899-19AAB6369A9F}" type="pres">
      <dgm:prSet presAssocID="{CB7DA52F-892D-45B1-B364-BD234557ACEE}" presName="parTx" presStyleLbl="alignNode1" presStyleIdx="2" presStyleCnt="3" custScaleY="144788" custLinFactNeighborX="-662" custLinFactNeighborY="-22213">
        <dgm:presLayoutVars>
          <dgm:chMax val="0"/>
          <dgm:chPref val="0"/>
          <dgm:bulletEnabled val="1"/>
        </dgm:presLayoutVars>
      </dgm:prSet>
      <dgm:spPr/>
    </dgm:pt>
    <dgm:pt modelId="{AFD1FE80-5321-4024-BB8C-05162A7D4B66}" type="pres">
      <dgm:prSet presAssocID="{CB7DA52F-892D-45B1-B364-BD234557ACEE}" presName="desTx" presStyleLbl="alignAccFollowNode1" presStyleIdx="2" presStyleCnt="3">
        <dgm:presLayoutVars>
          <dgm:bulletEnabled val="1"/>
        </dgm:presLayoutVars>
      </dgm:prSet>
      <dgm:spPr/>
    </dgm:pt>
  </dgm:ptLst>
  <dgm:cxnLst>
    <dgm:cxn modelId="{B53D182C-85D4-4743-9D8A-133755A1FEE0}" type="presOf" srcId="{BFC6ADEE-78EB-447A-B55B-6FFF4F2FFC41}" destId="{AFD1FE80-5321-4024-BB8C-05162A7D4B66}" srcOrd="0" destOrd="0" presId="urn:microsoft.com/office/officeart/2005/8/layout/hList1"/>
    <dgm:cxn modelId="{A4C63231-85E0-4297-B489-3E85E9A1A107}" srcId="{C346BC2B-9ECC-4773-BA6A-14E4C02F823D}" destId="{2510B2A4-B622-4F96-BE6E-8CF383A354BF}" srcOrd="0" destOrd="0" parTransId="{874DA0E9-DFD1-4612-A732-30C22544BDDC}" sibTransId="{FC6595A8-87C7-4666-A3DB-5DD5AD5C04B7}"/>
    <dgm:cxn modelId="{2EDA6237-E129-478D-8C34-48B6DD8DE30F}" srcId="{C346BC2B-9ECC-4773-BA6A-14E4C02F823D}" destId="{97FF0599-828A-47CA-AD98-21FE9373C8B1}" srcOrd="1" destOrd="0" parTransId="{821A655E-EE73-4240-8828-EF323060D3C3}" sibTransId="{78A524E1-8E38-42E2-8D28-1FBB0F123D49}"/>
    <dgm:cxn modelId="{EA93EF5C-4FC6-4F20-931F-06E04FF3E2CE}" srcId="{D87F867A-EDB4-4CE9-80E9-3B85B4FC5719}" destId="{CB7DA52F-892D-45B1-B364-BD234557ACEE}" srcOrd="2" destOrd="0" parTransId="{51BDD17C-19A5-4861-B712-A42B433CE51E}" sibTransId="{BAECA72B-F5D5-4843-B678-771E1C696F78}"/>
    <dgm:cxn modelId="{7EBA8D84-70F7-4924-BD4C-550560219209}" type="presOf" srcId="{CB7DA52F-892D-45B1-B364-BD234557ACEE}" destId="{1588316F-ACDF-45E3-A899-19AAB6369A9F}" srcOrd="0" destOrd="0" presId="urn:microsoft.com/office/officeart/2005/8/layout/hList1"/>
    <dgm:cxn modelId="{40EC0495-2211-4B38-9F7C-39EF8350443A}" srcId="{CB7DA52F-892D-45B1-B364-BD234557ACEE}" destId="{BFC6ADEE-78EB-447A-B55B-6FFF4F2FFC41}" srcOrd="0" destOrd="0" parTransId="{7F66C481-ED9B-4BE3-8AA4-FBCF6F60F4E2}" sibTransId="{B6B4DFF4-678E-4EC0-B1DD-D0FDF4F6025F}"/>
    <dgm:cxn modelId="{46E2A9A7-9162-4FF3-AF53-051366E54F57}" type="presOf" srcId="{97FF0599-828A-47CA-AD98-21FE9373C8B1}" destId="{772F7B05-270C-4C5A-8430-F13AAC15292B}" srcOrd="0" destOrd="1" presId="urn:microsoft.com/office/officeart/2005/8/layout/hList1"/>
    <dgm:cxn modelId="{6EED00AA-3B25-4AB5-AA17-32C61F5D4AE3}" srcId="{8CF7478B-BA9B-4715-AB61-5C009ED1399F}" destId="{76F1538A-806E-4649-8555-2CA9ACA7655B}" srcOrd="0" destOrd="0" parTransId="{6CCEA648-A3C2-4C36-82D7-5B2E0B10A4B0}" sibTransId="{D438F693-8E0F-49AF-AB43-B2418A176A29}"/>
    <dgm:cxn modelId="{D69B13AC-D52B-4F2A-ABA4-511655FD6F42}" type="presOf" srcId="{76F1538A-806E-4649-8555-2CA9ACA7655B}" destId="{0849A700-6D99-4495-9D3C-1331760FDE2C}" srcOrd="0" destOrd="0" presId="urn:microsoft.com/office/officeart/2005/8/layout/hList1"/>
    <dgm:cxn modelId="{EDDD6BAE-EFD0-4665-88A5-9CB28BB58C26}" type="presOf" srcId="{C346BC2B-9ECC-4773-BA6A-14E4C02F823D}" destId="{717DDFA4-5300-4834-81F1-DABC2054D384}" srcOrd="0" destOrd="0" presId="urn:microsoft.com/office/officeart/2005/8/layout/hList1"/>
    <dgm:cxn modelId="{05712AC8-CF31-42A3-8290-DEF2149E7360}" type="presOf" srcId="{2510B2A4-B622-4F96-BE6E-8CF383A354BF}" destId="{772F7B05-270C-4C5A-8430-F13AAC15292B}" srcOrd="0" destOrd="0" presId="urn:microsoft.com/office/officeart/2005/8/layout/hList1"/>
    <dgm:cxn modelId="{6959B9DE-942A-4527-B507-F0C05E6CA456}" type="presOf" srcId="{8CF7478B-BA9B-4715-AB61-5C009ED1399F}" destId="{B5030325-3054-4EB6-A568-4A61BFF1E15A}" srcOrd="0" destOrd="0" presId="urn:microsoft.com/office/officeart/2005/8/layout/hList1"/>
    <dgm:cxn modelId="{76041CE2-EE6C-4D13-82C9-E6FFD6AACF17}" srcId="{D87F867A-EDB4-4CE9-80E9-3B85B4FC5719}" destId="{C346BC2B-9ECC-4773-BA6A-14E4C02F823D}" srcOrd="0" destOrd="0" parTransId="{978483A4-E070-44A4-94DB-FCEE632DEE59}" sibTransId="{ED31FA7E-861D-40B6-97ED-234477AB5F31}"/>
    <dgm:cxn modelId="{EC4E26EF-03EC-4433-A87B-D13A4F2317BC}" srcId="{D87F867A-EDB4-4CE9-80E9-3B85B4FC5719}" destId="{8CF7478B-BA9B-4715-AB61-5C009ED1399F}" srcOrd="1" destOrd="0" parTransId="{BA283410-914C-4234-B574-3BCE18E637AD}" sibTransId="{4C18793D-3F83-416B-8EF6-5105402610DB}"/>
    <dgm:cxn modelId="{8009EEF8-8DE0-43BB-B190-B6010FA11258}" type="presOf" srcId="{D87F867A-EDB4-4CE9-80E9-3B85B4FC5719}" destId="{6B80B2D6-A5F1-4E30-8B52-A5AB4C454244}" srcOrd="0" destOrd="0" presId="urn:microsoft.com/office/officeart/2005/8/layout/hList1"/>
    <dgm:cxn modelId="{037AC41E-3764-417D-9B4D-BCF9E079D402}" type="presParOf" srcId="{6B80B2D6-A5F1-4E30-8B52-A5AB4C454244}" destId="{1DE01F23-185B-4053-BAF7-F8A606ED642E}" srcOrd="0" destOrd="0" presId="urn:microsoft.com/office/officeart/2005/8/layout/hList1"/>
    <dgm:cxn modelId="{DEB9142F-4224-4600-95EF-029DD8120E7F}" type="presParOf" srcId="{1DE01F23-185B-4053-BAF7-F8A606ED642E}" destId="{717DDFA4-5300-4834-81F1-DABC2054D384}" srcOrd="0" destOrd="0" presId="urn:microsoft.com/office/officeart/2005/8/layout/hList1"/>
    <dgm:cxn modelId="{F7F7FD6D-EA85-435D-BB01-20D502B74200}" type="presParOf" srcId="{1DE01F23-185B-4053-BAF7-F8A606ED642E}" destId="{772F7B05-270C-4C5A-8430-F13AAC15292B}" srcOrd="1" destOrd="0" presId="urn:microsoft.com/office/officeart/2005/8/layout/hList1"/>
    <dgm:cxn modelId="{84D182B5-609A-466E-86EC-B65289A0E591}" type="presParOf" srcId="{6B80B2D6-A5F1-4E30-8B52-A5AB4C454244}" destId="{303F5B03-8A03-4578-AE81-6E6757D032A7}" srcOrd="1" destOrd="0" presId="urn:microsoft.com/office/officeart/2005/8/layout/hList1"/>
    <dgm:cxn modelId="{369248FA-3DA4-437F-B692-632F92D7C890}" type="presParOf" srcId="{6B80B2D6-A5F1-4E30-8B52-A5AB4C454244}" destId="{11FF48F2-841B-4555-A009-0C67DF4949E1}" srcOrd="2" destOrd="0" presId="urn:microsoft.com/office/officeart/2005/8/layout/hList1"/>
    <dgm:cxn modelId="{C740FE29-3E27-4050-95D5-A8409B8FA65F}" type="presParOf" srcId="{11FF48F2-841B-4555-A009-0C67DF4949E1}" destId="{B5030325-3054-4EB6-A568-4A61BFF1E15A}" srcOrd="0" destOrd="0" presId="urn:microsoft.com/office/officeart/2005/8/layout/hList1"/>
    <dgm:cxn modelId="{20E00B00-F68E-46CB-BF89-B2C33DF7D0A8}" type="presParOf" srcId="{11FF48F2-841B-4555-A009-0C67DF4949E1}" destId="{0849A700-6D99-4495-9D3C-1331760FDE2C}" srcOrd="1" destOrd="0" presId="urn:microsoft.com/office/officeart/2005/8/layout/hList1"/>
    <dgm:cxn modelId="{E4FE4F9F-CF05-425F-8728-EEB6CB57FD06}" type="presParOf" srcId="{6B80B2D6-A5F1-4E30-8B52-A5AB4C454244}" destId="{8184E4F2-8065-48D8-81F0-D58DDF0DB616}" srcOrd="3" destOrd="0" presId="urn:microsoft.com/office/officeart/2005/8/layout/hList1"/>
    <dgm:cxn modelId="{25E90FEA-1A20-40FD-8628-7E4147EF98A9}" type="presParOf" srcId="{6B80B2D6-A5F1-4E30-8B52-A5AB4C454244}" destId="{737962BB-16B7-40D6-970E-EC2B41586BA5}" srcOrd="4" destOrd="0" presId="urn:microsoft.com/office/officeart/2005/8/layout/hList1"/>
    <dgm:cxn modelId="{41B77189-6A07-4DD0-8904-70EB17084AB2}" type="presParOf" srcId="{737962BB-16B7-40D6-970E-EC2B41586BA5}" destId="{1588316F-ACDF-45E3-A899-19AAB6369A9F}" srcOrd="0" destOrd="0" presId="urn:microsoft.com/office/officeart/2005/8/layout/hList1"/>
    <dgm:cxn modelId="{666B0590-BB6C-467D-B339-68F228617538}" type="presParOf" srcId="{737962BB-16B7-40D6-970E-EC2B41586BA5}" destId="{AFD1FE80-5321-4024-BB8C-05162A7D4B6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2162173"/>
        <a:ext cx="771525" cy="428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2162173"/>
        <a:ext cx="771525" cy="428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2162173"/>
        <a:ext cx="771525" cy="4286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2162173"/>
        <a:ext cx="771525" cy="4286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4953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638176"/>
        <a:ext cx="1000125" cy="428625"/>
      </dsp:txXfrm>
    </dsp:sp>
    <dsp:sp modelId="{A3BDD698-BF91-4341-84D0-8FC2D3514B78}">
      <dsp:nvSpPr>
        <dsp:cNvPr id="0" name=""/>
        <dsp:cNvSpPr/>
      </dsp:nvSpPr>
      <dsp:spPr>
        <a:xfrm>
          <a:off x="114299" y="1066801"/>
          <a:ext cx="114299" cy="665500"/>
        </a:xfrm>
        <a:custGeom>
          <a:avLst/>
          <a:gdLst/>
          <a:ahLst/>
          <a:cxnLst/>
          <a:rect l="0" t="0" r="0" b="0"/>
          <a:pathLst>
            <a:path>
              <a:moveTo>
                <a:pt x="0" y="0"/>
              </a:moveTo>
              <a:lnTo>
                <a:pt x="0" y="665500"/>
              </a:lnTo>
              <a:lnTo>
                <a:pt x="114299" y="665500"/>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446552"/>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589427"/>
        <a:ext cx="771525" cy="4286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a:t> </a:t>
          </a:r>
        </a:p>
      </dsp:txBody>
      <dsp:txXfrm>
        <a:off x="228599" y="2162173"/>
        <a:ext cx="771525" cy="4286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DDFA4-5300-4834-81F1-DABC2054D384}">
      <dsp:nvSpPr>
        <dsp:cNvPr id="0" name=""/>
        <dsp:cNvSpPr/>
      </dsp:nvSpPr>
      <dsp:spPr>
        <a:xfrm>
          <a:off x="0" y="1447798"/>
          <a:ext cx="2646759" cy="70888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Entity/Data model</a:t>
          </a:r>
        </a:p>
      </dsp:txBody>
      <dsp:txXfrm>
        <a:off x="0" y="1447798"/>
        <a:ext cx="2646759" cy="708882"/>
      </dsp:txXfrm>
    </dsp:sp>
    <dsp:sp modelId="{772F7B05-270C-4C5A-8430-F13AAC15292B}">
      <dsp:nvSpPr>
        <dsp:cNvPr id="0" name=""/>
        <dsp:cNvSpPr/>
      </dsp:nvSpPr>
      <dsp:spPr>
        <a:xfrm>
          <a:off x="2714" y="2155794"/>
          <a:ext cx="2646759" cy="9566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Virtual and DB backed properties</a:t>
          </a:r>
        </a:p>
        <a:p>
          <a:pPr marL="171450" lvl="1" indent="-171450" algn="l" defTabSz="755650">
            <a:lnSpc>
              <a:spcPct val="90000"/>
            </a:lnSpc>
            <a:spcBef>
              <a:spcPct val="0"/>
            </a:spcBef>
            <a:spcAft>
              <a:spcPct val="15000"/>
            </a:spcAft>
            <a:buChar char="•"/>
          </a:pPr>
          <a:r>
            <a:rPr lang="en-US" sz="1700" kern="1200"/>
            <a:t>Related Entities</a:t>
          </a:r>
        </a:p>
      </dsp:txBody>
      <dsp:txXfrm>
        <a:off x="2714" y="2155794"/>
        <a:ext cx="2646759" cy="956632"/>
      </dsp:txXfrm>
    </dsp:sp>
    <dsp:sp modelId="{B5030325-3054-4EB6-A568-4A61BFF1E15A}">
      <dsp:nvSpPr>
        <dsp:cNvPr id="0" name=""/>
        <dsp:cNvSpPr/>
      </dsp:nvSpPr>
      <dsp:spPr>
        <a:xfrm>
          <a:off x="2971796" y="1447798"/>
          <a:ext cx="2646759" cy="70888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err="1"/>
            <a:t>Gosu</a:t>
          </a:r>
          <a:r>
            <a:rPr lang="en-US" sz="1700" kern="1200"/>
            <a:t> class</a:t>
          </a:r>
        </a:p>
      </dsp:txBody>
      <dsp:txXfrm>
        <a:off x="2971796" y="1447798"/>
        <a:ext cx="2646759" cy="708882"/>
      </dsp:txXfrm>
    </dsp:sp>
    <dsp:sp modelId="{0849A700-6D99-4495-9D3C-1331760FDE2C}">
      <dsp:nvSpPr>
        <dsp:cNvPr id="0" name=""/>
        <dsp:cNvSpPr/>
      </dsp:nvSpPr>
      <dsp:spPr>
        <a:xfrm>
          <a:off x="2971796" y="2133600"/>
          <a:ext cx="2646759" cy="9566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Properties</a:t>
          </a:r>
        </a:p>
      </dsp:txBody>
      <dsp:txXfrm>
        <a:off x="2971796" y="2133600"/>
        <a:ext cx="2646759" cy="956632"/>
      </dsp:txXfrm>
    </dsp:sp>
    <dsp:sp modelId="{1588316F-ACDF-45E3-A899-19AAB6369A9F}">
      <dsp:nvSpPr>
        <dsp:cNvPr id="0" name=""/>
        <dsp:cNvSpPr/>
      </dsp:nvSpPr>
      <dsp:spPr>
        <a:xfrm>
          <a:off x="6019804" y="1447798"/>
          <a:ext cx="2646759" cy="70888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Java class</a:t>
          </a:r>
        </a:p>
      </dsp:txBody>
      <dsp:txXfrm>
        <a:off x="6019804" y="1447798"/>
        <a:ext cx="2646759" cy="708882"/>
      </dsp:txXfrm>
    </dsp:sp>
    <dsp:sp modelId="{AFD1FE80-5321-4024-BB8C-05162A7D4B66}">
      <dsp:nvSpPr>
        <dsp:cNvPr id="0" name=""/>
        <dsp:cNvSpPr/>
      </dsp:nvSpPr>
      <dsp:spPr>
        <a:xfrm>
          <a:off x="6037326" y="2155794"/>
          <a:ext cx="2646759" cy="9566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Properties(</a:t>
          </a:r>
          <a:r>
            <a:rPr lang="en-US" sz="1700" kern="1200" err="1"/>
            <a:t>getProperty</a:t>
          </a:r>
          <a:r>
            <a:rPr lang="en-US" sz="1700" kern="1200"/>
            <a:t> method)</a:t>
          </a:r>
        </a:p>
      </dsp:txBody>
      <dsp:txXfrm>
        <a:off x="6037326" y="2155794"/>
        <a:ext cx="2646759" cy="9566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3/24/2021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a:latin typeface="Arial" pitchFamily="34" charset="0"/>
                <a:cs typeface="Arial" pitchFamily="34" charset="0"/>
              </a:rPr>
              <a:t>© Guidewire Software, Inc. 2001-2014. All rights reserved.</a:t>
            </a:r>
            <a:br>
              <a:rPr lang="en-US" sz="800">
                <a:latin typeface="Arial" pitchFamily="34" charset="0"/>
                <a:cs typeface="Arial" pitchFamily="34" charset="0"/>
              </a:rPr>
            </a:br>
            <a:r>
              <a:rPr lang="en-US" sz="80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343094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1154629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200" b="0" i="0" kern="1200">
                <a:solidFill>
                  <a:schemeClr val="tx1"/>
                </a:solidFill>
                <a:effectLst/>
                <a:latin typeface="Arial" pitchFamily="34" charset="0"/>
                <a:ea typeface="+mn-ea"/>
                <a:cs typeface="Arial" pitchFamily="34" charset="0"/>
              </a:rPr>
              <a:t>In XML, it is illegal to omit the closing tag. All elements must have a closing tag,</a:t>
            </a:r>
            <a:r>
              <a:rPr lang="en-US" sz="1200" b="0" i="0" kern="1200" baseline="0">
                <a:solidFill>
                  <a:schemeClr val="tx1"/>
                </a:solidFill>
                <a:effectLst/>
                <a:latin typeface="Arial" pitchFamily="34" charset="0"/>
                <a:ea typeface="+mn-ea"/>
                <a:cs typeface="Arial" pitchFamily="34" charset="0"/>
              </a:rPr>
              <a:t> except for the XML declaration tag. XML tags are case sensitive. Opening and closing tags must be written with the same case. Another word for tags is elements. All  XML elements must be properly nested within each other. </a:t>
            </a:r>
            <a:r>
              <a:rPr lang="en-US" sz="1200" b="0" i="0" kern="1200">
                <a:solidFill>
                  <a:schemeClr val="tx1"/>
                </a:solidFill>
                <a:effectLst/>
                <a:latin typeface="Arial" pitchFamily="34" charset="0"/>
                <a:ea typeface="+mn-ea"/>
                <a:cs typeface="Arial" pitchFamily="34" charset="0"/>
              </a:rPr>
              <a:t>XML must contain one element that is the parent of all other elements. This element is called the root element. XML elements can have attributes in name/value pairs. The attribute values must always be quoted.</a:t>
            </a:r>
          </a:p>
          <a:p>
            <a:endParaRPr lang="en-US" sz="1200" b="0" i="0" kern="1200" baseline="0">
              <a:solidFill>
                <a:schemeClr val="tx1"/>
              </a:solidFill>
              <a:effectLst/>
              <a:latin typeface="Arial" pitchFamily="34" charset="0"/>
              <a:ea typeface="+mn-ea"/>
              <a:cs typeface="Arial" pitchFamily="34" charset="0"/>
            </a:endParaRPr>
          </a:p>
          <a:p>
            <a:r>
              <a:rPr lang="en-US" sz="1200" b="0" i="0" kern="1200">
                <a:solidFill>
                  <a:schemeClr val="tx1"/>
                </a:solidFill>
                <a:effectLst/>
                <a:latin typeface="Arial" pitchFamily="34" charset="0"/>
                <a:ea typeface="+mn-ea"/>
                <a:cs typeface="Arial" pitchFamily="34" charset="0"/>
              </a:rPr>
              <a:t>In XML, there are five predefined entities representing special characters. XML requires that you replace these characters with a named references.  The five characters are: </a:t>
            </a:r>
          </a:p>
          <a:p>
            <a:r>
              <a:rPr lang="en-US" sz="1200" b="0" i="0" kern="1200">
                <a:solidFill>
                  <a:schemeClr val="tx1"/>
                </a:solidFill>
                <a:effectLst/>
                <a:latin typeface="Arial" pitchFamily="34" charset="0"/>
                <a:ea typeface="+mn-ea"/>
                <a:cs typeface="Arial" pitchFamily="34" charset="0"/>
              </a:rPr>
              <a:t>"   – double quotation mark</a:t>
            </a:r>
            <a:br>
              <a:rPr lang="en-US" sz="1200" b="0" i="0" kern="1200">
                <a:solidFill>
                  <a:schemeClr val="tx1"/>
                </a:solidFill>
                <a:effectLst/>
                <a:latin typeface="Arial" pitchFamily="34" charset="0"/>
                <a:ea typeface="+mn-ea"/>
                <a:cs typeface="Arial" pitchFamily="34" charset="0"/>
              </a:rPr>
            </a:br>
            <a:r>
              <a:rPr lang="en-US"/>
              <a:t>&amp; – ampersand</a:t>
            </a:r>
            <a:endParaRPr lang="en-US" sz="1200" b="0" i="0" kern="1200">
              <a:solidFill>
                <a:schemeClr val="tx1"/>
              </a:solidFill>
              <a:effectLst/>
              <a:latin typeface="Arial" pitchFamily="34" charset="0"/>
              <a:ea typeface="+mn-ea"/>
              <a:cs typeface="Arial" pitchFamily="34" charset="0"/>
            </a:endParaRPr>
          </a:p>
          <a:p>
            <a:r>
              <a:rPr lang="en-US"/>
              <a:t>'   – </a:t>
            </a:r>
            <a:r>
              <a:rPr lang="en-US" sz="1200" b="0" i="0" kern="1200">
                <a:solidFill>
                  <a:schemeClr val="tx1"/>
                </a:solidFill>
                <a:effectLst/>
                <a:latin typeface="Arial" pitchFamily="34" charset="0"/>
                <a:ea typeface="+mn-ea"/>
                <a:cs typeface="Arial" pitchFamily="34" charset="0"/>
              </a:rPr>
              <a:t>apostrophe</a:t>
            </a:r>
          </a:p>
          <a:p>
            <a:r>
              <a:rPr lang="en-US" sz="1200" b="0" i="0" kern="1200">
                <a:solidFill>
                  <a:schemeClr val="tx1"/>
                </a:solidFill>
                <a:effectLst/>
                <a:latin typeface="Arial" pitchFamily="34" charset="0"/>
                <a:ea typeface="+mn-ea"/>
                <a:cs typeface="Arial" pitchFamily="34" charset="0"/>
              </a:rPr>
              <a:t>&lt; </a:t>
            </a:r>
            <a:r>
              <a:rPr lang="en-US"/>
              <a:t>– </a:t>
            </a:r>
            <a:r>
              <a:rPr lang="en-US" sz="1200" b="0" i="0" kern="1200">
                <a:solidFill>
                  <a:schemeClr val="tx1"/>
                </a:solidFill>
                <a:effectLst/>
                <a:latin typeface="Arial" pitchFamily="34" charset="0"/>
                <a:ea typeface="+mn-ea"/>
                <a:cs typeface="Arial" pitchFamily="34" charset="0"/>
              </a:rPr>
              <a:t> less than sign</a:t>
            </a:r>
          </a:p>
          <a:p>
            <a:r>
              <a:rPr lang="en-US"/>
              <a:t>&gt; –  greater</a:t>
            </a:r>
          </a:p>
          <a:p>
            <a:endParaRPr lang="en-US"/>
          </a:p>
          <a:p>
            <a:r>
              <a:rPr lang="en-US"/>
              <a:t>For more information on the Extensible Markup Language, refer to the World Wide Web Consortium web page http://www.w3.org/XML. </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424243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normAutofit/>
          </a:bodyPr>
          <a:lstStyle/>
          <a:p>
            <a:r>
              <a:rPr lang="en-US"/>
              <a:t>An XML element has one of the various types of contents: simple value; one or more child values; mixed complex type containing attributes, elements, and text; or nothing. An attribute is a name/value pair appearing inside the element's tag.  Example: Line 10: The </a:t>
            </a:r>
            <a:r>
              <a:rPr lang="en-US" err="1"/>
              <a:t>sessiontimeoutsecs</a:t>
            </a:r>
            <a:r>
              <a:rPr lang="en-US"/>
              <a:t> attribute has a value of 10800.</a:t>
            </a:r>
          </a:p>
          <a:p>
            <a:endParaRPr lang="en-US" b="1"/>
          </a:p>
          <a:p>
            <a:r>
              <a:rPr lang="en-US" b="1"/>
              <a:t>Simple value example – </a:t>
            </a:r>
            <a:r>
              <a:rPr lang="en-US"/>
              <a:t> The contents of the following  &lt;greeting /&gt;  element is the simple text value "Hello":</a:t>
            </a:r>
            <a:br>
              <a:rPr lang="en-US"/>
            </a:br>
            <a:r>
              <a:rPr lang="en-US">
                <a:latin typeface="Courier New" pitchFamily="49" charset="0"/>
                <a:cs typeface="Courier New" pitchFamily="49" charset="0"/>
              </a:rPr>
              <a:t>&lt;greeting&gt;Hello&lt;/greeting&gt;</a:t>
            </a:r>
          </a:p>
          <a:p>
            <a:endParaRPr lang="en-US" b="1"/>
          </a:p>
          <a:p>
            <a:r>
              <a:rPr lang="en-US" b="1"/>
              <a:t>One or more child elements – </a:t>
            </a:r>
            <a:r>
              <a:rPr lang="en-US"/>
              <a:t> The contents of the following &lt;greeting /&gt; element is two  &lt;</a:t>
            </a:r>
            <a:r>
              <a:rPr lang="en-US" err="1"/>
              <a:t>greetingText</a:t>
            </a:r>
            <a:r>
              <a:rPr lang="en-US"/>
              <a:t> /&gt; elements:</a:t>
            </a:r>
            <a:br>
              <a:rPr lang="en-US"/>
            </a:br>
            <a:r>
              <a:rPr lang="en-US">
                <a:latin typeface="Courier New" pitchFamily="49" charset="0"/>
                <a:cs typeface="Courier New" pitchFamily="49" charset="0"/>
              </a:rPr>
              <a:t>&lt;greeting&gt;</a:t>
            </a:r>
            <a:br>
              <a:rPr lang="en-US">
                <a:latin typeface="Courier New" pitchFamily="49" charset="0"/>
                <a:cs typeface="Courier New" pitchFamily="49" charset="0"/>
              </a:rPr>
            </a:br>
            <a:r>
              <a:rPr lang="en-US">
                <a:latin typeface="Courier New" pitchFamily="49" charset="0"/>
                <a:cs typeface="Courier New" pitchFamily="49" charset="0"/>
              </a:rPr>
              <a:t>   &lt;</a:t>
            </a:r>
            <a:r>
              <a:rPr lang="en-US" err="1">
                <a:latin typeface="Courier New" pitchFamily="49" charset="0"/>
                <a:cs typeface="Courier New" pitchFamily="49" charset="0"/>
              </a:rPr>
              <a:t>greetingText</a:t>
            </a:r>
            <a:r>
              <a:rPr lang="en-US">
                <a:latin typeface="Courier New" pitchFamily="49" charset="0"/>
                <a:cs typeface="Courier New" pitchFamily="49" charset="0"/>
              </a:rPr>
              <a:t> </a:t>
            </a:r>
            <a:r>
              <a:rPr lang="en-US" err="1">
                <a:latin typeface="Courier New" pitchFamily="49" charset="0"/>
                <a:cs typeface="Courier New" pitchFamily="49" charset="0"/>
              </a:rPr>
              <a:t>lang</a:t>
            </a:r>
            <a:r>
              <a:rPr lang="en-US">
                <a:latin typeface="Courier New" pitchFamily="49" charset="0"/>
                <a:cs typeface="Courier New" pitchFamily="49" charset="0"/>
              </a:rPr>
              <a:t>="</a:t>
            </a:r>
            <a:r>
              <a:rPr lang="en-US" err="1">
                <a:latin typeface="Courier New" pitchFamily="49" charset="0"/>
                <a:cs typeface="Courier New" pitchFamily="49" charset="0"/>
              </a:rPr>
              <a:t>en_US</a:t>
            </a:r>
            <a:r>
              <a:rPr lang="en-US">
                <a:latin typeface="Courier New" pitchFamily="49" charset="0"/>
                <a:cs typeface="Courier New" pitchFamily="49" charset="0"/>
              </a:rPr>
              <a:t>"&gt;Hello&lt;/</a:t>
            </a:r>
            <a:r>
              <a:rPr lang="en-US" err="1">
                <a:latin typeface="Courier New" pitchFamily="49" charset="0"/>
                <a:cs typeface="Courier New" pitchFamily="49" charset="0"/>
              </a:rPr>
              <a:t>greetingText</a:t>
            </a:r>
            <a:r>
              <a:rPr lang="en-US">
                <a:latin typeface="Courier New" pitchFamily="49" charset="0"/>
                <a:cs typeface="Courier New" pitchFamily="49" charset="0"/>
              </a:rPr>
              <a:t>&gt;</a:t>
            </a:r>
            <a:br>
              <a:rPr lang="en-US">
                <a:latin typeface="Courier New" pitchFamily="49" charset="0"/>
                <a:cs typeface="Courier New" pitchFamily="49" charset="0"/>
              </a:rPr>
            </a:br>
            <a:r>
              <a:rPr lang="en-US">
                <a:latin typeface="Courier New" pitchFamily="49" charset="0"/>
                <a:cs typeface="Courier New" pitchFamily="49" charset="0"/>
              </a:rPr>
              <a:t>   &lt;</a:t>
            </a:r>
            <a:r>
              <a:rPr lang="en-US" err="1">
                <a:latin typeface="Courier New" pitchFamily="49" charset="0"/>
                <a:cs typeface="Courier New" pitchFamily="49" charset="0"/>
              </a:rPr>
              <a:t>greetingText</a:t>
            </a:r>
            <a:r>
              <a:rPr lang="en-US">
                <a:latin typeface="Courier New" pitchFamily="49" charset="0"/>
                <a:cs typeface="Courier New" pitchFamily="49" charset="0"/>
              </a:rPr>
              <a:t> </a:t>
            </a:r>
            <a:r>
              <a:rPr lang="en-US" err="1">
                <a:latin typeface="Courier New" pitchFamily="49" charset="0"/>
                <a:cs typeface="Courier New" pitchFamily="49" charset="0"/>
              </a:rPr>
              <a:t>lang</a:t>
            </a:r>
            <a:r>
              <a:rPr lang="en-US">
                <a:latin typeface="Courier New" pitchFamily="49" charset="0"/>
                <a:cs typeface="Courier New" pitchFamily="49" charset="0"/>
              </a:rPr>
              <a:t>="</a:t>
            </a:r>
            <a:r>
              <a:rPr lang="en-US" err="1">
                <a:latin typeface="Courier New" pitchFamily="49" charset="0"/>
                <a:cs typeface="Courier New" pitchFamily="49" charset="0"/>
              </a:rPr>
              <a:t>fr_FR</a:t>
            </a:r>
            <a:r>
              <a:rPr lang="en-US">
                <a:latin typeface="Courier New" pitchFamily="49" charset="0"/>
                <a:cs typeface="Courier New" pitchFamily="49" charset="0"/>
              </a:rPr>
              <a:t>"&gt;Bonjour&lt;/</a:t>
            </a:r>
            <a:r>
              <a:rPr lang="en-US" err="1">
                <a:latin typeface="Courier New" pitchFamily="49" charset="0"/>
                <a:cs typeface="Courier New" pitchFamily="49" charset="0"/>
              </a:rPr>
              <a:t>greetingText</a:t>
            </a:r>
            <a:r>
              <a:rPr lang="en-US">
                <a:latin typeface="Courier New" pitchFamily="49" charset="0"/>
                <a:cs typeface="Courier New" pitchFamily="49" charset="0"/>
              </a:rPr>
              <a:t>&gt;</a:t>
            </a:r>
            <a:br>
              <a:rPr lang="en-US">
                <a:latin typeface="Courier New" pitchFamily="49" charset="0"/>
                <a:cs typeface="Courier New" pitchFamily="49" charset="0"/>
              </a:rPr>
            </a:br>
            <a:r>
              <a:rPr lang="en-US">
                <a:latin typeface="Courier New" pitchFamily="49" charset="0"/>
                <a:cs typeface="Courier New" pitchFamily="49" charset="0"/>
              </a:rPr>
              <a:t>&lt;/greeting&gt;</a:t>
            </a:r>
          </a:p>
          <a:p>
            <a:endParaRPr lang="en-US" b="1"/>
          </a:p>
          <a:p>
            <a:r>
              <a:rPr lang="en-US" b="1"/>
              <a:t>Mixed complex content – </a:t>
            </a:r>
            <a:r>
              <a:rPr lang="en-US"/>
              <a:t>There is both text and an inner &lt;custom /&gt; element within the &lt;</a:t>
            </a:r>
            <a:r>
              <a:rPr lang="en-US" err="1"/>
              <a:t>greetingText</a:t>
            </a:r>
            <a:r>
              <a:rPr lang="en-US"/>
              <a:t> /&gt; element:</a:t>
            </a:r>
            <a:br>
              <a:rPr lang="en-US"/>
            </a:br>
            <a:r>
              <a:rPr lang="en-US">
                <a:latin typeface="Courier New" pitchFamily="49" charset="0"/>
                <a:cs typeface="Courier New" pitchFamily="49" charset="0"/>
              </a:rPr>
              <a:t>&lt;</a:t>
            </a:r>
            <a:r>
              <a:rPr lang="en-US" err="1">
                <a:latin typeface="Courier New" pitchFamily="49" charset="0"/>
                <a:cs typeface="Courier New" pitchFamily="49" charset="0"/>
              </a:rPr>
              <a:t>greetingText</a:t>
            </a:r>
            <a:r>
              <a:rPr lang="en-US">
                <a:latin typeface="Courier New" pitchFamily="49" charset="0"/>
                <a:cs typeface="Courier New" pitchFamily="49" charset="0"/>
              </a:rPr>
              <a:t> </a:t>
            </a:r>
            <a:r>
              <a:rPr lang="en-US" err="1">
                <a:latin typeface="Courier New" pitchFamily="49" charset="0"/>
                <a:cs typeface="Courier New" pitchFamily="49" charset="0"/>
              </a:rPr>
              <a:t>lang</a:t>
            </a:r>
            <a:r>
              <a:rPr lang="en-US">
                <a:latin typeface="Courier New" pitchFamily="49" charset="0"/>
                <a:cs typeface="Courier New" pitchFamily="49" charset="0"/>
              </a:rPr>
              <a:t>="</a:t>
            </a:r>
            <a:r>
              <a:rPr lang="en-US" err="1">
                <a:latin typeface="Courier New" pitchFamily="49" charset="0"/>
                <a:cs typeface="Courier New" pitchFamily="49" charset="0"/>
              </a:rPr>
              <a:t>fr_FR</a:t>
            </a:r>
            <a:r>
              <a:rPr lang="en-US">
                <a:latin typeface="Courier New" pitchFamily="49" charset="0"/>
                <a:cs typeface="Courier New" pitchFamily="49" charset="0"/>
              </a:rPr>
              <a:t>"&gt;Bonjour&lt;custom&gt;kiss on each side of face&lt;custom&gt;&lt;/</a:t>
            </a:r>
            <a:r>
              <a:rPr lang="en-US" err="1">
                <a:latin typeface="Courier New" pitchFamily="49" charset="0"/>
                <a:cs typeface="Courier New" pitchFamily="49" charset="0"/>
              </a:rPr>
              <a:t>greetingText</a:t>
            </a:r>
            <a:r>
              <a:rPr lang="en-US">
                <a:latin typeface="Courier New" pitchFamily="49" charset="0"/>
                <a:cs typeface="Courier New" pitchFamily="49" charset="0"/>
              </a:rPr>
              <a:t>&gt;</a:t>
            </a:r>
            <a:br>
              <a:rPr lang="en-US">
                <a:latin typeface="Courier New" pitchFamily="49" charset="0"/>
                <a:cs typeface="Courier New" pitchFamily="49" charset="0"/>
              </a:rPr>
            </a:br>
            <a:endParaRPr lang="en-US"/>
          </a:p>
          <a:p>
            <a:r>
              <a:rPr lang="en-US" b="1"/>
              <a:t>Nothing</a:t>
            </a:r>
            <a:r>
              <a:rPr lang="en-US"/>
              <a:t> </a:t>
            </a:r>
            <a:r>
              <a:rPr lang="en-US" b="1"/>
              <a:t>– </a:t>
            </a:r>
            <a:r>
              <a:rPr lang="en-US"/>
              <a:t> The following "greeting" element has no contents (even though it has attribute):</a:t>
            </a:r>
            <a:br>
              <a:rPr lang="en-US"/>
            </a:br>
            <a:r>
              <a:rPr lang="en-US">
                <a:latin typeface="Courier New" pitchFamily="49" charset="0"/>
                <a:cs typeface="Courier New" pitchFamily="49" charset="0"/>
              </a:rPr>
              <a:t>&lt;greeting </a:t>
            </a:r>
            <a:r>
              <a:rPr lang="en-US" err="1">
                <a:latin typeface="Courier New" pitchFamily="49" charset="0"/>
                <a:cs typeface="Courier New" pitchFamily="49" charset="0"/>
              </a:rPr>
              <a:t>lang</a:t>
            </a:r>
            <a:r>
              <a:rPr lang="en-US">
                <a:latin typeface="Courier New" pitchFamily="49" charset="0"/>
                <a:cs typeface="Courier New" pitchFamily="49" charset="0"/>
              </a:rPr>
              <a:t>="la (Latin)"/&gt;</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299650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XML, developers often arbitrarily define element names resulting in potential conflicts when trying to mix XML documents from different XML applications.</a:t>
            </a:r>
          </a:p>
          <a:p>
            <a:endParaRPr lang="en-US"/>
          </a:p>
          <a:p>
            <a:r>
              <a:rPr lang="en-US"/>
              <a:t>An example of a conflicting definition is a &lt;quantity&gt; tag. For some items, &lt;quantity&gt; can be defined in weight, such as "&lt;quantity&gt;10&lt;/quantity&gt;" representing 10 kilograms of flour. In other cases, &lt;quantity&gt; can be defined in discrete objects, such as "&lt;quantity&gt;10&lt;/quantity&gt;" representing 10 mixing bowls. If an XML document is based on both definitions, then any reference to quantity is ambiguous. </a:t>
            </a:r>
          </a:p>
          <a:p>
            <a:endParaRPr lang="en-US"/>
          </a:p>
          <a:p>
            <a:r>
              <a:rPr lang="en-US"/>
              <a:t>You can resolve namespace conflicts by using a prefix identifier in the </a:t>
            </a:r>
            <a:r>
              <a:rPr lang="en-US" err="1"/>
              <a:t>xmlns</a:t>
            </a:r>
            <a:r>
              <a:rPr lang="en-US"/>
              <a:t> attribute. For example, you can qualify one namespace with  </a:t>
            </a:r>
            <a:r>
              <a:rPr lang="en-US" err="1"/>
              <a:t>xmlns:xa</a:t>
            </a:r>
            <a:r>
              <a:rPr lang="en-US"/>
              <a:t> defines element &lt;</a:t>
            </a:r>
            <a:r>
              <a:rPr lang="en-US" err="1"/>
              <a:t>xa:quantity</a:t>
            </a:r>
            <a:r>
              <a:rPr lang="en-US"/>
              <a:t>&gt; and </a:t>
            </a:r>
            <a:r>
              <a:rPr lang="en-US" err="1"/>
              <a:t>xmlns:xb</a:t>
            </a:r>
            <a:r>
              <a:rPr lang="en-US"/>
              <a:t> defines element &lt;</a:t>
            </a:r>
            <a:r>
              <a:rPr lang="en-US" err="1"/>
              <a:t>xb:quantity</a:t>
            </a:r>
            <a:r>
              <a:rPr lang="en-US"/>
              <a:t>&gt;.</a:t>
            </a:r>
          </a:p>
          <a:p>
            <a:endParaRPr lang="en-US"/>
          </a:p>
          <a:p>
            <a:r>
              <a:rPr lang="en-US"/>
              <a:t>If an XML document uses elements for which there are no ambiguous definitions, then there is no need to define namespace. However, the use of namespaces are considered a best practice, particularly when you consider that there is no way of knowing whether element definitions created in the future will conflict with definitions that currently exist. </a:t>
            </a:r>
          </a:p>
          <a:p>
            <a:endParaRPr lang="en-US"/>
          </a:p>
          <a:p>
            <a:r>
              <a:rPr lang="en-US"/>
              <a:t>Defining a default namespace for a root (or parent) element means that you do not need to use prefixes in all the child elements. A default namespace has no prefix qualifier in the </a:t>
            </a:r>
            <a:r>
              <a:rPr lang="en-US" err="1"/>
              <a:t>xmlns</a:t>
            </a:r>
            <a:r>
              <a:rPr lang="en-US"/>
              <a:t> attribute. The syntax is </a:t>
            </a:r>
            <a:r>
              <a:rPr lang="en-US" err="1"/>
              <a:t>xmlns</a:t>
            </a:r>
            <a:r>
              <a:rPr lang="en-US"/>
              <a:t>="</a:t>
            </a:r>
            <a:r>
              <a:rPr lang="en-US" i="1" err="1"/>
              <a:t>namespaceURI</a:t>
            </a:r>
            <a:r>
              <a:rPr lang="en-US"/>
              <a:t>". The URI is not looked up.  The slide example uses a default namespace for the &lt;config /&gt; root element and a namespace with a prefix.</a:t>
            </a:r>
          </a:p>
          <a:p>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294361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One can work with XML documents even when there is no XSD. However, an XSD gives you the ability to validate the structure of a given XML document.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3104155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An XML document can be imported into Guidewire in isolation or through an XSD. </a:t>
            </a:r>
          </a:p>
          <a:p>
            <a:endParaRPr lang="en-US"/>
          </a:p>
          <a:p>
            <a:r>
              <a:rPr lang="en-US"/>
              <a:t>When an XML document is imported in isolation, the imported XML is untyped</a:t>
            </a:r>
          </a:p>
          <a:p>
            <a:endParaRPr lang="en-US"/>
          </a:p>
          <a:p>
            <a:r>
              <a:rPr lang="en-US"/>
              <a:t>When an XML document is imported through an XSD, the imported XML is strongly typed. It is the responsibility of the import code to use the XSD appropriate to a given XML document.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739403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Broadly speaking, serialization is the process of converting a data structure or object into a sequence of bits so that it can be stored in a file or memory buffer, or transmitted across a network connection link to be reconstructed later. When the resulting series of bits is reread according to the serialization format, it can be used to create a semantically identical clone of the original object.</a:t>
            </a:r>
          </a:p>
          <a:p>
            <a:endParaRPr lang="en-US"/>
          </a:p>
          <a:p>
            <a:r>
              <a:rPr lang="en-US"/>
              <a:t>Serializing an object is also called deflating or marshaling an object. Deserialization is the opposite operation and refers to extracting a data structure from a series of bytes. </a:t>
            </a:r>
            <a:r>
              <a:rPr lang="en-US" err="1"/>
              <a:t>Deserializing</a:t>
            </a:r>
            <a:r>
              <a:rPr lang="en-US"/>
              <a:t> an object is often called inflating or </a:t>
            </a:r>
            <a:r>
              <a:rPr lang="en-US" err="1"/>
              <a:t>unmarshaling</a:t>
            </a:r>
            <a:r>
              <a:rPr lang="en-US"/>
              <a:t>.</a:t>
            </a:r>
          </a:p>
          <a:p>
            <a:endParaRPr lang="en-US"/>
          </a:p>
          <a:p>
            <a:r>
              <a:rPr lang="en-US"/>
              <a:t>For some types of values such as integers and strings, the logic needed to serialize the value is fairly straight forward. For other types of values such as dates, hexadecimals, and images, the logic can be much more complicated. When working with XML in Gosu, Guidewire makes use of simple value objects. These objects store the value in question and the logic needed to serialize the value. Simple value objects make it easier to work with values that require complex serialization logic.</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1236969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185849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Gosu has a set of features that let you read,</a:t>
            </a:r>
            <a:r>
              <a:rPr lang="en-US" baseline="0"/>
              <a:t> parse data from, and create XML.  When working with Gosu and XML, Guidewire recommends using s</a:t>
            </a:r>
            <a:r>
              <a:rPr lang="en-US"/>
              <a:t>trongly typed XML.</a:t>
            </a:r>
            <a:r>
              <a:rPr lang="en-US" baseline="0"/>
              <a:t> Strongly typed XML makes it easier to identify elements and attribute values using less </a:t>
            </a:r>
            <a:r>
              <a:rPr lang="en-US"/>
              <a:t>Gosu code because </a:t>
            </a:r>
            <a:r>
              <a:rPr lang="en-US" baseline="0"/>
              <a:t>the XSD does the work of validating the XML and not Gosu.</a:t>
            </a:r>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3794684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The XmlElement class lets developers interact with XML in an object-oriented manner. Instead of modifying text data in an XML file, developers can simply manipulate XmlElement objects. You can read in XML data from a file or other sources and parse it into a graph of XML elements. Other sources  include</a:t>
            </a:r>
            <a:r>
              <a:rPr lang="en-US" baseline="0"/>
              <a:t> data that is of the type </a:t>
            </a:r>
            <a:r>
              <a:rPr lang="en-US" err="1"/>
              <a:t>java.io.InputStream</a:t>
            </a:r>
            <a:r>
              <a:rPr lang="en-US"/>
              <a:t> , </a:t>
            </a:r>
            <a:r>
              <a:rPr lang="en-US" err="1"/>
              <a:t>java.lang.String</a:t>
            </a:r>
            <a:r>
              <a:rPr lang="en-US"/>
              <a:t>,</a:t>
            </a:r>
            <a:r>
              <a:rPr lang="en-US" baseline="0"/>
              <a:t> </a:t>
            </a:r>
            <a:r>
              <a:rPr lang="en-US"/>
              <a:t>an array of bytes, </a:t>
            </a:r>
            <a:r>
              <a:rPr lang="en-US" err="1"/>
              <a:t>java.io.Reader</a:t>
            </a:r>
            <a:r>
              <a:rPr lang="en-US"/>
              <a:t>, and  java.net.URL.</a:t>
            </a:r>
          </a:p>
          <a:p>
            <a:endParaRPr lang="en-US"/>
          </a:p>
          <a:p>
            <a:r>
              <a:rPr lang="en-US"/>
              <a:t>You can export a graph of XML elements as standard XML, for example as an array of bytes containing XML data.</a:t>
            </a:r>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491641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Gosu, the name of an XmlElement instance is based on the element name. In the slide example, there are three elements named &lt;config&gt;, &lt;param&gt; and &lt;database&gt;.</a:t>
            </a:r>
          </a:p>
          <a:p>
            <a:endParaRPr lang="en-US"/>
          </a:p>
          <a:p>
            <a:r>
              <a:rPr lang="en-US"/>
              <a:t>It is possible for a given XML file to have elements defined in two or more ways. Therefore, if only the element name is used, then you could end up with two XmlElement instances having the same name but different meanings. For example, if a given XML file uses two types of &lt;quantity&gt; elements, one that assumes quantity is specified in units and one that assumes quantity is specified in kilograms, and you have two XmlElement instances each with a name of "quantity", you cannot readily know how to interpret the contents of the element.</a:t>
            </a:r>
          </a:p>
          <a:p>
            <a:endParaRPr lang="en-US"/>
          </a:p>
          <a:p>
            <a:r>
              <a:rPr lang="en-US"/>
              <a:t>To avoid ambiguity, the XmlElement class names an element instances using a qualified name called a </a:t>
            </a:r>
            <a:r>
              <a:rPr lang="en-US" err="1"/>
              <a:t>QName</a:t>
            </a:r>
            <a:r>
              <a:rPr lang="en-US"/>
              <a:t>.</a:t>
            </a:r>
          </a:p>
          <a:p>
            <a:endParaRPr lang="en-US"/>
          </a:p>
          <a:p>
            <a:r>
              <a:rPr lang="en-US"/>
              <a:t>A </a:t>
            </a:r>
            <a:r>
              <a:rPr lang="en-US" err="1"/>
              <a:t>QName</a:t>
            </a:r>
            <a:r>
              <a:rPr lang="en-US"/>
              <a:t> is a qualified name for an XML element that exists in both Java and Gosu. A </a:t>
            </a:r>
            <a:r>
              <a:rPr lang="en-US" err="1"/>
              <a:t>QName</a:t>
            </a:r>
            <a:r>
              <a:rPr lang="en-US"/>
              <a:t> includes both the element name also known as the local part and the XML namespace that defines the element typically using a URI.</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59818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 </a:t>
            </a:r>
            <a:r>
              <a:rPr lang="en-US" err="1"/>
              <a:t>QName</a:t>
            </a:r>
            <a:r>
              <a:rPr lang="en-US"/>
              <a:t> defines an element more precisely than using just a String value. A </a:t>
            </a:r>
            <a:r>
              <a:rPr lang="en-US" err="1"/>
              <a:t>QName</a:t>
            </a:r>
            <a:r>
              <a:rPr lang="en-US"/>
              <a:t> contains the following components:</a:t>
            </a:r>
          </a:p>
          <a:p>
            <a:pPr marL="171450" indent="-171450">
              <a:buFont typeface="Arial" pitchFamily="34" charset="0"/>
              <a:buChar char="•"/>
            </a:pPr>
            <a:r>
              <a:rPr lang="en-US"/>
              <a:t>A String value that represents the local part also called the </a:t>
            </a:r>
            <a:r>
              <a:rPr lang="en-US" err="1"/>
              <a:t>localPart</a:t>
            </a:r>
            <a:r>
              <a:rPr lang="en-US"/>
              <a:t>. In the slide</a:t>
            </a:r>
            <a:r>
              <a:rPr lang="en-US" baseline="0"/>
              <a:t> example, </a:t>
            </a:r>
            <a:r>
              <a:rPr lang="en-US"/>
              <a:t>the local part comes after the close brace --</a:t>
            </a:r>
            <a:r>
              <a:rPr lang="en-US" baseline="0"/>
              <a:t> </a:t>
            </a:r>
            <a:r>
              <a:rPr lang="en-US"/>
              <a:t>"}".</a:t>
            </a:r>
          </a:p>
          <a:p>
            <a:pPr marL="171450" indent="-171450">
              <a:buFont typeface="Arial" pitchFamily="34" charset="0"/>
              <a:buChar char="•"/>
            </a:pPr>
            <a:r>
              <a:rPr lang="en-US"/>
              <a:t>A String value that represents the namespace URI that the local part of the name is defined within. In the slide example, the namespace URI comes within the braces.</a:t>
            </a:r>
          </a:p>
          <a:p>
            <a:pPr marL="171450" indent="-171450">
              <a:buFont typeface="Arial" pitchFamily="34" charset="0"/>
              <a:buChar char="•"/>
            </a:pPr>
            <a:r>
              <a:rPr lang="en-US"/>
              <a:t>A suggested prefix name if Gosu later serializes this element. This prefix is not guaranteed upon serialization, since there may be conflicts. In the slide example, there is no prefix.</a:t>
            </a:r>
          </a:p>
          <a:p>
            <a:endParaRPr lang="en-US"/>
          </a:p>
          <a:p>
            <a:r>
              <a:rPr lang="en-US" err="1"/>
              <a:t>QNames</a:t>
            </a:r>
            <a:r>
              <a:rPr lang="en-US"/>
              <a:t> are specified as instances of the </a:t>
            </a:r>
            <a:r>
              <a:rPr lang="en-US" err="1"/>
              <a:t>javax.xml.namespace.QName</a:t>
            </a:r>
            <a:r>
              <a:rPr lang="en-US"/>
              <a:t> class.</a:t>
            </a:r>
            <a:r>
              <a:rPr lang="en-US" baseline="0"/>
              <a:t> T</a:t>
            </a:r>
            <a:r>
              <a:rPr lang="en-US"/>
              <a:t>he Gosu object that represent the element does not directly contain the child elements or the text content. It is the backing type instance for each element which contains the text content. However, in practice you probably do not need to be aware of this distinction.</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2154664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If a given integration point is working with XML that is predominantly text and numeric data, then there is probably no need to work with simple values. The Gosu code can get and set element attributes directly.</a:t>
            </a:r>
          </a:p>
          <a:p>
            <a:endParaRPr lang="en-US"/>
          </a:p>
          <a:p>
            <a:r>
              <a:rPr lang="en-US"/>
              <a:t>However, if a given integration point is working with XML that makes use of dates or more complex values (such as hexadecimal values or images), then the Gosu code should get and set element attributes using the </a:t>
            </a:r>
            <a:r>
              <a:rPr lang="en-US" err="1"/>
              <a:t>getSimpleValue</a:t>
            </a:r>
            <a:r>
              <a:rPr lang="en-US"/>
              <a:t>() and </a:t>
            </a:r>
            <a:r>
              <a:rPr lang="en-US" err="1"/>
              <a:t>setSimpleValue</a:t>
            </a:r>
            <a:r>
              <a:rPr lang="en-US"/>
              <a:t>() methods. Both methods require additional parameters and are therefore more complex to work with.  Both methods ensure that values are retrieved correctly and are stored for proper serialization.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638105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1879558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slide example, there is Gosu code that manipulates untyped XML.  You can find this code in TrainingApp in …\configuration\config\examples\xml\</a:t>
            </a:r>
            <a:br>
              <a:rPr lang="en-US"/>
            </a:br>
            <a:r>
              <a:rPr lang="en-US"/>
              <a:t>01_Xml_Untyped.CopyToGosuScratchpad.txt</a:t>
            </a:r>
          </a:p>
          <a:p>
            <a:endParaRPr lang="en-US"/>
          </a:p>
          <a:p>
            <a:r>
              <a:rPr lang="en-US"/>
              <a:t>Parsing is the act of converting serialized XML data into a more complex in-memory representation of the data. All the parse methods begin with the parse prefix. There are multiple methods because Gosu supports parsing from several different sources of XML data.</a:t>
            </a:r>
          </a:p>
          <a:p>
            <a:endParaRPr lang="en-US"/>
          </a:p>
          <a:p>
            <a:r>
              <a:rPr lang="en-US"/>
              <a:t>For each source of data, there is an optional method variant that modifies the way Gosu parses the XML. Gosu encapsulates these options in an instance of the type </a:t>
            </a:r>
            <a:r>
              <a:rPr lang="en-US" err="1"/>
              <a:t>XmlParseOptions</a:t>
            </a:r>
            <a:r>
              <a:rPr lang="en-US"/>
              <a:t>. The </a:t>
            </a:r>
            <a:r>
              <a:rPr lang="en-US" err="1"/>
              <a:t>XmlParseOptions</a:t>
            </a:r>
            <a:r>
              <a:rPr lang="en-US"/>
              <a:t> specifies additional schemas that resolve schema components for the input instance XML document. For more information, refer to the Gosu Reference.</a:t>
            </a:r>
          </a:p>
          <a:p>
            <a:endParaRPr lang="en-US"/>
          </a:p>
          <a:p>
            <a:r>
              <a:rPr lang="en-US"/>
              <a:t>For non-XSD-based XML elements, Gosu checks for well-</a:t>
            </a:r>
            <a:r>
              <a:rPr lang="en-US" err="1"/>
              <a:t>formedness</a:t>
            </a:r>
            <a:r>
              <a:rPr lang="en-US"/>
              <a:t>, and if the XML parse options object includes references to other schemas, Gosu validates against those schemas.</a:t>
            </a:r>
          </a:p>
          <a:p>
            <a:endParaRPr lang="en-US"/>
          </a:p>
          <a:p>
            <a:r>
              <a:rPr lang="en-US"/>
              <a:t>Every XmlElement has a print() method, which prints the element's XML, including any child elements. See line 22 in the slide example.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4223579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An XML element can be </a:t>
            </a:r>
            <a:r>
              <a:rPr lang="en-US" err="1"/>
              <a:t>nill</a:t>
            </a:r>
            <a:r>
              <a:rPr lang="en-US"/>
              <a:t>, which means:</a:t>
            </a:r>
          </a:p>
          <a:p>
            <a:pPr marL="171450" indent="-171450">
              <a:buFont typeface="Arial" pitchFamily="34" charset="0"/>
              <a:buChar char="•"/>
            </a:pPr>
            <a:r>
              <a:rPr lang="en-US"/>
              <a:t>The element exists in the XML file</a:t>
            </a:r>
          </a:p>
          <a:p>
            <a:pPr marL="171450" indent="-171450">
              <a:buFont typeface="Arial" pitchFamily="34" charset="0"/>
              <a:buChar char="•"/>
            </a:pPr>
            <a:r>
              <a:rPr lang="en-US"/>
              <a:t>The element may or may not have attributes</a:t>
            </a:r>
          </a:p>
          <a:p>
            <a:pPr marL="171450" indent="-171450">
              <a:buFont typeface="Arial" pitchFamily="34" charset="0"/>
              <a:buChar char="•"/>
            </a:pPr>
            <a:r>
              <a:rPr lang="en-US"/>
              <a:t>The contents of the element are unknown (null)</a:t>
            </a:r>
          </a:p>
          <a:p>
            <a:endParaRPr lang="en-US"/>
          </a:p>
          <a:p>
            <a:r>
              <a:rPr lang="en-US" err="1"/>
              <a:t>Nill</a:t>
            </a:r>
            <a:r>
              <a:rPr lang="en-US"/>
              <a:t> XML elements are included when the element is expected, but the value of the element is not known. You can also reference an element's </a:t>
            </a:r>
            <a:r>
              <a:rPr lang="en-US" err="1"/>
              <a:t>nillness</a:t>
            </a:r>
            <a:r>
              <a:rPr lang="en-US"/>
              <a:t> using the Nil property.</a:t>
            </a:r>
          </a:p>
          <a:p>
            <a:endParaRPr lang="en-US"/>
          </a:p>
          <a:p>
            <a:endParaRPr lang="en-US"/>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4223579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If an element has no child elements and no text content, the Children property contains an empty list.</a:t>
            </a:r>
          </a:p>
          <a:p>
            <a:endParaRPr lang="en-US"/>
          </a:p>
          <a:p>
            <a:r>
              <a:rPr lang="en-US"/>
              <a:t>If an element has no child elements but has text content, the Children property contains null.</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2822720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slide</a:t>
            </a:r>
            <a:r>
              <a:rPr lang="en-US" baseline="0"/>
              <a:t> </a:t>
            </a:r>
            <a:r>
              <a:rPr lang="en-US"/>
              <a:t>example….</a:t>
            </a:r>
          </a:p>
          <a:p>
            <a:r>
              <a:rPr lang="en-US"/>
              <a:t>Line 36-37: There is only one element whose </a:t>
            </a:r>
            <a:r>
              <a:rPr lang="en-US" err="1"/>
              <a:t>localPart</a:t>
            </a:r>
            <a:r>
              <a:rPr lang="en-US"/>
              <a:t> name is database. Its text is empty.</a:t>
            </a:r>
            <a:r>
              <a:rPr lang="en-US" baseline="0"/>
              <a:t> </a:t>
            </a:r>
            <a:r>
              <a:rPr lang="en-US"/>
              <a:t>If </a:t>
            </a:r>
            <a:r>
              <a:rPr lang="en-US" err="1"/>
              <a:t>getChild</a:t>
            </a:r>
            <a:r>
              <a:rPr lang="en-US"/>
              <a:t>() finds no element with the given </a:t>
            </a:r>
            <a:r>
              <a:rPr lang="en-US" err="1"/>
              <a:t>QName</a:t>
            </a:r>
            <a:r>
              <a:rPr lang="en-US"/>
              <a:t>, it returns null. If </a:t>
            </a:r>
            <a:r>
              <a:rPr lang="en-US" err="1"/>
              <a:t>getChild</a:t>
            </a:r>
            <a:r>
              <a:rPr lang="en-US"/>
              <a:t>() finds multiple elements with the given </a:t>
            </a:r>
            <a:r>
              <a:rPr lang="en-US" err="1"/>
              <a:t>QName</a:t>
            </a:r>
            <a:r>
              <a:rPr lang="en-US"/>
              <a:t>, it throws a </a:t>
            </a:r>
            <a:r>
              <a:rPr lang="en-US" err="1"/>
              <a:t>MultipleContentMatchesException</a:t>
            </a:r>
            <a:r>
              <a:rPr lang="en-US"/>
              <a:t> exception.</a:t>
            </a:r>
          </a:p>
          <a:p>
            <a:endParaRPr lang="en-US"/>
          </a:p>
          <a:p>
            <a:r>
              <a:rPr lang="en-US"/>
              <a:t>Line 38-39: There is more than one element whose </a:t>
            </a:r>
            <a:r>
              <a:rPr lang="en-US" err="1"/>
              <a:t>localPart</a:t>
            </a:r>
            <a:r>
              <a:rPr lang="en-US"/>
              <a:t> name is </a:t>
            </a:r>
            <a:r>
              <a:rPr lang="en-US" err="1"/>
              <a:t>param</a:t>
            </a:r>
            <a:r>
              <a:rPr lang="en-US"/>
              <a:t>.  The count for </a:t>
            </a:r>
            <a:r>
              <a:rPr lang="en-US" err="1"/>
              <a:t>param</a:t>
            </a:r>
            <a:r>
              <a:rPr lang="en-US"/>
              <a:t> elements is 156.</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2955910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slide example, the are three where() methods. These methods are not unique to the XmlElement class.  These methods exist on all Gosu collections. </a:t>
            </a:r>
          </a:p>
          <a:p>
            <a:endParaRPr lang="en-US"/>
          </a:p>
          <a:p>
            <a:r>
              <a:rPr lang="en-US"/>
              <a:t>Use a where() method to find an element based on a condition other than the element's name.</a:t>
            </a:r>
          </a:p>
          <a:p>
            <a:endParaRPr lang="en-US"/>
          </a:p>
          <a:p>
            <a:r>
              <a:rPr lang="en-US"/>
              <a:t>All three where() methods take a block as an input parameter. The block identifies the condition to use when checking against each item in the child list.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2095027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For a given XmlElement, the </a:t>
            </a:r>
            <a:r>
              <a:rPr lang="en-US" err="1"/>
              <a:t>AttributeNames</a:t>
            </a:r>
            <a:r>
              <a:rPr lang="en-US"/>
              <a:t> property returns a set of attribute names for the element. The </a:t>
            </a:r>
            <a:r>
              <a:rPr lang="en-US" err="1"/>
              <a:t>getAttributeValue</a:t>
            </a:r>
            <a:r>
              <a:rPr lang="en-US"/>
              <a:t>() method returns the value of a given named attribute. If the named attribute cannot be found, it returns null.</a:t>
            </a:r>
          </a:p>
          <a:p>
            <a:endParaRPr lang="en-US"/>
          </a:p>
          <a:p>
            <a:r>
              <a:rPr lang="en-US"/>
              <a:t>If an attribute stores a hexadecimal</a:t>
            </a:r>
            <a:r>
              <a:rPr lang="en-US" baseline="0"/>
              <a:t> </a:t>
            </a:r>
            <a:r>
              <a:rPr lang="en-US"/>
              <a:t>value that is</a:t>
            </a:r>
            <a:r>
              <a:rPr lang="en-US" baseline="0"/>
              <a:t> not a simple value, </a:t>
            </a:r>
            <a:r>
              <a:rPr lang="en-US"/>
              <a:t>get the attribute's value using the </a:t>
            </a:r>
            <a:r>
              <a:rPr lang="en-US" err="1"/>
              <a:t>getAttributeSimpleValue</a:t>
            </a:r>
            <a:r>
              <a:rPr lang="en-US"/>
              <a:t>() method. This method makes use of the serialization logic inside the attribute's associated simple value object to ensure that the value returned is meaningful.</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11850276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You can access the text or child elements of an XmlElement using the Text and Children properties respectively. The Children property is a list of </a:t>
            </a:r>
            <a:r>
              <a:rPr lang="en-US" err="1"/>
              <a:t>XmlElements</a:t>
            </a:r>
            <a:r>
              <a:rPr lang="en-US"/>
              <a:t> starting with index 0.</a:t>
            </a:r>
          </a:p>
          <a:p>
            <a:endParaRPr lang="en-US"/>
          </a:p>
          <a:p>
            <a:r>
              <a:rPr lang="en-US"/>
              <a:t>The</a:t>
            </a:r>
            <a:r>
              <a:rPr lang="en-US" baseline="0"/>
              <a:t> console output for the code in the slide example is:</a:t>
            </a:r>
          </a:p>
          <a:p>
            <a:endParaRPr lang="en-US"/>
          </a:p>
          <a:p>
            <a:pPr lvl="1"/>
            <a:r>
              <a:rPr lang="fr-FR"/>
              <a:t>{http://guidewire.com/config}param</a:t>
            </a:r>
          </a:p>
          <a:p>
            <a:pPr lvl="1"/>
            <a:r>
              <a:rPr lang="fr-FR"/>
              <a:t>http://acme.x.com</a:t>
            </a:r>
          </a:p>
          <a:p>
            <a:pPr lvl="1"/>
            <a:r>
              <a:rPr lang="fr-FR"/>
              <a:t>[]</a:t>
            </a:r>
          </a:p>
          <a:p>
            <a:pPr lvl="1"/>
            <a:r>
              <a:rPr lang="fr-FR"/>
              <a:t>----------------------</a:t>
            </a:r>
          </a:p>
          <a:p>
            <a:pPr lvl="1"/>
            <a:r>
              <a:rPr lang="fr-FR"/>
              <a:t>{http://guidewire.com/config}database</a:t>
            </a:r>
          </a:p>
          <a:p>
            <a:pPr lvl="1"/>
            <a:endParaRPr lang="fr-FR"/>
          </a:p>
          <a:p>
            <a:pPr lvl="1"/>
            <a:r>
              <a:rPr lang="fr-FR"/>
              <a:t>[</a:t>
            </a:r>
            <a:r>
              <a:rPr lang="fr-FR" err="1"/>
              <a:t>Element</a:t>
            </a:r>
            <a:r>
              <a:rPr lang="fr-FR"/>
              <a:t> {http://guidewire.com/config}param, </a:t>
            </a:r>
            <a:r>
              <a:rPr lang="fr-FR" err="1"/>
              <a:t>Element</a:t>
            </a:r>
            <a:r>
              <a:rPr lang="fr-FR"/>
              <a:t> {http://guidewire.com/config}param, </a:t>
            </a:r>
            <a:r>
              <a:rPr lang="fr-FR" err="1"/>
              <a:t>Element</a:t>
            </a:r>
            <a:r>
              <a:rPr lang="fr-FR"/>
              <a:t> {http://guidewire.com/config}param, </a:t>
            </a:r>
            <a:r>
              <a:rPr lang="fr-FR" err="1"/>
              <a:t>Element</a:t>
            </a:r>
            <a:r>
              <a:rPr lang="fr-FR"/>
              <a:t> {http://guidewire.com/config}param, </a:t>
            </a:r>
            <a:r>
              <a:rPr lang="fr-FR" err="1"/>
              <a:t>Element</a:t>
            </a:r>
            <a:r>
              <a:rPr lang="fr-FR"/>
              <a:t> {http://guidewire.com/config}param]</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1598318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2901877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If an attribute stores a complex such as a binary or hexadecimal value, then you should set the attribute's value using the </a:t>
            </a:r>
            <a:r>
              <a:rPr lang="en-US" err="1"/>
              <a:t>setAttributeSimpleValue</a:t>
            </a:r>
            <a:r>
              <a:rPr lang="en-US"/>
              <a:t>() method. The method makes use of the serialization logic inside the attribute's associated simple value object to ensure that the value stored is meaningful.</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73184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There are three constructors for </a:t>
            </a:r>
            <a:r>
              <a:rPr lang="en-US" err="1"/>
              <a:t>QName</a:t>
            </a:r>
            <a:r>
              <a:rPr lang="en-US"/>
              <a:t>:</a:t>
            </a:r>
          </a:p>
          <a:p>
            <a:pPr marL="171450" indent="-171450">
              <a:buFont typeface="Arial" pitchFamily="34" charset="0"/>
              <a:buChar char="•"/>
            </a:pPr>
            <a:r>
              <a:rPr lang="en-US" err="1"/>
              <a:t>QName</a:t>
            </a:r>
            <a:r>
              <a:rPr lang="en-US"/>
              <a:t> constructor specifying the namespace URI, local part, and suggested prefix: </a:t>
            </a:r>
            <a:r>
              <a:rPr lang="en-US" err="1"/>
              <a:t>QName</a:t>
            </a:r>
            <a:r>
              <a:rPr lang="en-US"/>
              <a:t>(String </a:t>
            </a:r>
            <a:r>
              <a:rPr lang="en-US" err="1"/>
              <a:t>namespaceURI</a:t>
            </a:r>
            <a:r>
              <a:rPr lang="en-US"/>
              <a:t>, String </a:t>
            </a:r>
            <a:r>
              <a:rPr lang="en-US" err="1"/>
              <a:t>localPart</a:t>
            </a:r>
            <a:r>
              <a:rPr lang="en-US"/>
              <a:t>, String prefix)</a:t>
            </a:r>
          </a:p>
          <a:p>
            <a:pPr marL="171450" indent="-171450">
              <a:buFont typeface="Arial" pitchFamily="34" charset="0"/>
              <a:buChar char="•"/>
            </a:pPr>
            <a:r>
              <a:rPr lang="en-US" err="1"/>
              <a:t>QName</a:t>
            </a:r>
            <a:r>
              <a:rPr lang="en-US"/>
              <a:t> constructor specifying the namespace URI and local part (suggested prefix is implicitly empty): </a:t>
            </a:r>
            <a:r>
              <a:rPr lang="en-US" err="1"/>
              <a:t>QName</a:t>
            </a:r>
            <a:r>
              <a:rPr lang="en-US"/>
              <a:t>(String </a:t>
            </a:r>
            <a:r>
              <a:rPr lang="en-US" err="1"/>
              <a:t>namespaceURI</a:t>
            </a:r>
            <a:r>
              <a:rPr lang="en-US"/>
              <a:t>, String </a:t>
            </a:r>
            <a:r>
              <a:rPr lang="en-US" err="1"/>
              <a:t>localPart</a:t>
            </a:r>
            <a:r>
              <a:rPr lang="en-US"/>
              <a:t>)</a:t>
            </a:r>
          </a:p>
          <a:p>
            <a:pPr marL="171450" indent="-171450">
              <a:buFont typeface="Arial" pitchFamily="34" charset="0"/>
              <a:buChar char="•"/>
            </a:pPr>
            <a:r>
              <a:rPr lang="en-US" err="1"/>
              <a:t>QName</a:t>
            </a:r>
            <a:r>
              <a:rPr lang="en-US"/>
              <a:t> constructor specifying the local part only (the namespace and URL are implicitly empty): </a:t>
            </a:r>
            <a:r>
              <a:rPr lang="en-US" err="1"/>
              <a:t>QName</a:t>
            </a:r>
            <a:r>
              <a:rPr lang="en-US"/>
              <a:t>(String </a:t>
            </a:r>
            <a:r>
              <a:rPr lang="en-US" err="1"/>
              <a:t>localPart</a:t>
            </a:r>
            <a:r>
              <a:rPr lang="en-US"/>
              <a:t>)</a:t>
            </a:r>
          </a:p>
          <a:p>
            <a:pPr marL="171450" indent="-171450">
              <a:buFont typeface="Arial" pitchFamily="34" charset="0"/>
              <a:buChar char="•"/>
            </a:pPr>
            <a:endParaRPr lang="en-US"/>
          </a:p>
          <a:p>
            <a:r>
              <a:rPr lang="en-US"/>
              <a:t>You can set the namespace in the </a:t>
            </a:r>
            <a:r>
              <a:rPr lang="en-US" err="1"/>
              <a:t>QName</a:t>
            </a:r>
            <a:r>
              <a:rPr lang="en-US"/>
              <a:t> to the empty namespace, which technically is the constant </a:t>
            </a:r>
            <a:r>
              <a:rPr lang="en-US" err="1"/>
              <a:t>javax.xml.XMLConstants.NULL_NS_URI</a:t>
            </a:r>
            <a:r>
              <a:rPr lang="en-US"/>
              <a:t>. The recommended approach for creating </a:t>
            </a:r>
            <a:r>
              <a:rPr lang="en-US" err="1"/>
              <a:t>QName</a:t>
            </a:r>
            <a:r>
              <a:rPr lang="en-US"/>
              <a:t> objects in the empty namespace is to use the </a:t>
            </a:r>
            <a:r>
              <a:rPr lang="en-US" err="1"/>
              <a:t>QName</a:t>
            </a:r>
            <a:r>
              <a:rPr lang="en-US"/>
              <a:t> constructor that does not take a namespace argument.</a:t>
            </a:r>
          </a:p>
          <a:p>
            <a:endParaRPr lang="en-US"/>
          </a:p>
          <a:p>
            <a:r>
              <a:rPr lang="en-US"/>
              <a:t>When constructing an XmlElement, the name is strictly required and must not be empty.</a:t>
            </a:r>
          </a:p>
          <a:p>
            <a:r>
              <a:rPr lang="en-US" err="1"/>
              <a:t>QNames</a:t>
            </a:r>
            <a:r>
              <a:rPr lang="en-US"/>
              <a:t> are used for other purposes in Gosu XML APIs. For example, attributes on an element are names defined within a namespace, even if it is the default namespace for the XML document. Gosu natively represents both attribute names and element names as </a:t>
            </a:r>
            <a:r>
              <a:rPr lang="en-US" err="1"/>
              <a:t>QNames</a:t>
            </a:r>
            <a:r>
              <a:rPr lang="en-US"/>
              <a:t>.</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3222046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You can set attribute values on a new element both before and after the element is added to the hierarchy. There is also a </a:t>
            </a:r>
            <a:r>
              <a:rPr lang="en-US" err="1"/>
              <a:t>removeChild</a:t>
            </a:r>
            <a:r>
              <a:rPr lang="en-US"/>
              <a:t>() method that lets you remove child elements from a given parent.</a:t>
            </a:r>
          </a:p>
          <a:p>
            <a:endParaRPr lang="en-US"/>
          </a:p>
          <a:p>
            <a:r>
              <a:rPr lang="en-US"/>
              <a:t>In the slide example, the </a:t>
            </a:r>
            <a:r>
              <a:rPr lang="en-US" err="1"/>
              <a:t>QName</a:t>
            </a:r>
            <a:r>
              <a:rPr lang="en-US"/>
              <a:t> constructor specifies the namespace URI and local part (suggested prefix is implicitly empty): </a:t>
            </a:r>
            <a:r>
              <a:rPr lang="en-US" err="1"/>
              <a:t>QName</a:t>
            </a:r>
            <a:r>
              <a:rPr lang="en-US"/>
              <a:t>(String </a:t>
            </a:r>
            <a:r>
              <a:rPr lang="en-US" err="1"/>
              <a:t>namespaceURI</a:t>
            </a:r>
            <a:r>
              <a:rPr lang="en-US"/>
              <a:t>, String </a:t>
            </a:r>
            <a:r>
              <a:rPr lang="en-US" err="1"/>
              <a:t>localPart</a:t>
            </a:r>
            <a:r>
              <a:rPr lang="en-US"/>
              <a:t>).</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32220460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Learn more</a:t>
            </a:r>
            <a:r>
              <a:rPr lang="en-US" baseline="0"/>
              <a:t> about the </a:t>
            </a:r>
            <a:r>
              <a:rPr lang="en-US"/>
              <a:t>multiple methods for exporting XML using Gosu</a:t>
            </a:r>
            <a:r>
              <a:rPr lang="en-US" baseline="0"/>
              <a:t> in th</a:t>
            </a:r>
            <a:r>
              <a:rPr lang="en-US"/>
              <a:t>e</a:t>
            </a:r>
            <a:r>
              <a:rPr lang="en-US" baseline="0"/>
              <a:t> Gosu Reference in documentation.</a:t>
            </a:r>
          </a:p>
          <a:p>
            <a:endParaRPr lang="en-US" baseline="0"/>
          </a:p>
          <a:p>
            <a:r>
              <a:rPr lang="en-US"/>
              <a:t>In most cases, it is sufficient to export XML as a UTF string using the </a:t>
            </a:r>
            <a:r>
              <a:rPr lang="en-US" err="1"/>
              <a:t>asUTFString</a:t>
            </a:r>
            <a:r>
              <a:rPr lang="en-US"/>
              <a:t>() method as shown above.</a:t>
            </a:r>
          </a:p>
          <a:p>
            <a:endParaRPr lang="en-US"/>
          </a:p>
          <a:p>
            <a:r>
              <a:rPr lang="en-US"/>
              <a:t>In some situations, it may not be appropriate to export XML as a UTF string. One reason is that UTF strings are usually larger in size than the original data.  When to not use </a:t>
            </a:r>
            <a:r>
              <a:rPr lang="en-US" err="1"/>
              <a:t>asUTFSting</a:t>
            </a:r>
            <a:r>
              <a:rPr lang="en-US"/>
              <a:t>() is beyond the scope of this course. If an integration point needs to export XML, then the integration developer should discuss the issue with a Guidewire representative to identify the relevant issues and determine the best approach.</a:t>
            </a:r>
          </a:p>
          <a:p>
            <a:endParaRPr lang="en-US"/>
          </a:p>
          <a:p>
            <a:r>
              <a:rPr lang="en-US"/>
              <a:t>All of the export methods have alternate method signatures that take a serialization options object of type </a:t>
            </a:r>
            <a:r>
              <a:rPr lang="en-US" err="1"/>
              <a:t>XmlSerializationOptions</a:t>
            </a:r>
            <a:r>
              <a:rPr lang="en-US"/>
              <a:t>, which can be used to customize how the export occurs. For more information on serialization options, refer to the Gosu Reference.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127705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41949006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If the XML has an XML Schema </a:t>
            </a:r>
            <a:r>
              <a:rPr lang="en-US" err="1"/>
              <a:t>Definitation</a:t>
            </a:r>
            <a:r>
              <a:rPr lang="en-US"/>
              <a:t> (XSD) file, you can create, manipulate, or search data with statically-typed nodes that correspond to legal attributes and child elements. If you can provide an XSD file, the XSD approach is much safer. It dramatically reduces errors due to incorrect types or incorrect structure. </a:t>
            </a:r>
          </a:p>
          <a:p>
            <a:endParaRPr lang="en-US"/>
          </a:p>
          <a:p>
            <a:r>
              <a:rPr lang="en-US"/>
              <a:t>One can work with XML documents even when there is no XSD. When an XML document is imported in isolation, the imported XML is </a:t>
            </a:r>
            <a:r>
              <a:rPr lang="en-US" err="1"/>
              <a:t>untyped</a:t>
            </a:r>
            <a:r>
              <a:rPr lang="en-US"/>
              <a: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330650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3259456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All the types from the XSD become native Gosu types, including element types and attributes.</a:t>
            </a:r>
          </a:p>
          <a:p>
            <a:endParaRPr lang="en-US"/>
          </a:p>
          <a:p>
            <a:r>
              <a:rPr lang="en-US"/>
              <a:t>All these types appear naturally in the namespace defined by the part of the class hierarchy that you place the XSD. </a:t>
            </a:r>
          </a:p>
          <a:p>
            <a:endParaRPr lang="en-US"/>
          </a:p>
          <a:p>
            <a:r>
              <a:rPr lang="en-US"/>
              <a:t>In other words, you put your </a:t>
            </a:r>
            <a:r>
              <a:rPr lang="en-US" err="1"/>
              <a:t>XSDs</a:t>
            </a:r>
            <a:r>
              <a:rPr lang="en-US"/>
              <a:t> side-by-side next to your Gosu classes and Gosu programs.</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15664877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a:t>Code example :</a:t>
            </a:r>
          </a:p>
          <a:p>
            <a:endParaRPr lang="en-US" b="1"/>
          </a:p>
          <a:p>
            <a:r>
              <a:rPr lang="en-US" b="1"/>
              <a:t>Line 6</a:t>
            </a:r>
          </a:p>
          <a:p>
            <a:pPr lvl="1"/>
            <a:r>
              <a:rPr lang="en-US" sz="800"/>
              <a:t>The XML File is parsed</a:t>
            </a:r>
          </a:p>
          <a:p>
            <a:endParaRPr lang="en-US"/>
          </a:p>
          <a:p>
            <a:r>
              <a:rPr lang="en-US" b="1"/>
              <a:t>Line 10-11</a:t>
            </a:r>
          </a:p>
          <a:p>
            <a:pPr lvl="1"/>
            <a:r>
              <a:rPr lang="en-US"/>
              <a:t>An example of</a:t>
            </a:r>
            <a:r>
              <a:rPr lang="en-US" baseline="0"/>
              <a:t> a child element vs an </a:t>
            </a:r>
            <a:r>
              <a:rPr lang="en-US" baseline="0" err="1"/>
              <a:t>XmlElement</a:t>
            </a:r>
            <a:r>
              <a:rPr lang="en-US" baseline="0"/>
              <a:t> property</a:t>
            </a:r>
            <a:endParaRPr lang="en-US"/>
          </a:p>
          <a:p>
            <a:endParaRPr lang="en-US" b="1"/>
          </a:p>
          <a:p>
            <a:r>
              <a:rPr lang="en-US" b="1"/>
              <a:t>Line 14</a:t>
            </a:r>
          </a:p>
          <a:p>
            <a:pPr lvl="1"/>
            <a:r>
              <a:rPr lang="en-US"/>
              <a:t>Arrays are represented as a collection of Entry elements</a:t>
            </a:r>
          </a:p>
          <a:p>
            <a:pPr lvl="1"/>
            <a:endParaRPr lang="en-US"/>
          </a:p>
          <a:p>
            <a:pPr lvl="0"/>
            <a:r>
              <a:rPr lang="en-US"/>
              <a:t>For XSD-based XML elements, Gosu checks how well-formed is the XML in terms of structural errors and validates the XML using the XSD. If the XML is not valid or well formed, Gosu will throw an </a:t>
            </a:r>
            <a:r>
              <a:rPr lang="en-US" err="1"/>
              <a:t>XMLException</a:t>
            </a:r>
            <a:r>
              <a:rPr lang="en-US"/>
              <a:t>.</a:t>
            </a:r>
          </a:p>
          <a:p>
            <a:pPr lvl="0"/>
            <a:endParaRPr lang="en-US"/>
          </a:p>
          <a:p>
            <a:pPr lvl="0"/>
            <a:r>
              <a:rPr lang="en-US"/>
              <a:t>The main class that represents an XML element is the class </a:t>
            </a:r>
            <a:r>
              <a:rPr lang="en-US" err="1"/>
              <a:t>XmlElement</a:t>
            </a:r>
            <a:r>
              <a:rPr lang="en-US"/>
              <a:t>. An </a:t>
            </a:r>
            <a:r>
              <a:rPr lang="en-US" err="1"/>
              <a:t>XmlElement</a:t>
            </a:r>
            <a:r>
              <a:rPr lang="en-US"/>
              <a:t> object encapsulates the following core : </a:t>
            </a:r>
          </a:p>
          <a:p>
            <a:pPr lvl="0"/>
            <a:r>
              <a:rPr lang="en-US"/>
              <a:t>The element name as a qualified name (</a:t>
            </a:r>
            <a:r>
              <a:rPr lang="en-US" err="1"/>
              <a:t>QName</a:t>
            </a:r>
            <a:r>
              <a:rPr lang="en-US"/>
              <a:t>)</a:t>
            </a:r>
          </a:p>
          <a:p>
            <a:pPr lvl="0"/>
            <a:r>
              <a:rPr lang="en-US"/>
              <a:t>A backing type instance</a:t>
            </a:r>
          </a:p>
          <a:p>
            <a:pPr lvl="0"/>
            <a:r>
              <a:rPr lang="en-US"/>
              <a:t>The </a:t>
            </a:r>
            <a:r>
              <a:rPr lang="en-US" err="1"/>
              <a:t>nillness</a:t>
            </a:r>
            <a:r>
              <a:rPr lang="en-US"/>
              <a:t> of the element</a:t>
            </a:r>
          </a:p>
          <a:p>
            <a:pPr lvl="0"/>
            <a:endParaRPr lang="en-US"/>
          </a:p>
          <a:p>
            <a:pPr lvl="0"/>
            <a:r>
              <a:rPr lang="en-US"/>
              <a:t>Gosu prevents ambiguity by requiring the special properties of the </a:t>
            </a:r>
            <a:r>
              <a:rPr lang="en-US" err="1"/>
              <a:t>XmlElement</a:t>
            </a:r>
            <a:r>
              <a:rPr lang="en-US"/>
              <a:t> class to have a dollar sign prefix only if the element is XSD-based. To access the </a:t>
            </a:r>
            <a:r>
              <a:rPr lang="en-US" err="1"/>
              <a:t>childern</a:t>
            </a:r>
            <a:r>
              <a:rPr lang="en-US"/>
              <a:t> of an XSD-based element, use the syntax </a:t>
            </a:r>
            <a:r>
              <a:rPr lang="en-US" err="1"/>
              <a:t>element.$Children</a:t>
            </a:r>
            <a:r>
              <a:rPr lang="en-US"/>
              <a:t> for the Children property. To access a custom child element named Children as defined by the XSD, use the syntax </a:t>
            </a:r>
            <a:r>
              <a:rPr lang="en-US" err="1"/>
              <a:t>element.Children</a:t>
            </a:r>
            <a:r>
              <a:rPr lang="en-US"/>
              <a:t>. It is important to understand that property names on an XML element include a dollar sign prefix only if the XML element is an XSD type. If you create an </a:t>
            </a:r>
            <a:r>
              <a:rPr lang="en-US" err="1"/>
              <a:t>XmlElement</a:t>
            </a:r>
            <a:r>
              <a:rPr lang="en-US"/>
              <a:t> element directly, it is not an XSD type. It is an </a:t>
            </a:r>
            <a:r>
              <a:rPr lang="en-US" err="1"/>
              <a:t>untyped</a:t>
            </a:r>
            <a:r>
              <a:rPr lang="en-US"/>
              <a:t> node that used the default type instance which is an instance of the type </a:t>
            </a:r>
            <a:r>
              <a:rPr lang="en-US" err="1"/>
              <a:t>AnyType</a:t>
            </a:r>
            <a:r>
              <a:rPr lang="en-US"/>
              <a:t>. For non-XSD type, there is no need to use the dollar sign prefix </a:t>
            </a:r>
            <a:r>
              <a:rPr lang="en-US" err="1"/>
              <a:t>beacuse</a:t>
            </a:r>
            <a:r>
              <a:rPr lang="en-US"/>
              <a:t> there is no ambiguity between properties that are really part of the type instance, rather than on the XSD type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9153632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slide example, there is Gosu code that manipulates strongly typed XML.  You can find this code in TrainingApp in …\configuration\config\examples\xml\</a:t>
            </a:r>
            <a:br>
              <a:rPr lang="en-US"/>
            </a:br>
            <a:r>
              <a:rPr lang="en-US"/>
              <a:t>02_Xml_StrongTyped.CopyToGosuScratchpad.txt</a:t>
            </a:r>
          </a:p>
          <a:p>
            <a:endParaRPr lang="en-US"/>
          </a:p>
          <a:p>
            <a:pPr eaLnBrk="1" hangingPunct="1"/>
            <a:r>
              <a:rPr lang="en-US"/>
              <a:t>Assume for a moment that you have an XSD file named example.xsd. The root element in this file appears as  &lt;</a:t>
            </a:r>
            <a:r>
              <a:rPr lang="en-US" err="1"/>
              <a:t>xsd:element</a:t>
            </a:r>
            <a:r>
              <a:rPr lang="en-US"/>
              <a:t> name="config"&gt; ...  &lt;/</a:t>
            </a:r>
            <a:r>
              <a:rPr lang="en-US" err="1"/>
              <a:t>xsd:element</a:t>
            </a:r>
            <a:r>
              <a:rPr lang="en-US"/>
              <a:t>&gt;. </a:t>
            </a:r>
          </a:p>
          <a:p>
            <a:pPr eaLnBrk="1" hangingPunct="1"/>
            <a:endParaRPr lang="en-US"/>
          </a:p>
          <a:p>
            <a:pPr eaLnBrk="1" hangingPunct="1"/>
            <a:r>
              <a:rPr lang="en-US"/>
              <a:t>To parse an XML file using this XSD in Gosu, all you need is the XSD type to call the parse method that specifies the file to parse as an argument:</a:t>
            </a:r>
          </a:p>
          <a:p>
            <a:pPr eaLnBrk="1" hangingPunct="1"/>
            <a:r>
              <a:rPr lang="en-US" b="1" err="1">
                <a:latin typeface="Courier New" pitchFamily="49" charset="0"/>
                <a:cs typeface="Courier New" pitchFamily="49" charset="0"/>
              </a:rPr>
              <a:t>example.Config.parse</a:t>
            </a:r>
            <a:r>
              <a:rPr lang="en-US" b="1">
                <a:latin typeface="Courier New" pitchFamily="49" charset="0"/>
                <a:cs typeface="Courier New" pitchFamily="49" charset="0"/>
              </a:rPr>
              <a:t>(</a:t>
            </a:r>
            <a:r>
              <a:rPr lang="en-US" b="1" err="1">
                <a:latin typeface="Courier New" pitchFamily="49" charset="0"/>
                <a:cs typeface="Courier New" pitchFamily="49" charset="0"/>
              </a:rPr>
              <a:t>fileToParse</a:t>
            </a:r>
            <a:r>
              <a:rPr lang="en-US" b="1">
                <a:latin typeface="Courier New" pitchFamily="49" charset="0"/>
                <a:cs typeface="Courier New" pitchFamily="49" charset="0"/>
              </a:rPr>
              <a:t>)</a:t>
            </a:r>
          </a:p>
          <a:p>
            <a:pPr eaLnBrk="1" hangingPunct="1"/>
            <a:endParaRPr lang="en-US"/>
          </a:p>
          <a:p>
            <a:r>
              <a:rPr lang="en-US" b="1">
                <a:latin typeface="Courier New" pitchFamily="49" charset="0"/>
                <a:cs typeface="Courier New" pitchFamily="49" charset="0"/>
              </a:rPr>
              <a:t>example.</a:t>
            </a:r>
            <a:r>
              <a:rPr lang="en-US"/>
              <a:t> is the type because the name of the XSD file is example.xsd.  </a:t>
            </a:r>
          </a:p>
          <a:p>
            <a:r>
              <a:rPr lang="en-US" b="1">
                <a:latin typeface="Courier New" pitchFamily="49" charset="0"/>
                <a:cs typeface="Courier New" pitchFamily="49" charset="0"/>
              </a:rPr>
              <a:t>Config.</a:t>
            </a:r>
            <a:r>
              <a:rPr lang="en-US"/>
              <a:t> is the root the root element. Gosu capitalizes the first letter when converting the XSD types into Gosu types. </a:t>
            </a:r>
          </a:p>
          <a:p>
            <a:r>
              <a:rPr lang="en-US" b="1">
                <a:latin typeface="Courier New" pitchFamily="49" charset="0"/>
                <a:cs typeface="Courier New" pitchFamily="49" charset="0"/>
              </a:rPr>
              <a:t>parse(</a:t>
            </a:r>
            <a:r>
              <a:rPr lang="en-US" b="1" err="1">
                <a:latin typeface="Courier New" pitchFamily="49" charset="0"/>
                <a:cs typeface="Courier New" pitchFamily="49" charset="0"/>
              </a:rPr>
              <a:t>fileToParse</a:t>
            </a:r>
            <a:r>
              <a:rPr lang="en-US" b="1">
                <a:latin typeface="Courier New" pitchFamily="49" charset="0"/>
                <a:cs typeface="Courier New" pitchFamily="49" charset="0"/>
              </a:rPr>
              <a:t>)</a:t>
            </a:r>
            <a:r>
              <a:rPr lang="en-US"/>
              <a:t>is the method that parses the XML.</a:t>
            </a:r>
          </a:p>
          <a:p>
            <a:pPr eaLnBrk="1" hangingPunct="1"/>
            <a:endParaRPr lang="en-US"/>
          </a:p>
          <a:p>
            <a:pPr eaLnBrk="1" hangingPunct="1"/>
            <a:r>
              <a:rPr lang="en-US"/>
              <a:t>For XSD-based XML elements, Gosu checks how well-formed is the XML in terms of structural errors and validates the XML using the XSD. If the XML is not valid or well formed, Gosu will throw an </a:t>
            </a:r>
            <a:r>
              <a:rPr lang="en-US" err="1"/>
              <a:t>XmlException</a:t>
            </a:r>
            <a:r>
              <a:rPr lang="en-US"/>
              <a: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2768151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a:t>Code example :</a:t>
            </a:r>
          </a:p>
          <a:p>
            <a:endParaRPr lang="en-US" b="1"/>
          </a:p>
          <a:p>
            <a:r>
              <a:rPr lang="en-US" b="1"/>
              <a:t>Line 4</a:t>
            </a:r>
          </a:p>
          <a:p>
            <a:pPr lvl="1"/>
            <a:r>
              <a:rPr lang="en-US" sz="800"/>
              <a:t>Fully qualified name and root element.</a:t>
            </a:r>
          </a:p>
          <a:p>
            <a:endParaRPr lang="en-US"/>
          </a:p>
          <a:p>
            <a:r>
              <a:rPr lang="en-US" b="1"/>
              <a:t>Line 10</a:t>
            </a:r>
          </a:p>
          <a:p>
            <a:pPr lvl="1"/>
            <a:r>
              <a:rPr lang="en-US"/>
              <a:t>Create XML object using an XSD.</a:t>
            </a:r>
          </a:p>
          <a:p>
            <a:endParaRPr lang="en-US" b="1"/>
          </a:p>
          <a:p>
            <a:r>
              <a:rPr lang="en-US" b="1"/>
              <a:t>Line 14</a:t>
            </a:r>
          </a:p>
          <a:p>
            <a:pPr lvl="1"/>
            <a:r>
              <a:rPr lang="en-US"/>
              <a:t>Configure serialization options.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2494597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example above, the exampleStrong.xml file has been parsed as strongly typed XML. The parsed XML now has properties that map to the defined elements in the XSD, such as Database, </a:t>
            </a:r>
            <a:r>
              <a:rPr lang="en-US" err="1"/>
              <a:t>Mimetypemapping</a:t>
            </a:r>
            <a:r>
              <a:rPr lang="en-US"/>
              <a:t>, Param, Registry, Security, and </a:t>
            </a:r>
            <a:r>
              <a:rPr lang="en-US" err="1"/>
              <a:t>VelocityParam</a:t>
            </a:r>
            <a:r>
              <a:rPr lang="en-US"/>
              <a:t>. For each XSD element type, the attributes of the element type are also available.</a:t>
            </a:r>
            <a:r>
              <a:rPr lang="en-US" baseline="0"/>
              <a:t>  Use an indexer to access the attributes if the XSD specifies more than one type being possible.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The ability to access properties on an XML element as defined in the XSD is available only if the XML is strongly typed, that is, only if the XML is parsed from the XSD.</a:t>
            </a:r>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40193495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If you are working with strongly typed XML, you must prefix every XmlElement property name with a dollar sign ($). The convention prevents ambiguity with properties defined on the XSD type and on the type instance that backs that type. This is by design.  For example, in the case that an XSD defines an element’s child element with the literal name of "Children", the is no conflict and the two properties with the same name can co-exist. See lines 49 and 51.</a:t>
            </a:r>
          </a:p>
          <a:p>
            <a:endParaRPr lang="en-US"/>
          </a:p>
          <a:p>
            <a:r>
              <a:rPr lang="en-US"/>
              <a:t>Gosu prevents ambiguity by requiring the special properties to have a dollar sign prefix only if the element is XSD-based.  To access the children of an XSD-based element, use the syntax </a:t>
            </a:r>
            <a:r>
              <a:rPr lang="en-US" err="1"/>
              <a:t>element.$Children</a:t>
            </a:r>
            <a:r>
              <a:rPr lang="en-US"/>
              <a:t> for the Children property.  To access a custom child element named Children as defined by the XSD, use the syntax </a:t>
            </a:r>
            <a:r>
              <a:rPr lang="en-US" err="1"/>
              <a:t>element.Children</a:t>
            </a:r>
            <a:r>
              <a:rPr lang="en-US"/>
              <a:t>.</a:t>
            </a:r>
          </a:p>
          <a:p>
            <a:endParaRPr lang="en-US"/>
          </a:p>
          <a:p>
            <a:r>
              <a:rPr lang="en-US"/>
              <a:t>It is important to understand that property names on an XML element include a dollar sign prefix only if the XML element is an XSD type. If you create an XmlElement element directly, it is not an XSD type. It is an untyped node that uses the default type instance which is an instance of the type </a:t>
            </a:r>
            <a:r>
              <a:rPr lang="en-US" err="1"/>
              <a:t>AnyType</a:t>
            </a:r>
            <a:r>
              <a:rPr lang="en-US"/>
              <a:t>.  For non-XSD type, there is no need to use the dollar sign prefix because there is no ambiguity between properties that are really part of the type instance, rather than on the XSD type. For example, in the slide example, the code in Line 51 directly creates the </a:t>
            </a:r>
            <a:r>
              <a:rPr lang="en-US" err="1"/>
              <a:t>dbElement</a:t>
            </a:r>
            <a:r>
              <a:rPr lang="en-US"/>
              <a:t> variable. Line 52 simply references </a:t>
            </a:r>
            <a:r>
              <a:rPr lang="en-US" err="1"/>
              <a:t>dbelement.AttributeNames</a:t>
            </a:r>
            <a:r>
              <a:rPr lang="en-US"/>
              <a:t> without a dollar sign ($).</a:t>
            </a:r>
          </a:p>
          <a:p>
            <a:endParaRPr lang="en-US"/>
          </a:p>
          <a:p>
            <a:r>
              <a:rPr lang="en-US"/>
              <a:t>The following are  type instance property names that appear on an </a:t>
            </a:r>
            <a:r>
              <a:rPr lang="en-US" err="1"/>
              <a:t>XmlElement</a:t>
            </a:r>
            <a:r>
              <a:rPr lang="en-US"/>
              <a:t> with $:</a:t>
            </a:r>
          </a:p>
          <a:p>
            <a:r>
              <a:rPr lang="en-US"/>
              <a:t>$</a:t>
            </a:r>
            <a:r>
              <a:rPr lang="en-US" err="1"/>
              <a:t>AttributeNames</a:t>
            </a:r>
            <a:endParaRPr lang="en-US"/>
          </a:p>
          <a:p>
            <a:r>
              <a:rPr lang="en-US"/>
              <a:t>$Children</a:t>
            </a:r>
          </a:p>
          <a:p>
            <a:r>
              <a:rPr lang="en-US"/>
              <a:t>$Class</a:t>
            </a:r>
          </a:p>
          <a:p>
            <a:r>
              <a:rPr lang="en-US"/>
              <a:t>$Comment</a:t>
            </a:r>
          </a:p>
          <a:p>
            <a:r>
              <a:rPr lang="en-US"/>
              <a:t>$</a:t>
            </a:r>
            <a:r>
              <a:rPr lang="en-US" err="1"/>
              <a:t>DeclaredNamespace</a:t>
            </a:r>
            <a:endParaRPr lang="en-US"/>
          </a:p>
          <a:p>
            <a:r>
              <a:rPr lang="en-US"/>
              <a:t>$</a:t>
            </a:r>
            <a:r>
              <a:rPr lang="en-US" err="1"/>
              <a:t>IntrinsicType</a:t>
            </a:r>
            <a:endParaRPr lang="en-US"/>
          </a:p>
          <a:p>
            <a:r>
              <a:rPr lang="en-US"/>
              <a:t>$</a:t>
            </a:r>
            <a:r>
              <a:rPr lang="en-US" err="1"/>
              <a:t>MixedContent</a:t>
            </a:r>
            <a:r>
              <a:rPr lang="en-US"/>
              <a:t> - only for elements with an XSD-defined mixed content (tags within text and tags)</a:t>
            </a:r>
          </a:p>
          <a:p>
            <a:r>
              <a:rPr lang="en-US"/>
              <a:t>$Namespace</a:t>
            </a:r>
          </a:p>
          <a:p>
            <a:r>
              <a:rPr lang="en-US"/>
              <a:t>$</a:t>
            </a:r>
            <a:r>
              <a:rPr lang="en-US" err="1"/>
              <a:t>NamespaceContext</a:t>
            </a:r>
            <a:endParaRPr lang="en-US"/>
          </a:p>
          <a:p>
            <a:r>
              <a:rPr lang="en-US"/>
              <a:t>$Nil - only for XSD-defined </a:t>
            </a:r>
            <a:r>
              <a:rPr lang="en-US" err="1"/>
              <a:t>nillable</a:t>
            </a:r>
            <a:r>
              <a:rPr lang="en-US"/>
              <a:t> elements.</a:t>
            </a:r>
          </a:p>
          <a:p>
            <a:r>
              <a:rPr lang="en-US"/>
              <a:t>$</a:t>
            </a:r>
            <a:r>
              <a:rPr lang="en-US" err="1"/>
              <a:t>QName</a:t>
            </a:r>
            <a:endParaRPr lang="en-US"/>
          </a:p>
          <a:p>
            <a:r>
              <a:rPr lang="en-US"/>
              <a:t>$</a:t>
            </a:r>
            <a:r>
              <a:rPr lang="en-US" err="1"/>
              <a:t>SimpleValue</a:t>
            </a:r>
            <a:endParaRPr lang="en-US"/>
          </a:p>
          <a:p>
            <a:r>
              <a:rPr lang="en-US"/>
              <a:t>$Text</a:t>
            </a:r>
          </a:p>
          <a:p>
            <a:r>
              <a:rPr lang="en-US"/>
              <a:t>$</a:t>
            </a:r>
            <a:r>
              <a:rPr lang="en-US" err="1"/>
              <a:t>TypeInstance</a:t>
            </a:r>
            <a:endParaRPr lang="en-US"/>
          </a:p>
          <a:p>
            <a:r>
              <a:rPr lang="en-US"/>
              <a:t>$Value - only for elements with an XSD-defined simple content</a:t>
            </a:r>
          </a:p>
          <a:p>
            <a:br>
              <a:rPr lang="en-US"/>
            </a:br>
            <a:br>
              <a:rPr lang="en-US"/>
            </a:br>
            <a:endParaRPr lang="en-US"/>
          </a:p>
          <a:p>
            <a:r>
              <a:rPr lang="en-US"/>
              <a:t>			(continued)</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2586327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Learn more</a:t>
            </a:r>
            <a:r>
              <a:rPr lang="en-US" baseline="0"/>
              <a:t> about the </a:t>
            </a:r>
            <a:r>
              <a:rPr lang="en-US"/>
              <a:t>multiple methods for exporting XML using Gosu</a:t>
            </a:r>
            <a:r>
              <a:rPr lang="en-US" baseline="0"/>
              <a:t> in th</a:t>
            </a:r>
            <a:r>
              <a:rPr lang="en-US"/>
              <a:t>e</a:t>
            </a:r>
            <a:r>
              <a:rPr lang="en-US" baseline="0"/>
              <a:t> Gosu Reference in documentation. </a:t>
            </a:r>
            <a:r>
              <a:rPr lang="en-US"/>
              <a:t>In most cases, it is sufficient to export XML as a UTF string using the </a:t>
            </a:r>
            <a:r>
              <a:rPr lang="en-US" err="1"/>
              <a:t>asUTFString</a:t>
            </a:r>
            <a:r>
              <a:rPr lang="en-US"/>
              <a:t>() method as shown above.</a:t>
            </a:r>
          </a:p>
          <a:p>
            <a:endParaRPr lang="en-US"/>
          </a:p>
          <a:p>
            <a:r>
              <a:rPr lang="en-US"/>
              <a:t>In some situations, it may not be appropriate to export XML as a UTF string. The situations where this is inappropriate, and the best alternatives to use in these situations, is beyond the scope of this course. If an integration point needs to export XML, then the integration developer should discuss the issue with a Guidewire representative to identify the relevant issues and determine the best approach.</a:t>
            </a:r>
          </a:p>
          <a:p>
            <a:endParaRPr lang="en-US"/>
          </a:p>
          <a:p>
            <a:r>
              <a:rPr lang="en-US"/>
              <a:t>All of the export methods have alternate method signatures that take a serialization options object of type </a:t>
            </a:r>
            <a:r>
              <a:rPr lang="en-US" err="1"/>
              <a:t>XmlSerializationOptions</a:t>
            </a:r>
            <a:r>
              <a:rPr lang="en-US"/>
              <a:t>, which can be used to customize how the export occurs. For more information on serialization options, refer to the Gosu Reference.</a:t>
            </a:r>
          </a:p>
          <a:p>
            <a:endParaRPr lang="en-US"/>
          </a:p>
          <a:p>
            <a:r>
              <a:rPr lang="en-US"/>
              <a:t>The export methods discussed earlier in this lesson for untyped XML are equally relevant for strongly typed XML.</a:t>
            </a:r>
          </a:p>
          <a:p>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a:p>
        </p:txBody>
      </p:sp>
    </p:spTree>
    <p:extLst>
      <p:ext uri="{BB962C8B-B14F-4D97-AF65-F5344CB8AC3E}">
        <p14:creationId xmlns:p14="http://schemas.microsoft.com/office/powerpoint/2010/main" val="127705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slide example, a claimSystem element is added to the XML, but there is no such element type defined in the XSD. Consequently, the XML cannot be exported.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a:p>
        </p:txBody>
      </p:sp>
    </p:spTree>
    <p:extLst>
      <p:ext uri="{BB962C8B-B14F-4D97-AF65-F5344CB8AC3E}">
        <p14:creationId xmlns:p14="http://schemas.microsoft.com/office/powerpoint/2010/main" val="2998485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a:p>
        </p:txBody>
      </p:sp>
    </p:spTree>
    <p:extLst>
      <p:ext uri="{BB962C8B-B14F-4D97-AF65-F5344CB8AC3E}">
        <p14:creationId xmlns:p14="http://schemas.microsoft.com/office/powerpoint/2010/main" val="1787300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The diagram above represents the input and output for a Guidewire XML Model. The input is a single entity, and the output is XML with values from the entity or entities related to it. </a:t>
            </a:r>
          </a:p>
          <a:p>
            <a:pPr eaLnBrk="1" hangingPunct="1"/>
            <a:endParaRPr lang="en-US"/>
          </a:p>
          <a:p>
            <a:pPr eaLnBrk="1" hangingPunct="1"/>
            <a:r>
              <a:rPr lang="en-US"/>
              <a:t>There are several benefits to using a Guidewire XML Model. There is no need to manually create XML which greatly reduces errors. It is also easy to change an XSD when requirements change using a Guidewire XML Model.  In addition, Guidewire publishes the XSD under a URL so that definitions are formalized and that a concrete schema exists for transparent development. From the XML model, it is easy to create an object model that can be used during runtime, for example, to automatically generate a message payload and/or optionally generate a payload only if entity fields have </a:t>
            </a:r>
            <a:r>
              <a:rPr lang="en-US" sz="1200"/>
              <a:t>changed.  In addition, it is possible to not only map Gosu data entities, but Gosu and Java classes.</a:t>
            </a:r>
            <a:endParaRPr lang="en-US"/>
          </a:p>
          <a:p>
            <a:pPr eaLnBrk="1" hangingPunct="1"/>
            <a:endParaRPr lang="en-US"/>
          </a:p>
          <a:p>
            <a:pPr eaLnBrk="1" hangingPunct="1"/>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You</a:t>
            </a:r>
            <a:r>
              <a:rPr lang="en-US" baseline="0"/>
              <a:t> can export business data entities, </a:t>
            </a:r>
            <a:r>
              <a:rPr lang="en-US" baseline="0" err="1"/>
              <a:t>gosu</a:t>
            </a:r>
            <a:r>
              <a:rPr lang="en-US" baseline="0"/>
              <a:t> class data and also select which properties to map to the XML model. For more information, see the topic “The Guidewire XML Model”, in product documentation.</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a:p>
        </p:txBody>
      </p:sp>
    </p:spTree>
    <p:extLst>
      <p:ext uri="{BB962C8B-B14F-4D97-AF65-F5344CB8AC3E}">
        <p14:creationId xmlns:p14="http://schemas.microsoft.com/office/powerpoint/2010/main" val="1294943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The</a:t>
            </a:r>
            <a:r>
              <a:rPr lang="en-US" baseline="0"/>
              <a:t> model’s XSD can be viewed from the Schema tab. When application is running, the </a:t>
            </a:r>
            <a:r>
              <a:rPr lang="en-US" baseline="0" err="1"/>
              <a:t>XSd</a:t>
            </a:r>
            <a:r>
              <a:rPr lang="en-US" baseline="0"/>
              <a:t> is published in the below </a:t>
            </a:r>
            <a:r>
              <a:rPr lang="en-US" baseline="0" err="1"/>
              <a:t>url</a:t>
            </a:r>
            <a:endParaRPr lang="en-US" baseline="0"/>
          </a:p>
          <a:p>
            <a:r>
              <a:rPr lang="en-US"/>
              <a:t>http://&lt;hostname&gt;:&lt;port&gt;/&lt;appCode&gt;/ws/&lt;slash separated package path to model&gt;/&lt;</a:t>
            </a:r>
            <a:r>
              <a:rPr lang="en-US" err="1"/>
              <a:t>modelName</a:t>
            </a:r>
            <a:r>
              <a:rPr lang="en-US"/>
              <a:t>&gt;.</a:t>
            </a:r>
            <a:r>
              <a:rPr lang="en-US" err="1"/>
              <a:t>gx</a:t>
            </a:r>
            <a:endParaRPr lang="en-US"/>
          </a:p>
          <a:p>
            <a:endParaRPr lang="en-US"/>
          </a:p>
          <a:p>
            <a:r>
              <a:rPr lang="en-US"/>
              <a:t>Example - http://localhost:8080/ab/ws/demo/xmlmodel/UserModel.gx</a:t>
            </a:r>
          </a:p>
          <a:p>
            <a:endParaRPr lang="en-US"/>
          </a:p>
          <a:p>
            <a:r>
              <a:rPr lang="en-US"/>
              <a:t>Other applications can</a:t>
            </a:r>
            <a:r>
              <a:rPr lang="en-US" baseline="0"/>
              <a:t> import this XSD and validate any generated XML against this XSD</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a:p>
        </p:txBody>
      </p:sp>
    </p:spTree>
    <p:extLst>
      <p:ext uri="{BB962C8B-B14F-4D97-AF65-F5344CB8AC3E}">
        <p14:creationId xmlns:p14="http://schemas.microsoft.com/office/powerpoint/2010/main" val="32924236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Default</a:t>
            </a:r>
            <a:r>
              <a:rPr lang="en-US" baseline="0"/>
              <a:t> model name will be based on entity name</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a:p>
        </p:txBody>
      </p:sp>
    </p:spTree>
    <p:extLst>
      <p:ext uri="{BB962C8B-B14F-4D97-AF65-F5344CB8AC3E}">
        <p14:creationId xmlns:p14="http://schemas.microsoft.com/office/powerpoint/2010/main" val="5292062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Unbolded fields cannot be added to the model. They represent complex entities that cannot be added. But they can contain subfields</a:t>
            </a:r>
            <a:r>
              <a:rPr lang="en-US" baseline="0"/>
              <a:t> that can be added.</a:t>
            </a:r>
          </a:p>
          <a:p>
            <a:r>
              <a:rPr lang="en-US" baseline="0"/>
              <a:t>Green fields – database backed. Black fields – virtual fields. Underlined fields – already added</a:t>
            </a:r>
          </a:p>
          <a:p>
            <a:r>
              <a:rPr lang="en-US" baseline="0"/>
              <a:t>Entity fields can be omitted and thus they are not defined in XSD and not exported to the XML</a:t>
            </a:r>
          </a:p>
          <a:p>
            <a:endParaRPr lang="en-US" baseline="0"/>
          </a:p>
          <a:p>
            <a:r>
              <a:rPr lang="en-US" baseline="0"/>
              <a:t>Key Property – Unique identifier for an entity represented in XML. Always exports if that type exports due to changes to that object or </a:t>
            </a:r>
            <a:r>
              <a:rPr lang="en-US" baseline="0" err="1"/>
              <a:t>subobject</a:t>
            </a:r>
            <a:r>
              <a:rPr lang="en-US" baseline="0"/>
              <a:t>. It helps maintain parent/child relationship of GW entities.</a:t>
            </a:r>
          </a:p>
          <a:p>
            <a:r>
              <a:rPr lang="en-US" baseline="0"/>
              <a:t>Normal Property – Exported when containing instance is exported. Null values are not exported. Default behavior can be configured.</a:t>
            </a:r>
          </a:p>
          <a:p>
            <a:endParaRPr lang="en-US" baseline="0"/>
          </a:p>
          <a:p>
            <a:r>
              <a:rPr lang="en-US" b="1" baseline="0"/>
              <a:t>Include an XML model within another XML model</a:t>
            </a:r>
          </a:p>
          <a:p>
            <a:r>
              <a:rPr lang="en-US" b="0" baseline="0"/>
              <a:t>As best practice, avoid selecting multiple levels down in an XML model. Instead create a separate model for the entity and refer it. Once you have the XML model for the second entity, return back to the model you require, browse to property where type is of the other model. Click Add&gt;&gt; Normal property. Studio will open a dialog box that lets you select the relevant XML model. Click the suitable model and OK.</a:t>
            </a:r>
          </a:p>
          <a:p>
            <a:endParaRPr lang="en-US" baseline="0"/>
          </a:p>
          <a:p>
            <a:r>
              <a:rPr lang="en-US" baseline="0"/>
              <a:t>After all properties are added to model, you must generate code that lets you use this XML model in any </a:t>
            </a:r>
            <a:r>
              <a:rPr lang="en-US" baseline="0" err="1"/>
              <a:t>gosu</a:t>
            </a:r>
            <a:r>
              <a:rPr lang="en-US" baseline="0"/>
              <a:t> code.</a:t>
            </a:r>
          </a:p>
          <a:p>
            <a:endParaRPr lang="en-US" baseline="0"/>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a:p>
        </p:txBody>
      </p:sp>
    </p:spTree>
    <p:extLst>
      <p:ext uri="{BB962C8B-B14F-4D97-AF65-F5344CB8AC3E}">
        <p14:creationId xmlns:p14="http://schemas.microsoft.com/office/powerpoint/2010/main" val="30457108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Create an xml model</a:t>
            </a:r>
            <a:r>
              <a:rPr lang="en-US" baseline="0"/>
              <a:t> instance and print the payload as string.</a:t>
            </a:r>
          </a:p>
          <a:p>
            <a:r>
              <a:rPr lang="en-US" baseline="0"/>
              <a:t>XML model can format output as UTF string or as bytes based on business requirements.</a:t>
            </a:r>
          </a:p>
          <a:p>
            <a:endParaRPr lang="en-US" baseline="0"/>
          </a:p>
          <a:p>
            <a:r>
              <a:rPr lang="en-US" baseline="0"/>
              <a:t>Note that AbContact.Emailaddress1 didn’t generate because it was null</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a:p>
        </p:txBody>
      </p:sp>
    </p:spTree>
    <p:extLst>
      <p:ext uri="{BB962C8B-B14F-4D97-AF65-F5344CB8AC3E}">
        <p14:creationId xmlns:p14="http://schemas.microsoft.com/office/powerpoint/2010/main" val="1124710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Every</a:t>
            </a:r>
            <a:r>
              <a:rPr lang="en-US" baseline="0"/>
              <a:t> xml model has a default one argument constructor which is the object on which model is based. You can use alternate constructor to add additional </a:t>
            </a:r>
            <a:r>
              <a:rPr lang="en-US" baseline="0" err="1"/>
              <a:t>GXoptions</a:t>
            </a:r>
            <a:r>
              <a:rPr lang="en-US" baseline="0"/>
              <a:t> to change the XML export behavior. </a:t>
            </a:r>
            <a:r>
              <a:rPr lang="en-US" baseline="0" err="1"/>
              <a:t>GXoption</a:t>
            </a:r>
            <a:r>
              <a:rPr lang="en-US" baseline="0"/>
              <a:t> stands for Guidewire XML model options</a:t>
            </a:r>
          </a:p>
          <a:p>
            <a:endParaRPr lang="en-US" baseline="0"/>
          </a:p>
          <a:p>
            <a:r>
              <a:rPr lang="en-US" baseline="0"/>
              <a:t>GXOptions has 3 Boolean properties</a:t>
            </a:r>
          </a:p>
          <a:p>
            <a:pPr marL="228600" indent="-228600">
              <a:buFont typeface="+mj-lt"/>
              <a:buAutoNum type="arabicPeriod"/>
            </a:pPr>
            <a:r>
              <a:rPr lang="en-US" baseline="0"/>
              <a:t>Incremental </a:t>
            </a:r>
          </a:p>
          <a:p>
            <a:pPr marL="457200" lvl="1" indent="-228600">
              <a:buFont typeface="Arial" panose="020B0604020202020204" pitchFamily="34" charset="0"/>
              <a:buChar char="•"/>
            </a:pPr>
            <a:r>
              <a:rPr lang="en-US" baseline="0"/>
              <a:t>Default is false</a:t>
            </a:r>
          </a:p>
          <a:p>
            <a:pPr marL="457200" lvl="1" indent="-228600">
              <a:buFont typeface="Arial" panose="020B0604020202020204" pitchFamily="34" charset="0"/>
              <a:buChar char="•"/>
            </a:pPr>
            <a:r>
              <a:rPr lang="en-US" baseline="0"/>
              <a:t>For normal DB backed properties, export properties only if they change</a:t>
            </a:r>
          </a:p>
          <a:p>
            <a:pPr marL="457200" lvl="1" indent="-228600">
              <a:buFont typeface="Arial" panose="020B0604020202020204" pitchFamily="34" charset="0"/>
              <a:buChar char="•"/>
            </a:pPr>
            <a:r>
              <a:rPr lang="en-US" baseline="0"/>
              <a:t>Ignored for virtual and enhancement properties</a:t>
            </a:r>
          </a:p>
          <a:p>
            <a:pPr marL="457200" lvl="1" indent="-228600">
              <a:buFont typeface="Arial" panose="020B0604020202020204" pitchFamily="34" charset="0"/>
              <a:buChar char="•"/>
            </a:pPr>
            <a:r>
              <a:rPr lang="en-US" baseline="0"/>
              <a:t>Even if incremental is set to true, the key property of the root object is always exported even if it has not changes, key property of subjects will only be included if it actually changed.</a:t>
            </a:r>
          </a:p>
          <a:p>
            <a:pPr marL="228600" lvl="1" indent="0">
              <a:buFont typeface="Arial" panose="020B0604020202020204" pitchFamily="34" charset="0"/>
              <a:buNone/>
            </a:pPr>
            <a:endParaRPr lang="en-US" baseline="0"/>
          </a:p>
          <a:p>
            <a:pPr marL="228600" indent="-228600">
              <a:buFont typeface="+mj-lt"/>
              <a:buAutoNum type="arabicPeriod"/>
            </a:pPr>
            <a:r>
              <a:rPr lang="en-US"/>
              <a:t>Verbose</a:t>
            </a:r>
          </a:p>
          <a:p>
            <a:pPr marL="457200" lvl="1" indent="-228600">
              <a:buFont typeface="Arial" panose="020B0604020202020204" pitchFamily="34" charset="0"/>
              <a:buChar char="•"/>
            </a:pPr>
            <a:r>
              <a:rPr lang="en-US"/>
              <a:t>Default is false</a:t>
            </a:r>
          </a:p>
          <a:p>
            <a:pPr marL="457200" lvl="1" indent="-228600">
              <a:buFont typeface="Arial" panose="020B0604020202020204" pitchFamily="34" charset="0"/>
              <a:buChar char="•"/>
            </a:pPr>
            <a:r>
              <a:rPr lang="en-US"/>
              <a:t>Export</a:t>
            </a:r>
            <a:r>
              <a:rPr lang="en-US" baseline="0"/>
              <a:t> the element even if value is null</a:t>
            </a:r>
          </a:p>
          <a:p>
            <a:pPr marL="457200" lvl="1" indent="-228600">
              <a:buFont typeface="Arial" panose="020B0604020202020204" pitchFamily="34" charset="0"/>
              <a:buChar char="•"/>
            </a:pPr>
            <a:endParaRPr lang="en-US" baseline="0"/>
          </a:p>
          <a:p>
            <a:pPr marL="228600" lvl="0" indent="-228600">
              <a:buFont typeface="+mj-lt"/>
              <a:buAutoNum type="arabicPeriod"/>
            </a:pPr>
            <a:r>
              <a:rPr lang="en-US" baseline="0"/>
              <a:t>SuppressExceptions</a:t>
            </a:r>
          </a:p>
          <a:p>
            <a:pPr marL="457200" lvl="1" indent="-228600">
              <a:buFont typeface="Arial" panose="020B0604020202020204" pitchFamily="34" charset="0"/>
              <a:buChar char="•"/>
            </a:pPr>
            <a:r>
              <a:rPr lang="en-US" baseline="0"/>
              <a:t>Default is false</a:t>
            </a:r>
          </a:p>
          <a:p>
            <a:pPr marL="457200" lvl="1" indent="-228600">
              <a:buFont typeface="Arial" panose="020B0604020202020204" pitchFamily="34" charset="0"/>
              <a:buChar char="•"/>
            </a:pPr>
            <a:r>
              <a:rPr lang="en-US" baseline="0"/>
              <a:t>Tells </a:t>
            </a:r>
            <a:r>
              <a:rPr lang="en-US" baseline="0" err="1"/>
              <a:t>gosu</a:t>
            </a:r>
            <a:r>
              <a:rPr lang="en-US" baseline="0"/>
              <a:t> to suppress exceptions during XML generation</a:t>
            </a:r>
          </a:p>
          <a:p>
            <a:pPr marL="457200" lvl="1" indent="-228600">
              <a:buFont typeface="Arial" panose="020B0604020202020204" pitchFamily="34" charset="0"/>
              <a:buChar char="•"/>
            </a:pPr>
            <a:r>
              <a:rPr lang="en-US" baseline="0"/>
              <a:t>To get details of the exception, use the </a:t>
            </a:r>
            <a:r>
              <a:rPr lang="en-US" baseline="0" err="1"/>
              <a:t>eachException</a:t>
            </a:r>
            <a:r>
              <a:rPr lang="en-US" baseline="0"/>
              <a:t> method which takes a </a:t>
            </a:r>
            <a:r>
              <a:rPr lang="en-US" baseline="0" err="1"/>
              <a:t>gosu</a:t>
            </a:r>
            <a:r>
              <a:rPr lang="en-US" baseline="0"/>
              <a:t> block</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a:p>
        </p:txBody>
      </p:sp>
    </p:spTree>
    <p:extLst>
      <p:ext uri="{BB962C8B-B14F-4D97-AF65-F5344CB8AC3E}">
        <p14:creationId xmlns:p14="http://schemas.microsoft.com/office/powerpoint/2010/main" val="32565114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baseline="0"/>
              <a:t>What is serialization?</a:t>
            </a:r>
          </a:p>
          <a:p>
            <a:r>
              <a:rPr lang="en-US" b="0" baseline="0"/>
              <a:t>Serialization is the process of converting a data structure into a sequence of bits so that it can stored or transmitted. When the resulting series of bits is reread according to the serialization format, it can create an identical clone of the original object. It is also called marshalling an object.</a:t>
            </a:r>
          </a:p>
          <a:p>
            <a:endParaRPr lang="en-US" b="0" baseline="0"/>
          </a:p>
          <a:p>
            <a:r>
              <a:rPr lang="en-US" b="0" baseline="0"/>
              <a:t>Guidewire makes use of simple value objects. These store the value and logic needed to serialize the value. This makes it easier to work with values that requires complex serialization logic.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err="1"/>
              <a:t>XMLSerializationOptions</a:t>
            </a:r>
            <a:endParaRPr lang="en-US" b="1" baseline="0"/>
          </a:p>
          <a:p>
            <a:endParaRPr lang="en-US" b="0" baseline="0"/>
          </a:p>
          <a:p>
            <a:r>
              <a:rPr lang="en-US" b="0" baseline="0"/>
              <a:t>Sort – ensures order of child element matches XSD. For large XMLs, it requires lots of resources. If XML objects are created in the order specified in the definition, this can be safely turned off. Default is true.</a:t>
            </a:r>
          </a:p>
          <a:p>
            <a:r>
              <a:rPr lang="en-US" b="0" baseline="0"/>
              <a:t>Validate – Validates the XML against XSD if element is based on XSD type.  Default is true.</a:t>
            </a:r>
          </a:p>
          <a:p>
            <a:endParaRPr lang="en-US" b="0"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a:p>
        </p:txBody>
      </p:sp>
    </p:spTree>
    <p:extLst>
      <p:ext uri="{BB962C8B-B14F-4D97-AF65-F5344CB8AC3E}">
        <p14:creationId xmlns:p14="http://schemas.microsoft.com/office/powerpoint/2010/main" val="21315054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b="0"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a:p>
        </p:txBody>
      </p:sp>
    </p:spTree>
    <p:extLst>
      <p:ext uri="{BB962C8B-B14F-4D97-AF65-F5344CB8AC3E}">
        <p14:creationId xmlns:p14="http://schemas.microsoft.com/office/powerpoint/2010/main" val="27363538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0" baseline="0"/>
              <a:t>In the above example, we have created labels as in the previous slide, and instantiated the models for both systems using the labels</a:t>
            </a:r>
          </a:p>
          <a:p>
            <a:endParaRPr lang="en-US" b="0" baseline="0"/>
          </a:p>
          <a:p>
            <a:r>
              <a:rPr lang="en-US" b="0" baseline="0"/>
              <a:t>Multiple labels can be combined in a single instance of a model.</a:t>
            </a:r>
          </a:p>
          <a:p>
            <a:r>
              <a:rPr lang="en-US" b="0" baseline="0"/>
              <a:t>example</a:t>
            </a:r>
          </a:p>
          <a:p>
            <a:r>
              <a:rPr lang="en-US" b="0" baseline="0" err="1"/>
              <a:t>var</a:t>
            </a:r>
            <a:r>
              <a:rPr lang="en-US" b="0" baseline="0"/>
              <a:t> </a:t>
            </a:r>
            <a:r>
              <a:rPr lang="en-US" b="0" baseline="0" err="1"/>
              <a:t>modelAB</a:t>
            </a:r>
            <a:r>
              <a:rPr lang="en-US" b="0" baseline="0"/>
              <a:t> = new </a:t>
            </a:r>
            <a:r>
              <a:rPr lang="en-US" b="0" baseline="0" err="1"/>
              <a:t>BankAccount</a:t>
            </a:r>
            <a:r>
              <a:rPr lang="en-US" b="0" baseline="0"/>
              <a:t> (</a:t>
            </a:r>
            <a:r>
              <a:rPr lang="en-US" b="0" baseline="0" err="1"/>
              <a:t>bankAccount</a:t>
            </a:r>
            <a:r>
              <a:rPr lang="en-US" b="0" baseline="0"/>
              <a:t>, , </a:t>
            </a:r>
            <a:r>
              <a:rPr lang="en-US" b="0" baseline="0" err="1"/>
              <a:t>gxOpt</a:t>
            </a:r>
            <a:r>
              <a:rPr lang="en-US" b="0" baseline="0"/>
              <a:t>, {</a:t>
            </a:r>
            <a:r>
              <a:rPr lang="en-US" b="0" baseline="0" err="1"/>
              <a:t>sysALabel</a:t>
            </a:r>
            <a:r>
              <a:rPr lang="en-US" b="0" baseline="0"/>
              <a:t>, </a:t>
            </a:r>
            <a:r>
              <a:rPr lang="en-US" b="0" baseline="0" err="1"/>
              <a:t>sysBLabel</a:t>
            </a:r>
            <a:r>
              <a:rPr lang="en-US" b="0" baseline="0"/>
              <a:t>})</a:t>
            </a:r>
          </a:p>
          <a:p>
            <a:endParaRPr lang="en-US" b="0" baseline="0"/>
          </a:p>
          <a:p>
            <a:r>
              <a:rPr lang="en-US" b="0" baseline="0"/>
              <a:t>The code for including all labels will be </a:t>
            </a:r>
          </a:p>
          <a:p>
            <a:r>
              <a:rPr lang="en-US" b="0" baseline="0" err="1"/>
              <a:t>var</a:t>
            </a:r>
            <a:r>
              <a:rPr lang="en-US" b="0" baseline="0"/>
              <a:t> </a:t>
            </a:r>
            <a:r>
              <a:rPr lang="en-US" b="0" baseline="0" err="1"/>
              <a:t>labelSysAll</a:t>
            </a:r>
            <a:r>
              <a:rPr lang="en-US" b="0" baseline="0"/>
              <a:t>=</a:t>
            </a:r>
            <a:r>
              <a:rPr lang="en-US" b="0" baseline="0" err="1"/>
              <a:t>BankAccount.label.default_Label</a:t>
            </a:r>
            <a:endParaRPr lang="en-US" b="0"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err="1"/>
              <a:t>var</a:t>
            </a:r>
            <a:r>
              <a:rPr lang="en-US" b="0" baseline="0"/>
              <a:t> </a:t>
            </a:r>
            <a:r>
              <a:rPr lang="en-US" b="0" baseline="0" err="1"/>
              <a:t>xmlSysAll</a:t>
            </a:r>
            <a:r>
              <a:rPr lang="en-US" b="0" baseline="0"/>
              <a:t> = new </a:t>
            </a:r>
            <a:r>
              <a:rPr lang="en-US" b="0" baseline="0" err="1"/>
              <a:t>BankAccount</a:t>
            </a:r>
            <a:r>
              <a:rPr lang="en-US" b="0" baseline="0"/>
              <a:t> (</a:t>
            </a:r>
            <a:r>
              <a:rPr lang="en-US" b="0" baseline="0" err="1"/>
              <a:t>bankAccount</a:t>
            </a:r>
            <a:r>
              <a:rPr lang="en-US" b="0" baseline="0"/>
              <a:t>, , </a:t>
            </a:r>
            <a:r>
              <a:rPr lang="en-US" b="0" baseline="0" err="1"/>
              <a:t>gxOpt</a:t>
            </a:r>
            <a:r>
              <a:rPr lang="en-US" b="0" baseline="0"/>
              <a:t>, {</a:t>
            </a:r>
            <a:r>
              <a:rPr lang="en-US" b="0" baseline="0" err="1"/>
              <a:t>labelSysAll</a:t>
            </a:r>
            <a:r>
              <a:rPr lang="en-US" b="0" baseline="0"/>
              <a:t>})</a:t>
            </a:r>
          </a:p>
          <a:p>
            <a:endParaRPr lang="en-US" b="0" baseline="0"/>
          </a:p>
          <a:p>
            <a:endParaRPr lang="en-US" b="0"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a:p>
        </p:txBody>
      </p:sp>
    </p:spTree>
    <p:extLst>
      <p:ext uri="{BB962C8B-B14F-4D97-AF65-F5344CB8AC3E}">
        <p14:creationId xmlns:p14="http://schemas.microsoft.com/office/powerpoint/2010/main" val="37531234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0" baseline="0"/>
              <a:t>In the above example, a bundle is created to demonstrate $</a:t>
            </a:r>
            <a:r>
              <a:rPr lang="en-US" b="0" baseline="0" err="1"/>
              <a:t>ShouldSend</a:t>
            </a:r>
            <a:r>
              <a:rPr lang="en-US" b="0" baseline="0"/>
              <a:t> </a:t>
            </a:r>
            <a:r>
              <a:rPr lang="en-US" b="0" baseline="0" err="1"/>
              <a:t>propertu</a:t>
            </a:r>
            <a:r>
              <a:rPr lang="en-US" b="0" baseline="0"/>
              <a:t>.</a:t>
            </a:r>
          </a:p>
          <a:p>
            <a:r>
              <a:rPr lang="en-US" b="0" baseline="0"/>
              <a:t>The bank account type was changed to checking so that at least one normal property is changed</a:t>
            </a:r>
          </a:p>
          <a:p>
            <a:endParaRPr lang="en-US" b="1" baseline="0"/>
          </a:p>
          <a:p>
            <a:r>
              <a:rPr lang="en-US" b="1" baseline="0"/>
              <a:t>Model Properties</a:t>
            </a:r>
          </a:p>
          <a:p>
            <a:r>
              <a:rPr lang="en-US" b="0" baseline="0"/>
              <a:t>$ShouldSend – Returns true only if at least one mapped field changed in the local database bundle. This does not change based on Incremental or Verbose options. $ShouldSend can be evaluated only if all the properties in the model are data backed. Inclusion of virtual properties in the model will always evaluate $ShouldSend to false.</a:t>
            </a:r>
          </a:p>
          <a:p>
            <a:endParaRPr lang="en-US" b="0" baseline="0"/>
          </a:p>
          <a:p>
            <a:r>
              <a:rPr lang="en-US" b="0" baseline="0"/>
              <a:t>$HasExceptions – To check if any exceptions occurred during XML generation. Exception </a:t>
            </a:r>
            <a:r>
              <a:rPr lang="en-US" b="0" baseline="0" err="1"/>
              <a:t>setails</a:t>
            </a:r>
            <a:r>
              <a:rPr lang="en-US" b="0" baseline="0"/>
              <a:t> can be obtained by using </a:t>
            </a:r>
            <a:r>
              <a:rPr lang="en-US" b="0" baseline="0" err="1"/>
              <a:t>eachException</a:t>
            </a:r>
            <a:r>
              <a:rPr lang="en-US" b="0" baseline="0"/>
              <a:t> method</a:t>
            </a:r>
            <a:endParaRPr lang="en-US" b="1" baseline="0"/>
          </a:p>
          <a:p>
            <a:endParaRPr lang="en-US" b="1"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a:p>
        </p:txBody>
      </p:sp>
    </p:spTree>
    <p:extLst>
      <p:ext uri="{BB962C8B-B14F-4D97-AF65-F5344CB8AC3E}">
        <p14:creationId xmlns:p14="http://schemas.microsoft.com/office/powerpoint/2010/main" val="115394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b="1"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a:p>
        </p:txBody>
      </p:sp>
    </p:spTree>
    <p:extLst>
      <p:ext uri="{BB962C8B-B14F-4D97-AF65-F5344CB8AC3E}">
        <p14:creationId xmlns:p14="http://schemas.microsoft.com/office/powerpoint/2010/main" val="13274238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a:p>
        </p:txBody>
      </p:sp>
    </p:spTree>
    <p:extLst>
      <p:ext uri="{BB962C8B-B14F-4D97-AF65-F5344CB8AC3E}">
        <p14:creationId xmlns:p14="http://schemas.microsoft.com/office/powerpoint/2010/main" val="10332040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448905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952552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Answers</a:t>
            </a:r>
          </a:p>
          <a:p>
            <a:r>
              <a:rPr lang="en-US"/>
              <a:t>1) Untyped XML is XML that is parsed without a known XSD. Strongly typed XML is XML that is parsed using an XSD.</a:t>
            </a:r>
          </a:p>
          <a:p>
            <a:r>
              <a:rPr lang="en-US"/>
              <a:t>2) </a:t>
            </a:r>
            <a:r>
              <a:rPr lang="en-US" err="1"/>
              <a:t>xml.Children</a:t>
            </a:r>
            <a:r>
              <a:rPr lang="en-US"/>
              <a:t>[0]</a:t>
            </a:r>
            <a:br>
              <a:rPr lang="en-US"/>
            </a:br>
            <a:r>
              <a:rPr lang="en-US"/>
              <a:t>   </a:t>
            </a:r>
            <a:r>
              <a:rPr lang="en-US" err="1"/>
              <a:t>xml.getChild</a:t>
            </a:r>
            <a:r>
              <a:rPr lang="en-US"/>
              <a:t>(new </a:t>
            </a:r>
            <a:r>
              <a:rPr lang="en-US" err="1"/>
              <a:t>QName</a:t>
            </a:r>
            <a:r>
              <a:rPr lang="en-US"/>
              <a:t>("</a:t>
            </a:r>
            <a:r>
              <a:rPr lang="en-US" err="1"/>
              <a:t>someURI</a:t>
            </a:r>
            <a:r>
              <a:rPr lang="en-US"/>
              <a:t>", "</a:t>
            </a:r>
            <a:r>
              <a:rPr lang="en-US" err="1"/>
              <a:t>loadOptions</a:t>
            </a:r>
            <a:r>
              <a:rPr lang="en-US"/>
              <a:t>"))</a:t>
            </a:r>
          </a:p>
          <a:p>
            <a:r>
              <a:rPr lang="en-US"/>
              <a:t>3) To make an XSD known to Guidewire, manually place it in a subdirectory of modules\configuration\</a:t>
            </a:r>
            <a:r>
              <a:rPr lang="en-US" err="1"/>
              <a:t>gsrc</a:t>
            </a:r>
            <a:r>
              <a:rPr lang="en-US"/>
              <a:t>. During startup, Guidewire reads the XSD and converts its element and attribute types into native Gosu types.</a:t>
            </a:r>
          </a:p>
          <a:p>
            <a:r>
              <a:rPr lang="en-US"/>
              <a:t>4) The element types and attributes defined in the XSD are available as properties of the parsed XML; the XML is validated against the XSD during import and export.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58</a:t>
            </a:fld>
            <a:endParaRPr lang="en-US"/>
          </a:p>
        </p:txBody>
      </p:sp>
    </p:spTree>
    <p:extLst>
      <p:ext uri="{BB962C8B-B14F-4D97-AF65-F5344CB8AC3E}">
        <p14:creationId xmlns:p14="http://schemas.microsoft.com/office/powerpoint/2010/main" val="28359383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None/>
            </a:pPr>
            <a:r>
              <a:rPr lang="en-US"/>
              <a:t>Answers</a:t>
            </a:r>
          </a:p>
          <a:p>
            <a:pPr marL="228600" indent="-228600">
              <a:buAutoNum type="arabicPeriod"/>
            </a:pPr>
            <a:r>
              <a:rPr lang="en-US"/>
              <a:t>False – XML models always have a single</a:t>
            </a:r>
            <a:r>
              <a:rPr lang="en-US" baseline="0"/>
              <a:t> input, which is the object upon which to base the XML to be generated.</a:t>
            </a:r>
          </a:p>
          <a:p>
            <a:pPr marL="228600" indent="-228600">
              <a:buAutoNum type="arabicPeriod"/>
            </a:pPr>
            <a:r>
              <a:rPr lang="en-US" baseline="0"/>
              <a:t>True</a:t>
            </a:r>
          </a:p>
          <a:p>
            <a:pPr marL="228600" indent="-228600">
              <a:buAutoNum type="arabicPeriod"/>
            </a:pPr>
            <a:r>
              <a:rPr lang="en-US" baseline="0"/>
              <a:t>False</a:t>
            </a:r>
          </a:p>
          <a:p>
            <a:pPr marL="228600" indent="-228600">
              <a:buAutoNum type="arabicPeriod"/>
            </a:pPr>
            <a:r>
              <a:rPr lang="en-US" baseline="0"/>
              <a:t>True – XML models can do this by including fields from the related objects in the XML model.</a:t>
            </a:r>
          </a:p>
          <a:p>
            <a:pPr marL="228600" indent="-228600">
              <a:buAutoNum type="arabicPeriod"/>
            </a:pPr>
            <a:r>
              <a:rPr lang="en-US" baseline="0"/>
              <a:t>False – XML models can be used anywhere.</a:t>
            </a:r>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59</a:t>
            </a:fld>
            <a:endParaRPr lang="en-US"/>
          </a:p>
        </p:txBody>
      </p:sp>
    </p:spTree>
    <p:extLst>
      <p:ext uri="{BB962C8B-B14F-4D97-AF65-F5344CB8AC3E}">
        <p14:creationId xmlns:p14="http://schemas.microsoft.com/office/powerpoint/2010/main" val="867960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4" name="txt Right Col Content"/>
          <p:cNvSpPr>
            <a:spLocks noGrp="1"/>
          </p:cNvSpPr>
          <p:nvPr>
            <p:ph sz="half" idx="2"/>
          </p:nvPr>
        </p:nvSpPr>
        <p:spPr>
          <a:xfrm>
            <a:off x="8229600" y="914407"/>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4" name="txt Right Col Content"/>
          <p:cNvSpPr>
            <a:spLocks noGrp="1"/>
          </p:cNvSpPr>
          <p:nvPr>
            <p:ph sz="half" idx="2"/>
          </p:nvPr>
        </p:nvSpPr>
        <p:spPr>
          <a:xfrm>
            <a:off x="6339417" y="914407"/>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8606217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24" indent="-285724"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11" indent="0">
              <a:buClr>
                <a:srgbClr val="04628C"/>
              </a:buClr>
              <a:buFontTx/>
              <a:buNone/>
              <a:defRPr/>
            </a:lvl2pPr>
            <a:lvl3pPr marL="742876" indent="0">
              <a:buClr>
                <a:srgbClr val="04628C"/>
              </a:buClr>
              <a:buFontTx/>
              <a:buNone/>
              <a:defRPr/>
            </a:lvl3pPr>
            <a:lvl4pPr marL="1084156" indent="0">
              <a:buClr>
                <a:srgbClr val="04628C"/>
              </a:buClr>
              <a:buFontTx/>
              <a:buNone/>
              <a:defRPr/>
            </a:lvl4pPr>
            <a:lvl5pPr>
              <a:buClr>
                <a:srgbClr val="04628C"/>
              </a:buClr>
              <a:buFont typeface="Calibri" pitchFamily="34" charset="0"/>
              <a:buChar char="-"/>
              <a:defRPr/>
            </a:lvl5pPr>
          </a:lstStyle>
          <a:p>
            <a:pPr lvl="0"/>
            <a:r>
              <a:rPr lang="en-US"/>
              <a:t>Topic 01 (Current topic = black font color)</a:t>
            </a:r>
          </a:p>
          <a:p>
            <a:pPr lvl="0"/>
            <a:r>
              <a:rPr lang="en-US"/>
              <a:t>Topic 02</a:t>
            </a:r>
          </a:p>
          <a:p>
            <a:pPr lvl="0"/>
            <a:r>
              <a:rPr lang="en-US"/>
              <a:t>Topic 03</a:t>
            </a:r>
          </a:p>
          <a:p>
            <a:pPr lvl="0"/>
            <a:r>
              <a:rPr lang="en-US"/>
              <a:t>Topic 04</a:t>
            </a:r>
          </a:p>
          <a:p>
            <a:pPr lvl="0"/>
            <a:endParaRPr lang="en-US"/>
          </a:p>
        </p:txBody>
      </p:sp>
      <p:sp>
        <p:nvSpPr>
          <p:cNvPr id="5" name="txt Title Fixed"/>
          <p:cNvSpPr txBox="1">
            <a:spLocks noChangeArrowheads="1"/>
          </p:cNvSpPr>
          <p:nvPr/>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p>
        </p:txBody>
      </p:sp>
      <p:sp>
        <p:nvSpPr>
          <p:cNvPr id="4" name="txt Right Col Content"/>
          <p:cNvSpPr>
            <a:spLocks noGrp="1"/>
          </p:cNvSpPr>
          <p:nvPr>
            <p:ph sz="half" idx="2"/>
          </p:nvPr>
        </p:nvSpPr>
        <p:spPr>
          <a:xfrm>
            <a:off x="8229600" y="36576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solidFill>
                  <a:srgbClr val="3C6B80"/>
                </a:solidFill>
                <a:latin typeface="+mj-lt"/>
                <a:cs typeface="Arial" pitchFamily="34" charset="0"/>
              </a:rPr>
              <a:t>Lesson</a:t>
            </a:r>
            <a:r>
              <a:rPr lang="en-US" sz="3200">
                <a:solidFill>
                  <a:srgbClr val="3C6B80"/>
                </a:solidFill>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a:solidFill>
                  <a:schemeClr val="accent1"/>
                </a:solidFill>
              </a:rPr>
              <a:t>This lesson uses the notes section for additional explanation and information.</a:t>
            </a:r>
            <a:r>
              <a:rPr lang="en-US" sz="1600">
                <a:solidFill>
                  <a:schemeClr val="accent1"/>
                </a:solidFill>
              </a:rPr>
              <a:t> </a:t>
            </a:r>
            <a:br>
              <a:rPr lang="en-US" sz="1600">
                <a:solidFill>
                  <a:schemeClr val="accent1"/>
                </a:solidFill>
              </a:rPr>
            </a:br>
            <a:r>
              <a:rPr lang="en-US" sz="1600" b="0">
                <a:solidFill>
                  <a:schemeClr val="accent1"/>
                </a:solidFill>
              </a:rPr>
              <a:t>To view the notes in PowerPoint, select View </a:t>
            </a:r>
            <a:r>
              <a:rPr lang="en-US" sz="1600" b="0">
                <a:solidFill>
                  <a:schemeClr val="accent1"/>
                </a:solidFill>
                <a:sym typeface="Wingdings" pitchFamily="2" charset="2"/>
              </a:rPr>
              <a:t> Normal or </a:t>
            </a:r>
            <a:r>
              <a:rPr lang="en-US" sz="1600" b="0">
                <a:solidFill>
                  <a:schemeClr val="accent1"/>
                </a:solidFill>
              </a:rPr>
              <a:t>View </a:t>
            </a:r>
            <a:r>
              <a:rPr lang="en-US" sz="1600" b="0">
                <a:solidFill>
                  <a:schemeClr val="accent1"/>
                </a:solidFill>
                <a:sym typeface="Wingdings" pitchFamily="2" charset="2"/>
              </a:rPr>
              <a:t> </a:t>
            </a:r>
            <a:r>
              <a:rPr lang="en-US" sz="1600" b="0">
                <a:solidFill>
                  <a:schemeClr val="accent1"/>
                </a:solidFill>
              </a:rPr>
              <a:t>Notes Page. </a:t>
            </a:r>
            <a:br>
              <a:rPr lang="en-US" sz="1600" b="0">
                <a:solidFill>
                  <a:schemeClr val="accent1"/>
                </a:solidFill>
              </a:rPr>
            </a:br>
            <a:r>
              <a:rPr lang="en-US" sz="1600" b="0">
                <a:solidFill>
                  <a:schemeClr val="accent1"/>
                </a:solidFill>
              </a:rPr>
              <a:t>When printing </a:t>
            </a:r>
            <a:r>
              <a:rPr lang="en-US" sz="1600">
                <a:solidFill>
                  <a:schemeClr val="accent1"/>
                </a:solidFill>
              </a:rPr>
              <a:t>notes, select Note Pages and</a:t>
            </a:r>
            <a:r>
              <a:rPr lang="en-US" sz="1600" baseline="0">
                <a:solidFill>
                  <a:schemeClr val="accent1"/>
                </a:solidFill>
              </a:rPr>
              <a:t> </a:t>
            </a:r>
            <a:r>
              <a:rPr lang="en-US" sz="1600" b="0">
                <a:solidFill>
                  <a:schemeClr val="accent1"/>
                </a:solidFill>
              </a:rPr>
              <a:t>Print hidden slides.</a:t>
            </a: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24" lvl="0" indent="-285724"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587" indent="-228578">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Describe…</a:t>
            </a:r>
          </a:p>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24" lvl="0" indent="-285724"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587" indent="-228578">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Describe…</a:t>
            </a:r>
          </a:p>
          <a:p>
            <a:pPr marL="628587" lvl="1" indent="-228578"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155" marR="0" indent="-457155" algn="l" defTabSz="914309"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Question…?</a:t>
            </a:r>
          </a:p>
          <a:p>
            <a:pPr lvl="0"/>
            <a:r>
              <a:rPr lang="en-US"/>
              <a:t>Question…?</a:t>
            </a:r>
          </a:p>
          <a:p>
            <a:pPr marL="457155" marR="0" lvl="0" indent="-457155" algn="l" defTabSz="914309"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marL="457155" marR="0" lvl="0" indent="-457155" algn="l" defTabSz="914309"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lvl="0"/>
            <a:endParaRPr lang="en-US"/>
          </a:p>
        </p:txBody>
      </p:sp>
      <p:sp>
        <p:nvSpPr>
          <p:cNvPr id="4" name="txt Title Fixed"/>
          <p:cNvSpPr txBox="1">
            <a:spLocks noChangeArrowheads="1"/>
          </p:cNvSpPr>
          <p:nvPr userDrawn="1"/>
        </p:nvSpPr>
        <p:spPr bwMode="auto">
          <a:xfrm>
            <a:off x="656167" y="114307"/>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Blank Slide">
    <p:bg>
      <p:bgRef idx="1001">
        <a:schemeClr val="bg1"/>
      </p:bgRef>
    </p:bg>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214739004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hank You Slide + Partner Log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58032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bg>
      <p:bgRef idx="1001">
        <a:schemeClr val="bg1"/>
      </p:bgRef>
    </p:bg>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a:t>
            </a:r>
          </a:p>
        </p:txBody>
      </p:sp>
    </p:spTree>
    <p:extLst>
      <p:ext uri="{BB962C8B-B14F-4D97-AF65-F5344CB8AC3E}">
        <p14:creationId xmlns:p14="http://schemas.microsoft.com/office/powerpoint/2010/main" val="63841019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5"/>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28" indent="-10952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88273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6"/>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txt Centered PageNumberBox"/>
          <p:cNvSpPr txBox="1">
            <a:spLocks noChangeArrowheads="1"/>
          </p:cNvSpPr>
          <p:nvPr/>
        </p:nvSpPr>
        <p:spPr bwMode="auto">
          <a:xfrm>
            <a:off x="5743165" y="6475149"/>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8" r:id="rId2"/>
    <p:sldLayoutId id="2147483771" r:id="rId3"/>
    <p:sldLayoutId id="2147483774" r:id="rId4"/>
    <p:sldLayoutId id="2147483783" r:id="rId5"/>
    <p:sldLayoutId id="2147483785" r:id="rId6"/>
    <p:sldLayoutId id="2147483793" r:id="rId7"/>
    <p:sldLayoutId id="2147483794" r:id="rId8"/>
    <p:sldLayoutId id="2147483797" r:id="rId9"/>
    <p:sldLayoutId id="2147483799" r:id="rId10"/>
    <p:sldLayoutId id="2147483800" r:id="rId11"/>
    <p:sldLayoutId id="2147483801" r:id="rId12"/>
    <p:sldLayoutId id="2147483805" r:id="rId13"/>
    <p:sldLayoutId id="2147483806" r:id="rId14"/>
    <p:sldLayoutId id="2147483807" r:id="rId15"/>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155" algn="l" rtl="0" eaLnBrk="1" fontAlgn="base" hangingPunct="1">
        <a:lnSpc>
          <a:spcPct val="90000"/>
        </a:lnSpc>
        <a:spcBef>
          <a:spcPct val="0"/>
        </a:spcBef>
        <a:spcAft>
          <a:spcPct val="0"/>
        </a:spcAft>
        <a:defRPr sz="3000" b="1">
          <a:solidFill>
            <a:schemeClr val="accent1"/>
          </a:solidFill>
          <a:latin typeface="Arial" charset="0"/>
        </a:defRPr>
      </a:lvl6pPr>
      <a:lvl7pPr marL="914309" algn="l" rtl="0" eaLnBrk="1" fontAlgn="base" hangingPunct="1">
        <a:lnSpc>
          <a:spcPct val="90000"/>
        </a:lnSpc>
        <a:spcBef>
          <a:spcPct val="0"/>
        </a:spcBef>
        <a:spcAft>
          <a:spcPct val="0"/>
        </a:spcAft>
        <a:defRPr sz="3000" b="1">
          <a:solidFill>
            <a:schemeClr val="accent1"/>
          </a:solidFill>
          <a:latin typeface="Arial" charset="0"/>
        </a:defRPr>
      </a:lvl7pPr>
      <a:lvl8pPr marL="1371464" algn="l" rtl="0" eaLnBrk="1" fontAlgn="base" hangingPunct="1">
        <a:lnSpc>
          <a:spcPct val="90000"/>
        </a:lnSpc>
        <a:spcBef>
          <a:spcPct val="0"/>
        </a:spcBef>
        <a:spcAft>
          <a:spcPct val="0"/>
        </a:spcAft>
        <a:defRPr sz="3000" b="1">
          <a:solidFill>
            <a:schemeClr val="accent1"/>
          </a:solidFill>
          <a:latin typeface="Arial" charset="0"/>
        </a:defRPr>
      </a:lvl8pPr>
      <a:lvl9pPr marL="1828618"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24" indent="-285724"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587" indent="-228578"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866" indent="-226992"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226" indent="-292071"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321" indent="-225404"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473" indent="-225404"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627" indent="-225404"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2783" indent="-225404"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69936" indent="-225404"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emf"/><Relationship Id="rId7" Type="http://schemas.openxmlformats.org/officeDocument/2006/relationships/diagramQuickStyle" Target="../diagrams/quickStyle1.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emf"/><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5.emf"/><Relationship Id="rId7" Type="http://schemas.openxmlformats.org/officeDocument/2006/relationships/diagramQuickStyle" Target="../diagrams/quickStyle6.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6.emf"/><Relationship Id="rId9" Type="http://schemas.microsoft.com/office/2007/relationships/diagramDrawing" Target="../diagrams/drawing6.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6.emf"/></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410200" y="465794"/>
            <a:ext cx="2819400" cy="831521"/>
          </a:xfrm>
        </p:spPr>
      </p:pic>
      <p:sp>
        <p:nvSpPr>
          <p:cNvPr id="3" name="Title 2"/>
          <p:cNvSpPr>
            <a:spLocks noGrp="1"/>
          </p:cNvSpPr>
          <p:nvPr>
            <p:ph type="ctrTitle"/>
          </p:nvPr>
        </p:nvSpPr>
        <p:spPr>
          <a:xfrm>
            <a:off x="762000" y="2667000"/>
            <a:ext cx="8348837" cy="553998"/>
          </a:xfrm>
        </p:spPr>
        <p:txBody>
          <a:bodyPr/>
          <a:lstStyle/>
          <a:p>
            <a:r>
              <a:rPr lang="en-US">
                <a:solidFill>
                  <a:srgbClr val="04628C"/>
                </a:solidFill>
              </a:rPr>
              <a:t>InsuranceSuite 10 Integration</a:t>
            </a:r>
          </a:p>
        </p:txBody>
      </p:sp>
      <p:sp>
        <p:nvSpPr>
          <p:cNvPr id="6" name="Footer Placeholder 5"/>
          <p:cNvSpPr>
            <a:spLocks noGrp="1"/>
          </p:cNvSpPr>
          <p:nvPr>
            <p:ph type="ftr" sz="quarter" idx="3"/>
          </p:nvPr>
        </p:nvSpPr>
        <p:spPr/>
        <p:txBody>
          <a:bodyPr/>
          <a:lstStyle/>
          <a:p>
            <a:r>
              <a:rPr lang="en-US">
                <a:solidFill>
                  <a:srgbClr val="04628C"/>
                </a:solidFill>
              </a:rPr>
              <a:t>© 2020 Cognizant</a:t>
            </a:r>
          </a:p>
        </p:txBody>
      </p:sp>
      <p:sp>
        <p:nvSpPr>
          <p:cNvPr id="8" name="Title 2"/>
          <p:cNvSpPr txBox="1">
            <a:spLocks/>
          </p:cNvSpPr>
          <p:nvPr/>
        </p:nvSpPr>
        <p:spPr bwMode="white">
          <a:xfrm>
            <a:off x="762000" y="4772901"/>
            <a:ext cx="834883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800" b="0" kern="0">
                <a:solidFill>
                  <a:srgbClr val="00B0F0"/>
                </a:solidFill>
              </a:rPr>
              <a:t>Gosu and XML</a:t>
            </a:r>
            <a:endParaRPr lang="en-US" sz="2800" b="0">
              <a:solidFill>
                <a:srgbClr val="00B0F0"/>
              </a:solidFill>
              <a:ea typeface="+mn-ea"/>
            </a:endParaRPr>
          </a:p>
        </p:txBody>
      </p:sp>
    </p:spTree>
    <p:extLst>
      <p:ext uri="{BB962C8B-B14F-4D97-AF65-F5344CB8AC3E}">
        <p14:creationId xmlns:p14="http://schemas.microsoft.com/office/powerpoint/2010/main" val="3174447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42188" y="1524000"/>
            <a:ext cx="8321040" cy="4343400"/>
          </a:xfrm>
        </p:spPr>
        <p:txBody>
          <a:bodyPr/>
          <a:lstStyle/>
          <a:p>
            <a:pPr lvl="1"/>
            <a:r>
              <a:rPr lang="en-US"/>
              <a:t>Describe the fundamental features of XML</a:t>
            </a:r>
          </a:p>
          <a:p>
            <a:pPr lvl="1"/>
            <a:r>
              <a:rPr lang="en-US"/>
              <a:t>Describe the basic functionality of the Guidewire XmlElement class</a:t>
            </a:r>
          </a:p>
          <a:p>
            <a:pPr lvl="1"/>
            <a:r>
              <a:rPr lang="en-US"/>
              <a:t>Import and export untyped XML using Gosu</a:t>
            </a:r>
          </a:p>
          <a:p>
            <a:pPr lvl="1"/>
            <a:r>
              <a:rPr lang="en-US"/>
              <a:t>Import and export strongly typed XML using Gosu and an XSD</a:t>
            </a:r>
          </a:p>
          <a:p>
            <a:pPr lvl="1"/>
            <a:r>
              <a:rPr lang="en-US"/>
              <a:t>Identify additional Guidewire tools for working with XML</a:t>
            </a:r>
          </a:p>
          <a:p>
            <a:pPr lvl="1"/>
            <a:endParaRPr lang="en-US"/>
          </a:p>
        </p:txBody>
      </p:sp>
      <p:sp>
        <p:nvSpPr>
          <p:cNvPr id="3" name="Title 1"/>
          <p:cNvSpPr txBox="1">
            <a:spLocks/>
          </p:cNvSpPr>
          <p:nvPr/>
        </p:nvSpPr>
        <p:spPr>
          <a:xfrm>
            <a:off x="685800" y="148358"/>
            <a:ext cx="8433816" cy="742951"/>
          </a:xfrm>
          <a:prstGeom prst="rect">
            <a:avLst/>
          </a:prstGeom>
        </p:spPr>
        <p:txBody>
          <a:bodyPr lIns="0"/>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155" algn="l" rtl="0" eaLnBrk="1" fontAlgn="base" hangingPunct="1">
              <a:lnSpc>
                <a:spcPct val="90000"/>
              </a:lnSpc>
              <a:spcBef>
                <a:spcPct val="0"/>
              </a:spcBef>
              <a:spcAft>
                <a:spcPct val="0"/>
              </a:spcAft>
              <a:defRPr sz="3000" b="1">
                <a:solidFill>
                  <a:schemeClr val="accent1"/>
                </a:solidFill>
                <a:latin typeface="Arial" charset="0"/>
              </a:defRPr>
            </a:lvl6pPr>
            <a:lvl7pPr marL="914309" algn="l" rtl="0" eaLnBrk="1" fontAlgn="base" hangingPunct="1">
              <a:lnSpc>
                <a:spcPct val="90000"/>
              </a:lnSpc>
              <a:spcBef>
                <a:spcPct val="0"/>
              </a:spcBef>
              <a:spcAft>
                <a:spcPct val="0"/>
              </a:spcAft>
              <a:defRPr sz="3000" b="1">
                <a:solidFill>
                  <a:schemeClr val="accent1"/>
                </a:solidFill>
                <a:latin typeface="Arial" charset="0"/>
              </a:defRPr>
            </a:lvl7pPr>
            <a:lvl8pPr marL="1371464" algn="l" rtl="0" eaLnBrk="1" fontAlgn="base" hangingPunct="1">
              <a:lnSpc>
                <a:spcPct val="90000"/>
              </a:lnSpc>
              <a:spcBef>
                <a:spcPct val="0"/>
              </a:spcBef>
              <a:spcAft>
                <a:spcPct val="0"/>
              </a:spcAft>
              <a:defRPr sz="3000" b="1">
                <a:solidFill>
                  <a:schemeClr val="accent1"/>
                </a:solidFill>
                <a:latin typeface="Arial" charset="0"/>
              </a:defRPr>
            </a:lvl8pPr>
            <a:lvl9pPr marL="1828618"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Objectives</a:t>
            </a:r>
          </a:p>
        </p:txBody>
      </p:sp>
      <p:sp>
        <p:nvSpPr>
          <p:cNvPr id="2" name="TextBox 1"/>
          <p:cNvSpPr txBox="1"/>
          <p:nvPr/>
        </p:nvSpPr>
        <p:spPr>
          <a:xfrm>
            <a:off x="685800" y="838200"/>
            <a:ext cx="914400" cy="914400"/>
          </a:xfrm>
          <a:prstGeom prst="rect">
            <a:avLst/>
          </a:prstGeom>
          <a:noFill/>
        </p:spPr>
        <p:txBody>
          <a:bodyPr wrap="none" rtlCol="0">
            <a:noAutofit/>
          </a:bodyPr>
          <a:lstStyle/>
          <a:p>
            <a:r>
              <a:rPr lang="en-US" sz="2000">
                <a:solidFill>
                  <a:schemeClr val="bg1"/>
                </a:solidFill>
                <a:latin typeface="Arial" pitchFamily="32" charset="0"/>
                <a:cs typeface="Arial" pitchFamily="32" charset="0"/>
              </a:rPr>
              <a:t>By the end of this lesson, you should be able to </a:t>
            </a:r>
          </a:p>
        </p:txBody>
      </p:sp>
    </p:spTree>
    <p:extLst>
      <p:ext uri="{BB962C8B-B14F-4D97-AF65-F5344CB8AC3E}">
        <p14:creationId xmlns:p14="http://schemas.microsoft.com/office/powerpoint/2010/main" val="299068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bg1"/>
                </a:solidFill>
              </a:rPr>
              <a:t>Overview of XML</a:t>
            </a:r>
          </a:p>
          <a:p>
            <a:r>
              <a:rPr lang="en-US">
                <a:solidFill>
                  <a:schemeClr val="tx1">
                    <a:lumMod val="75000"/>
                  </a:schemeClr>
                </a:solidFill>
              </a:rPr>
              <a:t>The XmlElement class</a:t>
            </a:r>
          </a:p>
          <a:p>
            <a:r>
              <a:rPr lang="en-US">
                <a:solidFill>
                  <a:schemeClr val="tx1">
                    <a:lumMod val="75000"/>
                  </a:schemeClr>
                </a:solidFill>
              </a:rPr>
              <a:t>Reading untyped XML</a:t>
            </a:r>
          </a:p>
          <a:p>
            <a:r>
              <a:rPr lang="en-US">
                <a:solidFill>
                  <a:schemeClr val="tx1">
                    <a:lumMod val="75000"/>
                  </a:schemeClr>
                </a:solidFill>
              </a:rPr>
              <a:t>Writing untyped XML</a:t>
            </a:r>
          </a:p>
          <a:p>
            <a:r>
              <a:rPr lang="en-US">
                <a:solidFill>
                  <a:schemeClr val="tx1">
                    <a:lumMod val="75000"/>
                  </a:schemeClr>
                </a:solidFill>
              </a:rPr>
              <a:t>Working with strongly-typed XML</a:t>
            </a:r>
          </a:p>
          <a:p>
            <a:r>
              <a:rPr lang="en-US">
                <a:solidFill>
                  <a:schemeClr val="tx1">
                    <a:lumMod val="75000"/>
                  </a:schemeClr>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16727209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 LineNumbers"/>
          <p:cNvSpPr/>
          <p:nvPr/>
        </p:nvSpPr>
        <p:spPr bwMode="auto">
          <a:xfrm>
            <a:off x="762000" y="859518"/>
            <a:ext cx="457200" cy="3124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Title 2"/>
          <p:cNvSpPr>
            <a:spLocks noGrp="1"/>
          </p:cNvSpPr>
          <p:nvPr>
            <p:ph type="title"/>
          </p:nvPr>
        </p:nvSpPr>
        <p:spPr/>
        <p:txBody>
          <a:bodyPr/>
          <a:lstStyle/>
          <a:p>
            <a:r>
              <a:rPr lang="en-US">
                <a:solidFill>
                  <a:schemeClr val="accent6"/>
                </a:solidFill>
              </a:rPr>
              <a:t>XML</a:t>
            </a:r>
          </a:p>
        </p:txBody>
      </p:sp>
      <p:sp>
        <p:nvSpPr>
          <p:cNvPr id="4" name="Content Placeholder 3"/>
          <p:cNvSpPr>
            <a:spLocks noGrp="1"/>
          </p:cNvSpPr>
          <p:nvPr>
            <p:ph idx="1"/>
          </p:nvPr>
        </p:nvSpPr>
        <p:spPr>
          <a:xfrm>
            <a:off x="762000" y="4505325"/>
            <a:ext cx="8318500" cy="1981200"/>
          </a:xfrm>
        </p:spPr>
        <p:txBody>
          <a:bodyPr/>
          <a:lstStyle/>
          <a:p>
            <a:r>
              <a:rPr lang="en-US"/>
              <a:t>Extensible Markup Language (</a:t>
            </a:r>
            <a:r>
              <a:rPr lang="en-US" b="1"/>
              <a:t>XML</a:t>
            </a:r>
            <a:r>
              <a:rPr lang="en-US"/>
              <a:t>) is a </a:t>
            </a:r>
            <a:br>
              <a:rPr lang="en-US"/>
            </a:br>
            <a:r>
              <a:rPr lang="en-US"/>
              <a:t>hierarchy data structure designed </a:t>
            </a:r>
            <a:br>
              <a:rPr lang="en-US"/>
            </a:br>
            <a:r>
              <a:rPr lang="en-US"/>
              <a:t>to transport and store data</a:t>
            </a:r>
          </a:p>
          <a:p>
            <a:endParaRPr lang="en-US"/>
          </a:p>
        </p:txBody>
      </p:sp>
      <p:sp>
        <p:nvSpPr>
          <p:cNvPr id="7" name="rec Code"/>
          <p:cNvSpPr/>
          <p:nvPr/>
        </p:nvSpPr>
        <p:spPr>
          <a:xfrm>
            <a:off x="665295" y="869293"/>
            <a:ext cx="8305800" cy="3124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latin typeface="Courier New" pitchFamily="49" charset="0"/>
                <a:ea typeface="Times New Roman"/>
                <a:cs typeface="Courier New" pitchFamily="49" charset="0"/>
              </a:rPr>
              <a:t>  </a:t>
            </a:r>
            <a:r>
              <a:rPr lang="en-US" sz="1600" b="1">
                <a:solidFill>
                  <a:schemeClr val="bg1"/>
                </a:solidFill>
                <a:latin typeface="Courier New" pitchFamily="49" charset="0"/>
                <a:ea typeface="Times New Roman"/>
                <a:cs typeface="Courier New" pitchFamily="49" charset="0"/>
              </a:rPr>
              <a:t>1</a:t>
            </a:r>
            <a:r>
              <a:rPr lang="en-US" sz="1600" b="1">
                <a:latin typeface="Courier New" pitchFamily="49" charset="0"/>
                <a:ea typeface="Times New Roman"/>
                <a:cs typeface="Courier New" pitchFamily="49" charset="0"/>
              </a:rPr>
              <a:t>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&lt;config </a:t>
            </a:r>
            <a:r>
              <a:rPr lang="en-US" sz="1600" b="1" err="1">
                <a:solidFill>
                  <a:schemeClr val="bg1"/>
                </a:solidFill>
                <a:latin typeface="Courier New" pitchFamily="49" charset="0"/>
                <a:ea typeface="Times New Roman"/>
                <a:cs typeface="Courier New" pitchFamily="49" charset="0"/>
              </a:rPr>
              <a:t>xmlns</a:t>
            </a:r>
            <a:r>
              <a:rPr lang="en-US" sz="1600" b="1">
                <a:solidFill>
                  <a:schemeClr val="bg1"/>
                </a:solidFill>
                <a:latin typeface="Courier New" pitchFamily="49" charset="0"/>
                <a:ea typeface="Times New Roman"/>
                <a:cs typeface="Courier New" pitchFamily="49" charset="0"/>
              </a:rPr>
              <a:t>="http://guidewire.com/config"&gt;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3   &lt;param name="CurrencyURL" value=""&gt;http://acme.x.com&lt;/param&gt;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&lt;database name="TADatabase" dbtype="h2" autoupgrade="true"&gt;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5    &lt;param name="jdbcURL" value="jdbc:h2:file:ta/</a:t>
            </a:r>
            <a:r>
              <a:rPr lang="en-US" sz="1600" b="1" err="1">
                <a:solidFill>
                  <a:schemeClr val="bg1"/>
                </a:solidFill>
                <a:latin typeface="Courier New" pitchFamily="49" charset="0"/>
                <a:ea typeface="Times New Roman"/>
                <a:cs typeface="Courier New" pitchFamily="49" charset="0"/>
              </a:rPr>
              <a:t>db</a:t>
            </a:r>
            <a:r>
              <a:rPr lang="en-US" sz="1600" b="1">
                <a:solidFill>
                  <a:schemeClr val="bg1"/>
                </a:solidFill>
                <a:latin typeface="Courier New" pitchFamily="49" charset="0"/>
                <a:ea typeface="Times New Roman"/>
                <a:cs typeface="Courier New" pitchFamily="49" charset="0"/>
              </a:rPr>
              <a:t>/ta"/&gt;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6    &lt;param name="jdbcURLtest" value="jdbc:h2:file:ta/</a:t>
            </a:r>
            <a:r>
              <a:rPr lang="en-US" sz="1600" b="1" err="1">
                <a:solidFill>
                  <a:schemeClr val="bg1"/>
                </a:solidFill>
                <a:latin typeface="Courier New" pitchFamily="49" charset="0"/>
                <a:ea typeface="Times New Roman"/>
                <a:cs typeface="Courier New" pitchFamily="49" charset="0"/>
              </a:rPr>
              <a:t>db</a:t>
            </a:r>
            <a:r>
              <a:rPr lang="en-US" sz="1600" b="1">
                <a:solidFill>
                  <a:schemeClr val="bg1"/>
                </a:solidFill>
                <a:latin typeface="Courier New" pitchFamily="49" charset="0"/>
                <a:ea typeface="Times New Roman"/>
                <a:cs typeface="Courier New" pitchFamily="49" charset="0"/>
              </a:rPr>
              <a:t>/test"/&gt;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7    &lt;param name="stmtPool.enabled" value=" false"/&gt;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8   &lt;/database&gt;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9   &lt;security sessiontimeoutsecs="10800"/&gt; </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636  &lt;/config&gt;</a:t>
            </a:r>
            <a:endParaRPr lang="en-US" sz="1600" b="1">
              <a:solidFill>
                <a:schemeClr val="bg1"/>
              </a:solidFill>
              <a:latin typeface="Courier New" pitchFamily="49" charset="0"/>
              <a:cs typeface="Courier New" pitchFamily="49" charset="0"/>
            </a:endParaRPr>
          </a:p>
        </p:txBody>
      </p:sp>
      <p:pic>
        <p:nvPicPr>
          <p:cNvPr id="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400" y="48006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95156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XML elements</a:t>
            </a:r>
          </a:p>
        </p:txBody>
      </p:sp>
      <p:sp>
        <p:nvSpPr>
          <p:cNvPr id="3" name="Content Placeholder 2"/>
          <p:cNvSpPr>
            <a:spLocks noGrp="1"/>
          </p:cNvSpPr>
          <p:nvPr>
            <p:ph idx="1"/>
          </p:nvPr>
        </p:nvSpPr>
        <p:spPr>
          <a:xfrm>
            <a:off x="665295" y="3200400"/>
            <a:ext cx="8318500" cy="3200400"/>
          </a:xfrm>
        </p:spPr>
        <p:txBody>
          <a:bodyPr/>
          <a:lstStyle/>
          <a:p>
            <a:r>
              <a:rPr lang="en-US"/>
              <a:t>XML elements have:</a:t>
            </a:r>
          </a:p>
          <a:p>
            <a:pPr lvl="1"/>
            <a:r>
              <a:rPr lang="en-US"/>
              <a:t>A case sensitive name</a:t>
            </a:r>
          </a:p>
          <a:p>
            <a:pPr lvl="1"/>
            <a:r>
              <a:rPr lang="en-US"/>
              <a:t>An opening and closing declaration</a:t>
            </a:r>
          </a:p>
          <a:p>
            <a:pPr lvl="1"/>
            <a:r>
              <a:rPr lang="en-US"/>
              <a:t>One or more optional attribute name/value pairs</a:t>
            </a:r>
          </a:p>
          <a:p>
            <a:r>
              <a:rPr lang="en-US"/>
              <a:t>Contents can be Empty, have Text, and/or Child elements</a:t>
            </a:r>
          </a:p>
          <a:p>
            <a:pPr lvl="1"/>
            <a:r>
              <a:rPr lang="en-US"/>
              <a:t>Line 3 is Text</a:t>
            </a:r>
          </a:p>
          <a:p>
            <a:pPr lvl="1"/>
            <a:r>
              <a:rPr lang="en-US"/>
              <a:t>Line 4 is Children (5-7)</a:t>
            </a:r>
          </a:p>
          <a:p>
            <a:pPr lvl="1"/>
            <a:r>
              <a:rPr lang="en-US"/>
              <a:t>Line 10 is Empty</a:t>
            </a:r>
          </a:p>
        </p:txBody>
      </p:sp>
      <p:sp>
        <p:nvSpPr>
          <p:cNvPr id="8" name="rec LineNumbers"/>
          <p:cNvSpPr/>
          <p:nvPr/>
        </p:nvSpPr>
        <p:spPr bwMode="auto">
          <a:xfrm>
            <a:off x="658368" y="914400"/>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rec Code"/>
          <p:cNvSpPr/>
          <p:nvPr/>
        </p:nvSpPr>
        <p:spPr>
          <a:xfrm>
            <a:off x="519245" y="966975"/>
            <a:ext cx="8610600" cy="1981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pitchFamily="49" charset="0"/>
                <a:ea typeface="Times New Roman"/>
                <a:cs typeface="Courier New" pitchFamily="49" charset="0"/>
              </a:rPr>
              <a:t> </a:t>
            </a:r>
            <a:r>
              <a:rPr lang="en-US" sz="1600" b="1">
                <a:solidFill>
                  <a:schemeClr val="bg1"/>
                </a:solidFill>
                <a:latin typeface="Courier New" pitchFamily="49" charset="0"/>
                <a:ea typeface="Times New Roman"/>
                <a:cs typeface="Courier New" pitchFamily="49" charset="0"/>
              </a:rPr>
              <a:t>…3   &lt;param name="CurrencyURL" value=""&gt;http://acme.x.com&lt;/param&gt;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&lt;database name="TADatabase" dbtype="h2" autoupgrade="true"&gt;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5    &lt;param name="jdbcURL" value="jdbc:h2:file:ta/</a:t>
            </a:r>
            <a:r>
              <a:rPr lang="en-US" sz="1600" b="1" err="1">
                <a:solidFill>
                  <a:schemeClr val="bg1"/>
                </a:solidFill>
                <a:latin typeface="Courier New" pitchFamily="49" charset="0"/>
                <a:ea typeface="Times New Roman"/>
                <a:cs typeface="Courier New" pitchFamily="49" charset="0"/>
              </a:rPr>
              <a:t>db</a:t>
            </a:r>
            <a:r>
              <a:rPr lang="en-US" sz="1600" b="1">
                <a:solidFill>
                  <a:schemeClr val="bg1"/>
                </a:solidFill>
                <a:latin typeface="Courier New" pitchFamily="49" charset="0"/>
                <a:ea typeface="Times New Roman"/>
                <a:cs typeface="Courier New" pitchFamily="49" charset="0"/>
              </a:rPr>
              <a:t>/ta"/&gt;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6    &lt;param name="jdbcURLtest" value="jdbc:h2:file:ta/</a:t>
            </a:r>
            <a:r>
              <a:rPr lang="en-US" sz="1600" b="1" err="1">
                <a:solidFill>
                  <a:schemeClr val="bg1"/>
                </a:solidFill>
                <a:latin typeface="Courier New" pitchFamily="49" charset="0"/>
                <a:ea typeface="Times New Roman"/>
                <a:cs typeface="Courier New" pitchFamily="49" charset="0"/>
              </a:rPr>
              <a:t>db</a:t>
            </a:r>
            <a:r>
              <a:rPr lang="en-US" sz="1600" b="1">
                <a:solidFill>
                  <a:schemeClr val="bg1"/>
                </a:solidFill>
                <a:latin typeface="Courier New" pitchFamily="49" charset="0"/>
                <a:ea typeface="Times New Roman"/>
                <a:cs typeface="Courier New" pitchFamily="49" charset="0"/>
              </a:rPr>
              <a:t>/test"/&gt;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7    &lt;param name="stmtPool.enabled" value=" false"/&gt;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8   &lt;/database&gt;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10   &lt;security sessiontimeoutsecs="10800"/&gt; </a:t>
            </a:r>
            <a:endParaRPr lang="en-US" sz="1600" b="1">
              <a:solidFill>
                <a:schemeClr val="bg1"/>
              </a:solidFill>
              <a:latin typeface="Courier New" pitchFamily="49" charset="0"/>
              <a:ea typeface="Calibri"/>
              <a:cs typeface="Courier New" pitchFamily="49" charset="0"/>
            </a:endParaRPr>
          </a:p>
        </p:txBody>
      </p:sp>
    </p:spTree>
    <p:extLst>
      <p:ext uri="{BB962C8B-B14F-4D97-AF65-F5344CB8AC3E}">
        <p14:creationId xmlns:p14="http://schemas.microsoft.com/office/powerpoint/2010/main" val="29647596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XML namespaces</a:t>
            </a:r>
          </a:p>
        </p:txBody>
      </p:sp>
      <p:sp>
        <p:nvSpPr>
          <p:cNvPr id="3" name="Content Placeholder 2"/>
          <p:cNvSpPr>
            <a:spLocks noGrp="1"/>
          </p:cNvSpPr>
          <p:nvPr>
            <p:ph idx="1"/>
          </p:nvPr>
        </p:nvSpPr>
        <p:spPr>
          <a:xfrm>
            <a:off x="658368" y="2613891"/>
            <a:ext cx="8318500" cy="3810000"/>
          </a:xfrm>
        </p:spPr>
        <p:txBody>
          <a:bodyPr/>
          <a:lstStyle/>
          <a:p>
            <a:r>
              <a:rPr lang="en-US"/>
              <a:t>An </a:t>
            </a:r>
            <a:r>
              <a:rPr lang="en-US" b="1"/>
              <a:t>XML namespace </a:t>
            </a:r>
            <a:r>
              <a:rPr lang="en-US"/>
              <a:t>uniquely identifies one set of element and element attribute definitions</a:t>
            </a:r>
          </a:p>
          <a:p>
            <a:r>
              <a:rPr lang="en-US"/>
              <a:t>Provides way to avoid element name conflicts among multiples namespaces</a:t>
            </a:r>
          </a:p>
          <a:p>
            <a:r>
              <a:rPr lang="en-US"/>
              <a:t>Namespace prefix helps identify which definition to use when multiple definitions exist </a:t>
            </a:r>
          </a:p>
          <a:p>
            <a:r>
              <a:rPr lang="en-US"/>
              <a:t>Example:</a:t>
            </a:r>
          </a:p>
          <a:p>
            <a:pPr lvl="1"/>
            <a:r>
              <a:rPr lang="en-US" err="1"/>
              <a:t>xmlns:ta</a:t>
            </a:r>
            <a:r>
              <a:rPr lang="en-US"/>
              <a:t> defines the element prefix  </a:t>
            </a:r>
            <a:r>
              <a:rPr lang="en-US" b="1">
                <a:latin typeface="Courier New" pitchFamily="49" charset="0"/>
                <a:cs typeface="Courier New" pitchFamily="49" charset="0"/>
              </a:rPr>
              <a:t>&lt;</a:t>
            </a:r>
            <a:r>
              <a:rPr lang="en-US" b="1" err="1">
                <a:latin typeface="Courier New" pitchFamily="49" charset="0"/>
                <a:cs typeface="Courier New" pitchFamily="49" charset="0"/>
              </a:rPr>
              <a:t>ta:</a:t>
            </a:r>
            <a:r>
              <a:rPr lang="en-US" b="1" i="1" err="1">
                <a:latin typeface="Courier New" pitchFamily="49" charset="0"/>
                <a:cs typeface="Courier New" pitchFamily="49" charset="0"/>
              </a:rPr>
              <a:t>elementName</a:t>
            </a:r>
            <a:r>
              <a:rPr lang="en-US" b="1">
                <a:latin typeface="Courier New" pitchFamily="49" charset="0"/>
                <a:cs typeface="Courier New" pitchFamily="49" charset="0"/>
              </a:rPr>
              <a:t>/&gt;</a:t>
            </a:r>
          </a:p>
        </p:txBody>
      </p:sp>
      <p:sp>
        <p:nvSpPr>
          <p:cNvPr id="4" name="rec LineNumbers"/>
          <p:cNvSpPr/>
          <p:nvPr/>
        </p:nvSpPr>
        <p:spPr bwMode="auto">
          <a:xfrm>
            <a:off x="658368" y="914400"/>
            <a:ext cx="457200" cy="14478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 Code"/>
          <p:cNvSpPr/>
          <p:nvPr/>
        </p:nvSpPr>
        <p:spPr>
          <a:xfrm>
            <a:off x="609600" y="1013959"/>
            <a:ext cx="8305800" cy="14477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&lt;config </a:t>
            </a:r>
            <a:r>
              <a:rPr lang="en-US" sz="1600" b="1" err="1">
                <a:solidFill>
                  <a:schemeClr val="bg1"/>
                </a:solidFill>
                <a:latin typeface="Courier New" pitchFamily="49" charset="0"/>
                <a:ea typeface="Times New Roman"/>
                <a:cs typeface="Courier New" pitchFamily="49" charset="0"/>
              </a:rPr>
              <a:t>xmlns</a:t>
            </a:r>
            <a:r>
              <a:rPr lang="en-US" sz="1600" b="1">
                <a:solidFill>
                  <a:schemeClr val="bg1"/>
                </a:solidFill>
                <a:latin typeface="Courier New" pitchFamily="49" charset="0"/>
                <a:ea typeface="Times New Roman"/>
                <a:cs typeface="Courier New" pitchFamily="49" charset="0"/>
              </a:rPr>
              <a:t>="http://guidewire.com/config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a:t>
            </a:r>
            <a:r>
              <a:rPr lang="en-US" sz="1600" b="1" err="1">
                <a:solidFill>
                  <a:schemeClr val="bg1"/>
                </a:solidFill>
                <a:latin typeface="Courier New" pitchFamily="49" charset="0"/>
                <a:ea typeface="Times New Roman"/>
                <a:cs typeface="Courier New" pitchFamily="49" charset="0"/>
              </a:rPr>
              <a:t>xmlns:ta</a:t>
            </a:r>
            <a:r>
              <a:rPr lang="en-US" sz="1600" b="1">
                <a:solidFill>
                  <a:schemeClr val="bg1"/>
                </a:solidFill>
                <a:latin typeface="Courier New" pitchFamily="49" charset="0"/>
                <a:ea typeface="Times New Roman"/>
                <a:cs typeface="Courier New" pitchFamily="49" charset="0"/>
              </a:rPr>
              <a:t>="http://guidewire.com/</a:t>
            </a:r>
            <a:r>
              <a:rPr lang="en-US" sz="1600" b="1" err="1">
                <a:solidFill>
                  <a:schemeClr val="bg1"/>
                </a:solidFill>
                <a:latin typeface="Courier New" pitchFamily="49" charset="0"/>
                <a:ea typeface="Times New Roman"/>
                <a:cs typeface="Courier New" pitchFamily="49" charset="0"/>
              </a:rPr>
              <a:t>configTA</a:t>
            </a:r>
            <a:r>
              <a:rPr lang="en-US" sz="1600" b="1">
                <a:solidFill>
                  <a:schemeClr val="bg1"/>
                </a:solidFill>
                <a:latin typeface="Courier New" pitchFamily="49" charset="0"/>
                <a:ea typeface="Times New Roman"/>
                <a:cs typeface="Courier New" pitchFamily="49" charset="0"/>
              </a:rPr>
              <a:t>"&gt; </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636  &lt;/config&gt;</a:t>
            </a:r>
            <a:endParaRPr lang="en-US" sz="1600" b="1">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2350420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rec LineNumbers"/>
          <p:cNvSpPr/>
          <p:nvPr/>
        </p:nvSpPr>
        <p:spPr bwMode="auto">
          <a:xfrm>
            <a:off x="762000" y="914400"/>
            <a:ext cx="457200" cy="313372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err="1">
                <a:solidFill>
                  <a:schemeClr val="accent6"/>
                </a:solidFill>
              </a:rPr>
              <a:t>XSDs</a:t>
            </a:r>
            <a:endParaRPr lang="en-US">
              <a:solidFill>
                <a:schemeClr val="accent6"/>
              </a:solidFill>
            </a:endParaRPr>
          </a:p>
        </p:txBody>
      </p:sp>
      <p:sp>
        <p:nvSpPr>
          <p:cNvPr id="3" name="Content Placeholder 2"/>
          <p:cNvSpPr>
            <a:spLocks noGrp="1"/>
          </p:cNvSpPr>
          <p:nvPr>
            <p:ph idx="1"/>
          </p:nvPr>
        </p:nvSpPr>
        <p:spPr>
          <a:xfrm>
            <a:off x="762000" y="4419600"/>
            <a:ext cx="8318500" cy="1981200"/>
          </a:xfrm>
        </p:spPr>
        <p:txBody>
          <a:bodyPr/>
          <a:lstStyle/>
          <a:p>
            <a:r>
              <a:rPr lang="en-US"/>
              <a:t>An XSD (XML Schema Document) describes </a:t>
            </a:r>
            <a:br>
              <a:rPr lang="en-US"/>
            </a:br>
            <a:r>
              <a:rPr lang="en-US"/>
              <a:t>the structure for elements in one or more </a:t>
            </a:r>
            <a:br>
              <a:rPr lang="en-US"/>
            </a:br>
            <a:r>
              <a:rPr lang="en-US"/>
              <a:t>XML documents</a:t>
            </a:r>
          </a:p>
          <a:p>
            <a:pPr lvl="1"/>
            <a:r>
              <a:rPr lang="en-US"/>
              <a:t>Informs how a XML document can be structured</a:t>
            </a:r>
          </a:p>
          <a:p>
            <a:pPr lvl="1"/>
            <a:r>
              <a:rPr lang="en-US"/>
              <a:t>Used to validate the structure of a document</a:t>
            </a:r>
          </a:p>
          <a:p>
            <a:endParaRPr lang="en-US"/>
          </a:p>
        </p:txBody>
      </p:sp>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400" y="48006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79150" y="914400"/>
            <a:ext cx="8305800" cy="3133726"/>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 encoding="UTF-8"</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a:t>
            </a:r>
            <a:r>
              <a:rPr lang="en-US" sz="1600" b="1" err="1">
                <a:solidFill>
                  <a:schemeClr val="bg1"/>
                </a:solidFill>
                <a:latin typeface="Courier New" pitchFamily="49" charset="0"/>
                <a:ea typeface="Times New Roman"/>
                <a:cs typeface="Courier New" pitchFamily="49" charset="0"/>
              </a:rPr>
              <a:t>xsd:schema</a:t>
            </a:r>
            <a:r>
              <a:rPr lang="en-US" sz="1600" b="1">
                <a:solidFill>
                  <a:schemeClr val="bg1"/>
                </a:solidFill>
                <a:latin typeface="Courier New" pitchFamily="49" charset="0"/>
                <a:ea typeface="Times New Roman"/>
                <a:cs typeface="Courier New" pitchFamily="49" charset="0"/>
              </a:rPr>
              <a:t> </a:t>
            </a:r>
            <a:r>
              <a:rPr lang="en-US" sz="1600" b="1" err="1">
                <a:solidFill>
                  <a:schemeClr val="bg1"/>
                </a:solidFill>
                <a:latin typeface="Courier New" pitchFamily="49" charset="0"/>
                <a:ea typeface="Times New Roman"/>
                <a:cs typeface="Courier New" pitchFamily="49" charset="0"/>
              </a:rPr>
              <a:t>xmlns:xsd</a:t>
            </a:r>
            <a:r>
              <a:rPr lang="en-US" sz="1600" b="1">
                <a:solidFill>
                  <a:schemeClr val="bg1"/>
                </a:solidFill>
                <a:latin typeface="Courier New" pitchFamily="49" charset="0"/>
                <a:ea typeface="Times New Roman"/>
                <a:cs typeface="Courier New" pitchFamily="49" charset="0"/>
              </a:rPr>
              <a:t>="http://www.w3.org/2001/XMLSchema" … &gt;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a:t>
            </a:r>
            <a:r>
              <a:rPr lang="en-US" sz="1600" b="1" err="1">
                <a:solidFill>
                  <a:schemeClr val="bg1"/>
                </a:solidFill>
                <a:latin typeface="Courier New" pitchFamily="49" charset="0"/>
                <a:ea typeface="Times New Roman"/>
                <a:cs typeface="Courier New" pitchFamily="49" charset="0"/>
              </a:rPr>
              <a:t>xsd:element</a:t>
            </a:r>
            <a:r>
              <a:rPr lang="en-US" sz="1600" b="1">
                <a:solidFill>
                  <a:schemeClr val="bg1"/>
                </a:solidFill>
                <a:latin typeface="Courier New" pitchFamily="49" charset="0"/>
                <a:ea typeface="Times New Roman"/>
                <a:cs typeface="Courier New" pitchFamily="49" charset="0"/>
              </a:rPr>
              <a:t> name="config" &gt; </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5    &lt;</a:t>
            </a:r>
            <a:r>
              <a:rPr lang="en-US" sz="1600" b="1" err="1">
                <a:solidFill>
                  <a:schemeClr val="bg1"/>
                </a:solidFill>
                <a:latin typeface="Courier New" pitchFamily="49" charset="0"/>
                <a:ea typeface="Times New Roman"/>
                <a:cs typeface="Courier New" pitchFamily="49" charset="0"/>
              </a:rPr>
              <a:t>xsd:complexType</a:t>
            </a:r>
            <a:r>
              <a:rPr lang="en-US" sz="1600" b="1">
                <a:solidFill>
                  <a:schemeClr val="bg1"/>
                </a:solidFill>
                <a:latin typeface="Courier New" pitchFamily="49" charset="0"/>
                <a:ea typeface="Times New Roman"/>
                <a:cs typeface="Courier New" pitchFamily="49" charset="0"/>
              </a:rPr>
              <a:t>&gt; </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6     &lt;</a:t>
            </a:r>
            <a:r>
              <a:rPr lang="en-US" sz="1600" b="1" err="1">
                <a:solidFill>
                  <a:schemeClr val="bg1"/>
                </a:solidFill>
                <a:latin typeface="Courier New" pitchFamily="49" charset="0"/>
                <a:ea typeface="Times New Roman"/>
                <a:cs typeface="Courier New" pitchFamily="49" charset="0"/>
              </a:rPr>
              <a:t>xsd:choice</a:t>
            </a:r>
            <a:r>
              <a:rPr lang="en-US" sz="1600" b="1">
                <a:solidFill>
                  <a:schemeClr val="bg1"/>
                </a:solidFill>
                <a:latin typeface="Courier New" pitchFamily="49" charset="0"/>
                <a:ea typeface="Times New Roman"/>
                <a:cs typeface="Courier New" pitchFamily="49" charset="0"/>
              </a:rPr>
              <a:t> </a:t>
            </a:r>
            <a:r>
              <a:rPr lang="en-US" sz="1600" b="1" err="1">
                <a:solidFill>
                  <a:schemeClr val="bg1"/>
                </a:solidFill>
                <a:latin typeface="Courier New" pitchFamily="49" charset="0"/>
                <a:ea typeface="Times New Roman"/>
                <a:cs typeface="Courier New" pitchFamily="49" charset="0"/>
              </a:rPr>
              <a:t>minOccurs</a:t>
            </a:r>
            <a:r>
              <a:rPr lang="en-US" sz="1600" b="1">
                <a:solidFill>
                  <a:schemeClr val="bg1"/>
                </a:solidFill>
                <a:latin typeface="Courier New" pitchFamily="49" charset="0"/>
                <a:ea typeface="Times New Roman"/>
                <a:cs typeface="Courier New" pitchFamily="49" charset="0"/>
              </a:rPr>
              <a:t>="1" </a:t>
            </a:r>
            <a:r>
              <a:rPr lang="en-US" sz="1600" b="1" err="1">
                <a:solidFill>
                  <a:schemeClr val="bg1"/>
                </a:solidFill>
                <a:latin typeface="Courier New" pitchFamily="49" charset="0"/>
                <a:ea typeface="Times New Roman"/>
                <a:cs typeface="Courier New" pitchFamily="49" charset="0"/>
              </a:rPr>
              <a:t>maxOccurs</a:t>
            </a:r>
            <a:r>
              <a:rPr lang="en-US" sz="1600" b="1">
                <a:solidFill>
                  <a:schemeClr val="bg1"/>
                </a:solidFill>
                <a:latin typeface="Courier New" pitchFamily="49" charset="0"/>
                <a:ea typeface="Times New Roman"/>
                <a:cs typeface="Courier New" pitchFamily="49" charset="0"/>
              </a:rPr>
              <a:t>="unbounded"&gt; </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…8      &lt;</a:t>
            </a:r>
            <a:r>
              <a:rPr lang="en-US" sz="1600" b="1" err="1">
                <a:solidFill>
                  <a:schemeClr val="bg1"/>
                </a:solidFill>
                <a:latin typeface="Courier New" pitchFamily="49" charset="0"/>
                <a:ea typeface="Times New Roman"/>
                <a:cs typeface="Courier New" pitchFamily="49" charset="0"/>
              </a:rPr>
              <a:t>xsd:element</a:t>
            </a:r>
            <a:r>
              <a:rPr lang="en-US" sz="1600" b="1">
                <a:solidFill>
                  <a:schemeClr val="bg1"/>
                </a:solidFill>
                <a:latin typeface="Courier New" pitchFamily="49" charset="0"/>
                <a:ea typeface="Times New Roman"/>
                <a:cs typeface="Courier New" pitchFamily="49" charset="0"/>
              </a:rPr>
              <a:t> name="param" </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a:t>
            </a:r>
            <a:r>
              <a:rPr lang="en-US" sz="1600" b="1" err="1">
                <a:solidFill>
                  <a:schemeClr val="bg1"/>
                </a:solidFill>
                <a:latin typeface="Courier New" pitchFamily="49" charset="0"/>
                <a:ea typeface="Times New Roman"/>
                <a:cs typeface="Courier New" pitchFamily="49" charset="0"/>
              </a:rPr>
              <a:t>minOccurs</a:t>
            </a:r>
            <a:r>
              <a:rPr lang="en-US" sz="1600" b="1">
                <a:solidFill>
                  <a:schemeClr val="bg1"/>
                </a:solidFill>
                <a:latin typeface="Courier New" pitchFamily="49" charset="0"/>
                <a:ea typeface="Times New Roman"/>
                <a:cs typeface="Courier New" pitchFamily="49" charset="0"/>
              </a:rPr>
              <a:t>="0" </a:t>
            </a:r>
            <a:r>
              <a:rPr lang="en-US" sz="1600" b="1" err="1">
                <a:solidFill>
                  <a:schemeClr val="bg1"/>
                </a:solidFill>
                <a:latin typeface="Courier New" pitchFamily="49" charset="0"/>
                <a:ea typeface="Times New Roman"/>
                <a:cs typeface="Courier New" pitchFamily="49" charset="0"/>
              </a:rPr>
              <a:t>maxOccurs</a:t>
            </a:r>
            <a:r>
              <a:rPr lang="en-US" sz="1600" b="1">
                <a:solidFill>
                  <a:schemeClr val="bg1"/>
                </a:solidFill>
                <a:latin typeface="Courier New" pitchFamily="49" charset="0"/>
                <a:ea typeface="Times New Roman"/>
                <a:cs typeface="Courier New" pitchFamily="49" charset="0"/>
              </a:rPr>
              <a:t>="unbounded"/&gt;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12     &lt;/</a:t>
            </a:r>
            <a:r>
              <a:rPr lang="en-US" sz="1600" b="1" err="1">
                <a:solidFill>
                  <a:schemeClr val="bg1"/>
                </a:solidFill>
                <a:latin typeface="Courier New" pitchFamily="49" charset="0"/>
                <a:ea typeface="Times New Roman"/>
                <a:cs typeface="Courier New" pitchFamily="49" charset="0"/>
              </a:rPr>
              <a:t>xsd:choice</a:t>
            </a:r>
            <a:r>
              <a:rPr lang="en-US" sz="1600" b="1">
                <a:solidFill>
                  <a:schemeClr val="bg1"/>
                </a:solidFill>
                <a:latin typeface="Courier New" pitchFamily="49" charset="0"/>
                <a:ea typeface="Times New Roman"/>
                <a:cs typeface="Courier New" pitchFamily="49" charset="0"/>
              </a:rPr>
              <a:t>&gt; </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13    &lt;/</a:t>
            </a:r>
            <a:r>
              <a:rPr lang="en-US" sz="1600" b="1" err="1">
                <a:solidFill>
                  <a:schemeClr val="bg1"/>
                </a:solidFill>
                <a:latin typeface="Courier New" pitchFamily="49" charset="0"/>
                <a:ea typeface="Times New Roman"/>
                <a:cs typeface="Courier New" pitchFamily="49" charset="0"/>
              </a:rPr>
              <a:t>xsd:complexType</a:t>
            </a:r>
            <a:r>
              <a:rPr lang="en-US" sz="1600" b="1">
                <a:solidFill>
                  <a:schemeClr val="bg1"/>
                </a:solidFill>
                <a:latin typeface="Courier New" pitchFamily="49" charset="0"/>
                <a:ea typeface="Times New Roman"/>
                <a:cs typeface="Courier New" pitchFamily="49" charset="0"/>
              </a:rPr>
              <a:t>&gt; </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14   &lt;/</a:t>
            </a:r>
            <a:r>
              <a:rPr lang="en-US" sz="1600" b="1" err="1">
                <a:solidFill>
                  <a:schemeClr val="bg1"/>
                </a:solidFill>
                <a:latin typeface="Courier New" pitchFamily="49" charset="0"/>
                <a:ea typeface="Times New Roman"/>
                <a:cs typeface="Courier New" pitchFamily="49" charset="0"/>
              </a:rPr>
              <a:t>xsd:element</a:t>
            </a:r>
            <a:r>
              <a:rPr lang="en-US" sz="1600" b="1">
                <a:solidFill>
                  <a:schemeClr val="bg1"/>
                </a:solidFill>
                <a:latin typeface="Courier New" pitchFamily="49" charset="0"/>
                <a:ea typeface="Times New Roman"/>
                <a:cs typeface="Courier New" pitchFamily="49" charset="0"/>
              </a:rPr>
              <a:t>&gt;</a:t>
            </a:r>
            <a:endParaRPr lang="en-US" sz="1600">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…90  &lt;</a:t>
            </a:r>
            <a:r>
              <a:rPr lang="en-US" sz="1600" b="1" err="1">
                <a:solidFill>
                  <a:schemeClr val="bg1"/>
                </a:solidFill>
                <a:latin typeface="Courier New" pitchFamily="49" charset="0"/>
                <a:ea typeface="Times New Roman"/>
                <a:cs typeface="Courier New" pitchFamily="49" charset="0"/>
              </a:rPr>
              <a:t>xsd:schema</a:t>
            </a:r>
            <a:r>
              <a:rPr lang="en-US" sz="1600" b="1">
                <a:solidFill>
                  <a:schemeClr val="bg1"/>
                </a:solidFill>
                <a:latin typeface="Courier New" pitchFamily="49" charset="0"/>
                <a:ea typeface="Times New Roman"/>
                <a:cs typeface="Courier New" pitchFamily="49" charset="0"/>
              </a:rPr>
              <a:t>/&gt;</a:t>
            </a:r>
            <a:endParaRPr lang="en-US" sz="160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7547629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Untyped and strongly typed XML</a:t>
            </a:r>
          </a:p>
        </p:txBody>
      </p:sp>
      <p:sp>
        <p:nvSpPr>
          <p:cNvPr id="5" name="Subtitle 4"/>
          <p:cNvSpPr>
            <a:spLocks noGrp="1"/>
          </p:cNvSpPr>
          <p:nvPr>
            <p:ph type="subTitle" idx="10"/>
          </p:nvPr>
        </p:nvSpPr>
        <p:spPr/>
        <p:txBody>
          <a:bodyPr/>
          <a:lstStyle/>
          <a:p>
            <a:r>
              <a:rPr lang="en-US"/>
              <a:t>Untyped</a:t>
            </a:r>
          </a:p>
        </p:txBody>
      </p:sp>
      <p:sp>
        <p:nvSpPr>
          <p:cNvPr id="6" name="Text Placeholder 5"/>
          <p:cNvSpPr>
            <a:spLocks noGrp="1"/>
          </p:cNvSpPr>
          <p:nvPr>
            <p:ph type="body" sz="quarter" idx="11"/>
          </p:nvPr>
        </p:nvSpPr>
        <p:spPr/>
        <p:txBody>
          <a:bodyPr/>
          <a:lstStyle/>
          <a:p>
            <a:r>
              <a:rPr lang="en-US"/>
              <a:t>Strongly typed</a:t>
            </a:r>
          </a:p>
        </p:txBody>
      </p:sp>
      <p:sp>
        <p:nvSpPr>
          <p:cNvPr id="4" name="Content Placeholder 3"/>
          <p:cNvSpPr>
            <a:spLocks noGrp="1"/>
          </p:cNvSpPr>
          <p:nvPr>
            <p:ph sz="half" idx="2"/>
          </p:nvPr>
        </p:nvSpPr>
        <p:spPr/>
        <p:txBody>
          <a:bodyPr/>
          <a:lstStyle/>
          <a:p>
            <a:r>
              <a:rPr lang="en-US"/>
              <a:t>If an existing XSD validates and informs the XML, then the parsed XML is strongly typed</a:t>
            </a:r>
          </a:p>
          <a:p>
            <a:endParaRPr lang="en-US"/>
          </a:p>
        </p:txBody>
      </p:sp>
      <p:sp>
        <p:nvSpPr>
          <p:cNvPr id="3" name="Content Placeholder 2"/>
          <p:cNvSpPr>
            <a:spLocks noGrp="1"/>
          </p:cNvSpPr>
          <p:nvPr>
            <p:ph sz="half" idx="1"/>
          </p:nvPr>
        </p:nvSpPr>
        <p:spPr/>
        <p:txBody>
          <a:bodyPr/>
          <a:lstStyle/>
          <a:p>
            <a:r>
              <a:rPr lang="en-US"/>
              <a:t>If no XSD exists, then the parsed XML is untyped</a:t>
            </a:r>
          </a:p>
          <a:p>
            <a:endParaRPr lang="en-US"/>
          </a:p>
        </p:txBody>
      </p:sp>
      <p:pic>
        <p:nvPicPr>
          <p:cNvPr id="7" name="icn XML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3025"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8450"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cn X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Plus 10"/>
          <p:cNvSpPr/>
          <p:nvPr/>
        </p:nvSpPr>
        <p:spPr bwMode="auto">
          <a:xfrm>
            <a:off x="7877176" y="4940301"/>
            <a:ext cx="1057275" cy="1057275"/>
          </a:xfrm>
          <a:prstGeom prst="mathPlus">
            <a:avLst/>
          </a:prstGeom>
          <a:ln>
            <a:headEnd/>
            <a:tailEnd/>
          </a:ln>
          <a:effectLst>
            <a:glow rad="63500">
              <a:schemeClr val="dk1">
                <a:alpha val="45000"/>
                <a:satMod val="120000"/>
              </a:schemeClr>
            </a:glow>
            <a:outerShdw blurRad="50800" dist="38100" dir="2700000" algn="tl"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0897448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166050"/>
            <a:ext cx="11094720" cy="742951"/>
          </a:xfrm>
        </p:spPr>
        <p:txBody>
          <a:bodyPr/>
          <a:lstStyle/>
          <a:p>
            <a:r>
              <a:rPr lang="en-US">
                <a:solidFill>
                  <a:schemeClr val="accent6"/>
                </a:solidFill>
              </a:rPr>
              <a:t>Serialization</a:t>
            </a:r>
          </a:p>
        </p:txBody>
      </p:sp>
      <p:sp>
        <p:nvSpPr>
          <p:cNvPr id="3" name="Content Placeholder 2"/>
          <p:cNvSpPr>
            <a:spLocks noGrp="1"/>
          </p:cNvSpPr>
          <p:nvPr>
            <p:ph idx="1"/>
          </p:nvPr>
        </p:nvSpPr>
        <p:spPr>
          <a:xfrm>
            <a:off x="658368" y="3352800"/>
            <a:ext cx="8318500" cy="2971800"/>
          </a:xfrm>
        </p:spPr>
        <p:txBody>
          <a:bodyPr/>
          <a:lstStyle/>
          <a:p>
            <a:r>
              <a:rPr lang="en-US"/>
              <a:t>XML serialization converts XML elements into a sequence of bits to be later deserialized</a:t>
            </a:r>
          </a:p>
          <a:p>
            <a:r>
              <a:rPr lang="en-US"/>
              <a:t>Serialization logic can be complex for certain data types such as hexadecimal values or images</a:t>
            </a:r>
          </a:p>
          <a:p>
            <a:endParaRPr lang="en-US"/>
          </a:p>
        </p:txBody>
      </p:sp>
      <p:pic>
        <p:nvPicPr>
          <p:cNvPr id="11" name="icn XML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915193"/>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arw Serailization"/>
          <p:cNvSpPr/>
          <p:nvPr/>
        </p:nvSpPr>
        <p:spPr bwMode="auto">
          <a:xfrm>
            <a:off x="3352800" y="1387473"/>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a:solidFill>
                  <a:schemeClr val="bg1"/>
                </a:solidFill>
                <a:latin typeface="Arial" pitchFamily="32" charset="0"/>
                <a:cs typeface="Arial" pitchFamily="32" charset="0"/>
              </a:rPr>
              <a:t>serialization</a:t>
            </a:r>
          </a:p>
        </p:txBody>
      </p:sp>
      <p:sp>
        <p:nvSpPr>
          <p:cNvPr id="13" name="arw Deserialization"/>
          <p:cNvSpPr/>
          <p:nvPr/>
        </p:nvSpPr>
        <p:spPr bwMode="auto">
          <a:xfrm>
            <a:off x="6781800" y="1387472"/>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a:solidFill>
                  <a:schemeClr val="bg1"/>
                </a:solidFill>
                <a:latin typeface="Arial" pitchFamily="32" charset="0"/>
                <a:cs typeface="Arial" pitchFamily="32" charset="0"/>
              </a:rPr>
              <a:t>deserialization</a:t>
            </a:r>
          </a:p>
        </p:txBody>
      </p:sp>
      <p:pic>
        <p:nvPicPr>
          <p:cNvPr id="14" name="icn XML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9850"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xt Serialization"/>
          <p:cNvSpPr txBox="1"/>
          <p:nvPr/>
        </p:nvSpPr>
        <p:spPr>
          <a:xfrm>
            <a:off x="5486400" y="1114425"/>
            <a:ext cx="1409700" cy="1143000"/>
          </a:xfrm>
          <a:prstGeom prst="rect">
            <a:avLst/>
          </a:prstGeom>
          <a:noFill/>
        </p:spPr>
        <p:txBody>
          <a:bodyPr wrap="square" rtlCol="0">
            <a:noAutofit/>
          </a:bodyPr>
          <a:lstStyle/>
          <a:p>
            <a:r>
              <a:rPr lang="en-US" b="1">
                <a:solidFill>
                  <a:srgbClr val="FF0000"/>
                </a:solidFill>
                <a:latin typeface="Courier New" pitchFamily="49" charset="0"/>
                <a:cs typeface="Courier New" pitchFamily="49" charset="0"/>
              </a:rPr>
              <a:t>01010010</a:t>
            </a:r>
            <a:br>
              <a:rPr lang="en-US" b="1">
                <a:solidFill>
                  <a:srgbClr val="FF0000"/>
                </a:solidFill>
                <a:latin typeface="Courier New" pitchFamily="49" charset="0"/>
                <a:cs typeface="Courier New" pitchFamily="49" charset="0"/>
              </a:rPr>
            </a:br>
            <a:r>
              <a:rPr lang="en-US" b="1">
                <a:solidFill>
                  <a:srgbClr val="FF0000"/>
                </a:solidFill>
                <a:latin typeface="Courier New" pitchFamily="49" charset="0"/>
                <a:cs typeface="Courier New" pitchFamily="49" charset="0"/>
              </a:rPr>
              <a:t>01011010</a:t>
            </a:r>
            <a:br>
              <a:rPr lang="en-US" b="1">
                <a:solidFill>
                  <a:srgbClr val="FF0000"/>
                </a:solidFill>
                <a:latin typeface="Courier New" pitchFamily="49" charset="0"/>
                <a:cs typeface="Courier New" pitchFamily="49" charset="0"/>
              </a:rPr>
            </a:br>
            <a:r>
              <a:rPr lang="en-US" b="1">
                <a:solidFill>
                  <a:srgbClr val="FF0000"/>
                </a:solidFill>
                <a:latin typeface="Courier New" pitchFamily="49" charset="0"/>
                <a:cs typeface="Courier New" pitchFamily="49" charset="0"/>
              </a:rPr>
              <a:t>11001001</a:t>
            </a:r>
          </a:p>
          <a:p>
            <a:r>
              <a:rPr lang="en-US" b="1">
                <a:solidFill>
                  <a:srgbClr val="FF0000"/>
                </a:solidFill>
                <a:latin typeface="Courier New" pitchFamily="49" charset="0"/>
                <a:cs typeface="Courier New" pitchFamily="49" charset="0"/>
              </a:rPr>
              <a:t>01100100</a:t>
            </a:r>
          </a:p>
        </p:txBody>
      </p:sp>
      <p:sp>
        <p:nvSpPr>
          <p:cNvPr id="16" name="TextBox 15"/>
          <p:cNvSpPr txBox="1"/>
          <p:nvPr/>
        </p:nvSpPr>
        <p:spPr>
          <a:xfrm>
            <a:off x="2032001" y="2438400"/>
            <a:ext cx="1200149" cy="457200"/>
          </a:xfrm>
          <a:prstGeom prst="rect">
            <a:avLst/>
          </a:prstGeom>
          <a:noFill/>
        </p:spPr>
        <p:txBody>
          <a:bodyPr wrap="none" rtlCol="0">
            <a:noAutofit/>
          </a:bodyPr>
          <a:lstStyle/>
          <a:p>
            <a:pPr algn="ctr"/>
            <a:r>
              <a:rPr lang="en-US" b="1">
                <a:latin typeface="Arial" pitchFamily="32" charset="0"/>
                <a:cs typeface="Arial" pitchFamily="32" charset="0"/>
              </a:rPr>
              <a:t>file.xml</a:t>
            </a:r>
          </a:p>
        </p:txBody>
      </p:sp>
      <p:sp>
        <p:nvSpPr>
          <p:cNvPr id="17" name="TextBox 16"/>
          <p:cNvSpPr txBox="1"/>
          <p:nvPr/>
        </p:nvSpPr>
        <p:spPr>
          <a:xfrm>
            <a:off x="8839201" y="2438400"/>
            <a:ext cx="1422398" cy="365126"/>
          </a:xfrm>
          <a:prstGeom prst="rect">
            <a:avLst/>
          </a:prstGeom>
          <a:noFill/>
        </p:spPr>
        <p:txBody>
          <a:bodyPr wrap="none" rtlCol="0">
            <a:noAutofit/>
          </a:bodyPr>
          <a:lstStyle/>
          <a:p>
            <a:pPr algn="ctr"/>
            <a:r>
              <a:rPr lang="en-US" b="1">
                <a:latin typeface="Arial" pitchFamily="32" charset="0"/>
                <a:cs typeface="Arial" pitchFamily="32" charset="0"/>
              </a:rPr>
              <a:t>file-clone.xml</a:t>
            </a:r>
          </a:p>
        </p:txBody>
      </p:sp>
    </p:spTree>
    <p:extLst>
      <p:ext uri="{BB962C8B-B14F-4D97-AF65-F5344CB8AC3E}">
        <p14:creationId xmlns:p14="http://schemas.microsoft.com/office/powerpoint/2010/main" val="290685666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tx1">
                    <a:lumMod val="75000"/>
                  </a:schemeClr>
                </a:solidFill>
              </a:rPr>
              <a:t>Overview of XML</a:t>
            </a:r>
          </a:p>
          <a:p>
            <a:r>
              <a:rPr lang="en-US">
                <a:solidFill>
                  <a:schemeClr val="bg1"/>
                </a:solidFill>
              </a:rPr>
              <a:t>The XmlElement class</a:t>
            </a:r>
          </a:p>
          <a:p>
            <a:r>
              <a:rPr lang="en-US">
                <a:solidFill>
                  <a:schemeClr val="tx1">
                    <a:lumMod val="75000"/>
                  </a:schemeClr>
                </a:solidFill>
              </a:rPr>
              <a:t>Reading untyped XML</a:t>
            </a:r>
          </a:p>
          <a:p>
            <a:r>
              <a:rPr lang="en-US">
                <a:solidFill>
                  <a:schemeClr val="tx1">
                    <a:lumMod val="75000"/>
                  </a:schemeClr>
                </a:solidFill>
              </a:rPr>
              <a:t>Writing untyped XML</a:t>
            </a:r>
          </a:p>
          <a:p>
            <a:r>
              <a:rPr lang="en-US">
                <a:solidFill>
                  <a:schemeClr val="tx1">
                    <a:lumMod val="75000"/>
                  </a:schemeClr>
                </a:solidFill>
              </a:rPr>
              <a:t>Working with strongly-typed XML</a:t>
            </a:r>
          </a:p>
          <a:p>
            <a:r>
              <a:rPr lang="en-US">
                <a:solidFill>
                  <a:schemeClr val="tx1">
                    <a:lumMod val="75000"/>
                  </a:schemeClr>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62911669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icn Gosu Cla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917740"/>
            <a:ext cx="1197864" cy="13682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a:solidFill>
                  <a:schemeClr val="accent6"/>
                </a:solidFill>
              </a:rPr>
              <a:t>XML and Gosu</a:t>
            </a:r>
          </a:p>
        </p:txBody>
      </p:sp>
      <p:sp>
        <p:nvSpPr>
          <p:cNvPr id="4" name="Content Placeholder 3"/>
          <p:cNvSpPr>
            <a:spLocks noGrp="1"/>
          </p:cNvSpPr>
          <p:nvPr>
            <p:ph idx="1"/>
          </p:nvPr>
        </p:nvSpPr>
        <p:spPr>
          <a:xfrm>
            <a:off x="658368" y="4034023"/>
            <a:ext cx="8318500" cy="2362200"/>
          </a:xfrm>
        </p:spPr>
        <p:txBody>
          <a:bodyPr/>
          <a:lstStyle/>
          <a:p>
            <a:r>
              <a:rPr lang="en-US"/>
              <a:t>Read and parse data from an XML document into memory</a:t>
            </a:r>
          </a:p>
          <a:p>
            <a:r>
              <a:rPr lang="en-US"/>
              <a:t>Write information from memory into an XML document</a:t>
            </a:r>
          </a:p>
          <a:p>
            <a:r>
              <a:rPr lang="en-US"/>
              <a:t>Validate the structure of XML using an XSD</a:t>
            </a:r>
          </a:p>
          <a:p>
            <a:r>
              <a:rPr lang="en-US"/>
              <a:t>Manipulate untyped and strongly typed XML</a:t>
            </a:r>
          </a:p>
          <a:p>
            <a:endParaRPr lang="en-US"/>
          </a:p>
          <a:p>
            <a:endParaRPr lang="en-US"/>
          </a:p>
        </p:txBody>
      </p:sp>
      <p:pic>
        <p:nvPicPr>
          <p:cNvPr id="5" name="icn XML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203835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bwMode="auto">
          <a:xfrm>
            <a:off x="3352800" y="2510632"/>
            <a:ext cx="20574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ight Arrow 6"/>
          <p:cNvSpPr/>
          <p:nvPr/>
        </p:nvSpPr>
        <p:spPr bwMode="auto">
          <a:xfrm>
            <a:off x="6781800" y="2510631"/>
            <a:ext cx="20574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8" name="icn XM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0325" y="2008982"/>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xt File1"/>
          <p:cNvSpPr txBox="1"/>
          <p:nvPr/>
        </p:nvSpPr>
        <p:spPr>
          <a:xfrm>
            <a:off x="2032001" y="1551782"/>
            <a:ext cx="1200149" cy="457200"/>
          </a:xfrm>
          <a:prstGeom prst="rect">
            <a:avLst/>
          </a:prstGeom>
          <a:noFill/>
        </p:spPr>
        <p:txBody>
          <a:bodyPr wrap="none" rtlCol="0">
            <a:noAutofit/>
          </a:bodyPr>
          <a:lstStyle/>
          <a:p>
            <a:pPr algn="ctr"/>
            <a:r>
              <a:rPr lang="en-US" b="1">
                <a:solidFill>
                  <a:schemeClr val="bg1"/>
                </a:solidFill>
                <a:latin typeface="Arial" pitchFamily="32" charset="0"/>
                <a:cs typeface="Arial" pitchFamily="32" charset="0"/>
              </a:rPr>
              <a:t>file.xml</a:t>
            </a:r>
          </a:p>
        </p:txBody>
      </p:sp>
      <p:sp>
        <p:nvSpPr>
          <p:cNvPr id="10" name="txt File 2"/>
          <p:cNvSpPr txBox="1"/>
          <p:nvPr/>
        </p:nvSpPr>
        <p:spPr>
          <a:xfrm>
            <a:off x="8950326" y="1541464"/>
            <a:ext cx="1200149" cy="457200"/>
          </a:xfrm>
          <a:prstGeom prst="rect">
            <a:avLst/>
          </a:prstGeom>
          <a:noFill/>
        </p:spPr>
        <p:txBody>
          <a:bodyPr wrap="none" rtlCol="0">
            <a:noAutofit/>
          </a:bodyPr>
          <a:lstStyle/>
          <a:p>
            <a:pPr algn="ctr"/>
            <a:r>
              <a:rPr lang="en-US" b="1">
                <a:solidFill>
                  <a:schemeClr val="bg1"/>
                </a:solidFill>
                <a:latin typeface="Arial" pitchFamily="32" charset="0"/>
                <a:cs typeface="Arial" pitchFamily="32" charset="0"/>
              </a:rPr>
              <a:t>file.xml</a:t>
            </a:r>
          </a:p>
        </p:txBody>
      </p:sp>
      <p:graphicFrame>
        <p:nvGraphicFramePr>
          <p:cNvPr id="16" name="diagramXML"/>
          <p:cNvGraphicFramePr/>
          <p:nvPr>
            <p:extLst>
              <p:ext uri="{D42A27DB-BD31-4B8C-83A1-F6EECF244321}">
                <p14:modId xmlns:p14="http://schemas.microsoft.com/office/powerpoint/2010/main" val="1345708048"/>
              </p:ext>
            </p:extLst>
          </p:nvPr>
        </p:nvGraphicFramePr>
        <p:xfrm>
          <a:off x="5410200" y="1295400"/>
          <a:ext cx="1143000" cy="2743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808088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The XmlElement class</a:t>
            </a:r>
          </a:p>
        </p:txBody>
      </p:sp>
      <p:sp>
        <p:nvSpPr>
          <p:cNvPr id="3" name="Content Placeholder 2"/>
          <p:cNvSpPr>
            <a:spLocks noGrp="1"/>
          </p:cNvSpPr>
          <p:nvPr>
            <p:ph sz="half" idx="2"/>
          </p:nvPr>
        </p:nvSpPr>
        <p:spPr>
          <a:xfrm>
            <a:off x="5562600" y="2835565"/>
            <a:ext cx="4251960" cy="3200400"/>
          </a:xfrm>
        </p:spPr>
        <p:txBody>
          <a:bodyPr/>
          <a:lstStyle/>
          <a:p>
            <a:r>
              <a:rPr lang="en-US"/>
              <a:t>Represent elements from XML </a:t>
            </a:r>
          </a:p>
          <a:p>
            <a:r>
              <a:rPr lang="en-US"/>
              <a:t>Import XML</a:t>
            </a:r>
          </a:p>
          <a:p>
            <a:r>
              <a:rPr lang="en-US"/>
              <a:t>Get information about each element</a:t>
            </a:r>
          </a:p>
          <a:p>
            <a:r>
              <a:rPr lang="en-US"/>
              <a:t>Create and modify elements</a:t>
            </a:r>
          </a:p>
          <a:p>
            <a:r>
              <a:rPr lang="en-US"/>
              <a:t>Export XML</a:t>
            </a:r>
          </a:p>
        </p:txBody>
      </p:sp>
      <p:sp>
        <p:nvSpPr>
          <p:cNvPr id="19" name="TextBox 18"/>
          <p:cNvSpPr txBox="1"/>
          <p:nvPr/>
        </p:nvSpPr>
        <p:spPr>
          <a:xfrm>
            <a:off x="3352800" y="2971801"/>
            <a:ext cx="1752600" cy="631558"/>
          </a:xfrm>
          <a:prstGeom prst="rect">
            <a:avLst/>
          </a:prstGeom>
          <a:noFill/>
        </p:spPr>
        <p:txBody>
          <a:bodyPr wrap="none" rtlCol="0" anchor="ctr">
            <a:noAutofit/>
          </a:bodyPr>
          <a:lstStyle/>
          <a:p>
            <a:r>
              <a:rPr lang="en-US" sz="1600" b="1">
                <a:solidFill>
                  <a:schemeClr val="bg1"/>
                </a:solidFill>
                <a:latin typeface="Arial" pitchFamily="32" charset="0"/>
                <a:cs typeface="Arial" pitchFamily="32" charset="0"/>
              </a:rPr>
              <a:t>&lt;config…&gt;</a:t>
            </a:r>
          </a:p>
        </p:txBody>
      </p:sp>
      <p:sp>
        <p:nvSpPr>
          <p:cNvPr id="20" name="TextBox 19"/>
          <p:cNvSpPr txBox="1"/>
          <p:nvPr/>
        </p:nvSpPr>
        <p:spPr>
          <a:xfrm>
            <a:off x="3505200" y="3930842"/>
            <a:ext cx="1524000"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a:t>&lt;param…&gt;</a:t>
            </a:r>
          </a:p>
        </p:txBody>
      </p:sp>
      <p:sp>
        <p:nvSpPr>
          <p:cNvPr id="21" name="TextBox 20"/>
          <p:cNvSpPr txBox="1"/>
          <p:nvPr/>
        </p:nvSpPr>
        <p:spPr>
          <a:xfrm>
            <a:off x="3505200" y="4845244"/>
            <a:ext cx="1524000" cy="564957"/>
          </a:xfrm>
          <a:prstGeom prst="rect">
            <a:avLst/>
          </a:prstGeom>
          <a:noFill/>
        </p:spPr>
        <p:txBody>
          <a:bodyPr wrap="none" rtlCol="0" anchor="ctr">
            <a:noAutofit/>
          </a:bodyPr>
          <a:lstStyle/>
          <a:p>
            <a:r>
              <a:rPr lang="en-US" sz="1600" b="1">
                <a:solidFill>
                  <a:schemeClr val="bg1"/>
                </a:solidFill>
                <a:latin typeface="Arial" pitchFamily="32" charset="0"/>
                <a:cs typeface="Arial" pitchFamily="32" charset="0"/>
              </a:rPr>
              <a:t>&lt;database…&gt;</a:t>
            </a:r>
          </a:p>
        </p:txBody>
      </p:sp>
      <p:sp>
        <p:nvSpPr>
          <p:cNvPr id="10" name="Down Arrow 9"/>
          <p:cNvSpPr/>
          <p:nvPr/>
        </p:nvSpPr>
        <p:spPr bwMode="auto">
          <a:xfrm>
            <a:off x="2621380" y="20574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69" name="rec LineNumbers"/>
          <p:cNvSpPr/>
          <p:nvPr/>
        </p:nvSpPr>
        <p:spPr bwMode="auto">
          <a:xfrm>
            <a:off x="762000" y="870995"/>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0" name="rec Code"/>
          <p:cNvSpPr/>
          <p:nvPr/>
        </p:nvSpPr>
        <p:spPr>
          <a:xfrm>
            <a:off x="658368" y="889471"/>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&lt;config </a:t>
            </a:r>
            <a:r>
              <a:rPr lang="en-US" sz="1600" b="1" err="1">
                <a:solidFill>
                  <a:schemeClr val="bg1"/>
                </a:solidFill>
                <a:latin typeface="Courier New" pitchFamily="49" charset="0"/>
                <a:ea typeface="Times New Roman"/>
                <a:cs typeface="Courier New" pitchFamily="49" charset="0"/>
              </a:rPr>
              <a:t>xmlns</a:t>
            </a:r>
            <a:r>
              <a:rPr lang="en-US" sz="1600" b="1">
                <a:solidFill>
                  <a:schemeClr val="bg1"/>
                </a:solidFill>
                <a:latin typeface="Courier New" pitchFamily="49" charset="0"/>
                <a:ea typeface="Times New Roman"/>
                <a:cs typeface="Courier New" pitchFamily="49" charset="0"/>
              </a:rPr>
              <a:t>="http://guidewire.com/config"&gt;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3   &lt;param name="CurrencyURL" value=""&gt;http://acme.x.com&lt;/param&gt;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&lt;database name="TADatabase" dbtype="h2" autoupgrade="true"&gt;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cs typeface="Courier New" pitchFamily="49" charset="0"/>
            </a:endParaRPr>
          </a:p>
        </p:txBody>
      </p:sp>
      <p:graphicFrame>
        <p:nvGraphicFramePr>
          <p:cNvPr id="80" name="diagramXML"/>
          <p:cNvGraphicFramePr/>
          <p:nvPr>
            <p:extLst>
              <p:ext uri="{D42A27DB-BD31-4B8C-83A1-F6EECF244321}">
                <p14:modId xmlns:p14="http://schemas.microsoft.com/office/powerpoint/2010/main" val="2475956607"/>
              </p:ext>
            </p:extLst>
          </p:nvPr>
        </p:nvGraphicFramePr>
        <p:xfrm>
          <a:off x="2057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143768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The </a:t>
            </a:r>
            <a:r>
              <a:rPr lang="en-US" err="1">
                <a:solidFill>
                  <a:schemeClr val="accent6"/>
                </a:solidFill>
              </a:rPr>
              <a:t>QName</a:t>
            </a:r>
            <a:r>
              <a:rPr lang="en-US">
                <a:solidFill>
                  <a:schemeClr val="accent6"/>
                </a:solidFill>
              </a:rPr>
              <a:t> property</a:t>
            </a:r>
          </a:p>
        </p:txBody>
      </p:sp>
      <p:sp>
        <p:nvSpPr>
          <p:cNvPr id="3" name="Content Placeholder 2"/>
          <p:cNvSpPr>
            <a:spLocks noGrp="1"/>
          </p:cNvSpPr>
          <p:nvPr>
            <p:ph idx="1"/>
          </p:nvPr>
        </p:nvSpPr>
        <p:spPr>
          <a:xfrm>
            <a:off x="2043113" y="5638800"/>
            <a:ext cx="8318500" cy="762000"/>
          </a:xfrm>
        </p:spPr>
        <p:txBody>
          <a:bodyPr/>
          <a:lstStyle/>
          <a:p>
            <a:r>
              <a:rPr lang="en-US"/>
              <a:t>A </a:t>
            </a:r>
            <a:r>
              <a:rPr lang="en-US" b="1" err="1"/>
              <a:t>QName</a:t>
            </a:r>
            <a:r>
              <a:rPr lang="en-US"/>
              <a:t> is a qualified</a:t>
            </a:r>
            <a:r>
              <a:rPr lang="en-US" b="1"/>
              <a:t> name </a:t>
            </a:r>
            <a:r>
              <a:rPr lang="en-US"/>
              <a:t>for an XML element, consisting of a namespace URI and a local part</a:t>
            </a:r>
          </a:p>
          <a:p>
            <a:endParaRPr lang="en-US"/>
          </a:p>
        </p:txBody>
      </p:sp>
      <p:sp>
        <p:nvSpPr>
          <p:cNvPr id="15" name="TextBox 14"/>
          <p:cNvSpPr txBox="1"/>
          <p:nvPr/>
        </p:nvSpPr>
        <p:spPr>
          <a:xfrm>
            <a:off x="3352800" y="3000376"/>
            <a:ext cx="4572000" cy="533399"/>
          </a:xfrm>
          <a:prstGeom prst="rect">
            <a:avLst/>
          </a:prstGeom>
          <a:noFill/>
        </p:spPr>
        <p:txBody>
          <a:bodyPr wrap="none" rtlCol="0" anchor="ctr">
            <a:noAutofit/>
          </a:bodyPr>
          <a:lstStyle/>
          <a:p>
            <a:r>
              <a:rPr lang="en-US" sz="1600" b="1" err="1">
                <a:solidFill>
                  <a:schemeClr val="bg1"/>
                </a:solidFill>
                <a:latin typeface="Arial" pitchFamily="32" charset="0"/>
                <a:cs typeface="Arial" pitchFamily="32" charset="0"/>
              </a:rPr>
              <a:t>QName</a:t>
            </a:r>
            <a:r>
              <a:rPr lang="en-US" sz="1600" b="1">
                <a:solidFill>
                  <a:schemeClr val="bg1"/>
                </a:solidFill>
                <a:latin typeface="Arial" pitchFamily="32" charset="0"/>
                <a:cs typeface="Arial" pitchFamily="32" charset="0"/>
              </a:rPr>
              <a:t>:	{http://guidewire.com/config}config</a:t>
            </a:r>
          </a:p>
        </p:txBody>
      </p:sp>
      <p:sp>
        <p:nvSpPr>
          <p:cNvPr id="16" name="TextBox 15"/>
          <p:cNvSpPr txBox="1"/>
          <p:nvPr/>
        </p:nvSpPr>
        <p:spPr>
          <a:xfrm>
            <a:off x="3505201" y="3930842"/>
            <a:ext cx="4410075"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err="1"/>
              <a:t>QName</a:t>
            </a:r>
            <a:r>
              <a:rPr lang="en-US" sz="1600"/>
              <a:t>:	{http://guidewire.com/config}param</a:t>
            </a:r>
          </a:p>
        </p:txBody>
      </p:sp>
      <p:sp>
        <p:nvSpPr>
          <p:cNvPr id="18" name="Down Arrow 17"/>
          <p:cNvSpPr/>
          <p:nvPr/>
        </p:nvSpPr>
        <p:spPr bwMode="auto">
          <a:xfrm>
            <a:off x="2621380" y="20574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ec LineNumbers"/>
          <p:cNvSpPr/>
          <p:nvPr/>
        </p:nvSpPr>
        <p:spPr bwMode="auto">
          <a:xfrm>
            <a:off x="838200" y="914402"/>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9" name="rec Code"/>
          <p:cNvSpPr/>
          <p:nvPr/>
        </p:nvSpPr>
        <p:spPr>
          <a:xfrm>
            <a:off x="762000" y="998105"/>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&lt;config </a:t>
            </a:r>
            <a:r>
              <a:rPr lang="en-US" sz="1600" b="1" err="1">
                <a:solidFill>
                  <a:schemeClr val="bg1"/>
                </a:solidFill>
                <a:latin typeface="Courier New" pitchFamily="49" charset="0"/>
                <a:ea typeface="Times New Roman"/>
                <a:cs typeface="Courier New" pitchFamily="49" charset="0"/>
              </a:rPr>
              <a:t>xmlns</a:t>
            </a:r>
            <a:r>
              <a:rPr lang="en-US" sz="1600" b="1">
                <a:solidFill>
                  <a:schemeClr val="bg1"/>
                </a:solidFill>
                <a:latin typeface="Courier New" pitchFamily="49" charset="0"/>
                <a:ea typeface="Times New Roman"/>
                <a:cs typeface="Courier New" pitchFamily="49" charset="0"/>
              </a:rPr>
              <a:t>="http://guidewire.com/config"&gt;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3   &lt;param name="CurrencyURL" value=""&gt;http://acme.x.com&lt;/param&gt;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&lt;database name="TADatabase" dbtype="h2" autoupgrade="true"&gt;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cs typeface="Courier New" pitchFamily="49" charset="0"/>
            </a:endParaRPr>
          </a:p>
        </p:txBody>
      </p:sp>
      <p:sp>
        <p:nvSpPr>
          <p:cNvPr id="21" name="TextBox 20"/>
          <p:cNvSpPr txBox="1"/>
          <p:nvPr/>
        </p:nvSpPr>
        <p:spPr>
          <a:xfrm>
            <a:off x="3505200" y="4845242"/>
            <a:ext cx="4876800"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err="1"/>
              <a:t>QName</a:t>
            </a:r>
            <a:r>
              <a:rPr lang="en-US" sz="1600"/>
              <a:t>:	{http://guidewire.com/config}database</a:t>
            </a:r>
          </a:p>
        </p:txBody>
      </p:sp>
      <p:cxnSp>
        <p:nvCxnSpPr>
          <p:cNvPr id="24" name="ln Dotted"/>
          <p:cNvCxnSpPr/>
          <p:nvPr/>
        </p:nvCxnSpPr>
        <p:spPr bwMode="auto">
          <a:xfrm>
            <a:off x="2171700" y="5105400"/>
            <a:ext cx="0" cy="441960"/>
          </a:xfrm>
          <a:prstGeom prst="line">
            <a:avLst/>
          </a:prstGeom>
          <a:ln w="28575">
            <a:solidFill>
              <a:schemeClr val="accent2">
                <a:lumMod val="75000"/>
              </a:schemeClr>
            </a:solidFill>
            <a:prstDash val="sysDash"/>
            <a:headEnd type="none" w="med" len="med"/>
            <a:tailEnd type="none" w="med" len="med"/>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graphicFrame>
        <p:nvGraphicFramePr>
          <p:cNvPr id="27" name="diagramXML"/>
          <p:cNvGraphicFramePr/>
          <p:nvPr>
            <p:extLst>
              <p:ext uri="{D42A27DB-BD31-4B8C-83A1-F6EECF244321}">
                <p14:modId xmlns:p14="http://schemas.microsoft.com/office/powerpoint/2010/main" val="3631855750"/>
              </p:ext>
            </p:extLst>
          </p:nvPr>
        </p:nvGraphicFramePr>
        <p:xfrm>
          <a:off x="2057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098036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Attribute and text properties</a:t>
            </a:r>
          </a:p>
        </p:txBody>
      </p:sp>
      <p:sp>
        <p:nvSpPr>
          <p:cNvPr id="4" name="TextBox 3"/>
          <p:cNvSpPr txBox="1"/>
          <p:nvPr/>
        </p:nvSpPr>
        <p:spPr>
          <a:xfrm>
            <a:off x="3352800" y="2987040"/>
            <a:ext cx="4572000" cy="692342"/>
          </a:xfrm>
          <a:prstGeom prst="rect">
            <a:avLst/>
          </a:prstGeom>
          <a:noFill/>
        </p:spPr>
        <p:txBody>
          <a:bodyPr wrap="none" rtlCol="0" anchor="ctr">
            <a:noAutofit/>
          </a:bodyPr>
          <a:lstStyle/>
          <a:p>
            <a:r>
              <a:rPr lang="en-US" sz="1600" b="1" err="1">
                <a:solidFill>
                  <a:schemeClr val="bg1"/>
                </a:solidFill>
                <a:latin typeface="Arial" pitchFamily="32" charset="0"/>
                <a:cs typeface="Arial" pitchFamily="32" charset="0"/>
              </a:rPr>
              <a:t>QName</a:t>
            </a:r>
            <a:r>
              <a:rPr lang="en-US" sz="1600" b="1">
                <a:solidFill>
                  <a:schemeClr val="bg1"/>
                </a:solidFill>
                <a:latin typeface="Arial" pitchFamily="32" charset="0"/>
                <a:cs typeface="Arial" pitchFamily="32" charset="0"/>
              </a:rPr>
              <a:t>:       {http://guidewire.com/config}config</a:t>
            </a:r>
            <a:br>
              <a:rPr lang="en-US" sz="1600" b="1">
                <a:solidFill>
                  <a:schemeClr val="bg1"/>
                </a:solidFill>
                <a:latin typeface="Arial" pitchFamily="32" charset="0"/>
                <a:cs typeface="Arial" pitchFamily="32" charset="0"/>
              </a:rPr>
            </a:br>
            <a:r>
              <a:rPr lang="en-US" sz="1600" b="1">
                <a:solidFill>
                  <a:schemeClr val="bg1"/>
                </a:solidFill>
                <a:latin typeface="Arial" pitchFamily="32" charset="0"/>
                <a:cs typeface="Arial" pitchFamily="32" charset="0"/>
              </a:rPr>
              <a:t>Attributes:   </a:t>
            </a:r>
            <a:r>
              <a:rPr lang="en-US" sz="1600" b="1" err="1">
                <a:solidFill>
                  <a:schemeClr val="bg1"/>
                </a:solidFill>
                <a:latin typeface="Arial" pitchFamily="32" charset="0"/>
                <a:cs typeface="Arial" pitchFamily="32" charset="0"/>
              </a:rPr>
              <a:t>xmlns</a:t>
            </a:r>
            <a:r>
              <a:rPr lang="en-US" sz="1600" b="1">
                <a:solidFill>
                  <a:schemeClr val="bg1"/>
                </a:solidFill>
                <a:latin typeface="Arial" pitchFamily="32" charset="0"/>
                <a:cs typeface="Arial" pitchFamily="32" charset="0"/>
              </a:rPr>
              <a:t> (http://guidewire.com/config)</a:t>
            </a:r>
            <a:br>
              <a:rPr lang="en-US" sz="1600" b="1">
                <a:solidFill>
                  <a:schemeClr val="bg1"/>
                </a:solidFill>
                <a:latin typeface="Arial" pitchFamily="32" charset="0"/>
                <a:cs typeface="Arial" pitchFamily="32" charset="0"/>
              </a:rPr>
            </a:br>
            <a:r>
              <a:rPr lang="en-US" sz="1600" b="1">
                <a:solidFill>
                  <a:schemeClr val="bg1"/>
                </a:solidFill>
                <a:latin typeface="Arial" pitchFamily="32" charset="0"/>
                <a:cs typeface="Arial" pitchFamily="32" charset="0"/>
              </a:rPr>
              <a:t>Text:</a:t>
            </a:r>
          </a:p>
        </p:txBody>
      </p:sp>
      <p:sp>
        <p:nvSpPr>
          <p:cNvPr id="5" name="TextBox 4"/>
          <p:cNvSpPr txBox="1"/>
          <p:nvPr/>
        </p:nvSpPr>
        <p:spPr>
          <a:xfrm>
            <a:off x="3505201" y="3886201"/>
            <a:ext cx="4486275" cy="716819"/>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err="1"/>
              <a:t>QName</a:t>
            </a:r>
            <a:r>
              <a:rPr lang="en-US" sz="1600"/>
              <a:t>:	     {http://guidewire.com/config}param</a:t>
            </a:r>
            <a:br>
              <a:rPr lang="en-US" sz="1600"/>
            </a:br>
            <a:r>
              <a:rPr lang="en-US" sz="1600"/>
              <a:t>Attributes:   name (CurrencyURL)</a:t>
            </a:r>
            <a:br>
              <a:rPr lang="en-US" sz="1600"/>
            </a:br>
            <a:r>
              <a:rPr lang="en-US" sz="1600"/>
              <a:t>Text:	     http://acme.x.com</a:t>
            </a:r>
          </a:p>
        </p:txBody>
      </p:sp>
      <p:sp>
        <p:nvSpPr>
          <p:cNvPr id="6" name="Down Arrow 5"/>
          <p:cNvSpPr/>
          <p:nvPr/>
        </p:nvSpPr>
        <p:spPr bwMode="auto">
          <a:xfrm>
            <a:off x="2628900" y="2190791"/>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 LineNumbers"/>
          <p:cNvSpPr/>
          <p:nvPr/>
        </p:nvSpPr>
        <p:spPr bwMode="auto">
          <a:xfrm>
            <a:off x="665295" y="894772"/>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rec Code"/>
          <p:cNvSpPr/>
          <p:nvPr/>
        </p:nvSpPr>
        <p:spPr>
          <a:xfrm>
            <a:off x="644513" y="987756"/>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1 </a:t>
            </a:r>
            <a:r>
              <a:rPr lang="en-US" sz="1600" b="1" i="1">
                <a:solidFill>
                  <a:schemeClr val="bg1"/>
                </a:solidFill>
                <a:latin typeface="Courier New" pitchFamily="49" charset="0"/>
                <a:ea typeface="Times New Roman"/>
                <a:cs typeface="Courier New" pitchFamily="49" charset="0"/>
              </a:rPr>
              <a:t>&lt;?</a:t>
            </a:r>
            <a:r>
              <a:rPr lang="en-US" sz="1600" b="1">
                <a:solidFill>
                  <a:schemeClr val="bg1"/>
                </a:solidFill>
                <a:latin typeface="Courier New" pitchFamily="49" charset="0"/>
                <a:ea typeface="Times New Roman"/>
                <a:cs typeface="Courier New" pitchFamily="49" charset="0"/>
              </a:rPr>
              <a:t>xml version="1.0"</a:t>
            </a:r>
            <a:r>
              <a:rPr lang="en-US" sz="1600" b="1" i="1">
                <a:solidFill>
                  <a:schemeClr val="bg1"/>
                </a:solidFill>
                <a:latin typeface="Courier New" pitchFamily="49" charset="0"/>
                <a:ea typeface="Times New Roman"/>
                <a:cs typeface="Courier New" pitchFamily="49" charset="0"/>
              </a:rPr>
              <a:t>?&gt;</a:t>
            </a: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2  &lt;config </a:t>
            </a:r>
            <a:r>
              <a:rPr lang="en-US" sz="1600" b="1" err="1">
                <a:solidFill>
                  <a:schemeClr val="bg1"/>
                </a:solidFill>
                <a:latin typeface="Courier New" pitchFamily="49" charset="0"/>
                <a:ea typeface="Times New Roman"/>
                <a:cs typeface="Courier New" pitchFamily="49" charset="0"/>
              </a:rPr>
              <a:t>xmlns</a:t>
            </a:r>
            <a:r>
              <a:rPr lang="en-US" sz="1600" b="1">
                <a:solidFill>
                  <a:schemeClr val="bg1"/>
                </a:solidFill>
                <a:latin typeface="Courier New" pitchFamily="49" charset="0"/>
                <a:ea typeface="Times New Roman"/>
                <a:cs typeface="Courier New" pitchFamily="49" charset="0"/>
              </a:rPr>
              <a:t>="http://guidewire.com/config"&gt;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3   &lt;param name="CurrencyURL" value=""&gt;http://acme.x.com&lt;/param&gt;</a:t>
            </a:r>
            <a:br>
              <a:rPr lang="en-US" sz="1600" b="1">
                <a:solidFill>
                  <a:schemeClr val="bg1"/>
                </a:solidFill>
                <a:latin typeface="Courier New" pitchFamily="49" charset="0"/>
                <a:ea typeface="Times New Roman"/>
                <a:cs typeface="Courier New" pitchFamily="49" charset="0"/>
              </a:rPr>
            </a:br>
            <a:r>
              <a:rPr lang="en-US" sz="1600" b="1">
                <a:solidFill>
                  <a:schemeClr val="bg1"/>
                </a:solidFill>
                <a:latin typeface="Courier New" pitchFamily="49" charset="0"/>
                <a:ea typeface="Times New Roman"/>
                <a:cs typeface="Courier New" pitchFamily="49" charset="0"/>
              </a:rPr>
              <a:t>  4   &lt;database name="TADatabase" dbtype="h2" autoupgrade="true"&gt; </a:t>
            </a:r>
            <a:endParaRPr lang="en-US" sz="1600" b="1">
              <a:solidFill>
                <a:schemeClr val="bg1"/>
              </a:solidFill>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pitchFamily="49" charset="0"/>
                <a:ea typeface="Times New Roman"/>
                <a:cs typeface="Courier New" pitchFamily="49" charset="0"/>
              </a:rPr>
              <a:t>  </a:t>
            </a:r>
            <a:endParaRPr lang="en-US" sz="1600" b="1">
              <a:solidFill>
                <a:schemeClr val="bg1"/>
              </a:solidFill>
              <a:latin typeface="Courier New" pitchFamily="49" charset="0"/>
              <a:cs typeface="Courier New" pitchFamily="49" charset="0"/>
            </a:endParaRPr>
          </a:p>
        </p:txBody>
      </p:sp>
      <p:cxnSp>
        <p:nvCxnSpPr>
          <p:cNvPr id="12" name="ln Dotted"/>
          <p:cNvCxnSpPr/>
          <p:nvPr/>
        </p:nvCxnSpPr>
        <p:spPr bwMode="auto">
          <a:xfrm>
            <a:off x="2171700" y="5105400"/>
            <a:ext cx="0" cy="441960"/>
          </a:xfrm>
          <a:prstGeom prst="line">
            <a:avLst/>
          </a:prstGeom>
          <a:ln w="28575">
            <a:solidFill>
              <a:schemeClr val="accent2">
                <a:lumMod val="75000"/>
              </a:schemeClr>
            </a:solidFill>
            <a:prstDash val="sysDash"/>
            <a:headEnd type="none" w="med" len="med"/>
            <a:tailEnd type="none" w="med" len="med"/>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graphicFrame>
        <p:nvGraphicFramePr>
          <p:cNvPr id="13" name="diagramXML"/>
          <p:cNvGraphicFramePr/>
          <p:nvPr>
            <p:extLst>
              <p:ext uri="{D42A27DB-BD31-4B8C-83A1-F6EECF244321}">
                <p14:modId xmlns:p14="http://schemas.microsoft.com/office/powerpoint/2010/main" val="2687523257"/>
              </p:ext>
            </p:extLst>
          </p:nvPr>
        </p:nvGraphicFramePr>
        <p:xfrm>
          <a:off x="2057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p:cNvSpPr txBox="1"/>
          <p:nvPr/>
        </p:nvSpPr>
        <p:spPr>
          <a:xfrm>
            <a:off x="3505200" y="4822922"/>
            <a:ext cx="6096000" cy="716819"/>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err="1"/>
              <a:t>QName</a:t>
            </a:r>
            <a:r>
              <a:rPr lang="en-US" sz="1600"/>
              <a:t>:	     {http://guidewire.com/config}database</a:t>
            </a:r>
            <a:br>
              <a:rPr lang="en-US" sz="1600"/>
            </a:br>
            <a:r>
              <a:rPr lang="en-US" sz="1600"/>
              <a:t>Attributes:   name (TADatabase), dbtype(h2), autoupgrade(true)</a:t>
            </a:r>
            <a:br>
              <a:rPr lang="en-US" sz="1600"/>
            </a:br>
            <a:r>
              <a:rPr lang="en-US" sz="1600"/>
              <a:t>Text:	</a:t>
            </a:r>
          </a:p>
        </p:txBody>
      </p:sp>
    </p:spTree>
    <p:extLst>
      <p:ext uri="{BB962C8B-B14F-4D97-AF65-F5344CB8AC3E}">
        <p14:creationId xmlns:p14="http://schemas.microsoft.com/office/powerpoint/2010/main" val="289393089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XML simple values</a:t>
            </a:r>
          </a:p>
        </p:txBody>
      </p:sp>
      <p:sp>
        <p:nvSpPr>
          <p:cNvPr id="3" name="Content Placeholder 2"/>
          <p:cNvSpPr>
            <a:spLocks noGrp="1"/>
          </p:cNvSpPr>
          <p:nvPr>
            <p:ph idx="1"/>
          </p:nvPr>
        </p:nvSpPr>
        <p:spPr>
          <a:xfrm>
            <a:off x="658368" y="3227039"/>
            <a:ext cx="8318500" cy="3124200"/>
          </a:xfrm>
        </p:spPr>
        <p:txBody>
          <a:bodyPr/>
          <a:lstStyle/>
          <a:p>
            <a:r>
              <a:rPr lang="en-US"/>
              <a:t>Every XmlElement and attribute has an associated simple value object</a:t>
            </a:r>
          </a:p>
          <a:p>
            <a:pPr lvl="1"/>
            <a:r>
              <a:rPr lang="en-US"/>
              <a:t>Purpose of the object is to store the actual value and the logic needed to serialize it</a:t>
            </a:r>
          </a:p>
          <a:p>
            <a:pPr lvl="1"/>
            <a:r>
              <a:rPr lang="en-US"/>
              <a:t>For data that is not text or numeric, the logic needed to serialize the object can be complex</a:t>
            </a:r>
          </a:p>
          <a:p>
            <a:r>
              <a:rPr lang="en-US"/>
              <a:t>Object is of type </a:t>
            </a:r>
            <a:r>
              <a:rPr lang="en-US" err="1"/>
              <a:t>XmlSimpleValue</a:t>
            </a:r>
            <a:endParaRPr lang="en-US"/>
          </a:p>
          <a:p>
            <a:pPr lvl="1"/>
            <a:endParaRPr lang="en-US"/>
          </a:p>
          <a:p>
            <a:endParaRPr lang="en-US"/>
          </a:p>
        </p:txBody>
      </p:sp>
      <p:sp>
        <p:nvSpPr>
          <p:cNvPr id="7" name="TextBox 6"/>
          <p:cNvSpPr txBox="1"/>
          <p:nvPr/>
        </p:nvSpPr>
        <p:spPr>
          <a:xfrm>
            <a:off x="3352800" y="942976"/>
            <a:ext cx="4572000" cy="533399"/>
          </a:xfrm>
          <a:prstGeom prst="rect">
            <a:avLst/>
          </a:prstGeom>
          <a:noFill/>
        </p:spPr>
        <p:txBody>
          <a:bodyPr wrap="none" rtlCol="0" anchor="ctr">
            <a:noAutofit/>
          </a:bodyPr>
          <a:lstStyle/>
          <a:p>
            <a:r>
              <a:rPr lang="en-US" sz="1600" b="1">
                <a:solidFill>
                  <a:schemeClr val="bg1"/>
                </a:solidFill>
                <a:latin typeface="Arial" pitchFamily="32" charset="0"/>
                <a:cs typeface="Arial" pitchFamily="32" charset="0"/>
              </a:rPr>
              <a:t>&lt;param… &gt;</a:t>
            </a:r>
          </a:p>
        </p:txBody>
      </p:sp>
      <p:sp>
        <p:nvSpPr>
          <p:cNvPr id="8" name="TextBox 7"/>
          <p:cNvSpPr txBox="1"/>
          <p:nvPr/>
        </p:nvSpPr>
        <p:spPr>
          <a:xfrm>
            <a:off x="3505201" y="1873442"/>
            <a:ext cx="4410075"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a:t>value:  20141017</a:t>
            </a:r>
            <a:br>
              <a:rPr lang="en-US" sz="1600"/>
            </a:br>
            <a:br>
              <a:rPr lang="en-US" sz="1600"/>
            </a:br>
            <a:r>
              <a:rPr lang="en-US" sz="1600"/>
              <a:t>logic: </a:t>
            </a:r>
          </a:p>
        </p:txBody>
      </p:sp>
      <p:graphicFrame>
        <p:nvGraphicFramePr>
          <p:cNvPr id="11" name="diagramXML"/>
          <p:cNvGraphicFramePr/>
          <p:nvPr>
            <p:extLst>
              <p:ext uri="{D42A27DB-BD31-4B8C-83A1-F6EECF244321}">
                <p14:modId xmlns:p14="http://schemas.microsoft.com/office/powerpoint/2010/main" val="971994450"/>
              </p:ext>
            </p:extLst>
          </p:nvPr>
        </p:nvGraphicFramePr>
        <p:xfrm>
          <a:off x="2057400" y="428625"/>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arw Serailization"/>
          <p:cNvSpPr/>
          <p:nvPr/>
        </p:nvSpPr>
        <p:spPr bwMode="auto">
          <a:xfrm>
            <a:off x="4267200" y="2057400"/>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a:solidFill>
                  <a:schemeClr val="bg1"/>
                </a:solidFill>
                <a:latin typeface="Arial" pitchFamily="32" charset="0"/>
                <a:cs typeface="Arial" pitchFamily="32" charset="0"/>
              </a:rPr>
              <a:t>serialization</a:t>
            </a:r>
          </a:p>
        </p:txBody>
      </p:sp>
    </p:spTree>
    <p:extLst>
      <p:ext uri="{BB962C8B-B14F-4D97-AF65-F5344CB8AC3E}">
        <p14:creationId xmlns:p14="http://schemas.microsoft.com/office/powerpoint/2010/main" val="208954440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tx1">
                    <a:lumMod val="75000"/>
                  </a:schemeClr>
                </a:solidFill>
              </a:rPr>
              <a:t>Overview of XML</a:t>
            </a:r>
          </a:p>
          <a:p>
            <a:r>
              <a:rPr lang="en-US">
                <a:solidFill>
                  <a:schemeClr val="tx1">
                    <a:lumMod val="75000"/>
                  </a:schemeClr>
                </a:solidFill>
              </a:rPr>
              <a:t>The XmlElement class</a:t>
            </a:r>
          </a:p>
          <a:p>
            <a:r>
              <a:rPr lang="en-US">
                <a:solidFill>
                  <a:schemeClr val="bg1"/>
                </a:solidFill>
              </a:rPr>
              <a:t>Reading untyped XML</a:t>
            </a:r>
          </a:p>
          <a:p>
            <a:r>
              <a:rPr lang="en-US">
                <a:solidFill>
                  <a:schemeClr val="tx1">
                    <a:lumMod val="75000"/>
                  </a:schemeClr>
                </a:solidFill>
              </a:rPr>
              <a:t>Writing untyped XML</a:t>
            </a:r>
          </a:p>
          <a:p>
            <a:r>
              <a:rPr lang="en-US">
                <a:solidFill>
                  <a:schemeClr val="tx1">
                    <a:lumMod val="75000"/>
                  </a:schemeClr>
                </a:solidFill>
              </a:rPr>
              <a:t>Working with strongly-typed XML</a:t>
            </a:r>
          </a:p>
          <a:p>
            <a:r>
              <a:rPr lang="en-US">
                <a:solidFill>
                  <a:schemeClr val="tx1">
                    <a:lumMod val="75000"/>
                  </a:schemeClr>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45746723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8" y="3058831"/>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a:solidFill>
                  <a:schemeClr val="accent6"/>
                </a:solidFill>
              </a:rPr>
              <a:t>Parse XML without an XSD</a:t>
            </a:r>
          </a:p>
        </p:txBody>
      </p:sp>
      <p:sp>
        <p:nvSpPr>
          <p:cNvPr id="4" name="Content Placeholder 3"/>
          <p:cNvSpPr>
            <a:spLocks noGrp="1"/>
          </p:cNvSpPr>
          <p:nvPr>
            <p:ph idx="1"/>
          </p:nvPr>
        </p:nvSpPr>
        <p:spPr>
          <a:xfrm>
            <a:off x="658368" y="5195625"/>
            <a:ext cx="8318500" cy="1295400"/>
          </a:xfrm>
        </p:spPr>
        <p:txBody>
          <a:bodyPr/>
          <a:lstStyle/>
          <a:p>
            <a:r>
              <a:rPr lang="en-US" b="1" err="1"/>
              <a:t>XmlElement</a:t>
            </a:r>
            <a:r>
              <a:rPr lang="en-US" err="1"/>
              <a:t>.parse</a:t>
            </a:r>
            <a:r>
              <a:rPr lang="en-US"/>
              <a:t>() </a:t>
            </a:r>
          </a:p>
          <a:p>
            <a:pPr lvl="1"/>
            <a:r>
              <a:rPr lang="en-US"/>
              <a:t>Parse XML data into a graph of XmlElement objects without an XSD</a:t>
            </a:r>
          </a:p>
          <a:p>
            <a:pPr lvl="1"/>
            <a:r>
              <a:rPr lang="en-US"/>
              <a:t>Input can be byte[], </a:t>
            </a:r>
            <a:r>
              <a:rPr lang="en-US" err="1"/>
              <a:t>java.io.File</a:t>
            </a:r>
            <a:r>
              <a:rPr lang="en-US"/>
              <a:t>, </a:t>
            </a:r>
            <a:r>
              <a:rPr lang="en-US" err="1"/>
              <a:t>java.io.InputStream</a:t>
            </a:r>
            <a:r>
              <a:rPr lang="en-US"/>
              <a:t>, </a:t>
            </a:r>
            <a:r>
              <a:rPr lang="en-US" err="1"/>
              <a:t>java.io.Reader</a:t>
            </a:r>
            <a:r>
              <a:rPr lang="en-US"/>
              <a:t>, or String</a:t>
            </a:r>
          </a:p>
          <a:p>
            <a:endParaRPr lang="en-US"/>
          </a:p>
        </p:txBody>
      </p:sp>
      <p:pic>
        <p:nvPicPr>
          <p:cNvPr id="5129" name="pic Console 6lines" descr="C:\Users\sluersen\AppData\Local\Temp\SNAGHTML544527e.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667604" y="889893"/>
            <a:ext cx="457200" cy="17526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rec Code"/>
          <p:cNvSpPr/>
          <p:nvPr/>
        </p:nvSpPr>
        <p:spPr>
          <a:xfrm>
            <a:off x="658368" y="916913"/>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 uses </a:t>
            </a:r>
            <a:r>
              <a:rPr lang="en-US" sz="1600" b="1" err="1">
                <a:solidFill>
                  <a:schemeClr val="bg1"/>
                </a:solidFill>
                <a:latin typeface="Courier New"/>
                <a:ea typeface="Times New Roman"/>
                <a:cs typeface="Times New Roman"/>
              </a:rPr>
              <a:t>gw.xml.XmlElement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 uses </a:t>
            </a:r>
            <a:r>
              <a:rPr lang="en-US" sz="1600" b="1" err="1">
                <a:solidFill>
                  <a:schemeClr val="bg1"/>
                </a:solidFill>
                <a:latin typeface="Courier New"/>
                <a:ea typeface="Times New Roman"/>
                <a:cs typeface="Times New Roman"/>
              </a:rPr>
              <a:t>java.io.File</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…14 var </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 "…/examples/xml/exampleUntyped.xml" </a:t>
            </a:r>
            <a:endParaRPr lang="en-US" sz="1600" b="1">
              <a:solidFill>
                <a:schemeClr val="bg1"/>
              </a:solidFill>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…16 var file = new File(</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…22 </a:t>
            </a:r>
            <a:r>
              <a:rPr lang="en-US" sz="1600" b="1" err="1">
                <a:solidFill>
                  <a:schemeClr val="bg1"/>
                </a:solidFill>
                <a:latin typeface="Courier New"/>
                <a:ea typeface="Times New Roman"/>
                <a:cs typeface="Times New Roman"/>
              </a:rPr>
              <a:t>xml.print</a:t>
            </a:r>
            <a:r>
              <a:rPr lang="en-US" sz="1600" b="1">
                <a:solidFill>
                  <a:schemeClr val="bg1"/>
                </a:solidFill>
                <a:latin typeface="Courier New"/>
                <a:ea typeface="Times New Roman"/>
                <a:cs typeface="Times New Roman"/>
              </a:rPr>
              <a:t>()</a:t>
            </a:r>
          </a:p>
        </p:txBody>
      </p:sp>
      <p:sp>
        <p:nvSpPr>
          <p:cNvPr id="6" name="txt Output"/>
          <p:cNvSpPr txBox="1"/>
          <p:nvPr/>
        </p:nvSpPr>
        <p:spPr>
          <a:xfrm>
            <a:off x="1371600" y="3492404"/>
            <a:ext cx="7924800" cy="13716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&lt;?xml version="1.0"?&gt;</a:t>
            </a:r>
          </a:p>
          <a:p>
            <a:r>
              <a:rPr lang="en-US" sz="1600" b="1">
                <a:solidFill>
                  <a:schemeClr val="bg1"/>
                </a:solidFill>
                <a:latin typeface="Courier New" pitchFamily="49" charset="0"/>
                <a:cs typeface="Courier New" pitchFamily="49" charset="0"/>
              </a:rPr>
              <a:t>&lt;config </a:t>
            </a:r>
            <a:r>
              <a:rPr lang="en-US" sz="1600" b="1" err="1">
                <a:solidFill>
                  <a:schemeClr val="bg1"/>
                </a:solidFill>
                <a:latin typeface="Courier New" pitchFamily="49" charset="0"/>
                <a:cs typeface="Courier New" pitchFamily="49" charset="0"/>
              </a:rPr>
              <a:t>xmlns</a:t>
            </a:r>
            <a:r>
              <a:rPr lang="en-US" sz="1600" b="1">
                <a:solidFill>
                  <a:schemeClr val="bg1"/>
                </a:solidFill>
                <a:latin typeface="Courier New" pitchFamily="49" charset="0"/>
                <a:cs typeface="Courier New" pitchFamily="49" charset="0"/>
              </a:rPr>
              <a:t>="http://guidewire.com/config"&gt;</a:t>
            </a:r>
          </a:p>
          <a:p>
            <a:r>
              <a:rPr lang="en-US" sz="1600" b="1">
                <a:solidFill>
                  <a:schemeClr val="bg1"/>
                </a:solidFill>
                <a:latin typeface="Courier New" pitchFamily="49" charset="0"/>
                <a:cs typeface="Courier New" pitchFamily="49" charset="0"/>
              </a:rPr>
              <a:t>  &lt;param name="CurrencyURL" value=""&gt;http://acme.x.com&lt;/param&gt;</a:t>
            </a:r>
          </a:p>
          <a:p>
            <a:r>
              <a:rPr lang="en-US" sz="1600" b="1">
                <a:solidFill>
                  <a:schemeClr val="bg1"/>
                </a:solidFill>
                <a:latin typeface="Courier New" pitchFamily="49" charset="0"/>
                <a:cs typeface="Courier New" pitchFamily="49" charset="0"/>
              </a:rPr>
              <a:t>  &lt;database name="TADatabase" dbtype="h2" autoupgrade="true"&gt;</a:t>
            </a:r>
          </a:p>
          <a:p>
            <a:r>
              <a:rPr lang="en-US" sz="1600" b="1">
                <a:solidFill>
                  <a:schemeClr val="bg1"/>
                </a:solidFill>
                <a:latin typeface="Courier New" pitchFamily="49" charset="0"/>
                <a:cs typeface="Courier New" pitchFamily="49" charset="0"/>
              </a:rPr>
              <a:t>    &lt;param name="jdbcURL" value="jdbc:h2:file:ta/</a:t>
            </a:r>
            <a:r>
              <a:rPr lang="en-US" sz="1600" b="1" err="1">
                <a:solidFill>
                  <a:schemeClr val="bg1"/>
                </a:solidFill>
                <a:latin typeface="Courier New" pitchFamily="49" charset="0"/>
                <a:cs typeface="Courier New" pitchFamily="49" charset="0"/>
              </a:rPr>
              <a:t>db</a:t>
            </a:r>
            <a:r>
              <a:rPr lang="en-US" sz="1600" b="1">
                <a:solidFill>
                  <a:schemeClr val="bg1"/>
                </a:solidFill>
                <a:latin typeface="Courier New" pitchFamily="49" charset="0"/>
                <a:cs typeface="Courier New" pitchFamily="49" charset="0"/>
              </a:rPr>
              <a:t>/ta"/&gt;</a:t>
            </a:r>
          </a:p>
          <a:p>
            <a:r>
              <a:rPr lang="en-US" sz="1600" b="1">
                <a:solidFill>
                  <a:schemeClr val="bg1"/>
                </a:solidFill>
                <a:latin typeface="Courier New" pitchFamily="49" charset="0"/>
                <a:cs typeface="Courier New" pitchFamily="49" charset="0"/>
              </a:rPr>
              <a:t>    </a:t>
            </a:r>
          </a:p>
        </p:txBody>
      </p:sp>
      <p:sp>
        <p:nvSpPr>
          <p:cNvPr id="11" name="Down Arrow 10"/>
          <p:cNvSpPr/>
          <p:nvPr/>
        </p:nvSpPr>
        <p:spPr bwMode="auto">
          <a:xfrm>
            <a:off x="8305800" y="2779783"/>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74965776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solidFill>
                  <a:schemeClr val="accent6"/>
                </a:solidFill>
              </a:rPr>
              <a:t>Accessing element properties</a:t>
            </a:r>
          </a:p>
        </p:txBody>
      </p:sp>
      <p:sp>
        <p:nvSpPr>
          <p:cNvPr id="4" name="Content Placeholder 3"/>
          <p:cNvSpPr>
            <a:spLocks noGrp="1"/>
          </p:cNvSpPr>
          <p:nvPr>
            <p:ph idx="1"/>
          </p:nvPr>
        </p:nvSpPr>
        <p:spPr>
          <a:xfrm>
            <a:off x="658368" y="5096222"/>
            <a:ext cx="8318500" cy="1295400"/>
          </a:xfrm>
        </p:spPr>
        <p:txBody>
          <a:bodyPr/>
          <a:lstStyle/>
          <a:p>
            <a:r>
              <a:rPr lang="en-US" b="1" err="1"/>
              <a:t>QName</a:t>
            </a:r>
            <a:r>
              <a:rPr lang="en-US" b="1"/>
              <a:t> </a:t>
            </a:r>
            <a:r>
              <a:rPr lang="en-US"/>
              <a:t>property represents a </a:t>
            </a:r>
            <a:r>
              <a:rPr lang="en-US" b="1"/>
              <a:t>qualified name</a:t>
            </a:r>
            <a:r>
              <a:rPr lang="en-US"/>
              <a:t> as defined in the XML specifications</a:t>
            </a:r>
          </a:p>
          <a:p>
            <a:r>
              <a:rPr lang="en-US"/>
              <a:t>Contains a Namespace URI, local part and prefix</a:t>
            </a:r>
          </a:p>
        </p:txBody>
      </p:sp>
      <p:pic>
        <p:nvPicPr>
          <p:cNvPr id="13" name="pic Console 4line" descr="C:\Users\sluersen\AppData\Local\Temp\SNAGHTML4733e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8" y="3081230"/>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xt Output"/>
          <p:cNvSpPr txBox="1"/>
          <p:nvPr/>
        </p:nvSpPr>
        <p:spPr>
          <a:xfrm>
            <a:off x="1295400" y="3453908"/>
            <a:ext cx="7924800" cy="975295"/>
          </a:xfrm>
          <a:prstGeom prst="rect">
            <a:avLst/>
          </a:prstGeom>
          <a:noFill/>
        </p:spPr>
        <p:txBody>
          <a:bodyPr wrap="square" rtlCol="0">
            <a:noAutofit/>
          </a:bodyPr>
          <a:lstStyle/>
          <a:p>
            <a:r>
              <a:rPr lang="en-US" sz="1600" b="1" err="1">
                <a:solidFill>
                  <a:schemeClr val="bg1"/>
                </a:solidFill>
                <a:latin typeface="Courier New" pitchFamily="49" charset="0"/>
                <a:cs typeface="Courier New" pitchFamily="49" charset="0"/>
              </a:rPr>
              <a:t>QName</a:t>
            </a:r>
            <a:r>
              <a:rPr lang="en-US" sz="1600" b="1">
                <a:solidFill>
                  <a:schemeClr val="bg1"/>
                </a:solidFill>
                <a:latin typeface="Courier New" pitchFamily="49" charset="0"/>
                <a:cs typeface="Courier New" pitchFamily="49" charset="0"/>
              </a:rPr>
              <a:t>:      {http://guidewire.com/config}config</a:t>
            </a:r>
          </a:p>
          <a:p>
            <a:r>
              <a:rPr lang="en-US" sz="1600" b="1">
                <a:solidFill>
                  <a:schemeClr val="bg1"/>
                </a:solidFill>
                <a:latin typeface="Courier New" pitchFamily="49" charset="0"/>
                <a:cs typeface="Courier New" pitchFamily="49" charset="0"/>
              </a:rPr>
              <a:t>Namespace:  http://guidewire.com/config</a:t>
            </a:r>
          </a:p>
          <a:p>
            <a:r>
              <a:rPr lang="en-US" sz="1600" b="1">
                <a:solidFill>
                  <a:schemeClr val="bg1"/>
                </a:solidFill>
                <a:latin typeface="Courier New" pitchFamily="49" charset="0"/>
                <a:cs typeface="Courier New" pitchFamily="49" charset="0"/>
              </a:rPr>
              <a:t>Local part: config</a:t>
            </a:r>
          </a:p>
        </p:txBody>
      </p:sp>
      <p:sp>
        <p:nvSpPr>
          <p:cNvPr id="8" name="rec LineNumbers"/>
          <p:cNvSpPr/>
          <p:nvPr/>
        </p:nvSpPr>
        <p:spPr bwMode="auto">
          <a:xfrm>
            <a:off x="658368" y="876727"/>
            <a:ext cx="457200" cy="1295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rec Code"/>
          <p:cNvSpPr/>
          <p:nvPr/>
        </p:nvSpPr>
        <p:spPr>
          <a:xfrm>
            <a:off x="623455" y="1004508"/>
            <a:ext cx="8610600" cy="1296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…25 print("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      " + </a:t>
            </a:r>
            <a:r>
              <a:rPr lang="en-US" sz="1600" b="1" err="1">
                <a:solidFill>
                  <a:schemeClr val="bg1"/>
                </a:solidFill>
                <a:latin typeface="Courier New"/>
                <a:ea typeface="Times New Roman"/>
                <a:cs typeface="Times New Roman"/>
              </a:rPr>
              <a:t>xml.QName</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26 print("Namespace:  " + </a:t>
            </a:r>
            <a:r>
              <a:rPr lang="en-US" sz="1600" b="1" err="1">
                <a:solidFill>
                  <a:schemeClr val="bg1"/>
                </a:solidFill>
                <a:latin typeface="Courier New"/>
                <a:ea typeface="Times New Roman"/>
                <a:cs typeface="Times New Roman"/>
              </a:rPr>
              <a:t>xml.QName.NamespaceURI</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27 print("Local part: " + </a:t>
            </a:r>
            <a:r>
              <a:rPr lang="en-US" sz="1600" b="1" err="1">
                <a:solidFill>
                  <a:schemeClr val="bg1"/>
                </a:solidFill>
                <a:latin typeface="Courier New"/>
                <a:ea typeface="Times New Roman"/>
                <a:cs typeface="Times New Roman"/>
              </a:rPr>
              <a:t>xml.QName.LocalPart</a:t>
            </a:r>
            <a:r>
              <a:rPr lang="en-US" sz="1600" b="1">
                <a:solidFill>
                  <a:schemeClr val="bg1"/>
                </a:solidFill>
                <a:latin typeface="Courier New"/>
                <a:ea typeface="Times New Roman"/>
                <a:cs typeface="Times New Roman"/>
              </a:rPr>
              <a:t>)</a:t>
            </a:r>
          </a:p>
        </p:txBody>
      </p:sp>
      <p:sp>
        <p:nvSpPr>
          <p:cNvPr id="10" name="Down Arrow 9"/>
          <p:cNvSpPr/>
          <p:nvPr/>
        </p:nvSpPr>
        <p:spPr bwMode="auto">
          <a:xfrm>
            <a:off x="8229600" y="2762519"/>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82225068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Accessing children by index</a:t>
            </a:r>
          </a:p>
        </p:txBody>
      </p:sp>
      <p:sp>
        <p:nvSpPr>
          <p:cNvPr id="3" name="Content Placeholder 2"/>
          <p:cNvSpPr>
            <a:spLocks noGrp="1"/>
          </p:cNvSpPr>
          <p:nvPr>
            <p:ph idx="1"/>
          </p:nvPr>
        </p:nvSpPr>
        <p:spPr>
          <a:xfrm>
            <a:off x="674532" y="4741400"/>
            <a:ext cx="8318500" cy="1600200"/>
          </a:xfrm>
        </p:spPr>
        <p:txBody>
          <a:bodyPr/>
          <a:lstStyle/>
          <a:p>
            <a:r>
              <a:rPr lang="en-US"/>
              <a:t>Syntax to access a given child element:</a:t>
            </a:r>
            <a:br>
              <a:rPr lang="en-US"/>
            </a:br>
            <a:r>
              <a:rPr lang="en-US" b="1" err="1">
                <a:latin typeface="Courier New" pitchFamily="49" charset="0"/>
                <a:cs typeface="Courier New" pitchFamily="49" charset="0"/>
              </a:rPr>
              <a:t>parent.Children</a:t>
            </a:r>
            <a:r>
              <a:rPr lang="en-US" b="1">
                <a:latin typeface="Courier New" pitchFamily="49" charset="0"/>
                <a:cs typeface="Courier New" pitchFamily="49" charset="0"/>
              </a:rPr>
              <a:t>[x]</a:t>
            </a:r>
          </a:p>
          <a:p>
            <a:endParaRPr lang="en-US"/>
          </a:p>
        </p:txBody>
      </p:sp>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658368" y="888112"/>
            <a:ext cx="457200" cy="1295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1" name="pic Console 4line" descr="C:\Users\sluersen\AppData\Local\Temp\SNAGHTML4733e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368" y="293716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 Code"/>
          <p:cNvSpPr/>
          <p:nvPr/>
        </p:nvSpPr>
        <p:spPr>
          <a:xfrm>
            <a:off x="658368" y="976057"/>
            <a:ext cx="8610600" cy="1296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…31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0</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32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33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].Children[</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p>
        </p:txBody>
      </p:sp>
      <p:sp>
        <p:nvSpPr>
          <p:cNvPr id="7" name="txt Output"/>
          <p:cNvSpPr txBox="1"/>
          <p:nvPr/>
        </p:nvSpPr>
        <p:spPr>
          <a:xfrm>
            <a:off x="1115568" y="3429000"/>
            <a:ext cx="7924800" cy="975296"/>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{http://guidewire.com/config}param</a:t>
            </a:r>
          </a:p>
          <a:p>
            <a:r>
              <a:rPr lang="en-US" sz="1600" b="1">
                <a:solidFill>
                  <a:schemeClr val="bg1"/>
                </a:solidFill>
                <a:latin typeface="Courier New" pitchFamily="49" charset="0"/>
                <a:cs typeface="Courier New" pitchFamily="49" charset="0"/>
              </a:rPr>
              <a:t>{http://guidewire.com/config}database</a:t>
            </a:r>
          </a:p>
          <a:p>
            <a:r>
              <a:rPr lang="en-US" sz="1600" b="1">
                <a:solidFill>
                  <a:schemeClr val="bg1"/>
                </a:solidFill>
                <a:latin typeface="Courier New" pitchFamily="49" charset="0"/>
                <a:cs typeface="Courier New" pitchFamily="49" charset="0"/>
              </a:rPr>
              <a:t>{http://guidewire.com/config}param</a:t>
            </a:r>
          </a:p>
        </p:txBody>
      </p:sp>
      <p:sp>
        <p:nvSpPr>
          <p:cNvPr id="12" name="Down Arrow 11"/>
          <p:cNvSpPr/>
          <p:nvPr/>
        </p:nvSpPr>
        <p:spPr bwMode="auto">
          <a:xfrm>
            <a:off x="7924800" y="2556164"/>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480339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Accessing children by name</a:t>
            </a:r>
          </a:p>
        </p:txBody>
      </p:sp>
      <p:sp>
        <p:nvSpPr>
          <p:cNvPr id="3" name="Content Placeholder 2"/>
          <p:cNvSpPr>
            <a:spLocks noGrp="1"/>
          </p:cNvSpPr>
          <p:nvPr>
            <p:ph idx="1"/>
          </p:nvPr>
        </p:nvSpPr>
        <p:spPr>
          <a:xfrm>
            <a:off x="662554" y="4956173"/>
            <a:ext cx="8396287" cy="1600200"/>
          </a:xfrm>
        </p:spPr>
        <p:txBody>
          <a:bodyPr/>
          <a:lstStyle/>
          <a:p>
            <a:r>
              <a:rPr lang="en-US"/>
              <a:t>Returns only one child with given name syntax</a:t>
            </a:r>
            <a:br>
              <a:rPr lang="en-US"/>
            </a:br>
            <a:r>
              <a:rPr lang="en-US" b="1" err="1">
                <a:latin typeface="Courier New" pitchFamily="49" charset="0"/>
                <a:cs typeface="Courier New" pitchFamily="49" charset="0"/>
              </a:rPr>
              <a:t>parent.getChild</a:t>
            </a:r>
            <a:r>
              <a:rPr lang="en-US" b="1">
                <a:latin typeface="Courier New" pitchFamily="49" charset="0"/>
                <a:cs typeface="Courier New" pitchFamily="49" charset="0"/>
              </a:rPr>
              <a:t>(</a:t>
            </a:r>
            <a:r>
              <a:rPr lang="en-US" b="1" err="1">
                <a:latin typeface="Courier New" pitchFamily="49" charset="0"/>
                <a:cs typeface="Courier New" pitchFamily="49" charset="0"/>
              </a:rPr>
              <a:t>QName</a:t>
            </a:r>
            <a:r>
              <a:rPr lang="en-US" b="1">
                <a:latin typeface="Courier New" pitchFamily="49" charset="0"/>
                <a:cs typeface="Courier New" pitchFamily="49" charset="0"/>
              </a:rPr>
              <a:t>)</a:t>
            </a:r>
          </a:p>
          <a:p>
            <a:r>
              <a:rPr lang="en-US"/>
              <a:t>Returns a list of elements with given name syntax</a:t>
            </a:r>
            <a:br>
              <a:rPr lang="en-US"/>
            </a:br>
            <a:r>
              <a:rPr lang="en-US" b="1" err="1">
                <a:latin typeface="Courier New" pitchFamily="49" charset="0"/>
                <a:cs typeface="Courier New" pitchFamily="49" charset="0"/>
              </a:rPr>
              <a:t>parent.getChildren</a:t>
            </a:r>
            <a:r>
              <a:rPr lang="en-US" b="1">
                <a:latin typeface="Courier New" pitchFamily="49" charset="0"/>
                <a:cs typeface="Courier New" pitchFamily="49" charset="0"/>
              </a:rPr>
              <a:t>(</a:t>
            </a:r>
            <a:r>
              <a:rPr lang="en-US" b="1" err="1">
                <a:latin typeface="Courier New" pitchFamily="49" charset="0"/>
                <a:cs typeface="Courier New" pitchFamily="49" charset="0"/>
              </a:rPr>
              <a:t>QName</a:t>
            </a:r>
            <a:r>
              <a:rPr lang="en-US" b="1">
                <a:latin typeface="Courier New" pitchFamily="49" charset="0"/>
                <a:cs typeface="Courier New" pitchFamily="49" charset="0"/>
              </a:rPr>
              <a:t>)</a:t>
            </a:r>
          </a:p>
          <a:p>
            <a:pPr marL="0" indent="0">
              <a:buNone/>
            </a:pPr>
            <a:endParaRPr lang="en-US"/>
          </a:p>
        </p:txBody>
      </p:sp>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pic Console 5lines" descr="C:\Users\sluersen\AppData\Local\Temp\SNAGHTML23a949.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1" y="30519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70" name="pic Console 4line" descr="C:\Users\sluersen\AppData\Local\Temp\SNAGHTML4733e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350" y="3230031"/>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658368" y="887227"/>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628350" y="1029433"/>
            <a:ext cx="8610600" cy="19824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…36 print("Text of database element: " +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37       </a:t>
            </a:r>
            <a:r>
              <a:rPr lang="en-US" sz="1600" b="1" err="1">
                <a:solidFill>
                  <a:schemeClr val="bg1"/>
                </a:solidFill>
                <a:latin typeface="Courier New"/>
                <a:ea typeface="Times New Roman"/>
                <a:cs typeface="Times New Roman"/>
              </a:rPr>
              <a:t>xml.getChild</a:t>
            </a:r>
            <a:r>
              <a:rPr lang="en-US" sz="1600" b="1">
                <a:solidFill>
                  <a:schemeClr val="bg1"/>
                </a:solidFill>
                <a:latin typeface="Courier New"/>
                <a:ea typeface="Times New Roman"/>
                <a:cs typeface="Times New Roman"/>
              </a:rPr>
              <a: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("http://guidewire.com/config",</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"database")).Text)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38 print("Number of param elements in file: " +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39       </a:t>
            </a:r>
            <a:r>
              <a:rPr lang="en-US" sz="1600" b="1" err="1">
                <a:solidFill>
                  <a:schemeClr val="bg1"/>
                </a:solidFill>
                <a:latin typeface="Courier New"/>
                <a:ea typeface="Times New Roman"/>
                <a:cs typeface="Times New Roman"/>
              </a:rPr>
              <a:t>xml.getChildren</a:t>
            </a:r>
            <a:r>
              <a:rPr lang="en-US" sz="1600" b="1">
                <a:solidFill>
                  <a:schemeClr val="bg1"/>
                </a:solidFill>
                <a:latin typeface="Courier New"/>
                <a:ea typeface="Times New Roman"/>
                <a:cs typeface="Times New Roman"/>
              </a:rPr>
              <a: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("http://guidewire.com/config",</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"param")).Count)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a:solidFill>
                <a:schemeClr val="bg1"/>
              </a:solidFill>
              <a:latin typeface="Courier New"/>
              <a:ea typeface="Times New Roman"/>
              <a:cs typeface="Times New Roman"/>
            </a:endParaRPr>
          </a:p>
        </p:txBody>
      </p:sp>
      <p:sp>
        <p:nvSpPr>
          <p:cNvPr id="7" name="txt Output"/>
          <p:cNvSpPr txBox="1"/>
          <p:nvPr/>
        </p:nvSpPr>
        <p:spPr>
          <a:xfrm>
            <a:off x="1134041" y="3775196"/>
            <a:ext cx="7924800" cy="98482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Text of database element: </a:t>
            </a:r>
          </a:p>
          <a:p>
            <a:r>
              <a:rPr lang="en-US" sz="1600" b="1">
                <a:solidFill>
                  <a:schemeClr val="bg1"/>
                </a:solidFill>
                <a:latin typeface="Courier New" pitchFamily="49" charset="0"/>
                <a:cs typeface="Courier New" pitchFamily="49" charset="0"/>
              </a:rPr>
              <a:t>Number of param elements in file: 156</a:t>
            </a:r>
          </a:p>
        </p:txBody>
      </p:sp>
      <p:sp>
        <p:nvSpPr>
          <p:cNvPr id="11" name="Down Arrow 10"/>
          <p:cNvSpPr/>
          <p:nvPr/>
        </p:nvSpPr>
        <p:spPr bwMode="auto">
          <a:xfrm>
            <a:off x="8472872" y="3011853"/>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6934279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Console 4line" descr="C:\Users\sluersen\AppData\Local\Temp\SNAGHTML4733e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68" y="3267375"/>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solidFill>
                  <a:schemeClr val="accent6"/>
                </a:solidFill>
              </a:rPr>
              <a:t>Accessing children by where() methods</a:t>
            </a:r>
          </a:p>
        </p:txBody>
      </p:sp>
      <p:sp>
        <p:nvSpPr>
          <p:cNvPr id="3" name="Content Placeholder 2"/>
          <p:cNvSpPr>
            <a:spLocks noGrp="1"/>
          </p:cNvSpPr>
          <p:nvPr>
            <p:ph idx="1"/>
          </p:nvPr>
        </p:nvSpPr>
        <p:spPr>
          <a:xfrm>
            <a:off x="683768" y="5057757"/>
            <a:ext cx="8318500" cy="1600200"/>
          </a:xfrm>
        </p:spPr>
        <p:txBody>
          <a:bodyPr/>
          <a:lstStyle/>
          <a:p>
            <a:r>
              <a:rPr lang="en-US"/>
              <a:t>Retrieve elements that meet any given condition with</a:t>
            </a:r>
            <a:br>
              <a:rPr lang="en-US"/>
            </a:br>
            <a:r>
              <a:rPr lang="en-US" b="1">
                <a:latin typeface="Courier New" pitchFamily="49" charset="0"/>
                <a:cs typeface="Courier New" pitchFamily="49" charset="0"/>
              </a:rPr>
              <a:t>where()</a:t>
            </a:r>
            <a:r>
              <a:rPr lang="en-US"/>
              <a:t>, </a:t>
            </a:r>
            <a:r>
              <a:rPr lang="en-US" b="1" err="1">
                <a:latin typeface="Courier New" pitchFamily="49" charset="0"/>
                <a:cs typeface="Courier New" pitchFamily="49" charset="0"/>
              </a:rPr>
              <a:t>firstWhere</a:t>
            </a:r>
            <a:r>
              <a:rPr lang="en-US" b="1">
                <a:latin typeface="Courier New" pitchFamily="49" charset="0"/>
                <a:cs typeface="Courier New" pitchFamily="49" charset="0"/>
              </a:rPr>
              <a:t>()</a:t>
            </a:r>
            <a:r>
              <a:rPr lang="en-US"/>
              <a:t>,</a:t>
            </a:r>
            <a:r>
              <a:rPr lang="en-US" b="1">
                <a:latin typeface="Courier New" pitchFamily="49" charset="0"/>
                <a:cs typeface="Courier New" pitchFamily="49" charset="0"/>
              </a:rPr>
              <a:t> </a:t>
            </a:r>
            <a:r>
              <a:rPr lang="en-US"/>
              <a:t>and </a:t>
            </a:r>
            <a:r>
              <a:rPr lang="en-US" b="1" err="1">
                <a:latin typeface="Courier New" pitchFamily="49" charset="0"/>
                <a:cs typeface="Courier New" pitchFamily="49" charset="0"/>
              </a:rPr>
              <a:t>singleWhere</a:t>
            </a:r>
            <a:r>
              <a:rPr lang="en-US" b="1">
                <a:latin typeface="Courier New" pitchFamily="49" charset="0"/>
                <a:cs typeface="Courier New" pitchFamily="49" charset="0"/>
              </a:rPr>
              <a:t>()</a:t>
            </a:r>
            <a:endParaRPr lang="en-US"/>
          </a:p>
        </p:txBody>
      </p:sp>
      <p:sp>
        <p:nvSpPr>
          <p:cNvPr id="5" name="rec LineNumbers"/>
          <p:cNvSpPr/>
          <p:nvPr/>
        </p:nvSpPr>
        <p:spPr bwMode="auto">
          <a:xfrm>
            <a:off x="658368" y="866445"/>
            <a:ext cx="457200" cy="2057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658368" y="1027921"/>
            <a:ext cx="8610600" cy="2058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…43 print(</a:t>
            </a:r>
            <a:r>
              <a:rPr lang="en-US" sz="1600" b="1" err="1">
                <a:solidFill>
                  <a:schemeClr val="bg1"/>
                </a:solidFill>
                <a:latin typeface="Courier New"/>
                <a:ea typeface="Times New Roman"/>
                <a:cs typeface="Times New Roman"/>
              </a:rPr>
              <a:t>xml.Children.where</a:t>
            </a:r>
            <a:r>
              <a:rPr lang="en-US" sz="1600" b="1">
                <a:solidFill>
                  <a:schemeClr val="bg1"/>
                </a:solidFill>
                <a:latin typeface="Courier New"/>
                <a:ea typeface="Times New Roman"/>
                <a:cs typeface="Times New Roman"/>
              </a:rPr>
              <a:t>(\el -&gt;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…45 print(</a:t>
            </a:r>
            <a:r>
              <a:rPr lang="en-US" sz="1600" b="1" err="1">
                <a:solidFill>
                  <a:schemeClr val="bg1"/>
                </a:solidFill>
                <a:latin typeface="Courier New"/>
                <a:ea typeface="Times New Roman"/>
                <a:cs typeface="Times New Roman"/>
              </a:rPr>
              <a:t>xml.Children.firstWhere</a:t>
            </a:r>
            <a:r>
              <a:rPr lang="en-US" sz="1600" b="1">
                <a:solidFill>
                  <a:schemeClr val="bg1"/>
                </a:solidFill>
                <a:latin typeface="Courier New"/>
                <a:ea typeface="Times New Roman"/>
                <a:cs typeface="Times New Roman"/>
              </a:rPr>
              <a:t>(\el -&gt;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…48 print(</a:t>
            </a:r>
            <a:r>
              <a:rPr lang="en-US" sz="1600" b="1" err="1">
                <a:solidFill>
                  <a:schemeClr val="bg1"/>
                </a:solidFill>
                <a:latin typeface="Courier New"/>
                <a:ea typeface="Times New Roman"/>
                <a:cs typeface="Times New Roman"/>
              </a:rPr>
              <a:t>xml.Children.singleWhere</a:t>
            </a:r>
            <a:r>
              <a:rPr lang="en-US" sz="1600" b="1">
                <a:solidFill>
                  <a:schemeClr val="bg1"/>
                </a:solidFill>
                <a:latin typeface="Courier New"/>
                <a:ea typeface="Times New Roman"/>
                <a:cs typeface="Times New Roman"/>
              </a:rPr>
              <a:t>(\el -&gt;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 </a:t>
            </a:r>
          </a:p>
        </p:txBody>
      </p:sp>
      <p:sp>
        <p:nvSpPr>
          <p:cNvPr id="7" name="txt Output"/>
          <p:cNvSpPr txBox="1"/>
          <p:nvPr/>
        </p:nvSpPr>
        <p:spPr>
          <a:xfrm>
            <a:off x="1219200" y="3705366"/>
            <a:ext cx="7924800" cy="914400"/>
          </a:xfrm>
          <a:prstGeom prst="rect">
            <a:avLst/>
          </a:prstGeom>
          <a:noFill/>
        </p:spPr>
        <p:txBody>
          <a:bodyPr wrap="square" rtlCol="0">
            <a:noAutofit/>
          </a:bodyPr>
          <a:lstStyle/>
          <a:p>
            <a:r>
              <a:rPr lang="nn-NO" sz="1600" b="1">
                <a:solidFill>
                  <a:schemeClr val="bg1"/>
                </a:solidFill>
                <a:latin typeface="Courier New" pitchFamily="49" charset="0"/>
                <a:cs typeface="Courier New" pitchFamily="49" charset="0"/>
              </a:rPr>
              <a:t>[Element {http://guidewire.com/config}database]</a:t>
            </a:r>
          </a:p>
          <a:p>
            <a:r>
              <a:rPr lang="nn-NO" sz="1600" b="1">
                <a:solidFill>
                  <a:schemeClr val="bg1"/>
                </a:solidFill>
                <a:latin typeface="Courier New" pitchFamily="49" charset="0"/>
                <a:cs typeface="Courier New" pitchFamily="49" charset="0"/>
              </a:rPr>
              <a:t>Element {http://guidewire.com/config}database</a:t>
            </a:r>
          </a:p>
          <a:p>
            <a:r>
              <a:rPr lang="nn-NO" sz="1600" b="1">
                <a:solidFill>
                  <a:schemeClr val="bg1"/>
                </a:solidFill>
                <a:latin typeface="Courier New" pitchFamily="49" charset="0"/>
                <a:cs typeface="Courier New" pitchFamily="49" charset="0"/>
              </a:rPr>
              <a:t>Element {http://guidewire.com/config}database</a:t>
            </a:r>
            <a:endParaRPr lang="en-US" sz="1600" b="1">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6658596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8" y="3240452"/>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solidFill>
                  <a:schemeClr val="accent6"/>
                </a:solidFill>
              </a:rPr>
              <a:t>Accessing attributes and values</a:t>
            </a:r>
          </a:p>
        </p:txBody>
      </p:sp>
      <p:sp>
        <p:nvSpPr>
          <p:cNvPr id="4" name="Content Placeholder 3"/>
          <p:cNvSpPr>
            <a:spLocks noGrp="1"/>
          </p:cNvSpPr>
          <p:nvPr>
            <p:ph idx="1"/>
          </p:nvPr>
        </p:nvSpPr>
        <p:spPr>
          <a:xfrm>
            <a:off x="730781" y="5196431"/>
            <a:ext cx="8318500" cy="1447800"/>
          </a:xfrm>
        </p:spPr>
        <p:txBody>
          <a:bodyPr/>
          <a:lstStyle/>
          <a:p>
            <a:r>
              <a:rPr lang="en-US" b="1" err="1">
                <a:latin typeface="Courier New" pitchFamily="49" charset="0"/>
                <a:cs typeface="Courier New" pitchFamily="49" charset="0"/>
              </a:rPr>
              <a:t>AttributeNames</a:t>
            </a:r>
            <a:endParaRPr lang="en-US" b="1">
              <a:latin typeface="Courier New" pitchFamily="49" charset="0"/>
              <a:cs typeface="Courier New" pitchFamily="49" charset="0"/>
            </a:endParaRPr>
          </a:p>
          <a:p>
            <a:pPr lvl="1"/>
            <a:r>
              <a:rPr lang="en-US"/>
              <a:t> property returns a set of attribute names for the element</a:t>
            </a:r>
          </a:p>
          <a:p>
            <a:r>
              <a:rPr lang="en-US" b="1" err="1">
                <a:latin typeface="Courier New" pitchFamily="49" charset="0"/>
                <a:cs typeface="Courier New" pitchFamily="49" charset="0"/>
              </a:rPr>
              <a:t>getAttributeSimpleValue</a:t>
            </a:r>
            <a:r>
              <a:rPr lang="en-US" b="1">
                <a:latin typeface="Courier New" pitchFamily="49" charset="0"/>
                <a:cs typeface="Courier New" pitchFamily="49" charset="0"/>
              </a:rPr>
              <a:t>()</a:t>
            </a:r>
          </a:p>
          <a:p>
            <a:pPr lvl="1"/>
            <a:r>
              <a:rPr lang="en-US"/>
              <a:t>returns a simple value for an attribute</a:t>
            </a:r>
            <a:endParaRPr lang="en-US" b="1">
              <a:latin typeface="Courier New" pitchFamily="49" charset="0"/>
              <a:cs typeface="Courier New" pitchFamily="49" charset="0"/>
            </a:endParaRPr>
          </a:p>
        </p:txBody>
      </p:sp>
      <p:sp>
        <p:nvSpPr>
          <p:cNvPr id="6" name="rec LineNumbers"/>
          <p:cNvSpPr/>
          <p:nvPr/>
        </p:nvSpPr>
        <p:spPr bwMode="auto">
          <a:xfrm>
            <a:off x="658368" y="819821"/>
            <a:ext cx="457200" cy="206130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 Code"/>
          <p:cNvSpPr/>
          <p:nvPr/>
        </p:nvSpPr>
        <p:spPr>
          <a:xfrm>
            <a:off x="658368" y="897364"/>
            <a:ext cx="8610600" cy="1906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…51 var </a:t>
            </a:r>
            <a:r>
              <a:rPr lang="en-US" sz="1600" b="1" err="1">
                <a:solidFill>
                  <a:schemeClr val="bg1"/>
                </a:solidFill>
                <a:latin typeface="Courier New"/>
                <a:ea typeface="Times New Roman"/>
                <a:cs typeface="Times New Roman"/>
              </a:rPr>
              <a:t>dbElement</a:t>
            </a:r>
            <a:r>
              <a:rPr lang="en-US" sz="1600" b="1">
                <a:solidFill>
                  <a:schemeClr val="bg1"/>
                </a:solidFill>
                <a:latin typeface="Courier New"/>
                <a:ea typeface="Times New Roman"/>
                <a:cs typeface="Times New Roman"/>
              </a:rPr>
              <a:t> = </a:t>
            </a:r>
            <a:r>
              <a:rPr lang="en-US" sz="1600" b="1" err="1">
                <a:solidFill>
                  <a:schemeClr val="bg1"/>
                </a:solidFill>
                <a:latin typeface="Courier New"/>
                <a:ea typeface="Times New Roman"/>
                <a:cs typeface="Times New Roman"/>
              </a:rPr>
              <a:t>xml.Children.singleWhere</a:t>
            </a:r>
            <a:r>
              <a:rPr lang="en-US" sz="1600" b="1">
                <a:solidFill>
                  <a:schemeClr val="bg1"/>
                </a:solidFill>
                <a:latin typeface="Courier New"/>
                <a:ea typeface="Times New Roman"/>
                <a:cs typeface="Times New Roman"/>
              </a:rPr>
              <a:t>(\el -&gt;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52 print("Attributes: " + </a:t>
            </a:r>
            <a:r>
              <a:rPr lang="en-US" sz="1600" b="1" err="1">
                <a:solidFill>
                  <a:schemeClr val="bg1"/>
                </a:solidFill>
                <a:latin typeface="Courier New"/>
                <a:ea typeface="Times New Roman"/>
                <a:cs typeface="Times New Roman"/>
              </a:rPr>
              <a:t>dbElement.AttributesNames</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53 print("---------------------------------------")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54 for (</a:t>
            </a:r>
            <a:r>
              <a:rPr lang="en-US" sz="1600" b="1" err="1">
                <a:solidFill>
                  <a:schemeClr val="bg1"/>
                </a:solidFill>
                <a:latin typeface="Courier New"/>
                <a:ea typeface="Times New Roman"/>
                <a:cs typeface="Times New Roman"/>
              </a:rPr>
              <a:t>attrib</a:t>
            </a:r>
            <a:r>
              <a:rPr lang="en-US" sz="1600" b="1">
                <a:solidFill>
                  <a:schemeClr val="bg1"/>
                </a:solidFill>
                <a:latin typeface="Courier New"/>
                <a:ea typeface="Times New Roman"/>
                <a:cs typeface="Times New Roman"/>
              </a:rPr>
              <a:t> in </a:t>
            </a:r>
            <a:r>
              <a:rPr lang="en-US" sz="1600" b="1" err="1">
                <a:solidFill>
                  <a:schemeClr val="bg1"/>
                </a:solidFill>
                <a:latin typeface="Courier New"/>
                <a:ea typeface="Times New Roman"/>
                <a:cs typeface="Times New Roman"/>
              </a:rPr>
              <a:t>dbElement.AttributeNames</a:t>
            </a:r>
            <a:r>
              <a:rPr lang="en-US" sz="1600" b="1">
                <a:solidFill>
                  <a:schemeClr val="bg1"/>
                </a:solidFill>
                <a:latin typeface="Courier New"/>
                <a:ea typeface="Times New Roman"/>
                <a:cs typeface="Times New Roman"/>
              </a:rPr>
              <a: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55  print(</a:t>
            </a:r>
            <a:r>
              <a:rPr lang="en-US" sz="1600" b="1" err="1">
                <a:solidFill>
                  <a:schemeClr val="bg1"/>
                </a:solidFill>
                <a:latin typeface="Courier New"/>
                <a:ea typeface="Times New Roman"/>
                <a:cs typeface="Times New Roman"/>
              </a:rPr>
              <a:t>attrib</a:t>
            </a:r>
            <a:r>
              <a:rPr lang="en-US" sz="1600" b="1">
                <a:solidFill>
                  <a:schemeClr val="bg1"/>
                </a:solidFill>
                <a:latin typeface="Courier New"/>
                <a:ea typeface="Times New Roman"/>
                <a:cs typeface="Times New Roman"/>
              </a:rPr>
              <a:t> + ": " + </a:t>
            </a:r>
            <a:r>
              <a:rPr lang="en-US" sz="1600" b="1" err="1">
                <a:solidFill>
                  <a:schemeClr val="bg1"/>
                </a:solidFill>
                <a:latin typeface="Courier New"/>
                <a:ea typeface="Times New Roman"/>
                <a:cs typeface="Times New Roman"/>
              </a:rPr>
              <a:t>dbElement.getAttributeSimpleValue</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attrib</a:t>
            </a:r>
            <a:r>
              <a:rPr lang="en-US" sz="1600" b="1">
                <a:solidFill>
                  <a:schemeClr val="bg1"/>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56 }</a:t>
            </a:r>
          </a:p>
        </p:txBody>
      </p:sp>
      <p:sp>
        <p:nvSpPr>
          <p:cNvPr id="8" name="txt Output"/>
          <p:cNvSpPr txBox="1"/>
          <p:nvPr/>
        </p:nvSpPr>
        <p:spPr>
          <a:xfrm>
            <a:off x="1321077" y="3657600"/>
            <a:ext cx="7924800" cy="1371600"/>
          </a:xfrm>
          <a:prstGeom prst="rect">
            <a:avLst/>
          </a:prstGeom>
          <a:noFill/>
        </p:spPr>
        <p:txBody>
          <a:bodyPr wrap="square" rtlCol="0">
            <a:noAutofit/>
          </a:bodyPr>
          <a:lstStyle/>
          <a:p>
            <a:r>
              <a:rPr lang="nn-NO" sz="1600" b="1">
                <a:solidFill>
                  <a:schemeClr val="bg1"/>
                </a:solidFill>
                <a:latin typeface="Courier New" pitchFamily="49" charset="0"/>
                <a:cs typeface="Courier New" pitchFamily="49" charset="0"/>
              </a:rPr>
              <a:t>Attributes: [name, dbtype, autoupgrade]</a:t>
            </a:r>
          </a:p>
          <a:p>
            <a:r>
              <a:rPr lang="nn-NO" sz="1600" b="1">
                <a:solidFill>
                  <a:schemeClr val="bg1"/>
                </a:solidFill>
                <a:latin typeface="Courier New" pitchFamily="49" charset="0"/>
                <a:cs typeface="Courier New" pitchFamily="49" charset="0"/>
              </a:rPr>
              <a:t>---------------------------------------</a:t>
            </a:r>
          </a:p>
          <a:p>
            <a:r>
              <a:rPr lang="nn-NO" sz="1600" b="1">
                <a:solidFill>
                  <a:schemeClr val="bg1"/>
                </a:solidFill>
                <a:latin typeface="Courier New" pitchFamily="49" charset="0"/>
                <a:cs typeface="Courier New" pitchFamily="49" charset="0"/>
              </a:rPr>
              <a:t>name: Simple value: TADatabase</a:t>
            </a:r>
          </a:p>
          <a:p>
            <a:r>
              <a:rPr lang="nn-NO" sz="1600" b="1">
                <a:solidFill>
                  <a:schemeClr val="bg1"/>
                </a:solidFill>
                <a:latin typeface="Courier New" pitchFamily="49" charset="0"/>
                <a:cs typeface="Courier New" pitchFamily="49" charset="0"/>
              </a:rPr>
              <a:t>dbtype: Simple value: h2</a:t>
            </a:r>
          </a:p>
          <a:p>
            <a:r>
              <a:rPr lang="nn-NO" sz="1600" b="1">
                <a:solidFill>
                  <a:schemeClr val="bg1"/>
                </a:solidFill>
                <a:latin typeface="Courier New" pitchFamily="49" charset="0"/>
                <a:cs typeface="Courier New" pitchFamily="49" charset="0"/>
              </a:rPr>
              <a:t>autoupgrade: Simple value: true</a:t>
            </a:r>
            <a:endParaRPr lang="en-US" sz="1600" b="1">
              <a:solidFill>
                <a:schemeClr val="bg1"/>
              </a:solidFill>
              <a:latin typeface="Courier New" pitchFamily="49" charset="0"/>
              <a:cs typeface="Courier New" pitchFamily="49" charset="0"/>
            </a:endParaRPr>
          </a:p>
        </p:txBody>
      </p:sp>
      <p:sp>
        <p:nvSpPr>
          <p:cNvPr id="11" name="Down Arrow 10"/>
          <p:cNvSpPr/>
          <p:nvPr/>
        </p:nvSpPr>
        <p:spPr bwMode="auto">
          <a:xfrm>
            <a:off x="8077200" y="3070734"/>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02369492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Accessing element contents</a:t>
            </a:r>
          </a:p>
        </p:txBody>
      </p:sp>
      <p:sp>
        <p:nvSpPr>
          <p:cNvPr id="8" name="Content Placeholder 7"/>
          <p:cNvSpPr>
            <a:spLocks noGrp="1"/>
          </p:cNvSpPr>
          <p:nvPr>
            <p:ph idx="1"/>
          </p:nvPr>
        </p:nvSpPr>
        <p:spPr>
          <a:xfrm>
            <a:off x="635277" y="4114800"/>
            <a:ext cx="11091333" cy="1828800"/>
          </a:xfrm>
        </p:spPr>
        <p:txBody>
          <a:bodyPr/>
          <a:lstStyle/>
          <a:p>
            <a:r>
              <a:rPr lang="en-US"/>
              <a:t>A given XmlElement can have text or child elements but not both</a:t>
            </a:r>
          </a:p>
          <a:p>
            <a:r>
              <a:rPr lang="en-US"/>
              <a:t>Children indexer starts at 0</a:t>
            </a:r>
          </a:p>
        </p:txBody>
      </p:sp>
      <p:sp>
        <p:nvSpPr>
          <p:cNvPr id="5" name="rec LineNumbers"/>
          <p:cNvSpPr/>
          <p:nvPr/>
        </p:nvSpPr>
        <p:spPr bwMode="auto">
          <a:xfrm>
            <a:off x="692151" y="910871"/>
            <a:ext cx="457200" cy="2286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658368" y="1025106"/>
            <a:ext cx="8610600" cy="1906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…58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0</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59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0</a:t>
            </a:r>
            <a:r>
              <a:rPr lang="en-US" sz="1600" b="1">
                <a:solidFill>
                  <a:schemeClr val="bg1"/>
                </a:solidFill>
                <a:latin typeface="Courier New"/>
                <a:ea typeface="Times New Roman"/>
                <a:cs typeface="Times New Roman"/>
              </a:rPr>
              <a:t>].Text)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60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0</a:t>
            </a:r>
            <a:r>
              <a:rPr lang="en-US" sz="1600" b="1">
                <a:solidFill>
                  <a:schemeClr val="bg1"/>
                </a:solidFill>
                <a:latin typeface="Courier New"/>
                <a:ea typeface="Times New Roman"/>
                <a:cs typeface="Times New Roman"/>
              </a:rPr>
              <a:t>].Children)</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61 print("---------------------------------------")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62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63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].Text)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64 print(</a:t>
            </a:r>
            <a:r>
              <a:rPr lang="en-US" sz="1600" b="1" err="1">
                <a:solidFill>
                  <a:schemeClr val="bg1"/>
                </a:solidFill>
                <a:latin typeface="Courier New"/>
                <a:ea typeface="Times New Roman"/>
                <a:cs typeface="Times New Roman"/>
              </a:rPr>
              <a:t>xml.Children</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1</a:t>
            </a:r>
            <a:r>
              <a:rPr lang="en-US" sz="1600" b="1">
                <a:solidFill>
                  <a:schemeClr val="bg1"/>
                </a:solidFill>
                <a:latin typeface="Courier New"/>
                <a:ea typeface="Times New Roman"/>
                <a:cs typeface="Times New Roman"/>
              </a:rPr>
              <a:t>].Children)</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a:t>
            </a:r>
          </a:p>
        </p:txBody>
      </p:sp>
    </p:spTree>
    <p:extLst>
      <p:ext uri="{BB962C8B-B14F-4D97-AF65-F5344CB8AC3E}">
        <p14:creationId xmlns:p14="http://schemas.microsoft.com/office/powerpoint/2010/main" val="291649286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tx1">
                    <a:lumMod val="75000"/>
                  </a:schemeClr>
                </a:solidFill>
              </a:rPr>
              <a:t>Overview of XML</a:t>
            </a:r>
          </a:p>
          <a:p>
            <a:r>
              <a:rPr lang="en-US">
                <a:solidFill>
                  <a:schemeClr val="tx1">
                    <a:lumMod val="75000"/>
                  </a:schemeClr>
                </a:solidFill>
              </a:rPr>
              <a:t>The XmlElement class</a:t>
            </a:r>
          </a:p>
          <a:p>
            <a:r>
              <a:rPr lang="en-US">
                <a:solidFill>
                  <a:schemeClr val="tx1">
                    <a:lumMod val="75000"/>
                  </a:schemeClr>
                </a:solidFill>
              </a:rPr>
              <a:t>Reading untyped XML</a:t>
            </a:r>
          </a:p>
          <a:p>
            <a:r>
              <a:rPr lang="en-US">
                <a:solidFill>
                  <a:schemeClr val="bg1"/>
                </a:solidFill>
              </a:rPr>
              <a:t>Writing untyped XML</a:t>
            </a:r>
          </a:p>
          <a:p>
            <a:r>
              <a:rPr lang="en-US">
                <a:solidFill>
                  <a:schemeClr val="tx1">
                    <a:lumMod val="75000"/>
                  </a:schemeClr>
                </a:solidFill>
              </a:rPr>
              <a:t>Working with strongly-typed XML</a:t>
            </a:r>
          </a:p>
          <a:p>
            <a:r>
              <a:rPr lang="en-US">
                <a:solidFill>
                  <a:schemeClr val="tx1">
                    <a:lumMod val="75000"/>
                  </a:schemeClr>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45746723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 Console 4line" descr="C:\Users\sluersen\AppData\Local\Temp\SNAGHTML4733e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854" y="3288157"/>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Console 5lines" descr="C:\Users\sluersen\AppData\Local\Temp\SNAGHTML23a949.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1" y="29757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a:solidFill>
                  <a:schemeClr val="accent6"/>
                </a:solidFill>
              </a:rPr>
              <a:t>Modifying an existing XmlElement</a:t>
            </a:r>
          </a:p>
        </p:txBody>
      </p:sp>
      <p:sp>
        <p:nvSpPr>
          <p:cNvPr id="4" name="Content Placeholder 3"/>
          <p:cNvSpPr>
            <a:spLocks noGrp="1"/>
          </p:cNvSpPr>
          <p:nvPr>
            <p:ph idx="1"/>
          </p:nvPr>
        </p:nvSpPr>
        <p:spPr>
          <a:xfrm>
            <a:off x="667604" y="4876800"/>
            <a:ext cx="8318500" cy="1600200"/>
          </a:xfrm>
        </p:spPr>
        <p:txBody>
          <a:bodyPr/>
          <a:lstStyle/>
          <a:p>
            <a:r>
              <a:rPr lang="en-US" err="1"/>
              <a:t>XmlElements</a:t>
            </a:r>
            <a:r>
              <a:rPr lang="en-US"/>
              <a:t> can be modified using various set...() methods, such as:</a:t>
            </a:r>
          </a:p>
          <a:p>
            <a:pPr lvl="1"/>
            <a:r>
              <a:rPr lang="en-US" b="1" err="1">
                <a:latin typeface="Courier New" pitchFamily="49" charset="0"/>
                <a:cs typeface="Courier New" pitchFamily="49" charset="0"/>
              </a:rPr>
              <a:t>setAttributeValue</a:t>
            </a:r>
            <a:r>
              <a:rPr lang="en-US" b="1">
                <a:latin typeface="Courier New" pitchFamily="49" charset="0"/>
                <a:cs typeface="Courier New" pitchFamily="49" charset="0"/>
              </a:rPr>
              <a:t>()</a:t>
            </a:r>
          </a:p>
          <a:p>
            <a:pPr lvl="1"/>
            <a:r>
              <a:rPr lang="en-US" b="1" err="1">
                <a:latin typeface="Courier New" pitchFamily="49" charset="0"/>
                <a:cs typeface="Courier New" pitchFamily="49" charset="0"/>
              </a:rPr>
              <a:t>setText</a:t>
            </a:r>
            <a:r>
              <a:rPr lang="en-US" b="1">
                <a:latin typeface="Courier New" pitchFamily="49" charset="0"/>
                <a:cs typeface="Courier New" pitchFamily="49" charset="0"/>
              </a:rPr>
              <a:t>()</a:t>
            </a:r>
            <a:endParaRPr lang="en-US"/>
          </a:p>
          <a:p>
            <a:endParaRPr lang="en-US"/>
          </a:p>
        </p:txBody>
      </p:sp>
      <p:sp>
        <p:nvSpPr>
          <p:cNvPr id="6" name="rec LineNumbers"/>
          <p:cNvSpPr/>
          <p:nvPr/>
        </p:nvSpPr>
        <p:spPr bwMode="auto">
          <a:xfrm>
            <a:off x="667604" y="990599"/>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 Code"/>
          <p:cNvSpPr/>
          <p:nvPr/>
        </p:nvSpPr>
        <p:spPr>
          <a:xfrm>
            <a:off x="658368" y="1001802"/>
            <a:ext cx="8610600" cy="19824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…51 var </a:t>
            </a:r>
            <a:r>
              <a:rPr lang="en-US" sz="1600" b="1" err="1">
                <a:solidFill>
                  <a:schemeClr val="bg1"/>
                </a:solidFill>
                <a:latin typeface="Courier New"/>
                <a:ea typeface="Times New Roman"/>
                <a:cs typeface="Times New Roman"/>
              </a:rPr>
              <a:t>dbElement</a:t>
            </a:r>
            <a:r>
              <a:rPr lang="en-US" sz="1600" b="1">
                <a:solidFill>
                  <a:schemeClr val="bg1"/>
                </a:solidFill>
                <a:latin typeface="Courier New"/>
                <a:ea typeface="Times New Roman"/>
                <a:cs typeface="Times New Roman"/>
              </a:rPr>
              <a:t> = </a:t>
            </a:r>
            <a:r>
              <a:rPr lang="en-US" sz="1600" b="1" err="1">
                <a:solidFill>
                  <a:schemeClr val="bg1"/>
                </a:solidFill>
                <a:latin typeface="Courier New"/>
                <a:ea typeface="Times New Roman"/>
                <a:cs typeface="Times New Roman"/>
              </a:rPr>
              <a:t>xml.Children.singleWhere</a:t>
            </a:r>
            <a:r>
              <a:rPr lang="en-US" sz="1600" b="1">
                <a:solidFill>
                  <a:schemeClr val="bg1"/>
                </a:solidFill>
                <a:latin typeface="Courier New"/>
                <a:ea typeface="Times New Roman"/>
                <a:cs typeface="Times New Roman"/>
              </a:rPr>
              <a:t>(\el -&gt;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…67 print("Original Value: "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 </a:t>
            </a:r>
            <a:r>
              <a:rPr lang="en-US" sz="1600" b="1" err="1">
                <a:solidFill>
                  <a:schemeClr val="bg1"/>
                </a:solidFill>
                <a:latin typeface="Courier New"/>
                <a:ea typeface="Times New Roman"/>
                <a:cs typeface="Times New Roman"/>
              </a:rPr>
              <a:t>dbElement.getAttributeSimpleValue</a:t>
            </a:r>
            <a:r>
              <a:rPr lang="en-US" sz="1600" b="1">
                <a:solidFill>
                  <a:schemeClr val="bg1"/>
                </a:solidFill>
                <a:latin typeface="Courier New"/>
                <a:ea typeface="Times New Roman"/>
                <a:cs typeface="Times New Roman"/>
              </a:rPr>
              <a:t>("autoupgrade"))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68 </a:t>
            </a:r>
            <a:r>
              <a:rPr lang="en-US" sz="1600" b="1" err="1">
                <a:solidFill>
                  <a:schemeClr val="bg1"/>
                </a:solidFill>
                <a:latin typeface="Courier New"/>
                <a:ea typeface="Times New Roman"/>
                <a:cs typeface="Times New Roman"/>
              </a:rPr>
              <a:t>dbElement.setAttributeSimpleValue</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autoupgrade","false</a:t>
            </a:r>
            <a:r>
              <a:rPr lang="en-US" sz="1600" b="1">
                <a:solidFill>
                  <a:schemeClr val="bg1"/>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…69 print("Current Value: "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 </a:t>
            </a:r>
            <a:r>
              <a:rPr lang="en-US" sz="1600" b="1" err="1">
                <a:solidFill>
                  <a:schemeClr val="bg1"/>
                </a:solidFill>
                <a:latin typeface="Courier New"/>
                <a:ea typeface="Times New Roman"/>
                <a:cs typeface="Times New Roman"/>
              </a:rPr>
              <a:t>dbElement.getAttributeSimpleValue</a:t>
            </a:r>
            <a:r>
              <a:rPr lang="en-US" sz="1600" b="1">
                <a:solidFill>
                  <a:schemeClr val="bg1"/>
                </a:solidFill>
                <a:latin typeface="Courier New"/>
                <a:ea typeface="Times New Roman"/>
                <a:cs typeface="Times New Roman"/>
              </a:rPr>
              <a:t>("autoupgrade"))</a:t>
            </a:r>
          </a:p>
        </p:txBody>
      </p:sp>
      <p:sp>
        <p:nvSpPr>
          <p:cNvPr id="8" name="txt Output"/>
          <p:cNvSpPr txBox="1"/>
          <p:nvPr/>
        </p:nvSpPr>
        <p:spPr>
          <a:xfrm>
            <a:off x="1219200" y="3894578"/>
            <a:ext cx="7924800" cy="975295"/>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Original value: Simple value: true</a:t>
            </a:r>
          </a:p>
          <a:p>
            <a:r>
              <a:rPr lang="en-US" sz="1600" b="1">
                <a:solidFill>
                  <a:schemeClr val="bg1"/>
                </a:solidFill>
                <a:latin typeface="Courier New" pitchFamily="49" charset="0"/>
                <a:cs typeface="Courier New" pitchFamily="49" charset="0"/>
              </a:rPr>
              <a:t>Current value: false</a:t>
            </a:r>
          </a:p>
        </p:txBody>
      </p:sp>
      <p:sp>
        <p:nvSpPr>
          <p:cNvPr id="11" name="Down Arrow 10"/>
          <p:cNvSpPr/>
          <p:nvPr/>
        </p:nvSpPr>
        <p:spPr bwMode="auto">
          <a:xfrm>
            <a:off x="7848600" y="3288157"/>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7496577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Creating new </a:t>
            </a:r>
            <a:r>
              <a:rPr lang="en-US" err="1">
                <a:solidFill>
                  <a:schemeClr val="accent6"/>
                </a:solidFill>
              </a:rPr>
              <a:t>XmlElements</a:t>
            </a:r>
            <a:r>
              <a:rPr lang="en-US">
                <a:solidFill>
                  <a:schemeClr val="accent6"/>
                </a:solidFill>
              </a:rPr>
              <a:t> (1)</a:t>
            </a:r>
          </a:p>
        </p:txBody>
      </p:sp>
      <p:sp>
        <p:nvSpPr>
          <p:cNvPr id="3" name="Content Placeholder 2"/>
          <p:cNvSpPr>
            <a:spLocks noGrp="1"/>
          </p:cNvSpPr>
          <p:nvPr>
            <p:ph idx="1"/>
          </p:nvPr>
        </p:nvSpPr>
        <p:spPr/>
        <p:txBody>
          <a:bodyPr/>
          <a:lstStyle/>
          <a:p>
            <a:r>
              <a:rPr lang="en-US"/>
              <a:t>Syntax to create an XmlElement: </a:t>
            </a:r>
            <a:br>
              <a:rPr lang="en-US"/>
            </a:br>
            <a:r>
              <a:rPr lang="en-US" b="1">
                <a:latin typeface="Courier New"/>
                <a:ea typeface="Times New Roman"/>
                <a:cs typeface="Times New Roman"/>
              </a:rPr>
              <a:t>new XmlElement(</a:t>
            </a:r>
            <a:r>
              <a:rPr lang="en-US" b="1" i="1" err="1">
                <a:latin typeface="Courier New"/>
                <a:ea typeface="Times New Roman"/>
                <a:cs typeface="Times New Roman"/>
              </a:rPr>
              <a:t>QName</a:t>
            </a:r>
            <a:r>
              <a:rPr lang="en-US" b="1">
                <a:latin typeface="Courier New"/>
                <a:ea typeface="Times New Roman"/>
                <a:cs typeface="Times New Roman"/>
              </a:rPr>
              <a:t>)</a:t>
            </a:r>
          </a:p>
          <a:p>
            <a:r>
              <a:rPr lang="en-US"/>
              <a:t>Syntax to create a </a:t>
            </a:r>
            <a:r>
              <a:rPr lang="en-US" err="1"/>
              <a:t>QName</a:t>
            </a:r>
            <a:r>
              <a:rPr lang="en-US"/>
              <a:t>:</a:t>
            </a:r>
            <a:br>
              <a:rPr lang="en-US"/>
            </a:br>
            <a:r>
              <a:rPr lang="en-US" b="1">
                <a:latin typeface="Courier New"/>
                <a:ea typeface="Times New Roman"/>
                <a:cs typeface="Times New Roman"/>
              </a:rPr>
              <a:t>new </a:t>
            </a:r>
            <a:r>
              <a:rPr lang="en-US" b="1" err="1">
                <a:latin typeface="Courier New"/>
                <a:ea typeface="Times New Roman"/>
                <a:cs typeface="Times New Roman"/>
              </a:rPr>
              <a:t>QName</a:t>
            </a:r>
            <a:r>
              <a:rPr lang="en-US" b="1">
                <a:latin typeface="Courier New"/>
                <a:ea typeface="Times New Roman"/>
                <a:cs typeface="Times New Roman"/>
              </a:rPr>
              <a:t>(</a:t>
            </a:r>
            <a:r>
              <a:rPr lang="en-US" b="1" i="1" err="1">
                <a:latin typeface="Courier New"/>
                <a:ea typeface="Times New Roman"/>
                <a:cs typeface="Times New Roman"/>
              </a:rPr>
              <a:t>namespaceURI</a:t>
            </a:r>
            <a:r>
              <a:rPr lang="en-US" b="1" i="1">
                <a:latin typeface="Courier New"/>
                <a:ea typeface="Times New Roman"/>
                <a:cs typeface="Times New Roman"/>
              </a:rPr>
              <a:t>, </a:t>
            </a:r>
            <a:r>
              <a:rPr lang="en-US" b="1" i="1" err="1">
                <a:latin typeface="Courier New"/>
                <a:ea typeface="Times New Roman"/>
                <a:cs typeface="Times New Roman"/>
              </a:rPr>
              <a:t>localPart</a:t>
            </a:r>
            <a:r>
              <a:rPr lang="en-US" b="1" i="1">
                <a:latin typeface="Courier New"/>
                <a:ea typeface="Times New Roman"/>
                <a:cs typeface="Times New Roman"/>
              </a:rPr>
              <a:t>, prefix</a:t>
            </a:r>
            <a:r>
              <a:rPr lang="en-US" b="1">
                <a:latin typeface="Courier New"/>
                <a:ea typeface="Times New Roman"/>
                <a:cs typeface="Times New Roman"/>
              </a:rPr>
              <a:t>)</a:t>
            </a:r>
            <a:br>
              <a:rPr lang="en-US" b="1">
                <a:latin typeface="Courier New"/>
                <a:ea typeface="Times New Roman"/>
                <a:cs typeface="Times New Roman"/>
              </a:rPr>
            </a:br>
            <a:r>
              <a:rPr lang="en-US" b="1">
                <a:latin typeface="Courier New"/>
                <a:ea typeface="Times New Roman"/>
                <a:cs typeface="Times New Roman"/>
              </a:rPr>
              <a:t>new </a:t>
            </a:r>
            <a:r>
              <a:rPr lang="en-US" b="1" err="1">
                <a:latin typeface="Courier New"/>
                <a:ea typeface="Times New Roman"/>
                <a:cs typeface="Times New Roman"/>
              </a:rPr>
              <a:t>QName</a:t>
            </a:r>
            <a:r>
              <a:rPr lang="en-US" b="1">
                <a:latin typeface="Courier New"/>
                <a:ea typeface="Times New Roman"/>
                <a:cs typeface="Times New Roman"/>
              </a:rPr>
              <a:t>(</a:t>
            </a:r>
            <a:r>
              <a:rPr lang="en-US" b="1" i="1" err="1">
                <a:latin typeface="Courier New"/>
                <a:ea typeface="Times New Roman"/>
                <a:cs typeface="Times New Roman"/>
              </a:rPr>
              <a:t>namespaceURI</a:t>
            </a:r>
            <a:r>
              <a:rPr lang="en-US" b="1" i="1">
                <a:latin typeface="Courier New"/>
                <a:ea typeface="Times New Roman"/>
                <a:cs typeface="Times New Roman"/>
              </a:rPr>
              <a:t>, </a:t>
            </a:r>
            <a:r>
              <a:rPr lang="en-US" b="1" i="1" err="1">
                <a:latin typeface="Courier New"/>
                <a:ea typeface="Times New Roman"/>
                <a:cs typeface="Times New Roman"/>
              </a:rPr>
              <a:t>localPart</a:t>
            </a:r>
            <a:r>
              <a:rPr lang="en-US" b="1">
                <a:latin typeface="Courier New"/>
                <a:ea typeface="Times New Roman"/>
                <a:cs typeface="Times New Roman"/>
              </a:rPr>
              <a:t>)</a:t>
            </a:r>
            <a:br>
              <a:rPr lang="en-US" b="1">
                <a:latin typeface="Courier New"/>
                <a:ea typeface="Times New Roman"/>
                <a:cs typeface="Times New Roman"/>
              </a:rPr>
            </a:br>
            <a:r>
              <a:rPr lang="en-US" b="1">
                <a:latin typeface="Courier New"/>
                <a:ea typeface="Times New Roman"/>
                <a:cs typeface="Times New Roman"/>
              </a:rPr>
              <a:t>new </a:t>
            </a:r>
            <a:r>
              <a:rPr lang="en-US" b="1" err="1">
                <a:latin typeface="Courier New"/>
                <a:ea typeface="Times New Roman"/>
                <a:cs typeface="Times New Roman"/>
              </a:rPr>
              <a:t>QName</a:t>
            </a:r>
            <a:r>
              <a:rPr lang="en-US" b="1">
                <a:latin typeface="Courier New"/>
                <a:ea typeface="Times New Roman"/>
                <a:cs typeface="Times New Roman"/>
              </a:rPr>
              <a:t>(</a:t>
            </a:r>
            <a:r>
              <a:rPr lang="en-US" b="1" i="1" err="1">
                <a:latin typeface="Courier New"/>
                <a:ea typeface="Times New Roman"/>
                <a:cs typeface="Times New Roman"/>
              </a:rPr>
              <a:t>localPart</a:t>
            </a:r>
            <a:r>
              <a:rPr lang="en-US" b="1">
                <a:latin typeface="Courier New"/>
                <a:ea typeface="Times New Roman"/>
                <a:cs typeface="Times New Roman"/>
              </a:rPr>
              <a:t>)</a:t>
            </a:r>
          </a:p>
          <a:p>
            <a:r>
              <a:rPr lang="en-US"/>
              <a:t>Syntax to create an set attribute values</a:t>
            </a:r>
            <a:br>
              <a:rPr lang="en-US"/>
            </a:br>
            <a:r>
              <a:rPr lang="en-US" b="1" err="1">
                <a:latin typeface="Courier New"/>
                <a:cs typeface="Times New Roman"/>
              </a:rPr>
              <a:t>xml</a:t>
            </a:r>
            <a:r>
              <a:rPr lang="en-US" b="1" err="1">
                <a:latin typeface="Courier New"/>
                <a:ea typeface="Times New Roman"/>
                <a:cs typeface="Times New Roman"/>
              </a:rPr>
              <a:t>Element.setAttributeValue</a:t>
            </a:r>
            <a:r>
              <a:rPr lang="en-US" b="1">
                <a:latin typeface="Courier New"/>
                <a:ea typeface="Times New Roman"/>
                <a:cs typeface="Times New Roman"/>
              </a:rPr>
              <a:t>("</a:t>
            </a:r>
            <a:r>
              <a:rPr lang="en-US" b="1" err="1">
                <a:latin typeface="Courier New"/>
                <a:ea typeface="Times New Roman"/>
                <a:cs typeface="Times New Roman"/>
              </a:rPr>
              <a:t>name","value</a:t>
            </a:r>
            <a:r>
              <a:rPr lang="en-US" b="1">
                <a:latin typeface="Courier New"/>
                <a:ea typeface="Times New Roman"/>
                <a:cs typeface="Times New Roman"/>
              </a:rPr>
              <a:t>")</a:t>
            </a:r>
          </a:p>
          <a:p>
            <a:r>
              <a:rPr lang="en-US"/>
              <a:t>Syntax to add child XmlElement to existing XmlElement </a:t>
            </a:r>
            <a:br>
              <a:rPr lang="en-US"/>
            </a:br>
            <a:r>
              <a:rPr lang="en-US" b="1" err="1">
                <a:latin typeface="Courier New"/>
                <a:cs typeface="Times New Roman"/>
              </a:rPr>
              <a:t>xml</a:t>
            </a:r>
            <a:r>
              <a:rPr lang="en-US" b="1" err="1">
                <a:latin typeface="Courier New"/>
                <a:ea typeface="Times New Roman"/>
                <a:cs typeface="Times New Roman"/>
              </a:rPr>
              <a:t>Element.addChild</a:t>
            </a:r>
            <a:r>
              <a:rPr lang="en-US" b="1">
                <a:latin typeface="Courier New"/>
                <a:ea typeface="Times New Roman"/>
                <a:cs typeface="Times New Roman"/>
              </a:rPr>
              <a:t>(</a:t>
            </a:r>
            <a:r>
              <a:rPr lang="en-US" b="1" i="1" err="1">
                <a:latin typeface="Courier New"/>
                <a:ea typeface="Times New Roman"/>
                <a:cs typeface="Times New Roman"/>
              </a:rPr>
              <a:t>aXmlElement</a:t>
            </a:r>
            <a:r>
              <a:rPr lang="en-US" b="1">
                <a:latin typeface="Courier New"/>
                <a:ea typeface="Times New Roman"/>
                <a:cs typeface="Times New Roman"/>
              </a:rPr>
              <a:t>)</a:t>
            </a:r>
          </a:p>
          <a:p>
            <a:endParaRPr lang="en-US" b="1">
              <a:latin typeface="Courier New"/>
              <a:ea typeface="Times New Roman"/>
              <a:cs typeface="Times New Roman"/>
            </a:endParaRPr>
          </a:p>
        </p:txBody>
      </p:sp>
    </p:spTree>
    <p:extLst>
      <p:ext uri="{BB962C8B-B14F-4D97-AF65-F5344CB8AC3E}">
        <p14:creationId xmlns:p14="http://schemas.microsoft.com/office/powerpoint/2010/main" val="410517912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 LineNumbers"/>
          <p:cNvSpPr/>
          <p:nvPr/>
        </p:nvSpPr>
        <p:spPr bwMode="auto">
          <a:xfrm>
            <a:off x="762000" y="861827"/>
            <a:ext cx="457200" cy="5189114"/>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solidFill>
                  <a:schemeClr val="accent6"/>
                </a:solidFill>
              </a:rPr>
              <a:t>Creating new </a:t>
            </a:r>
            <a:r>
              <a:rPr lang="en-US" err="1">
                <a:solidFill>
                  <a:schemeClr val="accent6"/>
                </a:solidFill>
              </a:rPr>
              <a:t>XmlElements</a:t>
            </a:r>
            <a:r>
              <a:rPr lang="en-US">
                <a:solidFill>
                  <a:schemeClr val="accent6"/>
                </a:solidFill>
              </a:rPr>
              <a:t> (2)</a:t>
            </a:r>
          </a:p>
        </p:txBody>
      </p:sp>
      <p:sp>
        <p:nvSpPr>
          <p:cNvPr id="3" name="Content Placeholder 2" hidden="1"/>
          <p:cNvSpPr>
            <a:spLocks noGrp="1"/>
          </p:cNvSpPr>
          <p:nvPr>
            <p:ph idx="1"/>
          </p:nvPr>
        </p:nvSpPr>
        <p:spPr/>
        <p:txBody>
          <a:bodyPr/>
          <a:lstStyle/>
          <a:p>
            <a:r>
              <a:rPr lang="en-US"/>
              <a:t>A new element is not part of a given XML hierarchy until it is added as a child of an element in the hierarchy</a:t>
            </a:r>
          </a:p>
        </p:txBody>
      </p:sp>
      <p:sp>
        <p:nvSpPr>
          <p:cNvPr id="4" name="Rectangle 3"/>
          <p:cNvSpPr/>
          <p:nvPr/>
        </p:nvSpPr>
        <p:spPr>
          <a:xfrm>
            <a:off x="762000" y="990600"/>
            <a:ext cx="8382000" cy="5189113"/>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 uses </a:t>
            </a:r>
            <a:r>
              <a:rPr lang="en-US" sz="1600" b="1" err="1">
                <a:solidFill>
                  <a:schemeClr val="bg1"/>
                </a:solidFill>
                <a:latin typeface="Courier New"/>
                <a:ea typeface="Times New Roman"/>
                <a:cs typeface="Times New Roman"/>
              </a:rPr>
              <a:t>gw.xml.XmlElement</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 uses </a:t>
            </a:r>
            <a:r>
              <a:rPr lang="en-US" sz="1600" b="1" err="1">
                <a:solidFill>
                  <a:schemeClr val="bg1"/>
                </a:solidFill>
                <a:latin typeface="Courier New"/>
                <a:ea typeface="Times New Roman"/>
                <a:cs typeface="Times New Roman"/>
              </a:rPr>
              <a:t>javax.xml.namespace.QName</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72 var claimSystem = new XmlElement(new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"http://guidewire.com/config", "claimSystem"))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73 </a:t>
            </a:r>
            <a:r>
              <a:rPr lang="en-US" sz="1600" b="1" err="1">
                <a:solidFill>
                  <a:schemeClr val="bg1"/>
                </a:solidFill>
                <a:latin typeface="Courier New"/>
                <a:ea typeface="Times New Roman"/>
                <a:cs typeface="Times New Roman"/>
              </a:rPr>
              <a:t>claimSystem.setAttributeValue</a:t>
            </a:r>
            <a:r>
              <a:rPr lang="en-US" sz="1600" b="1">
                <a:solidFill>
                  <a:schemeClr val="bg1"/>
                </a:solidFill>
                <a:latin typeface="Courier New"/>
                <a:ea typeface="Times New Roman"/>
                <a:cs typeface="Times New Roman"/>
              </a:rPr>
              <a:t>("URL",</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"http://localhost:8880/</a:t>
            </a:r>
            <a:r>
              <a:rPr lang="en-US" sz="1600" b="1" err="1">
                <a:solidFill>
                  <a:schemeClr val="bg1"/>
                </a:solidFill>
                <a:latin typeface="Courier New"/>
                <a:ea typeface="Times New Roman"/>
                <a:cs typeface="Times New Roman"/>
              </a:rPr>
              <a:t>ab</a:t>
            </a:r>
            <a:r>
              <a:rPr lang="en-US" sz="1600" b="1">
                <a:solidFill>
                  <a:schemeClr val="bg1"/>
                </a:solidFill>
                <a:latin typeface="Courier New"/>
                <a:ea typeface="Times New Roman"/>
                <a:cs typeface="Times New Roman"/>
              </a:rPr>
              <a:t>/ContactManager.do")</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…75 var </a:t>
            </a:r>
            <a:r>
              <a:rPr lang="en-US" sz="1600" b="1" err="1">
                <a:solidFill>
                  <a:schemeClr val="bg1"/>
                </a:solidFill>
                <a:latin typeface="Courier New"/>
                <a:ea typeface="Times New Roman"/>
                <a:cs typeface="Times New Roman"/>
              </a:rPr>
              <a:t>claimSystemUser</a:t>
            </a:r>
            <a:r>
              <a:rPr lang="en-US" sz="1600" b="1">
                <a:solidFill>
                  <a:schemeClr val="bg1"/>
                </a:solidFill>
                <a:latin typeface="Courier New"/>
                <a:ea typeface="Times New Roman"/>
                <a:cs typeface="Times New Roman"/>
              </a:rPr>
              <a:t> = new XmlElement(new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"http://guidewire.com/config", "param"))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76 </a:t>
            </a:r>
            <a:r>
              <a:rPr lang="en-US" sz="1600" b="1" err="1">
                <a:solidFill>
                  <a:schemeClr val="bg1"/>
                </a:solidFill>
                <a:latin typeface="Courier New"/>
                <a:ea typeface="Times New Roman"/>
                <a:cs typeface="Times New Roman"/>
              </a:rPr>
              <a:t>claimSystemUser.setAttributeValue</a:t>
            </a:r>
            <a:r>
              <a:rPr lang="en-US" sz="1600" b="1">
                <a:solidFill>
                  <a:schemeClr val="bg1"/>
                </a:solidFill>
                <a:latin typeface="Courier New"/>
                <a:ea typeface="Times New Roman"/>
                <a:cs typeface="Times New Roman"/>
              </a:rPr>
              <a:t>("name", "user")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77 </a:t>
            </a:r>
            <a:r>
              <a:rPr lang="en-US" sz="1600" b="1" err="1">
                <a:solidFill>
                  <a:schemeClr val="bg1"/>
                </a:solidFill>
                <a:latin typeface="Courier New"/>
                <a:ea typeface="Times New Roman"/>
                <a:cs typeface="Times New Roman"/>
              </a:rPr>
              <a:t>claimSystemUser.setAttributeValue</a:t>
            </a:r>
            <a:r>
              <a:rPr lang="en-US" sz="1600" b="1">
                <a:solidFill>
                  <a:schemeClr val="bg1"/>
                </a:solidFill>
                <a:latin typeface="Courier New"/>
                <a:ea typeface="Times New Roman"/>
                <a:cs typeface="Times New Roman"/>
              </a:rPr>
              <a:t>("value", "su")</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…79 var </a:t>
            </a:r>
            <a:r>
              <a:rPr lang="en-US" sz="1600" b="1" err="1">
                <a:solidFill>
                  <a:schemeClr val="bg1"/>
                </a:solidFill>
                <a:latin typeface="Courier New"/>
                <a:ea typeface="Times New Roman"/>
                <a:cs typeface="Times New Roman"/>
              </a:rPr>
              <a:t>claimSystemPassword</a:t>
            </a:r>
            <a:r>
              <a:rPr lang="en-US" sz="1600" b="1">
                <a:solidFill>
                  <a:schemeClr val="bg1"/>
                </a:solidFill>
                <a:latin typeface="Courier New"/>
                <a:ea typeface="Times New Roman"/>
                <a:cs typeface="Times New Roman"/>
              </a:rPr>
              <a:t> = new XmlElement(new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"http://guidewire.com/config", "param"))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80 </a:t>
            </a:r>
            <a:r>
              <a:rPr lang="en-US" sz="1600" b="1" err="1">
                <a:solidFill>
                  <a:schemeClr val="bg1"/>
                </a:solidFill>
                <a:latin typeface="Courier New"/>
                <a:ea typeface="Times New Roman"/>
                <a:cs typeface="Times New Roman"/>
              </a:rPr>
              <a:t>claimSystemPassword.setAttributeValue</a:t>
            </a:r>
            <a:r>
              <a:rPr lang="en-US" sz="1600" b="1">
                <a:solidFill>
                  <a:schemeClr val="bg1"/>
                </a:solidFill>
                <a:latin typeface="Courier New"/>
                <a:ea typeface="Times New Roman"/>
                <a:cs typeface="Times New Roman"/>
              </a:rPr>
              <a:t>("name", "password")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81 </a:t>
            </a:r>
            <a:r>
              <a:rPr lang="en-US" sz="1600" b="1" err="1">
                <a:solidFill>
                  <a:schemeClr val="bg1"/>
                </a:solidFill>
                <a:latin typeface="Courier New"/>
                <a:ea typeface="Times New Roman"/>
                <a:cs typeface="Times New Roman"/>
              </a:rPr>
              <a:t>claimSystemPassword.setAttributeValue</a:t>
            </a:r>
            <a:r>
              <a:rPr lang="en-US" sz="1600" b="1">
                <a:solidFill>
                  <a:schemeClr val="bg1"/>
                </a:solidFill>
                <a:latin typeface="Courier New"/>
                <a:ea typeface="Times New Roman"/>
                <a:cs typeface="Times New Roman"/>
              </a:rPr>
              <a:t>("value", "gw")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82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83 </a:t>
            </a:r>
            <a:r>
              <a:rPr lang="en-US" sz="1600" b="1" err="1">
                <a:solidFill>
                  <a:schemeClr val="bg1"/>
                </a:solidFill>
                <a:latin typeface="Courier New"/>
                <a:ea typeface="Times New Roman"/>
                <a:cs typeface="Times New Roman"/>
              </a:rPr>
              <a:t>claimSystem.addChild</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claimSystemUser</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84 </a:t>
            </a:r>
            <a:r>
              <a:rPr lang="en-US" sz="1600" b="1" err="1">
                <a:solidFill>
                  <a:schemeClr val="bg1"/>
                </a:solidFill>
                <a:latin typeface="Courier New"/>
                <a:ea typeface="Times New Roman"/>
                <a:cs typeface="Times New Roman"/>
              </a:rPr>
              <a:t>claimSystem.addChild</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claimSystemPassword</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85 </a:t>
            </a:r>
            <a:r>
              <a:rPr lang="en-US" sz="1600" b="1" err="1">
                <a:solidFill>
                  <a:schemeClr val="bg1"/>
                </a:solidFill>
                <a:latin typeface="Courier New"/>
                <a:ea typeface="Times New Roman"/>
                <a:cs typeface="Times New Roman"/>
              </a:rPr>
              <a:t>xml.addChild</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claimSystem</a:t>
            </a:r>
            <a:r>
              <a:rPr lang="en-US" sz="1600" b="1">
                <a:solidFill>
                  <a:schemeClr val="bg1"/>
                </a:solidFill>
                <a:latin typeface="Courier New"/>
                <a:ea typeface="Times New Roman"/>
                <a:cs typeface="Times New Roman"/>
              </a:rPr>
              <a:t>)</a:t>
            </a:r>
            <a:endParaRPr lang="en-US" sz="1600" b="1">
              <a:solidFill>
                <a:schemeClr val="bg1"/>
              </a:solidFill>
              <a:latin typeface="Calibri"/>
              <a:ea typeface="Calibri"/>
              <a:cs typeface="Times New Roman"/>
            </a:endParaRPr>
          </a:p>
        </p:txBody>
      </p:sp>
    </p:spTree>
    <p:extLst>
      <p:ext uri="{BB962C8B-B14F-4D97-AF65-F5344CB8AC3E}">
        <p14:creationId xmlns:p14="http://schemas.microsoft.com/office/powerpoint/2010/main" val="179258860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Exporting XML</a:t>
            </a:r>
          </a:p>
        </p:txBody>
      </p:sp>
      <p:sp>
        <p:nvSpPr>
          <p:cNvPr id="3" name="Content Placeholder 2"/>
          <p:cNvSpPr>
            <a:spLocks noGrp="1"/>
          </p:cNvSpPr>
          <p:nvPr>
            <p:ph sz="half" idx="2"/>
          </p:nvPr>
        </p:nvSpPr>
        <p:spPr>
          <a:xfrm>
            <a:off x="5257800" y="4017818"/>
            <a:ext cx="4099560" cy="2532065"/>
          </a:xfrm>
        </p:spPr>
        <p:txBody>
          <a:bodyPr/>
          <a:lstStyle/>
          <a:p>
            <a:r>
              <a:rPr lang="en-US" err="1"/>
              <a:t>asUTFString</a:t>
            </a:r>
            <a:r>
              <a:rPr lang="en-US"/>
              <a:t>() method</a:t>
            </a:r>
          </a:p>
          <a:p>
            <a:pPr lvl="1"/>
            <a:r>
              <a:rPr lang="en-US"/>
              <a:t>Serializes the element to a String object in UTF-8</a:t>
            </a:r>
          </a:p>
          <a:p>
            <a:pPr marL="400050" lvl="1" indent="0">
              <a:buNone/>
            </a:pPr>
            <a:endParaRPr lang="en-US"/>
          </a:p>
          <a:p>
            <a:r>
              <a:rPr lang="en-US" err="1"/>
              <a:t>XmlSerializationOptions</a:t>
            </a:r>
            <a:r>
              <a:rPr lang="en-US"/>
              <a:t>()</a:t>
            </a:r>
          </a:p>
          <a:p>
            <a:pPr lvl="1"/>
            <a:r>
              <a:rPr lang="en-US"/>
              <a:t>Customize the export</a:t>
            </a:r>
          </a:p>
        </p:txBody>
      </p:sp>
      <p:sp>
        <p:nvSpPr>
          <p:cNvPr id="5" name="rec LineNumbers"/>
          <p:cNvSpPr/>
          <p:nvPr/>
        </p:nvSpPr>
        <p:spPr bwMode="auto">
          <a:xfrm>
            <a:off x="762000" y="914399"/>
            <a:ext cx="457200" cy="2667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746760" y="965752"/>
            <a:ext cx="8610600" cy="2668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 uses </a:t>
            </a:r>
            <a:r>
              <a:rPr lang="en-US" sz="1600" b="1" err="1">
                <a:solidFill>
                  <a:schemeClr val="bg1"/>
                </a:solidFill>
                <a:latin typeface="Courier New"/>
                <a:ea typeface="Times New Roman"/>
                <a:cs typeface="Times New Roman"/>
              </a:rPr>
              <a:t>gw.xml.XmlElement</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 uses </a:t>
            </a:r>
            <a:r>
              <a:rPr lang="en-US" sz="1600" b="1" err="1">
                <a:solidFill>
                  <a:schemeClr val="bg1"/>
                </a:solidFill>
                <a:latin typeface="Courier New"/>
                <a:ea typeface="Times New Roman"/>
                <a:cs typeface="Times New Roman"/>
              </a:rPr>
              <a:t>java.io.File</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…10 uses </a:t>
            </a:r>
            <a:r>
              <a:rPr lang="en-US" sz="1600" b="1" err="1">
                <a:solidFill>
                  <a:schemeClr val="bg1"/>
                </a:solidFill>
                <a:latin typeface="Courier New"/>
                <a:ea typeface="Times New Roman"/>
                <a:cs typeface="Times New Roman"/>
              </a:rPr>
              <a:t>java.io.FileWriter</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…11 uses </a:t>
            </a:r>
            <a:r>
              <a:rPr lang="en-US" sz="1600" b="1" err="1">
                <a:solidFill>
                  <a:schemeClr val="bg1"/>
                </a:solidFill>
                <a:latin typeface="Courier New"/>
                <a:ea typeface="Times New Roman"/>
                <a:cs typeface="Times New Roman"/>
              </a:rPr>
              <a:t>java.io.BufferedWriter</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…15 var </a:t>
            </a:r>
            <a:r>
              <a:rPr lang="en-US" sz="1600" b="1" err="1">
                <a:solidFill>
                  <a:schemeClr val="bg1"/>
                </a:solidFill>
                <a:latin typeface="Courier New"/>
                <a:ea typeface="Times New Roman"/>
                <a:cs typeface="Times New Roman"/>
              </a:rPr>
              <a:t>filePathOutput</a:t>
            </a:r>
            <a:r>
              <a:rPr lang="en-US" sz="1600" b="1">
                <a:solidFill>
                  <a:schemeClr val="bg1"/>
                </a:solidFill>
                <a:latin typeface="Courier New"/>
                <a:ea typeface="Times New Roman"/>
                <a:cs typeface="Times New Roman"/>
              </a:rPr>
              <a:t> = "…/examples/xml/exampleUntyped_Modified.xml"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…88 var </a:t>
            </a:r>
            <a:r>
              <a:rPr lang="en-US" sz="1600" b="1" err="1">
                <a:solidFill>
                  <a:schemeClr val="bg1"/>
                </a:solidFill>
                <a:latin typeface="Courier New"/>
                <a:ea typeface="Times New Roman"/>
                <a:cs typeface="Times New Roman"/>
              </a:rPr>
              <a:t>outputWriter</a:t>
            </a:r>
            <a:r>
              <a:rPr lang="en-US" sz="1600" b="1">
                <a:solidFill>
                  <a:schemeClr val="bg1"/>
                </a:solidFill>
                <a:latin typeface="Courier New"/>
                <a:ea typeface="Times New Roman"/>
                <a:cs typeface="Times New Roman"/>
              </a:rPr>
              <a:t> = new </a:t>
            </a:r>
            <a:r>
              <a:rPr lang="en-US" sz="1600" b="1" err="1">
                <a:solidFill>
                  <a:schemeClr val="bg1"/>
                </a:solidFill>
                <a:latin typeface="Courier New"/>
                <a:ea typeface="Times New Roman"/>
                <a:cs typeface="Times New Roman"/>
              </a:rPr>
              <a:t>BufferedWriter</a:t>
            </a:r>
            <a:r>
              <a:rPr lang="en-US" sz="1600" b="1">
                <a:solidFill>
                  <a:schemeClr val="bg1"/>
                </a:solidFill>
                <a:latin typeface="Courier New"/>
                <a:ea typeface="Times New Roman"/>
                <a:cs typeface="Times New Roman"/>
              </a:rPr>
              <a:t>(new </a:t>
            </a:r>
            <a:r>
              <a:rPr lang="en-US" sz="1600" b="1" err="1">
                <a:solidFill>
                  <a:schemeClr val="bg1"/>
                </a:solidFill>
                <a:latin typeface="Courier New"/>
                <a:ea typeface="Times New Roman"/>
                <a:cs typeface="Times New Roman"/>
              </a:rPr>
              <a:t>FileWriter</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new File(</a:t>
            </a:r>
            <a:r>
              <a:rPr lang="en-US" sz="1600" b="1" err="1">
                <a:solidFill>
                  <a:schemeClr val="bg1"/>
                </a:solidFill>
                <a:latin typeface="Courier New"/>
                <a:ea typeface="Times New Roman"/>
                <a:cs typeface="Times New Roman"/>
              </a:rPr>
              <a:t>filePathOutput</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89 </a:t>
            </a:r>
            <a:r>
              <a:rPr lang="en-US" sz="1600" b="1" err="1">
                <a:solidFill>
                  <a:schemeClr val="bg1"/>
                </a:solidFill>
                <a:latin typeface="Courier New"/>
                <a:ea typeface="Times New Roman"/>
                <a:cs typeface="Times New Roman"/>
              </a:rPr>
              <a:t>outputWriter.write</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xml.asUTFString</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90 </a:t>
            </a:r>
            <a:r>
              <a:rPr lang="en-US" sz="1600" b="1" err="1">
                <a:solidFill>
                  <a:schemeClr val="bg1"/>
                </a:solidFill>
                <a:latin typeface="Courier New"/>
                <a:ea typeface="Times New Roman"/>
                <a:cs typeface="Times New Roman"/>
              </a:rPr>
              <a:t>outputWriter.close</a:t>
            </a:r>
            <a:r>
              <a:rPr lang="en-US" sz="1600" b="1">
                <a:solidFill>
                  <a:schemeClr val="bg1"/>
                </a:solidFill>
                <a:latin typeface="Courier New"/>
                <a:ea typeface="Times New Roman"/>
                <a:cs typeface="Times New Roman"/>
              </a:rPr>
              <a:t>()</a:t>
            </a:r>
          </a:p>
        </p:txBody>
      </p:sp>
      <p:sp>
        <p:nvSpPr>
          <p:cNvPr id="7" name="txt Output" hidden="1"/>
          <p:cNvSpPr txBox="1"/>
          <p:nvPr/>
        </p:nvSpPr>
        <p:spPr>
          <a:xfrm>
            <a:off x="2514600" y="3343276"/>
            <a:ext cx="7924800" cy="1568871"/>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Original value: Simple value: true</a:t>
            </a:r>
          </a:p>
          <a:p>
            <a:r>
              <a:rPr lang="en-US" sz="1600" b="1">
                <a:solidFill>
                  <a:schemeClr val="bg1"/>
                </a:solidFill>
                <a:latin typeface="Courier New" pitchFamily="49" charset="0"/>
                <a:cs typeface="Courier New" pitchFamily="49" charset="0"/>
              </a:rPr>
              <a:t>Current value: false</a:t>
            </a:r>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77" y="4038600"/>
            <a:ext cx="3880477" cy="1947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391466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tx1">
                    <a:lumMod val="75000"/>
                  </a:schemeClr>
                </a:solidFill>
              </a:rPr>
              <a:t>Overview of XML</a:t>
            </a:r>
          </a:p>
          <a:p>
            <a:r>
              <a:rPr lang="en-US">
                <a:solidFill>
                  <a:schemeClr val="tx1">
                    <a:lumMod val="75000"/>
                  </a:schemeClr>
                </a:solidFill>
              </a:rPr>
              <a:t>The XmlElement class</a:t>
            </a:r>
          </a:p>
          <a:p>
            <a:r>
              <a:rPr lang="en-US">
                <a:solidFill>
                  <a:schemeClr val="tx1">
                    <a:lumMod val="75000"/>
                  </a:schemeClr>
                </a:solidFill>
              </a:rPr>
              <a:t>Reading untyped XML</a:t>
            </a:r>
          </a:p>
          <a:p>
            <a:r>
              <a:rPr lang="en-US">
                <a:solidFill>
                  <a:schemeClr val="tx1">
                    <a:lumMod val="75000"/>
                  </a:schemeClr>
                </a:solidFill>
              </a:rPr>
              <a:t>Writing untyped XML</a:t>
            </a:r>
          </a:p>
          <a:p>
            <a:r>
              <a:rPr lang="en-US">
                <a:solidFill>
                  <a:schemeClr val="bg1"/>
                </a:solidFill>
              </a:rPr>
              <a:t>Working with strongly-typed XML</a:t>
            </a:r>
          </a:p>
          <a:p>
            <a:r>
              <a:rPr lang="en-US">
                <a:solidFill>
                  <a:schemeClr val="tx1">
                    <a:lumMod val="75000"/>
                  </a:schemeClr>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140241531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Strongly typed XML</a:t>
            </a:r>
          </a:p>
        </p:txBody>
      </p:sp>
      <p:sp>
        <p:nvSpPr>
          <p:cNvPr id="3" name="Content Placeholder 2"/>
          <p:cNvSpPr>
            <a:spLocks noGrp="1"/>
          </p:cNvSpPr>
          <p:nvPr>
            <p:ph idx="1"/>
          </p:nvPr>
        </p:nvSpPr>
        <p:spPr>
          <a:xfrm>
            <a:off x="838200" y="3172689"/>
            <a:ext cx="8167687" cy="3276600"/>
          </a:xfrm>
        </p:spPr>
        <p:txBody>
          <a:bodyPr/>
          <a:lstStyle/>
          <a:p>
            <a:endParaRPr lang="en-US"/>
          </a:p>
          <a:p>
            <a:r>
              <a:rPr lang="en-US"/>
              <a:t>An XML Schema Definition (XSD) describes the structure for elements in one or more XML documents</a:t>
            </a:r>
          </a:p>
          <a:p>
            <a:pPr lvl="1"/>
            <a:r>
              <a:rPr lang="en-US" sz="2400"/>
              <a:t>Informs how an XML document can be structured</a:t>
            </a:r>
          </a:p>
          <a:p>
            <a:pPr lvl="1"/>
            <a:r>
              <a:rPr lang="en-US" sz="2400"/>
              <a:t>Used to validate the structure of an XML document</a:t>
            </a:r>
          </a:p>
          <a:p>
            <a:pPr lvl="1"/>
            <a:r>
              <a:rPr lang="en-US" sz="2400"/>
              <a:t>Offers robust syntax for reading and creating XML elements</a:t>
            </a:r>
          </a:p>
        </p:txBody>
      </p:sp>
      <p:pic>
        <p:nvPicPr>
          <p:cNvPr id="5" name="Picture 4"/>
          <p:cNvPicPr>
            <a:picLocks noChangeAspect="1"/>
          </p:cNvPicPr>
          <p:nvPr/>
        </p:nvPicPr>
        <p:blipFill>
          <a:blip r:embed="rId3"/>
          <a:stretch>
            <a:fillRect/>
          </a:stretch>
        </p:blipFill>
        <p:spPr>
          <a:xfrm>
            <a:off x="838200" y="1050038"/>
            <a:ext cx="5655469" cy="1885950"/>
          </a:xfrm>
          <a:prstGeom prst="rect">
            <a:avLst/>
          </a:prstGeom>
        </p:spPr>
      </p:pic>
      <p:pic>
        <p:nvPicPr>
          <p:cNvPr id="6"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524000"/>
            <a:ext cx="542534" cy="628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034054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solidFill>
                  <a:schemeClr val="accent6"/>
                </a:solidFill>
              </a:rPr>
              <a:t>Strongly typed XML</a:t>
            </a:r>
          </a:p>
        </p:txBody>
      </p:sp>
      <p:sp>
        <p:nvSpPr>
          <p:cNvPr id="4" name="Content Placeholder 3"/>
          <p:cNvSpPr>
            <a:spLocks noGrp="1"/>
          </p:cNvSpPr>
          <p:nvPr>
            <p:ph idx="1"/>
          </p:nvPr>
        </p:nvSpPr>
        <p:spPr>
          <a:xfrm>
            <a:off x="658368" y="3352800"/>
            <a:ext cx="8318500" cy="2895600"/>
          </a:xfrm>
        </p:spPr>
        <p:txBody>
          <a:bodyPr/>
          <a:lstStyle/>
          <a:p>
            <a:r>
              <a:rPr lang="en-US"/>
              <a:t>If an existing XSD validates and informs the XML, then the parsed XML is strongly typed</a:t>
            </a:r>
          </a:p>
          <a:p>
            <a:pPr lvl="1"/>
            <a:r>
              <a:rPr lang="en-US"/>
              <a:t>XSD must be known to Guidewire</a:t>
            </a:r>
          </a:p>
          <a:p>
            <a:pPr lvl="1"/>
            <a:r>
              <a:rPr lang="en-US"/>
              <a:t>XSD parses the XML document</a:t>
            </a:r>
          </a:p>
          <a:p>
            <a:r>
              <a:rPr lang="en-US"/>
              <a:t>Offers robust syntax for referencing elements </a:t>
            </a:r>
          </a:p>
          <a:p>
            <a:r>
              <a:rPr lang="en-US"/>
              <a:t>Validation of the XML against the XSD</a:t>
            </a:r>
          </a:p>
          <a:p>
            <a:pPr lvl="1"/>
            <a:r>
              <a:rPr lang="en-US"/>
              <a:t>Reading and creating XML</a:t>
            </a:r>
          </a:p>
        </p:txBody>
      </p:sp>
      <p:pic>
        <p:nvPicPr>
          <p:cNvPr id="5" name="icn X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9650"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xtParse()"/>
          <p:cNvSpPr txBox="1"/>
          <p:nvPr/>
        </p:nvSpPr>
        <p:spPr>
          <a:xfrm>
            <a:off x="3208337" y="762000"/>
            <a:ext cx="3946526" cy="1431926"/>
          </a:xfrm>
          <a:prstGeom prst="rect">
            <a:avLst/>
          </a:prstGeom>
          <a:noFill/>
        </p:spPr>
        <p:txBody>
          <a:bodyPr wrap="none" rtlCol="0">
            <a:noAutofit/>
          </a:bodyPr>
          <a:lstStyle/>
          <a:p>
            <a:r>
              <a:rPr lang="en-US" sz="2800" b="1">
                <a:solidFill>
                  <a:schemeClr val="bg1"/>
                </a:solidFill>
                <a:latin typeface="Arial" pitchFamily="32" charset="0"/>
                <a:cs typeface="Arial" pitchFamily="32" charset="0"/>
              </a:rPr>
              <a:t>.parse</a:t>
            </a:r>
            <a:r>
              <a:rPr lang="en-US" sz="9600">
                <a:solidFill>
                  <a:schemeClr val="bg1"/>
                </a:solidFill>
                <a:latin typeface="Arial" pitchFamily="32" charset="0"/>
                <a:cs typeface="Arial" pitchFamily="32" charset="0"/>
              </a:rPr>
              <a:t>(</a:t>
            </a:r>
            <a:r>
              <a:rPr lang="en-US" sz="7200">
                <a:solidFill>
                  <a:schemeClr val="bg1"/>
                </a:solidFill>
                <a:latin typeface="Arial" pitchFamily="32" charset="0"/>
                <a:cs typeface="Arial" pitchFamily="32" charset="0"/>
              </a:rPr>
              <a:t>     </a:t>
            </a:r>
            <a:r>
              <a:rPr lang="en-US" sz="9600">
                <a:solidFill>
                  <a:schemeClr val="bg1"/>
                </a:solidFill>
                <a:latin typeface="Arial" pitchFamily="32" charset="0"/>
                <a:cs typeface="Arial" pitchFamily="32" charset="0"/>
              </a:rPr>
              <a:t>)</a:t>
            </a:r>
          </a:p>
        </p:txBody>
      </p:sp>
      <p:pic>
        <p:nvPicPr>
          <p:cNvPr id="6"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24"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diagramXML"/>
          <p:cNvGraphicFramePr/>
          <p:nvPr>
            <p:extLst>
              <p:ext uri="{D42A27DB-BD31-4B8C-83A1-F6EECF244321}">
                <p14:modId xmlns:p14="http://schemas.microsoft.com/office/powerpoint/2010/main" val="921990964"/>
              </p:ext>
            </p:extLst>
          </p:nvPr>
        </p:nvGraphicFramePr>
        <p:xfrm>
          <a:off x="9067800" y="762000"/>
          <a:ext cx="1143000" cy="2743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Right Arrow 8"/>
          <p:cNvSpPr/>
          <p:nvPr/>
        </p:nvSpPr>
        <p:spPr bwMode="auto">
          <a:xfrm>
            <a:off x="6553200" y="1609726"/>
            <a:ext cx="25146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txt FileXXML"/>
          <p:cNvSpPr txBox="1"/>
          <p:nvPr/>
        </p:nvSpPr>
        <p:spPr>
          <a:xfrm>
            <a:off x="4819651" y="2362200"/>
            <a:ext cx="1200149" cy="457200"/>
          </a:xfrm>
          <a:prstGeom prst="rect">
            <a:avLst/>
          </a:prstGeom>
          <a:noFill/>
        </p:spPr>
        <p:txBody>
          <a:bodyPr wrap="none" rtlCol="0">
            <a:noAutofit/>
          </a:bodyPr>
          <a:lstStyle/>
          <a:p>
            <a:pPr algn="ctr"/>
            <a:r>
              <a:rPr lang="en-US" b="1">
                <a:solidFill>
                  <a:schemeClr val="bg1"/>
                </a:solidFill>
                <a:latin typeface="Arial" pitchFamily="32" charset="0"/>
                <a:cs typeface="Arial" pitchFamily="32" charset="0"/>
              </a:rPr>
              <a:t>file.xml</a:t>
            </a:r>
          </a:p>
        </p:txBody>
      </p:sp>
      <p:sp>
        <p:nvSpPr>
          <p:cNvPr id="11" name="txr File XSD"/>
          <p:cNvSpPr txBox="1"/>
          <p:nvPr/>
        </p:nvSpPr>
        <p:spPr>
          <a:xfrm>
            <a:off x="1905000" y="2362200"/>
            <a:ext cx="1422398" cy="365126"/>
          </a:xfrm>
          <a:prstGeom prst="rect">
            <a:avLst/>
          </a:prstGeom>
          <a:noFill/>
        </p:spPr>
        <p:txBody>
          <a:bodyPr wrap="none" rtlCol="0">
            <a:noAutofit/>
          </a:bodyPr>
          <a:lstStyle/>
          <a:p>
            <a:pPr algn="ctr"/>
            <a:r>
              <a:rPr lang="en-US" b="1">
                <a:solidFill>
                  <a:schemeClr val="bg1"/>
                </a:solidFill>
                <a:latin typeface="Arial" pitchFamily="32" charset="0"/>
                <a:cs typeface="Arial" pitchFamily="32" charset="0"/>
              </a:rPr>
              <a:t>file.xsd</a:t>
            </a:r>
          </a:p>
        </p:txBody>
      </p:sp>
    </p:spTree>
    <p:extLst>
      <p:ext uri="{BB962C8B-B14F-4D97-AF65-F5344CB8AC3E}">
        <p14:creationId xmlns:p14="http://schemas.microsoft.com/office/powerpoint/2010/main" val="38799649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Making an XSD available to Guidewire</a:t>
            </a:r>
          </a:p>
        </p:txBody>
      </p:sp>
      <p:sp>
        <p:nvSpPr>
          <p:cNvPr id="3" name="Content Placeholder 2"/>
          <p:cNvSpPr>
            <a:spLocks noGrp="1"/>
          </p:cNvSpPr>
          <p:nvPr>
            <p:ph sz="half" idx="2"/>
          </p:nvPr>
        </p:nvSpPr>
        <p:spPr>
          <a:xfrm>
            <a:off x="5105400" y="946729"/>
            <a:ext cx="5029201" cy="5867399"/>
          </a:xfrm>
        </p:spPr>
        <p:txBody>
          <a:bodyPr/>
          <a:lstStyle/>
          <a:p>
            <a:r>
              <a:rPr lang="en-US" b="1">
                <a:latin typeface="Courier New" pitchFamily="49" charset="0"/>
                <a:cs typeface="Courier New" pitchFamily="49" charset="0"/>
              </a:rPr>
              <a:t>\configuration\</a:t>
            </a:r>
            <a:r>
              <a:rPr lang="en-US" b="1" err="1">
                <a:latin typeface="Courier New" pitchFamily="49" charset="0"/>
                <a:cs typeface="Courier New" pitchFamily="49" charset="0"/>
              </a:rPr>
              <a:t>gsrc</a:t>
            </a:r>
            <a:r>
              <a:rPr lang="en-US" b="1">
                <a:latin typeface="Courier New" pitchFamily="49" charset="0"/>
                <a:cs typeface="Courier New" pitchFamily="49" charset="0"/>
              </a:rPr>
              <a:t>\</a:t>
            </a:r>
          </a:p>
          <a:p>
            <a:pPr lvl="1"/>
            <a:r>
              <a:rPr lang="en-US"/>
              <a:t>Put XSD in a subdirectory of \</a:t>
            </a:r>
            <a:r>
              <a:rPr lang="en-US" err="1"/>
              <a:t>gsrc</a:t>
            </a:r>
            <a:endParaRPr lang="en-US"/>
          </a:p>
          <a:p>
            <a:pPr lvl="1"/>
            <a:r>
              <a:rPr lang="en-US"/>
              <a:t>Subdirectories become part of the package name</a:t>
            </a:r>
          </a:p>
          <a:p>
            <a:r>
              <a:rPr lang="en-US" sz="2000"/>
              <a:t>During startup, Guidewire reads the XSD and creates type.</a:t>
            </a:r>
          </a:p>
          <a:p>
            <a:r>
              <a:rPr lang="en-US" sz="2000"/>
              <a:t>There is no way to inject an XSD into the type system at run time. </a:t>
            </a:r>
          </a:p>
          <a:p>
            <a:pPr lvl="1"/>
            <a:r>
              <a:rPr lang="en-US"/>
              <a:t>The</a:t>
            </a:r>
            <a:r>
              <a:rPr lang="en-US" sz="1600"/>
              <a:t> </a:t>
            </a:r>
            <a:r>
              <a:rPr lang="en-US"/>
              <a:t>XSD must be known to the application during startup.</a:t>
            </a:r>
          </a:p>
          <a:p>
            <a:r>
              <a:rPr lang="en-US" sz="2000"/>
              <a:t>Various definitions cause Gosu </a:t>
            </a:r>
            <a:br>
              <a:rPr lang="en-US" sz="2000"/>
            </a:br>
            <a:r>
              <a:rPr lang="en-US" sz="2000"/>
              <a:t>to create new types</a:t>
            </a:r>
          </a:p>
          <a:p>
            <a:pPr lvl="1"/>
            <a:r>
              <a:rPr lang="en-US"/>
              <a:t>&lt;</a:t>
            </a:r>
            <a:r>
              <a:rPr lang="en-US" err="1"/>
              <a:t>xsd:element</a:t>
            </a:r>
            <a:r>
              <a:rPr lang="en-US"/>
              <a:t> /&gt; </a:t>
            </a:r>
          </a:p>
          <a:p>
            <a:pPr lvl="1"/>
            <a:r>
              <a:rPr lang="en-US"/>
              <a:t>&lt;</a:t>
            </a:r>
            <a:r>
              <a:rPr lang="en-US" err="1"/>
              <a:t>xsd:complexType</a:t>
            </a:r>
            <a:r>
              <a:rPr lang="en-US"/>
              <a:t> /&gt;</a:t>
            </a:r>
          </a:p>
          <a:p>
            <a:pPr lvl="1"/>
            <a:r>
              <a:rPr lang="en-US"/>
              <a:t>&lt;</a:t>
            </a:r>
            <a:r>
              <a:rPr lang="en-US" err="1"/>
              <a:t>xsd:attribute</a:t>
            </a:r>
            <a:r>
              <a:rPr lang="en-US"/>
              <a:t> /&gt;</a:t>
            </a:r>
          </a:p>
          <a:p>
            <a:endParaRPr lang="en-US"/>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46729"/>
            <a:ext cx="3581401" cy="42222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8768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779618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Parsing a strongly typed XML file</a:t>
            </a:r>
          </a:p>
        </p:txBody>
      </p:sp>
      <p:sp>
        <p:nvSpPr>
          <p:cNvPr id="3" name="Content Placeholder 2"/>
          <p:cNvSpPr>
            <a:spLocks noGrp="1"/>
          </p:cNvSpPr>
          <p:nvPr>
            <p:ph idx="1"/>
          </p:nvPr>
        </p:nvSpPr>
        <p:spPr>
          <a:xfrm>
            <a:off x="658368" y="861827"/>
            <a:ext cx="3810000" cy="5691377"/>
          </a:xfrm>
        </p:spPr>
        <p:txBody>
          <a:bodyPr/>
          <a:lstStyle/>
          <a:p>
            <a:r>
              <a:rPr lang="en-US" sz="2100"/>
              <a:t>Syntax to call the parse method on the XSD type:</a:t>
            </a:r>
            <a:br>
              <a:rPr lang="en-US" sz="2100"/>
            </a:br>
            <a:r>
              <a:rPr lang="en-US" sz="2100" b="1" err="1">
                <a:latin typeface="Courier New" pitchFamily="49" charset="0"/>
                <a:cs typeface="Courier New" pitchFamily="49" charset="0"/>
              </a:rPr>
              <a:t>xsdFileName.rootElement.parse</a:t>
            </a:r>
            <a:r>
              <a:rPr lang="en-US" sz="2100" b="1">
                <a:latin typeface="Courier New" pitchFamily="49" charset="0"/>
                <a:cs typeface="Courier New" pitchFamily="49" charset="0"/>
              </a:rPr>
              <a:t>(</a:t>
            </a:r>
            <a:r>
              <a:rPr lang="en-US" sz="2100" b="1" err="1">
                <a:latin typeface="Courier New" pitchFamily="49" charset="0"/>
                <a:cs typeface="Courier New" pitchFamily="49" charset="0"/>
              </a:rPr>
              <a:t>xmlToParse</a:t>
            </a:r>
            <a:r>
              <a:rPr lang="en-US" sz="2100" b="1">
                <a:latin typeface="Courier New" pitchFamily="49" charset="0"/>
                <a:cs typeface="Courier New" pitchFamily="49" charset="0"/>
              </a:rPr>
              <a:t>)</a:t>
            </a:r>
          </a:p>
          <a:p>
            <a:pPr lvl="1"/>
            <a:r>
              <a:rPr lang="en-US" sz="2100" err="1"/>
              <a:t>xsdFileName</a:t>
            </a:r>
            <a:r>
              <a:rPr lang="en-US" sz="2100"/>
              <a:t> : fully qualified name</a:t>
            </a:r>
          </a:p>
          <a:p>
            <a:pPr lvl="1"/>
            <a:r>
              <a:rPr lang="en-US" sz="2100" err="1"/>
              <a:t>rootElement</a:t>
            </a:r>
            <a:r>
              <a:rPr lang="en-US" sz="2100"/>
              <a:t> : the XSD root element</a:t>
            </a:r>
          </a:p>
          <a:p>
            <a:endParaRPr lang="en-US" sz="2100"/>
          </a:p>
          <a:p>
            <a:r>
              <a:rPr lang="en-US" sz="2100"/>
              <a:t>Declared elements and attributes in the XSD are available as Gosu Types</a:t>
            </a:r>
          </a:p>
          <a:p>
            <a:pPr lvl="1"/>
            <a:r>
              <a:rPr lang="en-US" sz="2100"/>
              <a:t>Use dot notation to reference the element types and attributes</a:t>
            </a:r>
          </a:p>
        </p:txBody>
      </p:sp>
      <p:pic>
        <p:nvPicPr>
          <p:cNvPr id="4" name="Picture 3"/>
          <p:cNvPicPr>
            <a:picLocks noChangeAspect="1"/>
          </p:cNvPicPr>
          <p:nvPr/>
        </p:nvPicPr>
        <p:blipFill>
          <a:blip r:embed="rId3"/>
          <a:stretch>
            <a:fillRect/>
          </a:stretch>
        </p:blipFill>
        <p:spPr>
          <a:xfrm>
            <a:off x="4724400" y="2751334"/>
            <a:ext cx="4724400" cy="3078018"/>
          </a:xfrm>
          <a:prstGeom prst="rect">
            <a:avLst/>
          </a:prstGeom>
        </p:spPr>
      </p:pic>
      <p:pic>
        <p:nvPicPr>
          <p:cNvPr id="5" name="Picture 4"/>
          <p:cNvPicPr>
            <a:picLocks noChangeAspect="1"/>
          </p:cNvPicPr>
          <p:nvPr/>
        </p:nvPicPr>
        <p:blipFill>
          <a:blip r:embed="rId4"/>
          <a:stretch>
            <a:fillRect/>
          </a:stretch>
        </p:blipFill>
        <p:spPr>
          <a:xfrm>
            <a:off x="5334000" y="1335291"/>
            <a:ext cx="3724275" cy="1416043"/>
          </a:xfrm>
          <a:prstGeom prst="rect">
            <a:avLst/>
          </a:prstGeom>
        </p:spPr>
      </p:pic>
    </p:spTree>
    <p:extLst>
      <p:ext uri="{BB962C8B-B14F-4D97-AF65-F5344CB8AC3E}">
        <p14:creationId xmlns:p14="http://schemas.microsoft.com/office/powerpoint/2010/main" val="246764945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8" y="3199181"/>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solidFill>
                  <a:schemeClr val="accent6"/>
                </a:solidFill>
              </a:rPr>
              <a:t>Parsing a strongly typed XML file</a:t>
            </a:r>
          </a:p>
        </p:txBody>
      </p:sp>
      <p:sp>
        <p:nvSpPr>
          <p:cNvPr id="3" name="Content Placeholder 2"/>
          <p:cNvSpPr>
            <a:spLocks noGrp="1"/>
          </p:cNvSpPr>
          <p:nvPr>
            <p:ph idx="1"/>
          </p:nvPr>
        </p:nvSpPr>
        <p:spPr>
          <a:xfrm>
            <a:off x="667604" y="5252677"/>
            <a:ext cx="8318500" cy="1295400"/>
          </a:xfrm>
        </p:spPr>
        <p:txBody>
          <a:bodyPr/>
          <a:lstStyle/>
          <a:p>
            <a:r>
              <a:rPr lang="en-US"/>
              <a:t>Syntax to call the parse method on the XSD type:</a:t>
            </a:r>
            <a:br>
              <a:rPr lang="en-US"/>
            </a:br>
            <a:r>
              <a:rPr lang="en-US" b="1" err="1">
                <a:latin typeface="Courier New" pitchFamily="49" charset="0"/>
                <a:cs typeface="Courier New" pitchFamily="49" charset="0"/>
              </a:rPr>
              <a:t>xsdFileName.rootElement.parse</a:t>
            </a:r>
            <a:r>
              <a:rPr lang="en-US" b="1">
                <a:latin typeface="Courier New" pitchFamily="49" charset="0"/>
                <a:cs typeface="Courier New" pitchFamily="49" charset="0"/>
              </a:rPr>
              <a:t>(</a:t>
            </a:r>
            <a:r>
              <a:rPr lang="en-US" b="1" err="1">
                <a:latin typeface="Courier New" pitchFamily="49" charset="0"/>
                <a:cs typeface="Courier New" pitchFamily="49" charset="0"/>
              </a:rPr>
              <a:t>xmlToParse</a:t>
            </a:r>
            <a:r>
              <a:rPr lang="en-US" b="1">
                <a:latin typeface="Courier New" pitchFamily="49" charset="0"/>
                <a:cs typeface="Courier New" pitchFamily="49" charset="0"/>
              </a:rPr>
              <a:t>)</a:t>
            </a:r>
          </a:p>
          <a:p>
            <a:endParaRPr lang="en-US"/>
          </a:p>
        </p:txBody>
      </p:sp>
      <p:sp>
        <p:nvSpPr>
          <p:cNvPr id="5" name="rec LineNumbers"/>
          <p:cNvSpPr/>
          <p:nvPr/>
        </p:nvSpPr>
        <p:spPr bwMode="auto">
          <a:xfrm>
            <a:off x="667604" y="913180"/>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658368" y="941931"/>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 uses </a:t>
            </a:r>
            <a:r>
              <a:rPr lang="en-US" sz="1600" b="1" err="1">
                <a:solidFill>
                  <a:schemeClr val="bg1"/>
                </a:solidFill>
                <a:latin typeface="Courier New"/>
                <a:ea typeface="Times New Roman"/>
                <a:cs typeface="Times New Roman"/>
              </a:rPr>
              <a:t>gw.xml.XmlElement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 uses </a:t>
            </a:r>
            <a:r>
              <a:rPr lang="en-US" sz="1600" b="1" err="1">
                <a:solidFill>
                  <a:schemeClr val="bg1"/>
                </a:solidFill>
                <a:latin typeface="Courier New"/>
                <a:ea typeface="Times New Roman"/>
                <a:cs typeface="Times New Roman"/>
              </a:rPr>
              <a:t>java.io.File</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14 uses </a:t>
            </a:r>
            <a:r>
              <a:rPr lang="en-US" sz="1600" b="1" err="1">
                <a:solidFill>
                  <a:schemeClr val="bg1"/>
                </a:solidFill>
                <a:latin typeface="Courier New"/>
                <a:ea typeface="Times New Roman"/>
                <a:cs typeface="Times New Roman"/>
              </a:rPr>
              <a:t>trainingapp.demo.xsd.examplestrongtyped.ExampleStrongTyped</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…17 var </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 "…/examples/xml/exampleStrongTyped.xml" </a:t>
            </a:r>
            <a:endParaRPr lang="en-US" sz="1600" b="1">
              <a:solidFill>
                <a:schemeClr val="bg1"/>
              </a:solidFill>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file = new File(</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…22 var xml = </a:t>
            </a:r>
            <a:r>
              <a:rPr lang="en-US" sz="1600" b="1" err="1">
                <a:solidFill>
                  <a:schemeClr val="bg1"/>
                </a:solidFill>
                <a:latin typeface="Courier New"/>
                <a:ea typeface="Times New Roman"/>
                <a:cs typeface="Times New Roman"/>
              </a:rPr>
              <a:t>ExampleStrongTyped.parse</a:t>
            </a:r>
            <a:r>
              <a:rPr lang="en-US" sz="1600" b="1">
                <a:solidFill>
                  <a:schemeClr val="bg1"/>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…25 </a:t>
            </a:r>
            <a:r>
              <a:rPr lang="en-US" sz="1600" b="1" err="1">
                <a:solidFill>
                  <a:schemeClr val="bg1"/>
                </a:solidFill>
                <a:latin typeface="Courier New"/>
                <a:ea typeface="Times New Roman"/>
                <a:cs typeface="Times New Roman"/>
              </a:rPr>
              <a:t>xml.print</a:t>
            </a:r>
            <a:r>
              <a:rPr lang="en-US" sz="1600" b="1">
                <a:solidFill>
                  <a:schemeClr val="bg1"/>
                </a:solidFill>
                <a:latin typeface="Courier New"/>
                <a:ea typeface="Times New Roman"/>
                <a:cs typeface="Times New Roman"/>
              </a:rPr>
              <a:t>()</a:t>
            </a:r>
          </a:p>
        </p:txBody>
      </p:sp>
      <p:sp>
        <p:nvSpPr>
          <p:cNvPr id="7" name="txt Output"/>
          <p:cNvSpPr txBox="1"/>
          <p:nvPr/>
        </p:nvSpPr>
        <p:spPr>
          <a:xfrm>
            <a:off x="1124804" y="3580181"/>
            <a:ext cx="7924800" cy="13716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&lt;?xml version="1.0"?&gt;</a:t>
            </a:r>
          </a:p>
          <a:p>
            <a:r>
              <a:rPr lang="en-US" sz="1600" b="1">
                <a:solidFill>
                  <a:schemeClr val="bg1"/>
                </a:solidFill>
                <a:latin typeface="Courier New" pitchFamily="49" charset="0"/>
                <a:cs typeface="Courier New" pitchFamily="49" charset="0"/>
              </a:rPr>
              <a:t>&lt;</a:t>
            </a:r>
            <a:r>
              <a:rPr lang="en-US" sz="1600" b="1" err="1">
                <a:solidFill>
                  <a:schemeClr val="bg1"/>
                </a:solidFill>
                <a:latin typeface="Courier New" pitchFamily="49" charset="0"/>
                <a:cs typeface="Courier New" pitchFamily="49" charset="0"/>
              </a:rPr>
              <a:t>ExampleStrongTyped</a:t>
            </a:r>
            <a:r>
              <a:rPr lang="en-US" sz="1600" b="1">
                <a:solidFill>
                  <a:schemeClr val="bg1"/>
                </a:solidFill>
                <a:latin typeface="Courier New" pitchFamily="49" charset="0"/>
                <a:cs typeface="Courier New" pitchFamily="49" charset="0"/>
              </a:rPr>
              <a:t> </a:t>
            </a:r>
            <a:r>
              <a:rPr lang="en-US" sz="1600" b="1" err="1">
                <a:solidFill>
                  <a:schemeClr val="bg1"/>
                </a:solidFill>
                <a:latin typeface="Courier New" pitchFamily="49" charset="0"/>
                <a:cs typeface="Courier New" pitchFamily="49" charset="0"/>
              </a:rPr>
              <a:t>xmlns</a:t>
            </a:r>
            <a:r>
              <a:rPr lang="en-US" sz="1600" b="1">
                <a:solidFill>
                  <a:schemeClr val="bg1"/>
                </a:solidFill>
                <a:latin typeface="Courier New" pitchFamily="49" charset="0"/>
                <a:cs typeface="Courier New" pitchFamily="49" charset="0"/>
              </a:rPr>
              <a:t>="http://www.w3.org/2001/XMLSchema"&gt;</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&lt;database name="TADatabase" dbtype="h2" autoupgrade="true"&gt;</a:t>
            </a:r>
          </a:p>
          <a:p>
            <a:r>
              <a:rPr lang="en-US" sz="1600" b="1">
                <a:solidFill>
                  <a:schemeClr val="bg1"/>
                </a:solidFill>
                <a:latin typeface="Courier New" pitchFamily="49" charset="0"/>
                <a:cs typeface="Courier New" pitchFamily="49" charset="0"/>
              </a:rPr>
              <a:t>    &lt;param name="jdbcURL" value="jdbc:h2:file:ta/</a:t>
            </a:r>
            <a:r>
              <a:rPr lang="en-US" sz="1600" b="1" err="1">
                <a:solidFill>
                  <a:schemeClr val="bg1"/>
                </a:solidFill>
                <a:latin typeface="Courier New" pitchFamily="49" charset="0"/>
                <a:cs typeface="Courier New" pitchFamily="49" charset="0"/>
              </a:rPr>
              <a:t>db</a:t>
            </a:r>
            <a:r>
              <a:rPr lang="en-US" sz="1600" b="1">
                <a:solidFill>
                  <a:schemeClr val="bg1"/>
                </a:solidFill>
                <a:latin typeface="Courier New" pitchFamily="49" charset="0"/>
                <a:cs typeface="Courier New" pitchFamily="49" charset="0"/>
              </a:rPr>
              <a:t>/ta"/&gt;</a:t>
            </a:r>
          </a:p>
          <a:p>
            <a:r>
              <a:rPr lang="en-US" sz="1600" b="1">
                <a:solidFill>
                  <a:schemeClr val="bg1"/>
                </a:solidFill>
                <a:latin typeface="Courier New" pitchFamily="49" charset="0"/>
                <a:cs typeface="Courier New" pitchFamily="49" charset="0"/>
              </a:rPr>
              <a:t>    &lt;param name="jdbcURLtest" value="jdbc:h2:file:ta/</a:t>
            </a:r>
            <a:r>
              <a:rPr lang="en-US" sz="1600" b="1" err="1">
                <a:solidFill>
                  <a:schemeClr val="bg1"/>
                </a:solidFill>
                <a:latin typeface="Courier New" pitchFamily="49" charset="0"/>
                <a:cs typeface="Courier New" pitchFamily="49" charset="0"/>
              </a:rPr>
              <a:t>db</a:t>
            </a:r>
            <a:r>
              <a:rPr lang="en-US" sz="1600" b="1">
                <a:solidFill>
                  <a:schemeClr val="bg1"/>
                </a:solidFill>
                <a:latin typeface="Courier New" pitchFamily="49" charset="0"/>
                <a:cs typeface="Courier New" pitchFamily="49" charset="0"/>
              </a:rPr>
              <a:t>/test"/&gt;</a:t>
            </a:r>
          </a:p>
        </p:txBody>
      </p:sp>
      <p:sp>
        <p:nvSpPr>
          <p:cNvPr id="9" name="Down Arrow 8"/>
          <p:cNvSpPr/>
          <p:nvPr/>
        </p:nvSpPr>
        <p:spPr bwMode="auto">
          <a:xfrm>
            <a:off x="7924800" y="2903113"/>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19946652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Generate XML using an XSD</a:t>
            </a:r>
          </a:p>
        </p:txBody>
      </p:sp>
      <p:sp>
        <p:nvSpPr>
          <p:cNvPr id="5" name="Content Placeholder 2"/>
          <p:cNvSpPr>
            <a:spLocks noGrp="1"/>
          </p:cNvSpPr>
          <p:nvPr>
            <p:ph idx="1"/>
          </p:nvPr>
        </p:nvSpPr>
        <p:spPr>
          <a:xfrm>
            <a:off x="762000" y="854051"/>
            <a:ext cx="6858000" cy="1416321"/>
          </a:xfrm>
        </p:spPr>
        <p:txBody>
          <a:bodyPr/>
          <a:lstStyle/>
          <a:p>
            <a:r>
              <a:rPr lang="en-US" sz="2000"/>
              <a:t>Syntax to call the parse method on the XSD type:</a:t>
            </a:r>
            <a:br>
              <a:rPr lang="en-US" sz="2000"/>
            </a:br>
            <a:r>
              <a:rPr lang="en-US" sz="2000" b="1" err="1">
                <a:latin typeface="Courier New" pitchFamily="49" charset="0"/>
                <a:cs typeface="Courier New" pitchFamily="49" charset="0"/>
              </a:rPr>
              <a:t>xsdFileName.rootElement.parse</a:t>
            </a:r>
            <a:r>
              <a:rPr lang="en-US" sz="2000" b="1">
                <a:latin typeface="Courier New" pitchFamily="49" charset="0"/>
                <a:cs typeface="Courier New" pitchFamily="49" charset="0"/>
              </a:rPr>
              <a:t>(</a:t>
            </a:r>
            <a:r>
              <a:rPr lang="en-US" sz="2000" b="1" err="1">
                <a:latin typeface="Courier New" pitchFamily="49" charset="0"/>
                <a:cs typeface="Courier New" pitchFamily="49" charset="0"/>
              </a:rPr>
              <a:t>xmlToParse</a:t>
            </a:r>
            <a:r>
              <a:rPr lang="en-US" sz="2000" b="1">
                <a:latin typeface="Courier New" pitchFamily="49" charset="0"/>
                <a:cs typeface="Courier New" pitchFamily="49" charset="0"/>
              </a:rPr>
              <a:t>)</a:t>
            </a:r>
          </a:p>
          <a:p>
            <a:pPr lvl="1"/>
            <a:r>
              <a:rPr lang="en-US" sz="1800" err="1"/>
              <a:t>xsdFileName</a:t>
            </a:r>
            <a:r>
              <a:rPr lang="en-US" sz="1800"/>
              <a:t> : fully qualified name</a:t>
            </a:r>
          </a:p>
          <a:p>
            <a:pPr lvl="1"/>
            <a:r>
              <a:rPr lang="en-US" sz="1800" err="1"/>
              <a:t>rootElement</a:t>
            </a:r>
            <a:r>
              <a:rPr lang="en-US" sz="1800"/>
              <a:t> : the XSD root element</a:t>
            </a:r>
          </a:p>
          <a:p>
            <a:endParaRPr lang="en-US" sz="1900"/>
          </a:p>
        </p:txBody>
      </p:sp>
      <p:pic>
        <p:nvPicPr>
          <p:cNvPr id="6" name="Picture 5"/>
          <p:cNvPicPr>
            <a:picLocks noChangeAspect="1"/>
          </p:cNvPicPr>
          <p:nvPr/>
        </p:nvPicPr>
        <p:blipFill>
          <a:blip r:embed="rId3"/>
          <a:stretch>
            <a:fillRect/>
          </a:stretch>
        </p:blipFill>
        <p:spPr>
          <a:xfrm>
            <a:off x="5105400" y="2378885"/>
            <a:ext cx="4516183" cy="3733279"/>
          </a:xfrm>
          <a:prstGeom prst="rect">
            <a:avLst/>
          </a:prstGeom>
        </p:spPr>
      </p:pic>
      <p:sp>
        <p:nvSpPr>
          <p:cNvPr id="7" name="Content Placeholder 2"/>
          <p:cNvSpPr txBox="1">
            <a:spLocks/>
          </p:cNvSpPr>
          <p:nvPr/>
        </p:nvSpPr>
        <p:spPr bwMode="auto">
          <a:xfrm>
            <a:off x="745836" y="2340699"/>
            <a:ext cx="3249891" cy="3405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endParaRPr lang="en-US" sz="1900" kern="0"/>
          </a:p>
          <a:p>
            <a:r>
              <a:rPr lang="en-US" sz="2000" kern="0"/>
              <a:t>Declared elements and attributes in the XSD are available as Gosu Types</a:t>
            </a:r>
          </a:p>
          <a:p>
            <a:pPr lvl="1"/>
            <a:r>
              <a:rPr lang="en-US" sz="1800" kern="0"/>
              <a:t>Use dot notation to reference the element types and attributes</a:t>
            </a:r>
          </a:p>
        </p:txBody>
      </p:sp>
      <p:pic>
        <p:nvPicPr>
          <p:cNvPr id="8" name="Picture 7"/>
          <p:cNvPicPr>
            <a:picLocks noChangeAspect="1"/>
          </p:cNvPicPr>
          <p:nvPr/>
        </p:nvPicPr>
        <p:blipFill>
          <a:blip r:embed="rId4"/>
          <a:stretch>
            <a:fillRect/>
          </a:stretch>
        </p:blipFill>
        <p:spPr>
          <a:xfrm>
            <a:off x="969352" y="4956364"/>
            <a:ext cx="3587390" cy="880821"/>
          </a:xfrm>
          <a:prstGeom prst="rect">
            <a:avLst/>
          </a:prstGeom>
        </p:spPr>
      </p:pic>
      <p:pic>
        <p:nvPicPr>
          <p:cNvPr id="9" name="Picture 8"/>
          <p:cNvPicPr>
            <a:picLocks noChangeAspect="1"/>
          </p:cNvPicPr>
          <p:nvPr/>
        </p:nvPicPr>
        <p:blipFill>
          <a:blip r:embed="rId5"/>
          <a:stretch>
            <a:fillRect/>
          </a:stretch>
        </p:blipFill>
        <p:spPr>
          <a:xfrm>
            <a:off x="4572000" y="2373386"/>
            <a:ext cx="561975" cy="3738778"/>
          </a:xfrm>
          <a:prstGeom prst="rect">
            <a:avLst/>
          </a:prstGeom>
        </p:spPr>
      </p:pic>
    </p:spTree>
    <p:extLst>
      <p:ext uri="{BB962C8B-B14F-4D97-AF65-F5344CB8AC3E}">
        <p14:creationId xmlns:p14="http://schemas.microsoft.com/office/powerpoint/2010/main" val="111780158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XSD types as Gosu types</a:t>
            </a:r>
          </a:p>
        </p:txBody>
      </p:sp>
      <p:sp>
        <p:nvSpPr>
          <p:cNvPr id="3" name="Content Placeholder 2"/>
          <p:cNvSpPr>
            <a:spLocks noGrp="1"/>
          </p:cNvSpPr>
          <p:nvPr>
            <p:ph idx="1"/>
          </p:nvPr>
        </p:nvSpPr>
        <p:spPr>
          <a:xfrm>
            <a:off x="686077" y="3676650"/>
            <a:ext cx="8318500" cy="2743200"/>
          </a:xfrm>
        </p:spPr>
        <p:txBody>
          <a:bodyPr/>
          <a:lstStyle/>
          <a:p>
            <a:r>
              <a:rPr lang="en-US"/>
              <a:t>Declared elements </a:t>
            </a:r>
            <a:br>
              <a:rPr lang="en-US"/>
            </a:br>
            <a:r>
              <a:rPr lang="en-US"/>
              <a:t>and attributes in the </a:t>
            </a:r>
            <a:br>
              <a:rPr lang="en-US"/>
            </a:br>
            <a:r>
              <a:rPr lang="en-US"/>
              <a:t>XSD are available </a:t>
            </a:r>
            <a:br>
              <a:rPr lang="en-US"/>
            </a:br>
            <a:r>
              <a:rPr lang="en-US"/>
              <a:t>as Gosu types</a:t>
            </a:r>
          </a:p>
          <a:p>
            <a:r>
              <a:rPr lang="en-US"/>
              <a:t>Use dot notation </a:t>
            </a:r>
            <a:br>
              <a:rPr lang="en-US"/>
            </a:br>
            <a:r>
              <a:rPr lang="en-US"/>
              <a:t>to reference the </a:t>
            </a:r>
            <a:br>
              <a:rPr lang="en-US"/>
            </a:br>
            <a:r>
              <a:rPr lang="en-US"/>
              <a:t>element types and attributes</a:t>
            </a:r>
          </a:p>
          <a:p>
            <a:endParaRPr lang="en-US"/>
          </a:p>
          <a:p>
            <a:endParaRPr lang="en-US"/>
          </a:p>
        </p:txBody>
      </p:sp>
      <p:sp>
        <p:nvSpPr>
          <p:cNvPr id="4" name="rec LineNumbers"/>
          <p:cNvSpPr/>
          <p:nvPr/>
        </p:nvSpPr>
        <p:spPr bwMode="auto">
          <a:xfrm>
            <a:off x="658368" y="913180"/>
            <a:ext cx="457200" cy="2286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rec Code"/>
          <p:cNvSpPr/>
          <p:nvPr/>
        </p:nvSpPr>
        <p:spPr>
          <a:xfrm>
            <a:off x="658368" y="1017345"/>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 uses </a:t>
            </a:r>
            <a:r>
              <a:rPr lang="en-US" sz="1600" b="1" err="1">
                <a:solidFill>
                  <a:schemeClr val="bg1"/>
                </a:solidFill>
                <a:latin typeface="Courier New"/>
                <a:ea typeface="Times New Roman"/>
                <a:cs typeface="Times New Roman"/>
              </a:rPr>
              <a:t>gw.xml.XmlElement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 uses </a:t>
            </a:r>
            <a:r>
              <a:rPr lang="en-US" sz="1600" b="1" err="1">
                <a:solidFill>
                  <a:schemeClr val="bg1"/>
                </a:solidFill>
                <a:latin typeface="Courier New"/>
                <a:ea typeface="Times New Roman"/>
                <a:cs typeface="Times New Roman"/>
              </a:rPr>
              <a:t>java.io.File</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14 uses </a:t>
            </a:r>
            <a:r>
              <a:rPr lang="en-US" sz="1600" b="1" err="1">
                <a:solidFill>
                  <a:schemeClr val="bg1"/>
                </a:solidFill>
                <a:latin typeface="Courier New"/>
                <a:ea typeface="Times New Roman"/>
                <a:cs typeface="Times New Roman"/>
              </a:rPr>
              <a:t>trainingapp.demo.xsd.examplestrongtyped.ExampleStrongTyped</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…17 var </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 "…/examples/xml/exampleStrongTyped.xml" </a:t>
            </a:r>
            <a:endParaRPr lang="en-US" sz="1600" b="1">
              <a:solidFill>
                <a:schemeClr val="bg1"/>
              </a:solidFill>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file = new File(</a:t>
            </a:r>
            <a:r>
              <a:rPr lang="en-US" sz="1600" b="1" err="1">
                <a:solidFill>
                  <a:schemeClr val="bg1"/>
                </a:solidFill>
                <a:latin typeface="Courier New"/>
                <a:ea typeface="Times New Roman"/>
                <a:cs typeface="Times New Roman"/>
              </a:rPr>
              <a:t>filePathInput</a:t>
            </a:r>
            <a:r>
              <a:rPr lang="en-US" sz="1600" b="1">
                <a:solidFill>
                  <a:schemeClr val="bg1"/>
                </a:solidFill>
                <a:latin typeface="Courier New"/>
                <a:ea typeface="Times New Roman"/>
                <a:cs typeface="Times New Roman"/>
              </a:rPr>
              <a:t>)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…22 var xml = </a:t>
            </a:r>
            <a:r>
              <a:rPr lang="en-US" sz="1600" b="1" err="1">
                <a:solidFill>
                  <a:schemeClr val="bg1"/>
                </a:solidFill>
                <a:latin typeface="Courier New"/>
                <a:ea typeface="Times New Roman"/>
                <a:cs typeface="Times New Roman"/>
              </a:rPr>
              <a:t>ExampleStrongTyped.parse</a:t>
            </a:r>
            <a:r>
              <a:rPr lang="en-US" sz="1600" b="1">
                <a:solidFill>
                  <a:schemeClr val="bg1"/>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…28 print(</a:t>
            </a:r>
            <a:r>
              <a:rPr lang="en-US" sz="1600" b="1" err="1">
                <a:solidFill>
                  <a:schemeClr val="bg1"/>
                </a:solidFill>
                <a:latin typeface="Courier New"/>
                <a:ea typeface="Times New Roman"/>
                <a:cs typeface="Times New Roman"/>
              </a:rPr>
              <a:t>xml.Database</a:t>
            </a:r>
            <a:r>
              <a:rPr lang="en-US" sz="1600" b="1">
                <a:solidFill>
                  <a:schemeClr val="bg1"/>
                </a:solidFill>
                <a:latin typeface="Courier New"/>
                <a:ea typeface="Times New Roman"/>
                <a:cs typeface="Times New Roman"/>
              </a:rPr>
              <a:t>[</a:t>
            </a:r>
            <a:r>
              <a:rPr lang="en-US" sz="1600" b="1">
                <a:solidFill>
                  <a:schemeClr val="bg1"/>
                </a:solidFill>
                <a:latin typeface="Courier New" pitchFamily="49" charset="0"/>
                <a:ea typeface="Times New Roman"/>
                <a:cs typeface="Courier New" pitchFamily="49" charset="0"/>
              </a:rPr>
              <a:t>0</a:t>
            </a:r>
            <a:r>
              <a:rPr lang="en-US" sz="1600" b="1">
                <a:solidFill>
                  <a:schemeClr val="bg1"/>
                </a:solidFill>
                <a:latin typeface="Courier New"/>
                <a:ea typeface="Times New Roman"/>
                <a:cs typeface="Times New Roman"/>
              </a:rPr>
              <a:t>].Name)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…29 print(</a:t>
            </a:r>
            <a:r>
              <a:rPr lang="en-US" sz="1600" b="1" err="1">
                <a:solidFill>
                  <a:schemeClr val="bg1"/>
                </a:solidFill>
                <a:latin typeface="Courier New"/>
                <a:ea typeface="Times New Roman"/>
                <a:cs typeface="Times New Roman"/>
              </a:rPr>
              <a:t>xml.Param.Count</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a:solidFill>
                <a:schemeClr val="bg1"/>
              </a:solidFill>
              <a:latin typeface="Courier New"/>
              <a:ea typeface="Times New Roman"/>
              <a:cs typeface="Times New Roman"/>
            </a:endParaRP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3684075"/>
            <a:ext cx="4487144" cy="475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4" name="pic Elemen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745" y="4159789"/>
            <a:ext cx="4075715" cy="177428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52772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859" y="2881192"/>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solidFill>
                  <a:schemeClr val="accent6"/>
                </a:solidFill>
              </a:rPr>
              <a:t>XmlElement property prefix $</a:t>
            </a:r>
          </a:p>
        </p:txBody>
      </p:sp>
      <p:sp>
        <p:nvSpPr>
          <p:cNvPr id="3" name="Content Placeholder 2"/>
          <p:cNvSpPr>
            <a:spLocks noGrp="1"/>
          </p:cNvSpPr>
          <p:nvPr>
            <p:ph idx="1"/>
          </p:nvPr>
        </p:nvSpPr>
        <p:spPr>
          <a:xfrm>
            <a:off x="658368" y="5105400"/>
            <a:ext cx="8318500" cy="1295400"/>
          </a:xfrm>
        </p:spPr>
        <p:txBody>
          <a:bodyPr/>
          <a:lstStyle/>
          <a:p>
            <a:r>
              <a:rPr lang="en-US"/>
              <a:t>XmlElement property names prefixed with $</a:t>
            </a:r>
          </a:p>
          <a:p>
            <a:pPr lvl="1"/>
            <a:r>
              <a:rPr lang="en-US"/>
              <a:t>Avoids naming collisions can occur between a property declared in the XSD and an </a:t>
            </a:r>
            <a:r>
              <a:rPr lang="en-US" err="1"/>
              <a:t>XmlElement’s</a:t>
            </a:r>
            <a:r>
              <a:rPr lang="en-US"/>
              <a:t> class-level property </a:t>
            </a:r>
          </a:p>
          <a:p>
            <a:endParaRPr lang="en-US"/>
          </a:p>
        </p:txBody>
      </p:sp>
      <p:sp>
        <p:nvSpPr>
          <p:cNvPr id="4" name="rec LineNumbers"/>
          <p:cNvSpPr/>
          <p:nvPr/>
        </p:nvSpPr>
        <p:spPr bwMode="auto">
          <a:xfrm>
            <a:off x="672223" y="939246"/>
            <a:ext cx="457200" cy="1524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rec Code"/>
          <p:cNvSpPr/>
          <p:nvPr/>
        </p:nvSpPr>
        <p:spPr>
          <a:xfrm>
            <a:off x="672223" y="1014227"/>
            <a:ext cx="8610600" cy="1525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…19 var xml = </a:t>
            </a:r>
            <a:r>
              <a:rPr lang="en-US" sz="1600" b="1" err="1">
                <a:solidFill>
                  <a:schemeClr val="bg1"/>
                </a:solidFill>
                <a:latin typeface="Courier New"/>
                <a:ea typeface="Times New Roman"/>
                <a:cs typeface="Times New Roman"/>
              </a:rPr>
              <a:t>XmlElement.parse</a:t>
            </a:r>
            <a:r>
              <a:rPr lang="en-US" sz="1600" b="1">
                <a:solidFill>
                  <a:schemeClr val="bg1"/>
                </a:solidFill>
                <a:latin typeface="Courier New"/>
                <a:ea typeface="Times New Roman"/>
                <a:cs typeface="Times New Roman"/>
              </a:rPr>
              <a:t>(file)</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…49 print("</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      " + xml.$</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…51 var </a:t>
            </a:r>
            <a:r>
              <a:rPr lang="en-US" sz="1600" b="1" err="1">
                <a:solidFill>
                  <a:schemeClr val="bg1"/>
                </a:solidFill>
                <a:latin typeface="Courier New"/>
                <a:ea typeface="Times New Roman"/>
                <a:cs typeface="Times New Roman"/>
              </a:rPr>
              <a:t>dbElement</a:t>
            </a:r>
            <a:r>
              <a:rPr lang="en-US" sz="1600" b="1">
                <a:solidFill>
                  <a:schemeClr val="bg1"/>
                </a:solidFill>
                <a:latin typeface="Courier New"/>
                <a:ea typeface="Times New Roman"/>
                <a:cs typeface="Times New Roman"/>
              </a:rPr>
              <a:t> = xml.$</a:t>
            </a:r>
            <a:r>
              <a:rPr lang="en-US" sz="1600" b="1" err="1">
                <a:solidFill>
                  <a:schemeClr val="bg1"/>
                </a:solidFill>
                <a:latin typeface="Courier New"/>
                <a:ea typeface="Times New Roman"/>
                <a:cs typeface="Times New Roman"/>
              </a:rPr>
              <a:t>Children.singleWhere</a:t>
            </a:r>
            <a:r>
              <a:rPr lang="en-US" sz="1600" b="1">
                <a:solidFill>
                  <a:schemeClr val="bg1"/>
                </a:solidFill>
                <a:latin typeface="Courier New"/>
                <a:ea typeface="Times New Roman"/>
                <a:cs typeface="Times New Roman"/>
              </a:rPr>
              <a:t>(\el -&gt;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r>
              <a:rPr lang="en-US" sz="1600" b="1" err="1">
                <a:solidFill>
                  <a:schemeClr val="bg1"/>
                </a:solidFill>
                <a:latin typeface="Courier New"/>
                <a:ea typeface="Times New Roman"/>
                <a:cs typeface="Times New Roman"/>
              </a:rPr>
              <a:t>el.QName.LocalPart</a:t>
            </a:r>
            <a:r>
              <a:rPr lang="en-US" sz="1600" b="1">
                <a:solidFill>
                  <a:schemeClr val="bg1"/>
                </a:solidFill>
                <a:latin typeface="Courier New"/>
                <a:ea typeface="Times New Roman"/>
                <a:cs typeface="Times New Roman"/>
              </a:rPr>
              <a:t> == "database"))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52 print("Attributes: " + </a:t>
            </a:r>
            <a:r>
              <a:rPr lang="en-US" sz="1600" b="1" err="1">
                <a:solidFill>
                  <a:schemeClr val="bg1"/>
                </a:solidFill>
                <a:latin typeface="Courier New"/>
                <a:ea typeface="Times New Roman"/>
                <a:cs typeface="Times New Roman"/>
              </a:rPr>
              <a:t>dbElement.AttributesNames</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a:t>
            </a:r>
            <a:br>
              <a:rPr lang="en-US" sz="1600" b="1">
                <a:solidFill>
                  <a:schemeClr val="bg1"/>
                </a:solidFill>
                <a:latin typeface="Courier New"/>
                <a:ea typeface="Times New Roman"/>
                <a:cs typeface="Times New Roman"/>
              </a:rPr>
            </a:br>
            <a:endParaRPr lang="en-US" sz="1600" b="1">
              <a:solidFill>
                <a:schemeClr val="bg1"/>
              </a:solidFill>
              <a:latin typeface="Courier New"/>
              <a:ea typeface="Times New Roman"/>
              <a:cs typeface="Times New Roman"/>
            </a:endParaRPr>
          </a:p>
        </p:txBody>
      </p:sp>
      <p:sp>
        <p:nvSpPr>
          <p:cNvPr id="7" name="txt Output"/>
          <p:cNvSpPr txBox="1"/>
          <p:nvPr/>
        </p:nvSpPr>
        <p:spPr>
          <a:xfrm>
            <a:off x="1219200" y="3344653"/>
            <a:ext cx="7924800" cy="1367696"/>
          </a:xfrm>
          <a:prstGeom prst="rect">
            <a:avLst/>
          </a:prstGeom>
          <a:noFill/>
        </p:spPr>
        <p:txBody>
          <a:bodyPr wrap="square" rtlCol="0">
            <a:noAutofit/>
          </a:bodyPr>
          <a:lstStyle/>
          <a:p>
            <a:r>
              <a:rPr lang="en-US" sz="1600" b="1" err="1">
                <a:solidFill>
                  <a:schemeClr val="bg1"/>
                </a:solidFill>
                <a:latin typeface="Courier New" pitchFamily="49" charset="0"/>
                <a:cs typeface="Courier New" pitchFamily="49" charset="0"/>
              </a:rPr>
              <a:t>QName</a:t>
            </a:r>
            <a:r>
              <a:rPr lang="en-US" sz="1600" b="1">
                <a:solidFill>
                  <a:schemeClr val="bg1"/>
                </a:solidFill>
                <a:latin typeface="Courier New" pitchFamily="49" charset="0"/>
                <a:cs typeface="Courier New" pitchFamily="49" charset="0"/>
              </a:rPr>
              <a:t>:      {http://www.w3.org/2001/XMLSchema}ExampleStrongTyped</a:t>
            </a:r>
          </a:p>
          <a:p>
            <a:r>
              <a:rPr lang="en-US" sz="1600" b="1">
                <a:solidFill>
                  <a:schemeClr val="bg1"/>
                </a:solidFill>
                <a:latin typeface="Courier New" pitchFamily="49" charset="0"/>
                <a:cs typeface="Courier New" pitchFamily="49" charset="0"/>
              </a:rPr>
              <a:t>---------------------------------------</a:t>
            </a:r>
          </a:p>
          <a:p>
            <a:r>
              <a:rPr lang="en-US" sz="1600" b="1">
                <a:solidFill>
                  <a:schemeClr val="bg1"/>
                </a:solidFill>
                <a:latin typeface="Courier New" pitchFamily="49" charset="0"/>
                <a:cs typeface="Courier New" pitchFamily="49" charset="0"/>
              </a:rPr>
              <a:t>Attributes: [name, driver, dbtype, </a:t>
            </a:r>
            <a:r>
              <a:rPr lang="en-US" sz="1600" b="1" err="1">
                <a:solidFill>
                  <a:schemeClr val="bg1"/>
                </a:solidFill>
                <a:latin typeface="Courier New" pitchFamily="49" charset="0"/>
                <a:cs typeface="Courier New" pitchFamily="49" charset="0"/>
              </a:rPr>
              <a:t>printcommands</a:t>
            </a:r>
            <a:r>
              <a:rPr lang="en-US" sz="1600" b="1">
                <a:solidFill>
                  <a:schemeClr val="bg1"/>
                </a:solidFill>
                <a:latin typeface="Courier New" pitchFamily="49" charset="0"/>
                <a:cs typeface="Courier New" pitchFamily="49" charset="0"/>
              </a:rPr>
              <a:t>, autoupgrade, checker]</a:t>
            </a:r>
          </a:p>
        </p:txBody>
      </p:sp>
      <p:sp>
        <p:nvSpPr>
          <p:cNvPr id="9" name="Down Arrow 8"/>
          <p:cNvSpPr/>
          <p:nvPr/>
        </p:nvSpPr>
        <p:spPr bwMode="auto">
          <a:xfrm>
            <a:off x="8229600" y="274198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93011943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Exporting XML</a:t>
            </a:r>
          </a:p>
        </p:txBody>
      </p:sp>
      <p:sp>
        <p:nvSpPr>
          <p:cNvPr id="3" name="Content Placeholder 2"/>
          <p:cNvSpPr>
            <a:spLocks noGrp="1"/>
          </p:cNvSpPr>
          <p:nvPr>
            <p:ph sz="half" idx="2"/>
          </p:nvPr>
        </p:nvSpPr>
        <p:spPr>
          <a:xfrm>
            <a:off x="5105400" y="4038600"/>
            <a:ext cx="4099560" cy="2532065"/>
          </a:xfrm>
        </p:spPr>
        <p:txBody>
          <a:bodyPr/>
          <a:lstStyle/>
          <a:p>
            <a:r>
              <a:rPr lang="en-US" err="1"/>
              <a:t>asUTFString</a:t>
            </a:r>
            <a:r>
              <a:rPr lang="en-US"/>
              <a:t>() method</a:t>
            </a:r>
          </a:p>
          <a:p>
            <a:pPr lvl="1"/>
            <a:r>
              <a:rPr lang="en-US"/>
              <a:t>Serializes the element to a String object in UTF-8</a:t>
            </a:r>
          </a:p>
          <a:p>
            <a:pPr marL="400050" lvl="1" indent="0">
              <a:buNone/>
            </a:pPr>
            <a:endParaRPr lang="en-US"/>
          </a:p>
          <a:p>
            <a:r>
              <a:rPr lang="en-US" err="1"/>
              <a:t>XmlSerializationOptions</a:t>
            </a:r>
            <a:r>
              <a:rPr lang="en-US"/>
              <a:t>()</a:t>
            </a:r>
          </a:p>
          <a:p>
            <a:pPr lvl="1"/>
            <a:r>
              <a:rPr lang="en-US"/>
              <a:t>Customize the export</a:t>
            </a:r>
          </a:p>
        </p:txBody>
      </p:sp>
      <p:sp>
        <p:nvSpPr>
          <p:cNvPr id="5" name="rec LineNumbers"/>
          <p:cNvSpPr/>
          <p:nvPr/>
        </p:nvSpPr>
        <p:spPr bwMode="auto">
          <a:xfrm>
            <a:off x="658368" y="990600"/>
            <a:ext cx="457200" cy="2667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 Code"/>
          <p:cNvSpPr/>
          <p:nvPr/>
        </p:nvSpPr>
        <p:spPr>
          <a:xfrm>
            <a:off x="594360" y="1093290"/>
            <a:ext cx="8610600" cy="2668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…6 uses </a:t>
            </a:r>
            <a:r>
              <a:rPr lang="en-US" sz="1600" b="1" err="1">
                <a:solidFill>
                  <a:schemeClr val="bg1"/>
                </a:solidFill>
                <a:latin typeface="Courier New"/>
                <a:ea typeface="Times New Roman"/>
                <a:cs typeface="Times New Roman"/>
              </a:rPr>
              <a:t>gw.xml.XmlElement</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7 uses </a:t>
            </a:r>
            <a:r>
              <a:rPr lang="en-US" sz="1600" b="1" err="1">
                <a:solidFill>
                  <a:schemeClr val="bg1"/>
                </a:solidFill>
                <a:latin typeface="Courier New"/>
                <a:ea typeface="Times New Roman"/>
                <a:cs typeface="Times New Roman"/>
              </a:rPr>
              <a:t>java.io.File</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…10 uses </a:t>
            </a:r>
            <a:r>
              <a:rPr lang="en-US" sz="1600" b="1" err="1">
                <a:solidFill>
                  <a:schemeClr val="bg1"/>
                </a:solidFill>
                <a:latin typeface="Courier New"/>
                <a:ea typeface="Times New Roman"/>
                <a:cs typeface="Times New Roman"/>
              </a:rPr>
              <a:t>java.io.FileWriter</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…11 uses </a:t>
            </a:r>
            <a:r>
              <a:rPr lang="en-US" sz="1600" b="1" err="1">
                <a:solidFill>
                  <a:schemeClr val="bg1"/>
                </a:solidFill>
                <a:latin typeface="Courier New"/>
                <a:ea typeface="Times New Roman"/>
                <a:cs typeface="Times New Roman"/>
              </a:rPr>
              <a:t>java.io.BufferedWriter</a:t>
            </a:r>
            <a:endParaRPr lang="en-US" sz="1600" b="1">
              <a:solidFill>
                <a:schemeClr val="bg1"/>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…15 var </a:t>
            </a:r>
            <a:r>
              <a:rPr lang="en-US" sz="1600" b="1" err="1">
                <a:solidFill>
                  <a:schemeClr val="bg1"/>
                </a:solidFill>
                <a:latin typeface="Courier New"/>
                <a:ea typeface="Times New Roman"/>
                <a:cs typeface="Times New Roman"/>
              </a:rPr>
              <a:t>filePathOutput</a:t>
            </a:r>
            <a:r>
              <a:rPr lang="en-US" sz="1600" b="1">
                <a:solidFill>
                  <a:schemeClr val="bg1"/>
                </a:solidFill>
                <a:latin typeface="Courier New"/>
                <a:ea typeface="Times New Roman"/>
                <a:cs typeface="Times New Roman"/>
              </a:rPr>
              <a:t> = "…/xml/exampleStrongTyped_Modified.xml" </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…92 var </a:t>
            </a:r>
            <a:r>
              <a:rPr lang="en-US" sz="1600" b="1" err="1">
                <a:solidFill>
                  <a:schemeClr val="bg1"/>
                </a:solidFill>
                <a:latin typeface="Courier New"/>
                <a:ea typeface="Times New Roman"/>
                <a:cs typeface="Times New Roman"/>
              </a:rPr>
              <a:t>outputWriter</a:t>
            </a:r>
            <a:r>
              <a:rPr lang="en-US" sz="1600" b="1">
                <a:solidFill>
                  <a:schemeClr val="bg1"/>
                </a:solidFill>
                <a:latin typeface="Courier New"/>
                <a:ea typeface="Times New Roman"/>
                <a:cs typeface="Times New Roman"/>
              </a:rPr>
              <a:t> = new </a:t>
            </a:r>
            <a:r>
              <a:rPr lang="en-US" sz="1600" b="1" err="1">
                <a:solidFill>
                  <a:schemeClr val="bg1"/>
                </a:solidFill>
                <a:latin typeface="Courier New"/>
                <a:ea typeface="Times New Roman"/>
                <a:cs typeface="Times New Roman"/>
              </a:rPr>
              <a:t>BufferedWriter</a:t>
            </a:r>
            <a:r>
              <a:rPr lang="en-US" sz="1600" b="1">
                <a:solidFill>
                  <a:schemeClr val="bg1"/>
                </a:solidFill>
                <a:latin typeface="Courier New"/>
                <a:ea typeface="Times New Roman"/>
                <a:cs typeface="Times New Roman"/>
              </a:rPr>
              <a:t>(new </a:t>
            </a:r>
            <a:r>
              <a:rPr lang="en-US" sz="1600" b="1" err="1">
                <a:solidFill>
                  <a:schemeClr val="bg1"/>
                </a:solidFill>
                <a:latin typeface="Courier New"/>
                <a:ea typeface="Times New Roman"/>
                <a:cs typeface="Times New Roman"/>
              </a:rPr>
              <a:t>FileWriter</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new File(</a:t>
            </a:r>
            <a:r>
              <a:rPr lang="en-US" sz="1600" b="1" err="1">
                <a:solidFill>
                  <a:schemeClr val="bg1"/>
                </a:solidFill>
                <a:latin typeface="Courier New"/>
                <a:ea typeface="Times New Roman"/>
                <a:cs typeface="Times New Roman"/>
              </a:rPr>
              <a:t>filePathOutput</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93 </a:t>
            </a:r>
            <a:r>
              <a:rPr lang="en-US" sz="1600" b="1" err="1">
                <a:solidFill>
                  <a:schemeClr val="bg1"/>
                </a:solidFill>
                <a:latin typeface="Courier New"/>
                <a:ea typeface="Times New Roman"/>
                <a:cs typeface="Times New Roman"/>
              </a:rPr>
              <a:t>outputWriter.write</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xml.asUTFString</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94 </a:t>
            </a:r>
            <a:r>
              <a:rPr lang="en-US" sz="1600" b="1" err="1">
                <a:solidFill>
                  <a:schemeClr val="bg1"/>
                </a:solidFill>
                <a:latin typeface="Courier New"/>
                <a:ea typeface="Times New Roman"/>
                <a:cs typeface="Times New Roman"/>
              </a:rPr>
              <a:t>outputWriter.close</a:t>
            </a:r>
            <a:r>
              <a:rPr lang="en-US" sz="1600" b="1">
                <a:solidFill>
                  <a:schemeClr val="bg1"/>
                </a:solidFill>
                <a:latin typeface="Courier New"/>
                <a:ea typeface="Times New Roman"/>
                <a:cs typeface="Times New Roman"/>
              </a:rPr>
              <a:t>()</a:t>
            </a:r>
          </a:p>
        </p:txBody>
      </p:sp>
      <p:sp>
        <p:nvSpPr>
          <p:cNvPr id="7" name="txt Output" hidden="1"/>
          <p:cNvSpPr txBox="1"/>
          <p:nvPr/>
        </p:nvSpPr>
        <p:spPr>
          <a:xfrm>
            <a:off x="2514600" y="3343276"/>
            <a:ext cx="7924800" cy="1568871"/>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Original value: Simple value: true</a:t>
            </a:r>
          </a:p>
          <a:p>
            <a:r>
              <a:rPr lang="en-US" sz="1600" b="1">
                <a:solidFill>
                  <a:schemeClr val="bg1"/>
                </a:solidFill>
                <a:latin typeface="Courier New" pitchFamily="49" charset="0"/>
                <a:cs typeface="Courier New" pitchFamily="49" charset="0"/>
              </a:rPr>
              <a:t>Current value: false</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8" y="4178661"/>
            <a:ext cx="3880477" cy="1947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10736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Automatic validation of XML</a:t>
            </a:r>
          </a:p>
        </p:txBody>
      </p:sp>
      <p:sp>
        <p:nvSpPr>
          <p:cNvPr id="3" name="Content Placeholder 2"/>
          <p:cNvSpPr>
            <a:spLocks noGrp="1"/>
          </p:cNvSpPr>
          <p:nvPr>
            <p:ph idx="1"/>
          </p:nvPr>
        </p:nvSpPr>
        <p:spPr>
          <a:xfrm>
            <a:off x="637586" y="4191000"/>
            <a:ext cx="8318500" cy="2209800"/>
          </a:xfrm>
        </p:spPr>
        <p:txBody>
          <a:bodyPr/>
          <a:lstStyle/>
          <a:p>
            <a:r>
              <a:rPr lang="en-US"/>
              <a:t>XML is validated against the XSD during import and export</a:t>
            </a:r>
          </a:p>
          <a:p>
            <a:r>
              <a:rPr lang="en-US"/>
              <a:t>Example of invalid XML: </a:t>
            </a:r>
          </a:p>
          <a:p>
            <a:pPr lvl="1"/>
            <a:r>
              <a:rPr lang="en-US"/>
              <a:t>No claimSystem element defined in the </a:t>
            </a:r>
            <a:r>
              <a:rPr lang="en-US" err="1"/>
              <a:t>ExampleStrongTyped</a:t>
            </a:r>
            <a:r>
              <a:rPr lang="en-US"/>
              <a:t> XSD </a:t>
            </a:r>
          </a:p>
          <a:p>
            <a:pPr lvl="1"/>
            <a:r>
              <a:rPr lang="en-US"/>
              <a:t>Code throws an exception,. </a:t>
            </a:r>
            <a:r>
              <a:rPr lang="en-US" b="1" err="1">
                <a:latin typeface="Courier New" pitchFamily="49" charset="0"/>
                <a:cs typeface="Courier New" pitchFamily="49" charset="0"/>
              </a:rPr>
              <a:t>gw.xml.XmlSortException</a:t>
            </a:r>
            <a:endParaRPr lang="en-US" b="1">
              <a:latin typeface="Courier New" pitchFamily="49" charset="0"/>
              <a:cs typeface="Courier New" pitchFamily="49" charset="0"/>
            </a:endParaRPr>
          </a:p>
          <a:p>
            <a:endParaRPr lang="en-US"/>
          </a:p>
        </p:txBody>
      </p:sp>
      <p:sp>
        <p:nvSpPr>
          <p:cNvPr id="4" name="rec LineNumbers"/>
          <p:cNvSpPr/>
          <p:nvPr/>
        </p:nvSpPr>
        <p:spPr bwMode="auto">
          <a:xfrm>
            <a:off x="658368" y="878544"/>
            <a:ext cx="457200" cy="28956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rec Code"/>
          <p:cNvSpPr/>
          <p:nvPr/>
        </p:nvSpPr>
        <p:spPr>
          <a:xfrm>
            <a:off x="665295" y="894042"/>
            <a:ext cx="8610600" cy="2896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…22 var xml = </a:t>
            </a:r>
            <a:r>
              <a:rPr lang="en-US" sz="1600" b="1" err="1">
                <a:solidFill>
                  <a:schemeClr val="bg1"/>
                </a:solidFill>
                <a:latin typeface="Courier New"/>
                <a:ea typeface="Times New Roman"/>
                <a:cs typeface="Times New Roman"/>
              </a:rPr>
              <a:t>ExampleStrongTyped.parse</a:t>
            </a:r>
            <a:r>
              <a:rPr lang="en-US" sz="1600" b="1">
                <a:solidFill>
                  <a:schemeClr val="bg1"/>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81 var claimSystem = new XmlElement(new </a:t>
            </a:r>
            <a:r>
              <a:rPr lang="en-US" sz="1600" b="1" err="1">
                <a:solidFill>
                  <a:schemeClr val="bg1"/>
                </a:solidFill>
                <a:latin typeface="Courier New"/>
                <a:ea typeface="Times New Roman"/>
                <a:cs typeface="Times New Roman"/>
              </a:rPr>
              <a:t>QName</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"http://guidewire.com/config", "claimSystem")) </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82 </a:t>
            </a:r>
            <a:r>
              <a:rPr lang="en-US" sz="1600" b="1" err="1">
                <a:solidFill>
                  <a:schemeClr val="bg1"/>
                </a:solidFill>
                <a:latin typeface="Courier New"/>
                <a:ea typeface="Times New Roman"/>
                <a:cs typeface="Times New Roman"/>
              </a:rPr>
              <a:t>claimSystem.setAttributeValue</a:t>
            </a:r>
            <a:r>
              <a:rPr lang="en-US" sz="1600" b="1">
                <a:solidFill>
                  <a:schemeClr val="bg1"/>
                </a:solidFill>
                <a:latin typeface="Courier New"/>
                <a:ea typeface="Times New Roman"/>
                <a:cs typeface="Times New Roman"/>
              </a:rPr>
              <a:t>("URL",</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"http://localhost:8880/</a:t>
            </a:r>
            <a:r>
              <a:rPr lang="en-US" sz="1600" b="1" err="1">
                <a:solidFill>
                  <a:schemeClr val="bg1"/>
                </a:solidFill>
                <a:latin typeface="Courier New"/>
                <a:ea typeface="Times New Roman"/>
                <a:cs typeface="Times New Roman"/>
              </a:rPr>
              <a:t>ab</a:t>
            </a:r>
            <a:r>
              <a:rPr lang="en-US" sz="1600" b="1">
                <a:solidFill>
                  <a:schemeClr val="bg1"/>
                </a:solidFill>
                <a:latin typeface="Courier New"/>
                <a:ea typeface="Times New Roman"/>
                <a:cs typeface="Times New Roman"/>
              </a:rPr>
              <a:t>/ContactManager.do")</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83 </a:t>
            </a:r>
            <a:r>
              <a:rPr lang="en-US" sz="1600" b="1" err="1">
                <a:solidFill>
                  <a:schemeClr val="bg1"/>
                </a:solidFill>
                <a:latin typeface="Courier New"/>
                <a:ea typeface="Times New Roman"/>
                <a:cs typeface="Times New Roman"/>
              </a:rPr>
              <a:t>xml.addChild</a:t>
            </a:r>
            <a:r>
              <a:rPr lang="en-US" sz="1600" b="1">
                <a:solidFill>
                  <a:schemeClr val="bg1"/>
                </a:solidFill>
                <a:latin typeface="Courier New"/>
                <a:ea typeface="Times New Roman"/>
                <a:cs typeface="Times New Roman"/>
              </a:rPr>
              <a:t>(</a:t>
            </a:r>
            <a:r>
              <a:rPr lang="en-US" sz="1600" b="1" err="1">
                <a:solidFill>
                  <a:schemeClr val="bg1"/>
                </a:solidFill>
                <a:latin typeface="Courier New"/>
                <a:ea typeface="Times New Roman"/>
                <a:cs typeface="Times New Roman"/>
              </a:rPr>
              <a:t>claimSystem</a:t>
            </a:r>
            <a:r>
              <a:rPr lang="en-US" sz="1600" b="1">
                <a:solidFill>
                  <a:schemeClr val="bg1"/>
                </a:solidFill>
                <a:latin typeface="Courier New"/>
                <a:ea typeface="Times New Roman"/>
                <a:cs typeface="Times New Roman"/>
              </a:rPr>
              <a:t>)</a:t>
            </a:r>
            <a:endParaRPr lang="en-US" sz="1600" b="1">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…93 var outputWriter2 = new </a:t>
            </a:r>
            <a:r>
              <a:rPr lang="en-US" sz="1600" b="1" err="1">
                <a:solidFill>
                  <a:schemeClr val="bg1"/>
                </a:solidFill>
                <a:latin typeface="Courier New"/>
                <a:ea typeface="Times New Roman"/>
                <a:cs typeface="Times New Roman"/>
              </a:rPr>
              <a:t>BufferedWriter</a:t>
            </a:r>
            <a:r>
              <a:rPr lang="en-US" sz="1600" b="1">
                <a:solidFill>
                  <a:schemeClr val="bg1"/>
                </a:solidFill>
                <a:latin typeface="Courier New"/>
                <a:ea typeface="Times New Roman"/>
                <a:cs typeface="Times New Roman"/>
              </a:rPr>
              <a:t>(new </a:t>
            </a:r>
            <a:r>
              <a:rPr lang="en-US" sz="1600" b="1" err="1">
                <a:solidFill>
                  <a:schemeClr val="bg1"/>
                </a:solidFill>
                <a:latin typeface="Courier New"/>
                <a:ea typeface="Times New Roman"/>
                <a:cs typeface="Times New Roman"/>
              </a:rPr>
              <a:t>FileWriter</a:t>
            </a:r>
            <a:r>
              <a:rPr lang="en-US" sz="1600" b="1">
                <a:solidFill>
                  <a:schemeClr val="bg1"/>
                </a:solidFill>
                <a:latin typeface="Courier New"/>
                <a:ea typeface="Times New Roman"/>
                <a:cs typeface="Times New Roman"/>
              </a:rPr>
              <a:t>(</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new File(filePathOutput2)))</a:t>
            </a:r>
            <a:br>
              <a:rPr lang="en-US" sz="1600" b="1">
                <a:solidFill>
                  <a:schemeClr val="bg1"/>
                </a:solidFill>
                <a:latin typeface="Courier New"/>
                <a:ea typeface="Times New Roman"/>
                <a:cs typeface="Times New Roman"/>
              </a:rPr>
            </a:br>
            <a:r>
              <a:rPr lang="en-US" sz="1600" b="1">
                <a:solidFill>
                  <a:schemeClr val="bg1"/>
                </a:solidFill>
                <a:latin typeface="Courier New"/>
                <a:ea typeface="Times New Roman"/>
                <a:cs typeface="Times New Roman"/>
              </a:rPr>
              <a:t> 94 outputWriter2.write(</a:t>
            </a:r>
            <a:r>
              <a:rPr lang="en-US" sz="1600" b="1" err="1">
                <a:solidFill>
                  <a:schemeClr val="bg1"/>
                </a:solidFill>
                <a:latin typeface="Courier New"/>
                <a:ea typeface="Times New Roman"/>
                <a:cs typeface="Times New Roman"/>
              </a:rPr>
              <a:t>xml.asUTFString</a:t>
            </a:r>
            <a:r>
              <a:rPr lang="en-US" sz="1600" b="1">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chemeClr val="bg1"/>
                </a:solidFill>
                <a:latin typeface="Courier New"/>
                <a:ea typeface="Times New Roman"/>
                <a:cs typeface="Times New Roman"/>
              </a:rPr>
              <a:t> 95 outputWriter2.close()</a:t>
            </a:r>
          </a:p>
        </p:txBody>
      </p:sp>
    </p:spTree>
    <p:extLst>
      <p:ext uri="{BB962C8B-B14F-4D97-AF65-F5344CB8AC3E}">
        <p14:creationId xmlns:p14="http://schemas.microsoft.com/office/powerpoint/2010/main" val="354879935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tx1">
                    <a:lumMod val="75000"/>
                  </a:schemeClr>
                </a:solidFill>
              </a:rPr>
              <a:t>Overview of XML</a:t>
            </a:r>
          </a:p>
          <a:p>
            <a:r>
              <a:rPr lang="en-US">
                <a:solidFill>
                  <a:schemeClr val="tx1">
                    <a:lumMod val="75000"/>
                  </a:schemeClr>
                </a:solidFill>
              </a:rPr>
              <a:t>The XmlElement class</a:t>
            </a:r>
          </a:p>
          <a:p>
            <a:r>
              <a:rPr lang="en-US">
                <a:solidFill>
                  <a:schemeClr val="tx1">
                    <a:lumMod val="75000"/>
                  </a:schemeClr>
                </a:solidFill>
              </a:rPr>
              <a:t>Reading untyped XML</a:t>
            </a:r>
          </a:p>
          <a:p>
            <a:r>
              <a:rPr lang="en-US">
                <a:solidFill>
                  <a:schemeClr val="tx1">
                    <a:lumMod val="75000"/>
                  </a:schemeClr>
                </a:solidFill>
              </a:rPr>
              <a:t>Writing untyped XML</a:t>
            </a:r>
          </a:p>
          <a:p>
            <a:r>
              <a:rPr lang="en-US">
                <a:solidFill>
                  <a:schemeClr val="tx1">
                    <a:lumMod val="75000"/>
                  </a:schemeClr>
                </a:solidFill>
              </a:rPr>
              <a:t>Working with strongly-typed XML</a:t>
            </a:r>
          </a:p>
          <a:p>
            <a:r>
              <a:rPr lang="en-US">
                <a:solidFill>
                  <a:schemeClr val="bg1"/>
                </a:solidFill>
              </a:rPr>
              <a:t>XML Model</a:t>
            </a:r>
          </a:p>
          <a:p>
            <a:endParaRPr lang="en-US"/>
          </a:p>
        </p:txBody>
      </p:sp>
      <p:sp>
        <p:nvSpPr>
          <p:cNvPr id="4" name="Title 1"/>
          <p:cNvSpPr txBox="1">
            <a:spLocks/>
          </p:cNvSpPr>
          <p:nvPr/>
        </p:nvSpPr>
        <p:spPr>
          <a:xfrm>
            <a:off x="609600" y="228600"/>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FFFF00"/>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Outline</a:t>
            </a:r>
          </a:p>
        </p:txBody>
      </p:sp>
    </p:spTree>
    <p:extLst>
      <p:ext uri="{BB962C8B-B14F-4D97-AF65-F5344CB8AC3E}">
        <p14:creationId xmlns:p14="http://schemas.microsoft.com/office/powerpoint/2010/main" val="234011531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solidFill>
                  <a:schemeClr val="accent6"/>
                </a:solidFill>
              </a:rPr>
              <a:t>XML Model</a:t>
            </a:r>
          </a:p>
        </p:txBody>
      </p:sp>
      <p:sp>
        <p:nvSpPr>
          <p:cNvPr id="4" name="Content Placeholder 3"/>
          <p:cNvSpPr>
            <a:spLocks noGrp="1"/>
          </p:cNvSpPr>
          <p:nvPr>
            <p:ph idx="1"/>
          </p:nvPr>
        </p:nvSpPr>
        <p:spPr>
          <a:xfrm>
            <a:off x="692151" y="3670968"/>
            <a:ext cx="11091333" cy="2743200"/>
          </a:xfrm>
        </p:spPr>
        <p:txBody>
          <a:bodyPr/>
          <a:lstStyle/>
          <a:p>
            <a:r>
              <a:rPr lang="en-US"/>
              <a:t>An </a:t>
            </a:r>
            <a:r>
              <a:rPr lang="en-US" b="1"/>
              <a:t>XML model </a:t>
            </a:r>
            <a:r>
              <a:rPr lang="en-US"/>
              <a:t>is a file that generates dynamic XML based on an input object</a:t>
            </a:r>
          </a:p>
          <a:p>
            <a:r>
              <a:rPr lang="en-US"/>
              <a:t>Accepts a single input object and can specify</a:t>
            </a:r>
          </a:p>
          <a:p>
            <a:pPr lvl="1"/>
            <a:r>
              <a:rPr lang="en-US"/>
              <a:t>XML-formatted values from that object</a:t>
            </a:r>
          </a:p>
          <a:p>
            <a:pPr lvl="1"/>
            <a:r>
              <a:rPr lang="en-US"/>
              <a:t>XML-formatted values from related objects</a:t>
            </a:r>
          </a:p>
          <a:p>
            <a:r>
              <a:rPr lang="en-US"/>
              <a:t>This model can be used anytime xml needs to be generated for message payload, web services etc</a:t>
            </a:r>
          </a:p>
        </p:txBody>
      </p:sp>
      <p:pic>
        <p:nvPicPr>
          <p:cNvPr id="2" name="Picture 1"/>
          <p:cNvPicPr>
            <a:picLocks noChangeAspect="1"/>
          </p:cNvPicPr>
          <p:nvPr/>
        </p:nvPicPr>
        <p:blipFill>
          <a:blip r:embed="rId3"/>
          <a:stretch>
            <a:fillRect/>
          </a:stretch>
        </p:blipFill>
        <p:spPr>
          <a:xfrm>
            <a:off x="1371600" y="896462"/>
            <a:ext cx="8747152" cy="1999137"/>
          </a:xfrm>
          <a:prstGeom prst="rect">
            <a:avLst/>
          </a:prstGeom>
        </p:spPr>
      </p:pic>
    </p:spTree>
    <p:extLst>
      <p:ext uri="{BB962C8B-B14F-4D97-AF65-F5344CB8AC3E}">
        <p14:creationId xmlns:p14="http://schemas.microsoft.com/office/powerpoint/2010/main" val="100924496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XML Model</a:t>
            </a:r>
          </a:p>
        </p:txBody>
      </p:sp>
      <p:sp>
        <p:nvSpPr>
          <p:cNvPr id="4" name="TextBox 3"/>
          <p:cNvSpPr txBox="1"/>
          <p:nvPr/>
        </p:nvSpPr>
        <p:spPr>
          <a:xfrm>
            <a:off x="658368" y="1149927"/>
            <a:ext cx="762000" cy="609600"/>
          </a:xfrm>
          <a:prstGeom prst="rect">
            <a:avLst/>
          </a:prstGeom>
          <a:noFill/>
        </p:spPr>
        <p:txBody>
          <a:bodyPr wrap="none" rtlCol="0">
            <a:noAutofit/>
          </a:bodyPr>
          <a:lstStyle/>
          <a:p>
            <a:r>
              <a:rPr lang="en-US" sz="2000">
                <a:solidFill>
                  <a:schemeClr val="bg1"/>
                </a:solidFill>
                <a:latin typeface="Arial" pitchFamily="32" charset="0"/>
                <a:cs typeface="Arial" pitchFamily="32" charset="0"/>
              </a:rPr>
              <a:t>Each model must have a base type which determines the type </a:t>
            </a:r>
          </a:p>
          <a:p>
            <a:r>
              <a:rPr lang="en-US" sz="2000">
                <a:solidFill>
                  <a:schemeClr val="bg1"/>
                </a:solidFill>
                <a:latin typeface="Arial" pitchFamily="32" charset="0"/>
                <a:cs typeface="Arial" pitchFamily="32" charset="0"/>
              </a:rPr>
              <a:t>of object you pass to the model and the data you can include.</a:t>
            </a:r>
          </a:p>
        </p:txBody>
      </p:sp>
      <p:graphicFrame>
        <p:nvGraphicFramePr>
          <p:cNvPr id="6" name="Diagram 5"/>
          <p:cNvGraphicFramePr/>
          <p:nvPr>
            <p:extLst>
              <p:ext uri="{D42A27DB-BD31-4B8C-83A1-F6EECF244321}">
                <p14:modId xmlns:p14="http://schemas.microsoft.com/office/powerpoint/2010/main" val="535131334"/>
              </p:ext>
            </p:extLst>
          </p:nvPr>
        </p:nvGraphicFramePr>
        <p:xfrm>
          <a:off x="1295400" y="1828800"/>
          <a:ext cx="8686800" cy="4668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182747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XML modeler editor</a:t>
            </a:r>
          </a:p>
        </p:txBody>
      </p:sp>
      <p:sp>
        <p:nvSpPr>
          <p:cNvPr id="4" name="Content Placeholder 3"/>
          <p:cNvSpPr>
            <a:spLocks noGrp="1"/>
          </p:cNvSpPr>
          <p:nvPr>
            <p:ph sz="half" idx="2"/>
          </p:nvPr>
        </p:nvSpPr>
        <p:spPr>
          <a:xfrm>
            <a:off x="7162800" y="762000"/>
            <a:ext cx="2819400" cy="5475289"/>
          </a:xfrm>
        </p:spPr>
        <p:txBody>
          <a:bodyPr/>
          <a:lstStyle/>
          <a:p>
            <a:r>
              <a:rPr lang="en-US"/>
              <a:t>XML Modeler editor creates XML Models</a:t>
            </a:r>
          </a:p>
          <a:p>
            <a:pPr lvl="1"/>
            <a:r>
              <a:rPr lang="en-US"/>
              <a:t>File extension is .gx</a:t>
            </a:r>
          </a:p>
          <a:p>
            <a:r>
              <a:rPr lang="en-US"/>
              <a:t>Steps to create</a:t>
            </a:r>
          </a:p>
          <a:p>
            <a:pPr marL="857250" lvl="1" indent="-457200">
              <a:buFont typeface="+mj-lt"/>
              <a:buAutoNum type="arabicPeriod"/>
            </a:pPr>
            <a:r>
              <a:rPr lang="en-US"/>
              <a:t>Create GX model</a:t>
            </a:r>
          </a:p>
          <a:p>
            <a:pPr marL="857250" lvl="1" indent="-457200">
              <a:buFont typeface="+mj-lt"/>
              <a:buAutoNum type="arabicPeriod"/>
            </a:pPr>
            <a:r>
              <a:rPr lang="en-US"/>
              <a:t>Add fields to the model</a:t>
            </a:r>
          </a:p>
          <a:p>
            <a:pPr marL="857250" lvl="1" indent="-457200">
              <a:buFont typeface="+mj-lt"/>
              <a:buAutoNum type="arabicPeriod"/>
            </a:pPr>
            <a:r>
              <a:rPr lang="en-US"/>
              <a:t>Use the model to generate the message payload</a:t>
            </a:r>
          </a:p>
        </p:txBody>
      </p:sp>
      <p:pic>
        <p:nvPicPr>
          <p:cNvPr id="3" name="Picture 2"/>
          <p:cNvPicPr>
            <a:picLocks noChangeAspect="1"/>
          </p:cNvPicPr>
          <p:nvPr/>
        </p:nvPicPr>
        <p:blipFill>
          <a:blip r:embed="rId3"/>
          <a:stretch>
            <a:fillRect/>
          </a:stretch>
        </p:blipFill>
        <p:spPr>
          <a:xfrm>
            <a:off x="275148" y="861827"/>
            <a:ext cx="6970259" cy="4638451"/>
          </a:xfrm>
          <a:prstGeom prst="rect">
            <a:avLst/>
          </a:prstGeom>
        </p:spPr>
      </p:pic>
    </p:spTree>
    <p:extLst>
      <p:ext uri="{BB962C8B-B14F-4D97-AF65-F5344CB8AC3E}">
        <p14:creationId xmlns:p14="http://schemas.microsoft.com/office/powerpoint/2010/main" val="157749815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Create the XML model</a:t>
            </a:r>
          </a:p>
        </p:txBody>
      </p:sp>
      <p:sp>
        <p:nvSpPr>
          <p:cNvPr id="4" name="Content Placeholder 3"/>
          <p:cNvSpPr>
            <a:spLocks noGrp="1"/>
          </p:cNvSpPr>
          <p:nvPr>
            <p:ph sz="half" idx="2"/>
          </p:nvPr>
        </p:nvSpPr>
        <p:spPr>
          <a:xfrm>
            <a:off x="6781800" y="762000"/>
            <a:ext cx="3733800" cy="5475289"/>
          </a:xfrm>
        </p:spPr>
        <p:txBody>
          <a:bodyPr/>
          <a:lstStyle/>
          <a:p>
            <a:pPr marL="0" indent="0">
              <a:buNone/>
            </a:pPr>
            <a:r>
              <a:rPr lang="en-US"/>
              <a:t>To create a new XML Model</a:t>
            </a:r>
          </a:p>
          <a:p>
            <a:pPr marL="457200" indent="-457200">
              <a:buAutoNum type="arabicPeriod"/>
            </a:pPr>
            <a:r>
              <a:rPr lang="en-US"/>
              <a:t>Right click suitable package under gsrc</a:t>
            </a:r>
          </a:p>
          <a:p>
            <a:pPr marL="457200" indent="-457200">
              <a:buAutoNum type="arabicPeriod"/>
            </a:pPr>
            <a:r>
              <a:rPr lang="en-US"/>
              <a:t>Select New </a:t>
            </a:r>
            <a:r>
              <a:rPr lang="en-US">
                <a:sym typeface="Wingdings" panose="05000000000000000000" pitchFamily="2" charset="2"/>
              </a:rPr>
              <a:t>GX model</a:t>
            </a:r>
          </a:p>
          <a:p>
            <a:pPr marL="457200" indent="-457200">
              <a:buAutoNum type="arabicPeriod"/>
            </a:pPr>
            <a:r>
              <a:rPr lang="en-US">
                <a:sym typeface="Wingdings" panose="05000000000000000000" pitchFamily="2" charset="2"/>
              </a:rPr>
              <a:t>Specify Entity</a:t>
            </a:r>
          </a:p>
          <a:p>
            <a:pPr marL="457200" indent="-457200">
              <a:buAutoNum type="arabicPeriod"/>
            </a:pPr>
            <a:r>
              <a:rPr lang="en-US"/>
              <a:t>Specify Model name</a:t>
            </a:r>
          </a:p>
        </p:txBody>
      </p:sp>
      <p:pic>
        <p:nvPicPr>
          <p:cNvPr id="5" name="Picture 4"/>
          <p:cNvPicPr>
            <a:picLocks noChangeAspect="1"/>
          </p:cNvPicPr>
          <p:nvPr/>
        </p:nvPicPr>
        <p:blipFill>
          <a:blip r:embed="rId3"/>
          <a:stretch>
            <a:fillRect/>
          </a:stretch>
        </p:blipFill>
        <p:spPr>
          <a:xfrm>
            <a:off x="658368" y="685801"/>
            <a:ext cx="4522478" cy="2329053"/>
          </a:xfrm>
          <a:prstGeom prst="rect">
            <a:avLst/>
          </a:prstGeom>
        </p:spPr>
      </p:pic>
      <p:pic>
        <p:nvPicPr>
          <p:cNvPr id="3" name="Picture 2"/>
          <p:cNvPicPr>
            <a:picLocks noChangeAspect="1"/>
          </p:cNvPicPr>
          <p:nvPr/>
        </p:nvPicPr>
        <p:blipFill>
          <a:blip r:embed="rId4"/>
          <a:stretch>
            <a:fillRect/>
          </a:stretch>
        </p:blipFill>
        <p:spPr>
          <a:xfrm>
            <a:off x="658368" y="3276600"/>
            <a:ext cx="4522478" cy="3276600"/>
          </a:xfrm>
          <a:prstGeom prst="rect">
            <a:avLst/>
          </a:prstGeom>
        </p:spPr>
      </p:pic>
    </p:spTree>
    <p:extLst>
      <p:ext uri="{BB962C8B-B14F-4D97-AF65-F5344CB8AC3E}">
        <p14:creationId xmlns:p14="http://schemas.microsoft.com/office/powerpoint/2010/main" val="34614237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Add fields to the xml model</a:t>
            </a:r>
          </a:p>
        </p:txBody>
      </p:sp>
      <p:sp>
        <p:nvSpPr>
          <p:cNvPr id="8" name="TextBox 7"/>
          <p:cNvSpPr txBox="1"/>
          <p:nvPr/>
        </p:nvSpPr>
        <p:spPr>
          <a:xfrm>
            <a:off x="658368" y="4191000"/>
            <a:ext cx="914400" cy="914400"/>
          </a:xfrm>
          <a:prstGeom prst="rect">
            <a:avLst/>
          </a:prstGeom>
          <a:noFill/>
        </p:spPr>
        <p:txBody>
          <a:bodyPr wrap="none" rtlCol="0">
            <a:noAutofit/>
          </a:bodyPr>
          <a:lstStyle/>
          <a:p>
            <a:endParaRPr lang="en-US" sz="2400">
              <a:solidFill>
                <a:schemeClr val="bg1"/>
              </a:solidFill>
              <a:latin typeface="Arial" pitchFamily="32" charset="0"/>
              <a:cs typeface="Arial" pitchFamily="32" charset="0"/>
            </a:endParaRPr>
          </a:p>
          <a:p>
            <a:r>
              <a:rPr lang="en-US" sz="2400">
                <a:solidFill>
                  <a:schemeClr val="bg1"/>
                </a:solidFill>
                <a:latin typeface="Arial" pitchFamily="32" charset="0"/>
                <a:cs typeface="Arial" pitchFamily="32" charset="0"/>
              </a:rPr>
              <a:t>Select Field &gt;&gt; Click Add button &gt;&gt; Select property type &gt;&gt;</a:t>
            </a:r>
          </a:p>
          <a:p>
            <a:r>
              <a:rPr lang="en-US" sz="2400">
                <a:solidFill>
                  <a:schemeClr val="bg1"/>
                </a:solidFill>
                <a:latin typeface="Arial" pitchFamily="32" charset="0"/>
                <a:cs typeface="Arial" pitchFamily="32" charset="0"/>
              </a:rPr>
              <a:t>Select xml model(if applicable) &gt;&gt; Restart server</a:t>
            </a:r>
          </a:p>
          <a:p>
            <a:endParaRPr lang="en-US" sz="2400">
              <a:solidFill>
                <a:schemeClr val="bg1"/>
              </a:solidFill>
              <a:latin typeface="Arial" pitchFamily="32" charset="0"/>
              <a:cs typeface="Arial" pitchFamily="32" charset="0"/>
            </a:endParaRPr>
          </a:p>
          <a:p>
            <a:r>
              <a:rPr lang="en-US" sz="2400">
                <a:solidFill>
                  <a:schemeClr val="bg1"/>
                </a:solidFill>
                <a:latin typeface="Arial" pitchFamily="32" charset="0"/>
                <a:cs typeface="Arial" pitchFamily="32" charset="0"/>
              </a:rPr>
              <a:t>The bottom screen displays sample XML</a:t>
            </a:r>
          </a:p>
          <a:p>
            <a:r>
              <a:rPr lang="en-US" sz="2400">
                <a:solidFill>
                  <a:schemeClr val="bg1"/>
                </a:solidFill>
                <a:latin typeface="Arial" pitchFamily="32" charset="0"/>
                <a:cs typeface="Arial" pitchFamily="32" charset="0"/>
              </a:rPr>
              <a:t>Note: Sub object fields appear as Nested element</a:t>
            </a:r>
          </a:p>
        </p:txBody>
      </p:sp>
      <p:pic>
        <p:nvPicPr>
          <p:cNvPr id="4" name="Picture 3"/>
          <p:cNvPicPr>
            <a:picLocks noChangeAspect="1"/>
          </p:cNvPicPr>
          <p:nvPr/>
        </p:nvPicPr>
        <p:blipFill>
          <a:blip r:embed="rId3"/>
          <a:stretch>
            <a:fillRect/>
          </a:stretch>
        </p:blipFill>
        <p:spPr>
          <a:xfrm>
            <a:off x="762000" y="830006"/>
            <a:ext cx="7097728" cy="3392815"/>
          </a:xfrm>
          <a:prstGeom prst="rect">
            <a:avLst/>
          </a:prstGeom>
        </p:spPr>
      </p:pic>
      <p:sp>
        <p:nvSpPr>
          <p:cNvPr id="5" name="TextBox 4"/>
          <p:cNvSpPr txBox="1"/>
          <p:nvPr/>
        </p:nvSpPr>
        <p:spPr>
          <a:xfrm>
            <a:off x="3581400" y="35814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Sample output</a:t>
            </a:r>
          </a:p>
        </p:txBody>
      </p:sp>
      <p:sp>
        <p:nvSpPr>
          <p:cNvPr id="7" name="TextBox 6"/>
          <p:cNvSpPr txBox="1"/>
          <p:nvPr/>
        </p:nvSpPr>
        <p:spPr>
          <a:xfrm>
            <a:off x="5748528" y="2089742"/>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Added fields</a:t>
            </a:r>
          </a:p>
        </p:txBody>
      </p:sp>
      <p:cxnSp>
        <p:nvCxnSpPr>
          <p:cNvPr id="9" name="Straight Arrow Connector 8"/>
          <p:cNvCxnSpPr/>
          <p:nvPr/>
        </p:nvCxnSpPr>
        <p:spPr bwMode="auto">
          <a:xfrm>
            <a:off x="2819400" y="1371600"/>
            <a:ext cx="304800" cy="392813"/>
          </a:xfrm>
          <a:prstGeom prst="straightConnector1">
            <a:avLst/>
          </a:prstGeom>
          <a:noFill/>
          <a:ln w="12700" cap="flat" cmpd="sng" algn="ctr">
            <a:solidFill>
              <a:srgbClr val="FF0000"/>
            </a:solidFill>
            <a:prstDash val="solid"/>
            <a:round/>
            <a:headEnd type="none" w="med" len="med"/>
            <a:tailEnd type="triangle"/>
          </a:ln>
          <a:effectLst/>
        </p:spPr>
      </p:cxnSp>
      <p:sp>
        <p:nvSpPr>
          <p:cNvPr id="11" name="TextBox 10"/>
          <p:cNvSpPr txBox="1"/>
          <p:nvPr/>
        </p:nvSpPr>
        <p:spPr>
          <a:xfrm>
            <a:off x="2514600" y="1764413"/>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Select field</a:t>
            </a:r>
          </a:p>
        </p:txBody>
      </p:sp>
      <p:cxnSp>
        <p:nvCxnSpPr>
          <p:cNvPr id="12" name="Straight Arrow Connector 11"/>
          <p:cNvCxnSpPr/>
          <p:nvPr/>
        </p:nvCxnSpPr>
        <p:spPr bwMode="auto">
          <a:xfrm>
            <a:off x="4399328" y="1764681"/>
            <a:ext cx="519152" cy="1054719"/>
          </a:xfrm>
          <a:prstGeom prst="straightConnector1">
            <a:avLst/>
          </a:prstGeom>
          <a:noFill/>
          <a:ln w="12700" cap="flat" cmpd="sng" algn="ctr">
            <a:solidFill>
              <a:srgbClr val="FF0000"/>
            </a:solidFill>
            <a:prstDash val="solid"/>
            <a:round/>
            <a:headEnd type="none" w="med" len="med"/>
            <a:tailEnd type="triangle"/>
          </a:ln>
          <a:effectLst/>
        </p:spPr>
      </p:cxnSp>
      <p:sp>
        <p:nvSpPr>
          <p:cNvPr id="17" name="TextBox 16"/>
          <p:cNvSpPr txBox="1"/>
          <p:nvPr/>
        </p:nvSpPr>
        <p:spPr>
          <a:xfrm>
            <a:off x="4239506" y="27432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Select Add and property type</a:t>
            </a:r>
          </a:p>
        </p:txBody>
      </p:sp>
    </p:spTree>
    <p:extLst>
      <p:ext uri="{BB962C8B-B14F-4D97-AF65-F5344CB8AC3E}">
        <p14:creationId xmlns:p14="http://schemas.microsoft.com/office/powerpoint/2010/main" val="355756197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Generating XML output with XML model</a:t>
            </a:r>
          </a:p>
        </p:txBody>
      </p:sp>
      <p:sp>
        <p:nvSpPr>
          <p:cNvPr id="5" name="TextBox 4"/>
          <p:cNvSpPr txBox="1"/>
          <p:nvPr/>
        </p:nvSpPr>
        <p:spPr>
          <a:xfrm>
            <a:off x="683768" y="3397387"/>
            <a:ext cx="870897" cy="533400"/>
          </a:xfrm>
          <a:prstGeom prst="rect">
            <a:avLst/>
          </a:prstGeom>
          <a:noFill/>
        </p:spPr>
        <p:txBody>
          <a:bodyPr wrap="none" rtlCol="0">
            <a:noAutofit/>
          </a:bodyPr>
          <a:lstStyle/>
          <a:p>
            <a:endParaRPr lang="en-US">
              <a:solidFill>
                <a:schemeClr val="bg1"/>
              </a:solidFill>
              <a:latin typeface="Arial" pitchFamily="32" charset="0"/>
              <a:cs typeface="Arial" pitchFamily="32" charset="0"/>
            </a:endParaRPr>
          </a:p>
        </p:txBody>
      </p:sp>
      <p:sp>
        <p:nvSpPr>
          <p:cNvPr id="7" name="TextBox 6"/>
          <p:cNvSpPr txBox="1"/>
          <p:nvPr/>
        </p:nvSpPr>
        <p:spPr>
          <a:xfrm>
            <a:off x="7010400" y="2819400"/>
            <a:ext cx="914400" cy="914400"/>
          </a:xfrm>
          <a:prstGeom prst="rect">
            <a:avLst/>
          </a:prstGeom>
          <a:noFill/>
        </p:spPr>
        <p:txBody>
          <a:bodyPr wrap="none" rtlCol="0">
            <a:noAutofit/>
          </a:bodyPr>
          <a:lstStyle/>
          <a:p>
            <a:endParaRPr lang="en-US">
              <a:solidFill>
                <a:srgbClr val="C00000"/>
              </a:solidFill>
              <a:latin typeface="Arial" pitchFamily="32" charset="0"/>
              <a:cs typeface="Arial" pitchFamily="32" charset="0"/>
            </a:endParaRPr>
          </a:p>
        </p:txBody>
      </p:sp>
      <p:pic>
        <p:nvPicPr>
          <p:cNvPr id="9" name="Picture 8"/>
          <p:cNvPicPr>
            <a:picLocks noChangeAspect="1"/>
          </p:cNvPicPr>
          <p:nvPr/>
        </p:nvPicPr>
        <p:blipFill>
          <a:blip r:embed="rId3"/>
          <a:stretch>
            <a:fillRect/>
          </a:stretch>
        </p:blipFill>
        <p:spPr>
          <a:xfrm>
            <a:off x="727408" y="1888313"/>
            <a:ext cx="7952232" cy="2432175"/>
          </a:xfrm>
          <a:prstGeom prst="rect">
            <a:avLst/>
          </a:prstGeom>
        </p:spPr>
      </p:pic>
      <p:pic>
        <p:nvPicPr>
          <p:cNvPr id="10" name="Picture 9"/>
          <p:cNvPicPr>
            <a:picLocks noChangeAspect="1"/>
          </p:cNvPicPr>
          <p:nvPr/>
        </p:nvPicPr>
        <p:blipFill>
          <a:blip r:embed="rId4"/>
          <a:stretch>
            <a:fillRect/>
          </a:stretch>
        </p:blipFill>
        <p:spPr>
          <a:xfrm>
            <a:off x="683768" y="4495800"/>
            <a:ext cx="8039513" cy="2178162"/>
          </a:xfrm>
          <a:prstGeom prst="rect">
            <a:avLst/>
          </a:prstGeom>
        </p:spPr>
      </p:pic>
      <p:sp>
        <p:nvSpPr>
          <p:cNvPr id="11" name="TextBox 10"/>
          <p:cNvSpPr txBox="1"/>
          <p:nvPr/>
        </p:nvSpPr>
        <p:spPr>
          <a:xfrm>
            <a:off x="7010400" y="20574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Sample snippet </a:t>
            </a:r>
          </a:p>
          <a:p>
            <a:r>
              <a:rPr lang="en-US">
                <a:solidFill>
                  <a:srgbClr val="C00000"/>
                </a:solidFill>
                <a:latin typeface="Arial" pitchFamily="32" charset="0"/>
                <a:cs typeface="Arial" pitchFamily="32" charset="0"/>
              </a:rPr>
              <a:t>to call model</a:t>
            </a:r>
          </a:p>
        </p:txBody>
      </p:sp>
      <p:sp>
        <p:nvSpPr>
          <p:cNvPr id="12" name="TextBox 11"/>
          <p:cNvSpPr txBox="1"/>
          <p:nvPr/>
        </p:nvSpPr>
        <p:spPr>
          <a:xfrm>
            <a:off x="7042727" y="53340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Model output</a:t>
            </a:r>
          </a:p>
        </p:txBody>
      </p:sp>
      <p:sp>
        <p:nvSpPr>
          <p:cNvPr id="3" name="Rectangle 2"/>
          <p:cNvSpPr/>
          <p:nvPr/>
        </p:nvSpPr>
        <p:spPr>
          <a:xfrm>
            <a:off x="727408" y="833735"/>
            <a:ext cx="10090727" cy="923330"/>
          </a:xfrm>
          <a:prstGeom prst="rect">
            <a:avLst/>
          </a:prstGeom>
        </p:spPr>
        <p:txBody>
          <a:bodyPr wrap="square">
            <a:spAutoFit/>
          </a:bodyPr>
          <a:lstStyle/>
          <a:p>
            <a:r>
              <a:rPr lang="en-US">
                <a:solidFill>
                  <a:schemeClr val="bg1"/>
                </a:solidFill>
                <a:latin typeface="Arial" pitchFamily="32" charset="0"/>
                <a:cs typeface="Arial" pitchFamily="32" charset="0"/>
              </a:rPr>
              <a:t>Syntax</a:t>
            </a:r>
          </a:p>
          <a:p>
            <a:r>
              <a:rPr lang="en-US" err="1">
                <a:solidFill>
                  <a:schemeClr val="bg1"/>
                </a:solidFill>
                <a:latin typeface="Arial" pitchFamily="32" charset="0"/>
                <a:cs typeface="Arial" pitchFamily="32" charset="0"/>
              </a:rPr>
              <a:t>var</a:t>
            </a:r>
            <a:r>
              <a:rPr lang="en-US">
                <a:solidFill>
                  <a:schemeClr val="bg1"/>
                </a:solidFill>
                <a:latin typeface="Arial" pitchFamily="32" charset="0"/>
                <a:cs typeface="Arial" pitchFamily="32" charset="0"/>
              </a:rPr>
              <a:t> xml = new </a:t>
            </a:r>
            <a:r>
              <a:rPr lang="en-US" err="1">
                <a:solidFill>
                  <a:schemeClr val="bg1"/>
                </a:solidFill>
                <a:latin typeface="Arial" pitchFamily="32" charset="0"/>
                <a:cs typeface="Arial" pitchFamily="32" charset="0"/>
              </a:rPr>
              <a:t>modelName.modeltype</a:t>
            </a:r>
            <a:r>
              <a:rPr lang="en-US">
                <a:solidFill>
                  <a:schemeClr val="bg1"/>
                </a:solidFill>
                <a:latin typeface="Arial" pitchFamily="32" charset="0"/>
                <a:cs typeface="Arial" pitchFamily="32" charset="0"/>
              </a:rPr>
              <a:t>(</a:t>
            </a:r>
            <a:r>
              <a:rPr lang="en-US" err="1">
                <a:solidFill>
                  <a:schemeClr val="bg1"/>
                </a:solidFill>
                <a:latin typeface="Arial" pitchFamily="32" charset="0"/>
                <a:cs typeface="Arial" pitchFamily="32" charset="0"/>
              </a:rPr>
              <a:t>param</a:t>
            </a:r>
            <a:r>
              <a:rPr lang="en-US">
                <a:solidFill>
                  <a:schemeClr val="bg1"/>
                </a:solidFill>
                <a:latin typeface="Arial" pitchFamily="32" charset="0"/>
                <a:cs typeface="Arial" pitchFamily="32" charset="0"/>
              </a:rPr>
              <a:t>)</a:t>
            </a:r>
          </a:p>
          <a:p>
            <a:r>
              <a:rPr lang="en-US" err="1">
                <a:solidFill>
                  <a:schemeClr val="bg1"/>
                </a:solidFill>
                <a:latin typeface="Arial" pitchFamily="32" charset="0"/>
                <a:cs typeface="Arial" pitchFamily="32" charset="0"/>
              </a:rPr>
              <a:t>var</a:t>
            </a:r>
            <a:r>
              <a:rPr lang="en-US">
                <a:solidFill>
                  <a:schemeClr val="bg1"/>
                </a:solidFill>
                <a:latin typeface="Arial" pitchFamily="32" charset="0"/>
                <a:cs typeface="Arial" pitchFamily="32" charset="0"/>
              </a:rPr>
              <a:t> payload = </a:t>
            </a:r>
            <a:r>
              <a:rPr lang="en-US" err="1">
                <a:solidFill>
                  <a:schemeClr val="bg1"/>
                </a:solidFill>
                <a:latin typeface="Arial" pitchFamily="32" charset="0"/>
                <a:cs typeface="Arial" pitchFamily="32" charset="0"/>
              </a:rPr>
              <a:t>xml.asUTFString</a:t>
            </a:r>
            <a:r>
              <a:rPr lang="en-US">
                <a:solidFill>
                  <a:schemeClr val="bg1"/>
                </a:solidFill>
                <a:latin typeface="Arial" pitchFamily="32" charset="0"/>
                <a:cs typeface="Arial" pitchFamily="32" charset="0"/>
              </a:rPr>
              <a:t>()</a:t>
            </a:r>
          </a:p>
        </p:txBody>
      </p:sp>
    </p:spTree>
    <p:extLst>
      <p:ext uri="{BB962C8B-B14F-4D97-AF65-F5344CB8AC3E}">
        <p14:creationId xmlns:p14="http://schemas.microsoft.com/office/powerpoint/2010/main" val="64657263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6"/>
                </a:solidFill>
              </a:rPr>
              <a:t>Customizing model output with GXOptions</a:t>
            </a:r>
          </a:p>
        </p:txBody>
      </p:sp>
      <p:sp>
        <p:nvSpPr>
          <p:cNvPr id="3" name="TextBox 2"/>
          <p:cNvSpPr txBox="1"/>
          <p:nvPr/>
        </p:nvSpPr>
        <p:spPr>
          <a:xfrm>
            <a:off x="695313" y="861827"/>
            <a:ext cx="914400" cy="914400"/>
          </a:xfrm>
          <a:prstGeom prst="rect">
            <a:avLst/>
          </a:prstGeom>
          <a:noFill/>
        </p:spPr>
        <p:txBody>
          <a:bodyPr wrap="none" rtlCol="0">
            <a:noAutofit/>
          </a:bodyPr>
          <a:lstStyle/>
          <a:p>
            <a:r>
              <a:rPr lang="en-US" sz="2000">
                <a:solidFill>
                  <a:schemeClr val="bg1"/>
                </a:solidFill>
                <a:latin typeface="Arial" pitchFamily="32" charset="0"/>
                <a:cs typeface="Arial" pitchFamily="32" charset="0"/>
              </a:rPr>
              <a:t>Syntax</a:t>
            </a:r>
          </a:p>
          <a:p>
            <a:r>
              <a:rPr lang="en-US" sz="2000" err="1">
                <a:solidFill>
                  <a:schemeClr val="bg1"/>
                </a:solidFill>
                <a:latin typeface="Arial" pitchFamily="32" charset="0"/>
                <a:cs typeface="Arial" pitchFamily="32" charset="0"/>
              </a:rPr>
              <a:t>var</a:t>
            </a:r>
            <a:r>
              <a:rPr lang="en-US" sz="2000">
                <a:solidFill>
                  <a:schemeClr val="bg1"/>
                </a:solidFill>
                <a:latin typeface="Arial" pitchFamily="32" charset="0"/>
                <a:cs typeface="Arial" pitchFamily="32" charset="0"/>
              </a:rPr>
              <a:t> xml = new </a:t>
            </a:r>
            <a:r>
              <a:rPr lang="en-US" sz="2000" err="1">
                <a:solidFill>
                  <a:schemeClr val="bg1"/>
                </a:solidFill>
                <a:latin typeface="Arial" pitchFamily="32" charset="0"/>
                <a:cs typeface="Arial" pitchFamily="32" charset="0"/>
              </a:rPr>
              <a:t>modelName.modelType</a:t>
            </a:r>
            <a:r>
              <a:rPr lang="en-US" sz="2000">
                <a:solidFill>
                  <a:schemeClr val="bg1"/>
                </a:solidFill>
                <a:latin typeface="Arial" pitchFamily="32" charset="0"/>
                <a:cs typeface="Arial" pitchFamily="32" charset="0"/>
              </a:rPr>
              <a:t>(param1, </a:t>
            </a:r>
          </a:p>
          <a:p>
            <a:r>
              <a:rPr lang="en-US" sz="2000">
                <a:solidFill>
                  <a:schemeClr val="bg1"/>
                </a:solidFill>
                <a:latin typeface="Arial" pitchFamily="32" charset="0"/>
                <a:cs typeface="Arial" pitchFamily="32" charset="0"/>
              </a:rPr>
              <a:t>new GXOptions(){:option1=value})</a:t>
            </a:r>
          </a:p>
          <a:p>
            <a:endParaRPr lang="en-US" sz="2000">
              <a:solidFill>
                <a:schemeClr val="bg1"/>
              </a:solidFill>
              <a:latin typeface="Arial" pitchFamily="32" charset="0"/>
              <a:cs typeface="Arial" pitchFamily="32" charset="0"/>
            </a:endParaRPr>
          </a:p>
          <a:p>
            <a:endParaRPr lang="en-US" sz="2000">
              <a:solidFill>
                <a:schemeClr val="bg1"/>
              </a:solidFill>
              <a:latin typeface="Arial" pitchFamily="32" charset="0"/>
              <a:cs typeface="Arial" pitchFamily="32" charset="0"/>
            </a:endParaRPr>
          </a:p>
          <a:p>
            <a:r>
              <a:rPr lang="en-US" sz="2000">
                <a:solidFill>
                  <a:schemeClr val="bg1"/>
                </a:solidFill>
                <a:latin typeface="Arial" pitchFamily="32" charset="0"/>
                <a:cs typeface="Arial" pitchFamily="32" charset="0"/>
              </a:rPr>
              <a:t>Alternate constructor can be used to</a:t>
            </a:r>
          </a:p>
          <a:p>
            <a:pPr marL="285750" indent="-285750">
              <a:buFont typeface="Arial" panose="020B0604020202020204" pitchFamily="34" charset="0"/>
              <a:buChar char="•"/>
            </a:pPr>
            <a:r>
              <a:rPr lang="en-US" sz="2000" b="1">
                <a:solidFill>
                  <a:schemeClr val="bg1"/>
                </a:solidFill>
                <a:latin typeface="Arial" pitchFamily="32" charset="0"/>
                <a:cs typeface="Arial" pitchFamily="32" charset="0"/>
              </a:rPr>
              <a:t>Incremental</a:t>
            </a:r>
            <a:r>
              <a:rPr lang="en-US" sz="2000">
                <a:solidFill>
                  <a:schemeClr val="bg1"/>
                </a:solidFill>
                <a:latin typeface="Arial" pitchFamily="32" charset="0"/>
                <a:cs typeface="Arial" pitchFamily="32" charset="0"/>
              </a:rPr>
              <a:t>: export only changed properties</a:t>
            </a:r>
          </a:p>
          <a:p>
            <a:pPr marL="285750" indent="-285750">
              <a:buFont typeface="Arial" panose="020B0604020202020204" pitchFamily="34" charset="0"/>
              <a:buChar char="•"/>
            </a:pPr>
            <a:r>
              <a:rPr lang="en-US" sz="2000" b="1">
                <a:solidFill>
                  <a:schemeClr val="bg1"/>
                </a:solidFill>
                <a:latin typeface="Arial" pitchFamily="32" charset="0"/>
                <a:cs typeface="Arial" pitchFamily="32" charset="0"/>
              </a:rPr>
              <a:t>Verbose</a:t>
            </a:r>
            <a:r>
              <a:rPr lang="en-US" sz="2000">
                <a:solidFill>
                  <a:schemeClr val="bg1"/>
                </a:solidFill>
                <a:latin typeface="Arial" pitchFamily="32" charset="0"/>
                <a:cs typeface="Arial" pitchFamily="32" charset="0"/>
              </a:rPr>
              <a:t>: export properties even if value is null</a:t>
            </a:r>
          </a:p>
          <a:p>
            <a:pPr marL="285750" indent="-285750">
              <a:buFont typeface="Arial" panose="020B0604020202020204" pitchFamily="34" charset="0"/>
              <a:buChar char="•"/>
            </a:pPr>
            <a:r>
              <a:rPr lang="en-US" sz="2000" b="1">
                <a:solidFill>
                  <a:schemeClr val="bg1"/>
                </a:solidFill>
                <a:latin typeface="Arial" pitchFamily="32" charset="0"/>
                <a:cs typeface="Arial" pitchFamily="32" charset="0"/>
              </a:rPr>
              <a:t>SuppressExceptions</a:t>
            </a:r>
            <a:r>
              <a:rPr lang="en-US" sz="2000">
                <a:solidFill>
                  <a:schemeClr val="bg1"/>
                </a:solidFill>
                <a:latin typeface="Arial" pitchFamily="32" charset="0"/>
                <a:cs typeface="Arial" pitchFamily="32" charset="0"/>
              </a:rPr>
              <a:t>: suppress exceptions thrown during XML construct</a:t>
            </a:r>
          </a:p>
        </p:txBody>
      </p:sp>
      <p:pic>
        <p:nvPicPr>
          <p:cNvPr id="5" name="Picture 4"/>
          <p:cNvPicPr>
            <a:picLocks noChangeAspect="1"/>
          </p:cNvPicPr>
          <p:nvPr/>
        </p:nvPicPr>
        <p:blipFill>
          <a:blip r:embed="rId3"/>
          <a:stretch>
            <a:fillRect/>
          </a:stretch>
        </p:blipFill>
        <p:spPr>
          <a:xfrm>
            <a:off x="695313" y="3886200"/>
            <a:ext cx="6813900" cy="2584583"/>
          </a:xfrm>
          <a:prstGeom prst="rect">
            <a:avLst/>
          </a:prstGeom>
        </p:spPr>
      </p:pic>
      <p:pic>
        <p:nvPicPr>
          <p:cNvPr id="8" name="Picture 7"/>
          <p:cNvPicPr>
            <a:picLocks noChangeAspect="1"/>
          </p:cNvPicPr>
          <p:nvPr/>
        </p:nvPicPr>
        <p:blipFill>
          <a:blip r:embed="rId4"/>
          <a:stretch>
            <a:fillRect/>
          </a:stretch>
        </p:blipFill>
        <p:spPr>
          <a:xfrm>
            <a:off x="7848600" y="3893127"/>
            <a:ext cx="3511730" cy="2311519"/>
          </a:xfrm>
          <a:prstGeom prst="rect">
            <a:avLst/>
          </a:prstGeom>
        </p:spPr>
      </p:pic>
      <p:sp>
        <p:nvSpPr>
          <p:cNvPr id="9" name="Right Arrow 8"/>
          <p:cNvSpPr/>
          <p:nvPr/>
        </p:nvSpPr>
        <p:spPr bwMode="auto">
          <a:xfrm>
            <a:off x="7620000" y="5562600"/>
            <a:ext cx="609600" cy="152400"/>
          </a:xfrm>
          <a:prstGeom prst="rightArrow">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16526481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686800" cy="742951"/>
          </a:xfrm>
        </p:spPr>
        <p:txBody>
          <a:bodyPr/>
          <a:lstStyle/>
          <a:p>
            <a:r>
              <a:rPr lang="en-US">
                <a:solidFill>
                  <a:schemeClr val="accent6"/>
                </a:solidFill>
              </a:rPr>
              <a:t>Optimizing XML model output performance</a:t>
            </a:r>
          </a:p>
        </p:txBody>
      </p:sp>
      <p:sp>
        <p:nvSpPr>
          <p:cNvPr id="3" name="TextBox 2"/>
          <p:cNvSpPr txBox="1"/>
          <p:nvPr/>
        </p:nvSpPr>
        <p:spPr>
          <a:xfrm>
            <a:off x="685800" y="685800"/>
            <a:ext cx="11277600" cy="1600200"/>
          </a:xfrm>
          <a:prstGeom prst="rect">
            <a:avLst/>
          </a:prstGeom>
          <a:noFill/>
        </p:spPr>
        <p:txBody>
          <a:bodyPr wrap="none" rtlCol="0">
            <a:noAutofit/>
          </a:bodyPr>
          <a:lstStyle/>
          <a:p>
            <a:endParaRPr lang="en-US" sz="2000" b="1">
              <a:solidFill>
                <a:schemeClr val="bg1"/>
              </a:solidFill>
              <a:latin typeface="Arial" pitchFamily="32" charset="0"/>
              <a:cs typeface="Arial" pitchFamily="32" charset="0"/>
            </a:endParaRPr>
          </a:p>
          <a:p>
            <a:r>
              <a:rPr lang="en-US" sz="2000" b="1">
                <a:solidFill>
                  <a:schemeClr val="bg1"/>
                </a:solidFill>
                <a:latin typeface="Arial" pitchFamily="32" charset="0"/>
                <a:cs typeface="Arial" pitchFamily="32" charset="0"/>
              </a:rPr>
              <a:t>Serialization Options</a:t>
            </a:r>
          </a:p>
          <a:p>
            <a:r>
              <a:rPr lang="en-US" sz="2000">
                <a:solidFill>
                  <a:schemeClr val="bg1"/>
                </a:solidFill>
                <a:latin typeface="Arial" pitchFamily="32" charset="0"/>
                <a:cs typeface="Arial" pitchFamily="32" charset="0"/>
              </a:rPr>
              <a:t>For large XMLs, make sure to use </a:t>
            </a:r>
            <a:r>
              <a:rPr lang="en-US" sz="2000" err="1">
                <a:solidFill>
                  <a:schemeClr val="bg1"/>
                </a:solidFill>
                <a:latin typeface="Arial" pitchFamily="32" charset="0"/>
                <a:cs typeface="Arial" pitchFamily="32" charset="0"/>
              </a:rPr>
              <a:t>XMLSerializationOptions</a:t>
            </a:r>
            <a:r>
              <a:rPr lang="en-US" sz="2000">
                <a:solidFill>
                  <a:schemeClr val="bg1"/>
                </a:solidFill>
                <a:latin typeface="Arial" pitchFamily="32" charset="0"/>
                <a:cs typeface="Arial" pitchFamily="32" charset="0"/>
              </a:rPr>
              <a:t> object to turn off sorting and validation.</a:t>
            </a:r>
          </a:p>
          <a:p>
            <a:r>
              <a:rPr lang="en-US">
                <a:solidFill>
                  <a:schemeClr val="bg1"/>
                </a:solidFill>
                <a:latin typeface="Arial" pitchFamily="32" charset="0"/>
                <a:cs typeface="Arial" pitchFamily="32" charset="0"/>
              </a:rPr>
              <a:t>This will improve the performance</a:t>
            </a:r>
          </a:p>
        </p:txBody>
      </p:sp>
      <p:pic>
        <p:nvPicPr>
          <p:cNvPr id="4" name="Picture 3"/>
          <p:cNvPicPr>
            <a:picLocks noChangeAspect="1"/>
          </p:cNvPicPr>
          <p:nvPr/>
        </p:nvPicPr>
        <p:blipFill>
          <a:blip r:embed="rId3"/>
          <a:stretch>
            <a:fillRect/>
          </a:stretch>
        </p:blipFill>
        <p:spPr>
          <a:xfrm>
            <a:off x="690418" y="2286000"/>
            <a:ext cx="7201270" cy="2736991"/>
          </a:xfrm>
          <a:prstGeom prst="rect">
            <a:avLst/>
          </a:prstGeom>
        </p:spPr>
      </p:pic>
      <p:pic>
        <p:nvPicPr>
          <p:cNvPr id="6" name="Picture 5"/>
          <p:cNvPicPr>
            <a:picLocks noChangeAspect="1"/>
          </p:cNvPicPr>
          <p:nvPr/>
        </p:nvPicPr>
        <p:blipFill>
          <a:blip r:embed="rId4"/>
          <a:stretch>
            <a:fillRect/>
          </a:stretch>
        </p:blipFill>
        <p:spPr>
          <a:xfrm>
            <a:off x="704273" y="5384887"/>
            <a:ext cx="6585288" cy="1028753"/>
          </a:xfrm>
          <a:prstGeom prst="rect">
            <a:avLst/>
          </a:prstGeom>
        </p:spPr>
      </p:pic>
      <p:sp>
        <p:nvSpPr>
          <p:cNvPr id="7" name="Down Arrow 6"/>
          <p:cNvSpPr/>
          <p:nvPr/>
        </p:nvSpPr>
        <p:spPr bwMode="auto">
          <a:xfrm>
            <a:off x="4648200" y="4876800"/>
            <a:ext cx="304800" cy="609600"/>
          </a:xfrm>
          <a:prstGeom prst="downArrow">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5011528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686800" cy="742951"/>
          </a:xfrm>
        </p:spPr>
        <p:txBody>
          <a:bodyPr/>
          <a:lstStyle/>
          <a:p>
            <a:r>
              <a:rPr lang="en-US">
                <a:solidFill>
                  <a:schemeClr val="accent6"/>
                </a:solidFill>
              </a:rPr>
              <a:t>XML Model Labels</a:t>
            </a:r>
          </a:p>
        </p:txBody>
      </p:sp>
      <p:sp>
        <p:nvSpPr>
          <p:cNvPr id="8" name="Content Placeholder 3"/>
          <p:cNvSpPr>
            <a:spLocks noGrp="1"/>
          </p:cNvSpPr>
          <p:nvPr>
            <p:ph sz="half" idx="2"/>
          </p:nvPr>
        </p:nvSpPr>
        <p:spPr>
          <a:xfrm>
            <a:off x="685800" y="685801"/>
            <a:ext cx="5410200" cy="5684840"/>
          </a:xfrm>
        </p:spPr>
        <p:txBody>
          <a:bodyPr/>
          <a:lstStyle/>
          <a:p>
            <a:r>
              <a:rPr lang="en-US"/>
              <a:t>Labels enable model’s properties to be filtered</a:t>
            </a:r>
          </a:p>
          <a:p>
            <a:pPr lvl="1"/>
            <a:r>
              <a:rPr lang="en-US"/>
              <a:t>When instance of model is created only subset of its properties are converted to XML</a:t>
            </a:r>
          </a:p>
          <a:p>
            <a:pPr lvl="1"/>
            <a:r>
              <a:rPr lang="en-US"/>
              <a:t>Different properties can be included based  on the context</a:t>
            </a:r>
          </a:p>
          <a:p>
            <a:r>
              <a:rPr lang="en-US"/>
              <a:t>Use Case:</a:t>
            </a:r>
          </a:p>
          <a:p>
            <a:pPr marL="857250" lvl="1" indent="-457200">
              <a:buFont typeface="+mj-lt"/>
              <a:buAutoNum type="arabicPeriod"/>
            </a:pPr>
            <a:r>
              <a:rPr lang="en-US" b="1"/>
              <a:t>System A </a:t>
            </a:r>
            <a:r>
              <a:rPr lang="en-US"/>
              <a:t>needs key property and </a:t>
            </a:r>
            <a:r>
              <a:rPr lang="en-US" err="1"/>
              <a:t>ABContactNormal</a:t>
            </a:r>
            <a:r>
              <a:rPr lang="en-US"/>
              <a:t> property called </a:t>
            </a:r>
            <a:r>
              <a:rPr lang="en-US" err="1"/>
              <a:t>SysA</a:t>
            </a:r>
            <a:endParaRPr lang="en-US"/>
          </a:p>
          <a:p>
            <a:pPr marL="857250" lvl="1" indent="-457200">
              <a:buFont typeface="+mj-lt"/>
              <a:buAutoNum type="arabicPeriod"/>
            </a:pPr>
            <a:r>
              <a:rPr lang="en-US" b="1"/>
              <a:t>System B </a:t>
            </a:r>
            <a:r>
              <a:rPr lang="en-US"/>
              <a:t>needs key property &amp; 4 </a:t>
            </a:r>
            <a:r>
              <a:rPr lang="en-US" err="1"/>
              <a:t>BankAccount</a:t>
            </a:r>
            <a:r>
              <a:rPr lang="en-US"/>
              <a:t> properties called </a:t>
            </a:r>
            <a:r>
              <a:rPr lang="en-US" err="1"/>
              <a:t>SysB</a:t>
            </a:r>
            <a:endParaRPr lang="en-US"/>
          </a:p>
          <a:p>
            <a:pPr marL="857250" lvl="1" indent="-457200">
              <a:buFont typeface="+mj-lt"/>
              <a:buAutoNum type="arabicPeriod"/>
            </a:pPr>
            <a:r>
              <a:rPr lang="en-US"/>
              <a:t>With labels, a single model can be used.</a:t>
            </a:r>
          </a:p>
          <a:p>
            <a:pPr marL="1198529" lvl="2" indent="-457200">
              <a:buFont typeface="Arial" panose="020B0604020202020204" pitchFamily="34" charset="0"/>
              <a:buChar char="•"/>
            </a:pPr>
            <a:r>
              <a:rPr lang="en-US"/>
              <a:t>Properties can be assigned multiple labels.</a:t>
            </a:r>
          </a:p>
          <a:p>
            <a:pPr marL="1198529" lvl="2" indent="-457200">
              <a:buFont typeface="Arial" panose="020B0604020202020204" pitchFamily="34" charset="0"/>
              <a:buChar char="•"/>
            </a:pPr>
            <a:r>
              <a:rPr lang="en-US"/>
              <a:t>Multiple systems use same property </a:t>
            </a:r>
          </a:p>
        </p:txBody>
      </p:sp>
      <p:pic>
        <p:nvPicPr>
          <p:cNvPr id="5" name="Picture 4"/>
          <p:cNvPicPr>
            <a:picLocks noChangeAspect="1"/>
          </p:cNvPicPr>
          <p:nvPr/>
        </p:nvPicPr>
        <p:blipFill>
          <a:blip r:embed="rId3"/>
          <a:stretch>
            <a:fillRect/>
          </a:stretch>
        </p:blipFill>
        <p:spPr>
          <a:xfrm>
            <a:off x="6120063" y="990600"/>
            <a:ext cx="4534133" cy="1397072"/>
          </a:xfrm>
          <a:prstGeom prst="rect">
            <a:avLst/>
          </a:prstGeom>
        </p:spPr>
      </p:pic>
      <p:pic>
        <p:nvPicPr>
          <p:cNvPr id="9" name="Picture 8"/>
          <p:cNvPicPr>
            <a:picLocks noChangeAspect="1"/>
          </p:cNvPicPr>
          <p:nvPr/>
        </p:nvPicPr>
        <p:blipFill>
          <a:blip r:embed="rId4"/>
          <a:stretch>
            <a:fillRect/>
          </a:stretch>
        </p:blipFill>
        <p:spPr>
          <a:xfrm>
            <a:off x="7263063" y="3200400"/>
            <a:ext cx="2152761" cy="2756042"/>
          </a:xfrm>
          <a:prstGeom prst="rect">
            <a:avLst/>
          </a:prstGeom>
        </p:spPr>
      </p:pic>
      <p:cxnSp>
        <p:nvCxnSpPr>
          <p:cNvPr id="11" name="Elbow Connector 10"/>
          <p:cNvCxnSpPr/>
          <p:nvPr/>
        </p:nvCxnSpPr>
        <p:spPr bwMode="auto">
          <a:xfrm>
            <a:off x="9549063" y="1747512"/>
            <a:ext cx="914400" cy="914400"/>
          </a:xfrm>
          <a:prstGeom prst="bentConnector3">
            <a:avLst/>
          </a:prstGeom>
          <a:noFill/>
          <a:ln w="12700" cap="flat" cmpd="sng" algn="ctr">
            <a:solidFill>
              <a:srgbClr val="FF0000"/>
            </a:solidFill>
            <a:prstDash val="solid"/>
            <a:round/>
            <a:headEnd type="none" w="med" len="med"/>
            <a:tailEnd type="triangle"/>
          </a:ln>
          <a:effectLst/>
        </p:spPr>
      </p:cxnSp>
      <p:sp>
        <p:nvSpPr>
          <p:cNvPr id="12" name="TextBox 11"/>
          <p:cNvSpPr txBox="1"/>
          <p:nvPr/>
        </p:nvSpPr>
        <p:spPr>
          <a:xfrm>
            <a:off x="10463463" y="2550156"/>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Select</a:t>
            </a:r>
          </a:p>
          <a:p>
            <a:r>
              <a:rPr lang="en-US">
                <a:solidFill>
                  <a:srgbClr val="C00000"/>
                </a:solidFill>
                <a:latin typeface="Arial" pitchFamily="32" charset="0"/>
                <a:cs typeface="Arial" pitchFamily="32" charset="0"/>
              </a:rPr>
              <a:t>Field</a:t>
            </a:r>
          </a:p>
        </p:txBody>
      </p:sp>
      <p:cxnSp>
        <p:nvCxnSpPr>
          <p:cNvPr id="14" name="Straight Arrow Connector 13"/>
          <p:cNvCxnSpPr/>
          <p:nvPr/>
        </p:nvCxnSpPr>
        <p:spPr bwMode="auto">
          <a:xfrm>
            <a:off x="6424863" y="2204712"/>
            <a:ext cx="0" cy="614688"/>
          </a:xfrm>
          <a:prstGeom prst="straightConnector1">
            <a:avLst/>
          </a:prstGeom>
          <a:noFill/>
          <a:ln w="12700" cap="flat" cmpd="sng" algn="ctr">
            <a:solidFill>
              <a:srgbClr val="FF0000"/>
            </a:solidFill>
            <a:prstDash val="solid"/>
            <a:round/>
            <a:headEnd type="none" w="med" len="med"/>
            <a:tailEnd type="triangle"/>
          </a:ln>
          <a:effectLst/>
        </p:spPr>
      </p:cxnSp>
      <p:sp>
        <p:nvSpPr>
          <p:cNvPr id="17" name="TextBox 16"/>
          <p:cNvSpPr txBox="1"/>
          <p:nvPr/>
        </p:nvSpPr>
        <p:spPr>
          <a:xfrm>
            <a:off x="6120063" y="27432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Click Edit Label</a:t>
            </a:r>
          </a:p>
        </p:txBody>
      </p:sp>
      <p:cxnSp>
        <p:nvCxnSpPr>
          <p:cNvPr id="19" name="Straight Arrow Connector 18"/>
          <p:cNvCxnSpPr/>
          <p:nvPr/>
        </p:nvCxnSpPr>
        <p:spPr bwMode="auto">
          <a:xfrm>
            <a:off x="8939463" y="4419600"/>
            <a:ext cx="762000" cy="0"/>
          </a:xfrm>
          <a:prstGeom prst="straightConnector1">
            <a:avLst/>
          </a:prstGeom>
          <a:noFill/>
          <a:ln w="12700" cap="flat" cmpd="sng" algn="ctr">
            <a:solidFill>
              <a:srgbClr val="FF0000"/>
            </a:solidFill>
            <a:prstDash val="solid"/>
            <a:round/>
            <a:headEnd type="none" w="med" len="med"/>
            <a:tailEnd type="triangle"/>
          </a:ln>
          <a:effectLst/>
        </p:spPr>
      </p:cxnSp>
      <p:sp>
        <p:nvSpPr>
          <p:cNvPr id="21" name="TextBox 20"/>
          <p:cNvSpPr txBox="1"/>
          <p:nvPr/>
        </p:nvSpPr>
        <p:spPr>
          <a:xfrm>
            <a:off x="9644424" y="4267200"/>
            <a:ext cx="914400" cy="914400"/>
          </a:xfrm>
          <a:prstGeom prst="rect">
            <a:avLst/>
          </a:prstGeom>
          <a:noFill/>
        </p:spPr>
        <p:txBody>
          <a:bodyPr wrap="none" rtlCol="0">
            <a:noAutofit/>
          </a:bodyPr>
          <a:lstStyle/>
          <a:p>
            <a:r>
              <a:rPr lang="en-US">
                <a:solidFill>
                  <a:srgbClr val="C00000"/>
                </a:solidFill>
                <a:latin typeface="Arial" pitchFamily="32" charset="0"/>
                <a:cs typeface="Arial" pitchFamily="32" charset="0"/>
              </a:rPr>
              <a:t>Add Label</a:t>
            </a:r>
          </a:p>
        </p:txBody>
      </p:sp>
    </p:spTree>
    <p:extLst>
      <p:ext uri="{BB962C8B-B14F-4D97-AF65-F5344CB8AC3E}">
        <p14:creationId xmlns:p14="http://schemas.microsoft.com/office/powerpoint/2010/main" val="136141116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686800" cy="742951"/>
          </a:xfrm>
        </p:spPr>
        <p:txBody>
          <a:bodyPr/>
          <a:lstStyle/>
          <a:p>
            <a:r>
              <a:rPr lang="en-US">
                <a:solidFill>
                  <a:schemeClr val="accent6"/>
                </a:solidFill>
              </a:rPr>
              <a:t>Using XML model Labels</a:t>
            </a:r>
          </a:p>
        </p:txBody>
      </p:sp>
      <p:sp>
        <p:nvSpPr>
          <p:cNvPr id="3" name="TextBox 2"/>
          <p:cNvSpPr txBox="1"/>
          <p:nvPr/>
        </p:nvSpPr>
        <p:spPr>
          <a:xfrm>
            <a:off x="685800" y="685800"/>
            <a:ext cx="914400" cy="914400"/>
          </a:xfrm>
          <a:prstGeom prst="rect">
            <a:avLst/>
          </a:prstGeom>
          <a:noFill/>
        </p:spPr>
        <p:txBody>
          <a:bodyPr wrap="none" rtlCol="0">
            <a:noAutofit/>
          </a:bodyPr>
          <a:lstStyle/>
          <a:p>
            <a:endParaRPr lang="en-US" sz="2000" b="1">
              <a:solidFill>
                <a:schemeClr val="bg1"/>
              </a:solidFill>
              <a:latin typeface="Arial" pitchFamily="32" charset="0"/>
              <a:cs typeface="Arial" pitchFamily="32" charset="0"/>
            </a:endParaRP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Add label to properties in the model</a:t>
            </a: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Pass label parameter to the constructor</a:t>
            </a:r>
          </a:p>
          <a:p>
            <a:endParaRPr lang="en-US" b="1">
              <a:solidFill>
                <a:schemeClr val="bg1"/>
              </a:solidFill>
              <a:latin typeface="Arial" pitchFamily="32" charset="0"/>
              <a:cs typeface="Arial" pitchFamily="32" charset="0"/>
            </a:endParaRPr>
          </a:p>
        </p:txBody>
      </p:sp>
      <p:pic>
        <p:nvPicPr>
          <p:cNvPr id="5" name="Picture 4"/>
          <p:cNvPicPr>
            <a:picLocks noChangeAspect="1"/>
          </p:cNvPicPr>
          <p:nvPr/>
        </p:nvPicPr>
        <p:blipFill>
          <a:blip r:embed="rId3"/>
          <a:stretch>
            <a:fillRect/>
          </a:stretch>
        </p:blipFill>
        <p:spPr>
          <a:xfrm>
            <a:off x="762000" y="1840895"/>
            <a:ext cx="7842653" cy="2825895"/>
          </a:xfrm>
          <a:prstGeom prst="rect">
            <a:avLst/>
          </a:prstGeom>
        </p:spPr>
      </p:pic>
      <p:pic>
        <p:nvPicPr>
          <p:cNvPr id="8" name="Picture 7"/>
          <p:cNvPicPr>
            <a:picLocks noChangeAspect="1"/>
          </p:cNvPicPr>
          <p:nvPr/>
        </p:nvPicPr>
        <p:blipFill>
          <a:blip r:embed="rId4"/>
          <a:stretch>
            <a:fillRect/>
          </a:stretch>
        </p:blipFill>
        <p:spPr>
          <a:xfrm>
            <a:off x="4694871" y="5019666"/>
            <a:ext cx="3571954" cy="1292292"/>
          </a:xfrm>
          <a:prstGeom prst="rect">
            <a:avLst/>
          </a:prstGeom>
        </p:spPr>
      </p:pic>
      <p:pic>
        <p:nvPicPr>
          <p:cNvPr id="9" name="Picture 8"/>
          <p:cNvPicPr>
            <a:picLocks noChangeAspect="1"/>
          </p:cNvPicPr>
          <p:nvPr/>
        </p:nvPicPr>
        <p:blipFill>
          <a:blip r:embed="rId5"/>
          <a:stretch>
            <a:fillRect/>
          </a:stretch>
        </p:blipFill>
        <p:spPr>
          <a:xfrm>
            <a:off x="768927" y="5019666"/>
            <a:ext cx="3537132" cy="1454225"/>
          </a:xfrm>
          <a:prstGeom prst="rect">
            <a:avLst/>
          </a:prstGeom>
        </p:spPr>
      </p:pic>
      <p:sp>
        <p:nvSpPr>
          <p:cNvPr id="10" name="TextBox 9"/>
          <p:cNvSpPr txBox="1"/>
          <p:nvPr/>
        </p:nvSpPr>
        <p:spPr>
          <a:xfrm>
            <a:off x="990600" y="4654695"/>
            <a:ext cx="914400" cy="914400"/>
          </a:xfrm>
          <a:prstGeom prst="rect">
            <a:avLst/>
          </a:prstGeom>
          <a:noFill/>
        </p:spPr>
        <p:txBody>
          <a:bodyPr wrap="none" rtlCol="0">
            <a:noAutofit/>
          </a:bodyPr>
          <a:lstStyle/>
          <a:p>
            <a:r>
              <a:rPr lang="en-US" err="1">
                <a:solidFill>
                  <a:srgbClr val="C00000"/>
                </a:solidFill>
                <a:latin typeface="Arial" pitchFamily="32" charset="0"/>
                <a:cs typeface="Arial" pitchFamily="32" charset="0"/>
              </a:rPr>
              <a:t>SysA</a:t>
            </a:r>
            <a:r>
              <a:rPr lang="en-US">
                <a:solidFill>
                  <a:srgbClr val="C00000"/>
                </a:solidFill>
                <a:latin typeface="Arial" pitchFamily="32" charset="0"/>
                <a:cs typeface="Arial" pitchFamily="32" charset="0"/>
              </a:rPr>
              <a:t> output</a:t>
            </a:r>
          </a:p>
        </p:txBody>
      </p:sp>
      <p:sp>
        <p:nvSpPr>
          <p:cNvPr id="11" name="TextBox 10"/>
          <p:cNvSpPr txBox="1"/>
          <p:nvPr/>
        </p:nvSpPr>
        <p:spPr>
          <a:xfrm>
            <a:off x="5029200" y="4654695"/>
            <a:ext cx="914400" cy="914400"/>
          </a:xfrm>
          <a:prstGeom prst="rect">
            <a:avLst/>
          </a:prstGeom>
          <a:noFill/>
        </p:spPr>
        <p:txBody>
          <a:bodyPr wrap="none" rtlCol="0">
            <a:noAutofit/>
          </a:bodyPr>
          <a:lstStyle/>
          <a:p>
            <a:r>
              <a:rPr lang="en-US" err="1">
                <a:solidFill>
                  <a:srgbClr val="C00000"/>
                </a:solidFill>
                <a:latin typeface="Arial" pitchFamily="32" charset="0"/>
                <a:cs typeface="Arial" pitchFamily="32" charset="0"/>
              </a:rPr>
              <a:t>SysB</a:t>
            </a:r>
            <a:r>
              <a:rPr lang="en-US">
                <a:solidFill>
                  <a:srgbClr val="C00000"/>
                </a:solidFill>
                <a:latin typeface="Arial" pitchFamily="32" charset="0"/>
                <a:cs typeface="Arial" pitchFamily="32" charset="0"/>
              </a:rPr>
              <a:t> output</a:t>
            </a:r>
          </a:p>
        </p:txBody>
      </p:sp>
    </p:spTree>
    <p:extLst>
      <p:ext uri="{BB962C8B-B14F-4D97-AF65-F5344CB8AC3E}">
        <p14:creationId xmlns:p14="http://schemas.microsoft.com/office/powerpoint/2010/main" val="438354054"/>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686800" cy="742951"/>
          </a:xfrm>
        </p:spPr>
        <p:txBody>
          <a:bodyPr/>
          <a:lstStyle/>
          <a:p>
            <a:r>
              <a:rPr lang="en-US">
                <a:solidFill>
                  <a:schemeClr val="accent6"/>
                </a:solidFill>
              </a:rPr>
              <a:t>Model Properties</a:t>
            </a:r>
          </a:p>
        </p:txBody>
      </p:sp>
      <p:sp>
        <p:nvSpPr>
          <p:cNvPr id="3" name="TextBox 2"/>
          <p:cNvSpPr txBox="1"/>
          <p:nvPr/>
        </p:nvSpPr>
        <p:spPr>
          <a:xfrm>
            <a:off x="685800" y="685800"/>
            <a:ext cx="11049000" cy="1676400"/>
          </a:xfrm>
          <a:prstGeom prst="rect">
            <a:avLst/>
          </a:prstGeom>
          <a:noFill/>
        </p:spPr>
        <p:txBody>
          <a:bodyPr wrap="none" rtlCol="0">
            <a:noAutofit/>
          </a:bodyPr>
          <a:lstStyle/>
          <a:p>
            <a:endParaRPr lang="en-US" sz="2000">
              <a:solidFill>
                <a:schemeClr val="bg1"/>
              </a:solidFill>
              <a:latin typeface="Arial" pitchFamily="32" charset="0"/>
              <a:cs typeface="Arial" pitchFamily="32" charset="0"/>
            </a:endParaRPr>
          </a:p>
          <a:p>
            <a:r>
              <a:rPr lang="en-US" sz="2000">
                <a:solidFill>
                  <a:schemeClr val="bg1"/>
                </a:solidFill>
                <a:latin typeface="Arial" pitchFamily="32" charset="0"/>
                <a:cs typeface="Arial" pitchFamily="32" charset="0"/>
              </a:rPr>
              <a:t>Every model has Boolean properties specific to XML models</a:t>
            </a: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$ShouldSend: has at least 1 normal property changed?</a:t>
            </a: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$HasExceptions: were exceptions thrown during XML generation? </a:t>
            </a:r>
          </a:p>
          <a:p>
            <a:pPr marL="800100" lvl="1" indent="-342900">
              <a:buFont typeface="Arial" panose="020B0604020202020204" pitchFamily="34" charset="0"/>
              <a:buChar char="•"/>
            </a:pPr>
            <a:r>
              <a:rPr lang="en-US" sz="2000">
                <a:solidFill>
                  <a:schemeClr val="bg1"/>
                </a:solidFill>
                <a:latin typeface="Arial" pitchFamily="32" charset="0"/>
                <a:cs typeface="Arial" pitchFamily="32" charset="0"/>
              </a:rPr>
              <a:t>This will return true even if </a:t>
            </a:r>
            <a:r>
              <a:rPr lang="en-US" sz="2000" err="1">
                <a:solidFill>
                  <a:schemeClr val="bg1"/>
                </a:solidFill>
                <a:latin typeface="Arial" pitchFamily="32" charset="0"/>
                <a:cs typeface="Arial" pitchFamily="32" charset="0"/>
              </a:rPr>
              <a:t>GxOptions</a:t>
            </a:r>
            <a:r>
              <a:rPr lang="en-US" sz="2000">
                <a:solidFill>
                  <a:schemeClr val="bg1"/>
                </a:solidFill>
                <a:latin typeface="Arial" pitchFamily="32" charset="0"/>
                <a:cs typeface="Arial" pitchFamily="32" charset="0"/>
              </a:rPr>
              <a:t> </a:t>
            </a:r>
            <a:r>
              <a:rPr lang="en-US" sz="2000" err="1">
                <a:solidFill>
                  <a:schemeClr val="bg1"/>
                </a:solidFill>
                <a:latin typeface="Arial" pitchFamily="32" charset="0"/>
                <a:cs typeface="Arial" pitchFamily="32" charset="0"/>
              </a:rPr>
              <a:t>SuppressException</a:t>
            </a:r>
            <a:r>
              <a:rPr lang="en-US" sz="2000">
                <a:solidFill>
                  <a:schemeClr val="bg1"/>
                </a:solidFill>
                <a:latin typeface="Arial" pitchFamily="32" charset="0"/>
                <a:cs typeface="Arial" pitchFamily="32" charset="0"/>
              </a:rPr>
              <a:t> is set to true.</a:t>
            </a:r>
            <a:endParaRPr lang="en-US" b="1">
              <a:solidFill>
                <a:schemeClr val="bg1"/>
              </a:solidFill>
              <a:latin typeface="Arial" pitchFamily="32" charset="0"/>
              <a:cs typeface="Arial" pitchFamily="32" charset="0"/>
            </a:endParaRPr>
          </a:p>
        </p:txBody>
      </p:sp>
      <p:pic>
        <p:nvPicPr>
          <p:cNvPr id="4" name="Picture 3"/>
          <p:cNvPicPr>
            <a:picLocks noChangeAspect="1"/>
          </p:cNvPicPr>
          <p:nvPr/>
        </p:nvPicPr>
        <p:blipFill>
          <a:blip r:embed="rId3"/>
          <a:stretch>
            <a:fillRect/>
          </a:stretch>
        </p:blipFill>
        <p:spPr>
          <a:xfrm>
            <a:off x="695037" y="2476275"/>
            <a:ext cx="6848764" cy="3683279"/>
          </a:xfrm>
          <a:prstGeom prst="rect">
            <a:avLst/>
          </a:prstGeom>
        </p:spPr>
      </p:pic>
      <p:pic>
        <p:nvPicPr>
          <p:cNvPr id="7" name="Picture 6"/>
          <p:cNvPicPr>
            <a:picLocks noChangeAspect="1"/>
          </p:cNvPicPr>
          <p:nvPr/>
        </p:nvPicPr>
        <p:blipFill>
          <a:blip r:embed="rId4"/>
          <a:stretch>
            <a:fillRect/>
          </a:stretch>
        </p:blipFill>
        <p:spPr>
          <a:xfrm>
            <a:off x="7791368" y="3608777"/>
            <a:ext cx="3162463" cy="1066855"/>
          </a:xfrm>
          <a:prstGeom prst="rect">
            <a:avLst/>
          </a:prstGeom>
        </p:spPr>
      </p:pic>
      <p:sp>
        <p:nvSpPr>
          <p:cNvPr id="8" name="Right Arrow 7"/>
          <p:cNvSpPr/>
          <p:nvPr/>
        </p:nvSpPr>
        <p:spPr bwMode="auto">
          <a:xfrm>
            <a:off x="7162800" y="4075598"/>
            <a:ext cx="749808" cy="191602"/>
          </a:xfrm>
          <a:prstGeom prst="rightArrow">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18562811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686800" cy="742951"/>
          </a:xfrm>
        </p:spPr>
        <p:txBody>
          <a:bodyPr/>
          <a:lstStyle/>
          <a:p>
            <a:r>
              <a:rPr lang="en-US">
                <a:solidFill>
                  <a:schemeClr val="accent6"/>
                </a:solidFill>
              </a:rPr>
              <a:t>Deploy Code Changes</a:t>
            </a:r>
          </a:p>
        </p:txBody>
      </p:sp>
      <p:sp>
        <p:nvSpPr>
          <p:cNvPr id="5" name="TextBox 4"/>
          <p:cNvSpPr txBox="1"/>
          <p:nvPr/>
        </p:nvSpPr>
        <p:spPr>
          <a:xfrm>
            <a:off x="914400" y="1371600"/>
            <a:ext cx="914400" cy="914400"/>
          </a:xfrm>
          <a:prstGeom prst="rect">
            <a:avLst/>
          </a:prstGeom>
          <a:noFill/>
        </p:spPr>
        <p:txBody>
          <a:bodyPr wrap="none" rtlCol="0">
            <a:noAutofit/>
          </a:bodyPr>
          <a:lstStyle/>
          <a:p>
            <a:r>
              <a:rPr lang="en-US" sz="2000" b="1">
                <a:solidFill>
                  <a:schemeClr val="bg1"/>
                </a:solidFill>
                <a:latin typeface="Arial" pitchFamily="32" charset="0"/>
                <a:cs typeface="Arial" pitchFamily="32" charset="0"/>
              </a:rPr>
              <a:t>Restart Server</a:t>
            </a:r>
          </a:p>
          <a:p>
            <a:endParaRPr lang="en-US" sz="2000" b="1">
              <a:solidFill>
                <a:schemeClr val="bg1"/>
              </a:solidFill>
              <a:latin typeface="Arial" pitchFamily="32" charset="0"/>
              <a:cs typeface="Arial" pitchFamily="32" charset="0"/>
            </a:endParaRP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New XML Model</a:t>
            </a:r>
          </a:p>
        </p:txBody>
      </p:sp>
      <p:sp>
        <p:nvSpPr>
          <p:cNvPr id="9" name="TextBox 8"/>
          <p:cNvSpPr txBox="1"/>
          <p:nvPr/>
        </p:nvSpPr>
        <p:spPr>
          <a:xfrm>
            <a:off x="6324600" y="1371600"/>
            <a:ext cx="914400" cy="914400"/>
          </a:xfrm>
          <a:prstGeom prst="rect">
            <a:avLst/>
          </a:prstGeom>
          <a:noFill/>
        </p:spPr>
        <p:txBody>
          <a:bodyPr wrap="none" rtlCol="0">
            <a:noAutofit/>
          </a:bodyPr>
          <a:lstStyle/>
          <a:p>
            <a:r>
              <a:rPr lang="en-US" sz="2000" b="1">
                <a:solidFill>
                  <a:schemeClr val="bg1"/>
                </a:solidFill>
                <a:latin typeface="Arial" pitchFamily="32" charset="0"/>
                <a:cs typeface="Arial" pitchFamily="32" charset="0"/>
              </a:rPr>
              <a:t>Generate XML Classes</a:t>
            </a:r>
          </a:p>
          <a:p>
            <a:endParaRPr lang="en-US" sz="2000" b="1">
              <a:solidFill>
                <a:schemeClr val="bg1"/>
              </a:solidFill>
              <a:latin typeface="Arial" pitchFamily="32" charset="0"/>
              <a:cs typeface="Arial" pitchFamily="32" charset="0"/>
            </a:endParaRPr>
          </a:p>
          <a:p>
            <a:pPr marL="342900" indent="-342900">
              <a:buFont typeface="Arial" panose="020B0604020202020204" pitchFamily="34" charset="0"/>
              <a:buChar char="•"/>
            </a:pPr>
            <a:r>
              <a:rPr lang="en-US" sz="2000">
                <a:solidFill>
                  <a:schemeClr val="bg1"/>
                </a:solidFill>
                <a:latin typeface="Arial" pitchFamily="32" charset="0"/>
                <a:cs typeface="Arial" pitchFamily="32" charset="0"/>
              </a:rPr>
              <a:t>Modified XML Model</a:t>
            </a:r>
          </a:p>
        </p:txBody>
      </p:sp>
      <p:pic>
        <p:nvPicPr>
          <p:cNvPr id="6" name="Picture 5"/>
          <p:cNvPicPr>
            <a:picLocks noChangeAspect="1"/>
          </p:cNvPicPr>
          <p:nvPr/>
        </p:nvPicPr>
        <p:blipFill>
          <a:blip r:embed="rId3"/>
          <a:stretch>
            <a:fillRect/>
          </a:stretch>
        </p:blipFill>
        <p:spPr>
          <a:xfrm>
            <a:off x="929198" y="3048000"/>
            <a:ext cx="4102311" cy="2540131"/>
          </a:xfrm>
          <a:prstGeom prst="rect">
            <a:avLst/>
          </a:prstGeom>
        </p:spPr>
      </p:pic>
      <p:pic>
        <p:nvPicPr>
          <p:cNvPr id="10" name="Picture 9"/>
          <p:cNvPicPr>
            <a:picLocks noChangeAspect="1"/>
          </p:cNvPicPr>
          <p:nvPr/>
        </p:nvPicPr>
        <p:blipFill>
          <a:blip r:embed="rId4"/>
          <a:stretch>
            <a:fillRect/>
          </a:stretch>
        </p:blipFill>
        <p:spPr>
          <a:xfrm>
            <a:off x="6248400" y="3048000"/>
            <a:ext cx="3697560" cy="2540131"/>
          </a:xfrm>
          <a:prstGeom prst="rect">
            <a:avLst/>
          </a:prstGeom>
        </p:spPr>
      </p:pic>
    </p:spTree>
    <p:extLst>
      <p:ext uri="{BB962C8B-B14F-4D97-AF65-F5344CB8AC3E}">
        <p14:creationId xmlns:p14="http://schemas.microsoft.com/office/powerpoint/2010/main" val="241879239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62000" y="1447800"/>
            <a:ext cx="7937501" cy="4294632"/>
          </a:xfrm>
        </p:spPr>
        <p:txBody>
          <a:bodyPr/>
          <a:lstStyle/>
          <a:p>
            <a:pPr lvl="1"/>
            <a:r>
              <a:rPr lang="en-US"/>
              <a:t>Describe the fundamental features of XML</a:t>
            </a:r>
          </a:p>
          <a:p>
            <a:pPr lvl="1"/>
            <a:r>
              <a:rPr lang="en-US"/>
              <a:t>Describe the basic functionality of the Guidewire XmlElement class</a:t>
            </a:r>
          </a:p>
          <a:p>
            <a:pPr lvl="1"/>
            <a:r>
              <a:rPr lang="en-US"/>
              <a:t>Import and export untyped XML using Gosu</a:t>
            </a:r>
          </a:p>
          <a:p>
            <a:pPr lvl="1"/>
            <a:r>
              <a:rPr lang="en-US"/>
              <a:t>Import and export strongly typed XML using Gosu and an XSD</a:t>
            </a:r>
          </a:p>
          <a:p>
            <a:pPr lvl="1"/>
            <a:r>
              <a:rPr lang="en-US"/>
              <a:t>Identify additional Guidewire tools for working with XML</a:t>
            </a:r>
          </a:p>
          <a:p>
            <a:pPr lvl="1"/>
            <a:r>
              <a:rPr lang="en-US"/>
              <a:t>Use XML modeler to create XML models</a:t>
            </a:r>
          </a:p>
          <a:p>
            <a:pPr lvl="1"/>
            <a:r>
              <a:rPr lang="en-US"/>
              <a:t>Use XML modeler</a:t>
            </a:r>
          </a:p>
        </p:txBody>
      </p:sp>
      <p:sp>
        <p:nvSpPr>
          <p:cNvPr id="2" name="TextBox 1"/>
          <p:cNvSpPr txBox="1"/>
          <p:nvPr/>
        </p:nvSpPr>
        <p:spPr>
          <a:xfrm>
            <a:off x="762000" y="1066800"/>
            <a:ext cx="990600" cy="914400"/>
          </a:xfrm>
          <a:prstGeom prst="rect">
            <a:avLst/>
          </a:prstGeom>
          <a:noFill/>
        </p:spPr>
        <p:txBody>
          <a:bodyPr wrap="none" rtlCol="0">
            <a:noAutofit/>
          </a:bodyPr>
          <a:lstStyle/>
          <a:p>
            <a:r>
              <a:rPr lang="en-US">
                <a:latin typeface="Arial" pitchFamily="32" charset="0"/>
                <a:cs typeface="Arial" pitchFamily="32" charset="0"/>
              </a:rPr>
              <a:t>You should now be able to – </a:t>
            </a:r>
          </a:p>
        </p:txBody>
      </p:sp>
      <p:sp>
        <p:nvSpPr>
          <p:cNvPr id="5" name="Title 1"/>
          <p:cNvSpPr txBox="1">
            <a:spLocks/>
          </p:cNvSpPr>
          <p:nvPr/>
        </p:nvSpPr>
        <p:spPr>
          <a:xfrm>
            <a:off x="762000" y="133349"/>
            <a:ext cx="8433816"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155" algn="l" rtl="0" eaLnBrk="1" fontAlgn="base" hangingPunct="1">
              <a:lnSpc>
                <a:spcPct val="90000"/>
              </a:lnSpc>
              <a:spcBef>
                <a:spcPct val="0"/>
              </a:spcBef>
              <a:spcAft>
                <a:spcPct val="0"/>
              </a:spcAft>
              <a:defRPr sz="3000" b="1">
                <a:solidFill>
                  <a:schemeClr val="accent1"/>
                </a:solidFill>
                <a:latin typeface="Arial" charset="0"/>
              </a:defRPr>
            </a:lvl6pPr>
            <a:lvl7pPr marL="914309" algn="l" rtl="0" eaLnBrk="1" fontAlgn="base" hangingPunct="1">
              <a:lnSpc>
                <a:spcPct val="90000"/>
              </a:lnSpc>
              <a:spcBef>
                <a:spcPct val="0"/>
              </a:spcBef>
              <a:spcAft>
                <a:spcPct val="0"/>
              </a:spcAft>
              <a:defRPr sz="3000" b="1">
                <a:solidFill>
                  <a:schemeClr val="accent1"/>
                </a:solidFill>
                <a:latin typeface="Arial" charset="0"/>
              </a:defRPr>
            </a:lvl7pPr>
            <a:lvl8pPr marL="1371464" algn="l" rtl="0" eaLnBrk="1" fontAlgn="base" hangingPunct="1">
              <a:lnSpc>
                <a:spcPct val="90000"/>
              </a:lnSpc>
              <a:spcBef>
                <a:spcPct val="0"/>
              </a:spcBef>
              <a:spcAft>
                <a:spcPct val="0"/>
              </a:spcAft>
              <a:defRPr sz="3000" b="1">
                <a:solidFill>
                  <a:schemeClr val="accent1"/>
                </a:solidFill>
                <a:latin typeface="Arial" charset="0"/>
              </a:defRPr>
            </a:lvl8pPr>
            <a:lvl9pPr marL="1828618"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Lesson Objectives review</a:t>
            </a:r>
          </a:p>
        </p:txBody>
      </p:sp>
    </p:spTree>
    <p:extLst>
      <p:ext uri="{BB962C8B-B14F-4D97-AF65-F5344CB8AC3E}">
        <p14:creationId xmlns:p14="http://schemas.microsoft.com/office/powerpoint/2010/main" val="30633440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a:t>DEMO</a:t>
            </a:r>
          </a:p>
        </p:txBody>
      </p:sp>
    </p:spTree>
    <p:extLst>
      <p:ext uri="{BB962C8B-B14F-4D97-AF65-F5344CB8AC3E}">
        <p14:creationId xmlns:p14="http://schemas.microsoft.com/office/powerpoint/2010/main" val="37248486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285115" indent="-285115"/>
            <a:r>
              <a:rPr lang="en-US" sz="2400">
                <a:solidFill>
                  <a:schemeClr val="tx1"/>
                </a:solidFill>
                <a:cs typeface="Arial"/>
              </a:rPr>
              <a:t>In this demo we will see how to create XML model from an entity in Studio</a:t>
            </a:r>
          </a:p>
          <a:p>
            <a:pPr marL="285115" indent="-285115"/>
            <a:r>
              <a:rPr lang="en-US" sz="2400">
                <a:solidFill>
                  <a:schemeClr val="tx1"/>
                </a:solidFill>
                <a:cs typeface="Arial"/>
              </a:rPr>
              <a:t>We are going to create XML model for User entity for Fields </a:t>
            </a:r>
            <a:r>
              <a:rPr lang="en-US" sz="2400" err="1">
                <a:solidFill>
                  <a:schemeClr val="tx1"/>
                </a:solidFill>
                <a:cs typeface="Arial"/>
              </a:rPr>
              <a:t>PublicId</a:t>
            </a:r>
            <a:r>
              <a:rPr lang="en-US" sz="2400">
                <a:solidFill>
                  <a:schemeClr val="tx1"/>
                </a:solidFill>
                <a:cs typeface="Arial"/>
              </a:rPr>
              <a:t>, User Display name, User name1</a:t>
            </a:r>
          </a:p>
        </p:txBody>
      </p:sp>
    </p:spTree>
    <p:extLst>
      <p:ext uri="{BB962C8B-B14F-4D97-AF65-F5344CB8AC3E}">
        <p14:creationId xmlns:p14="http://schemas.microsoft.com/office/powerpoint/2010/main" val="2609824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a:t>LAB</a:t>
            </a:r>
          </a:p>
        </p:txBody>
      </p:sp>
    </p:spTree>
    <p:extLst>
      <p:ext uri="{BB962C8B-B14F-4D97-AF65-F5344CB8AC3E}">
        <p14:creationId xmlns:p14="http://schemas.microsoft.com/office/powerpoint/2010/main" val="3628673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381000" y="1219200"/>
            <a:ext cx="10302240" cy="4425696"/>
          </a:xfrm>
        </p:spPr>
        <p:txBody>
          <a:bodyPr/>
          <a:lstStyle/>
          <a:p>
            <a:pPr marL="0" indent="0">
              <a:buNone/>
            </a:pPr>
            <a:r>
              <a:rPr lang="en-US" sz="2400">
                <a:solidFill>
                  <a:schemeClr val="tx1"/>
                </a:solidFill>
              </a:rPr>
              <a:t>Complete the exercises listed in  “XML Modeler and Strongly Typed XML” chapter 6.1 and 6.2 in the “InsuranceSuite 10 Integration: Kick Start “ work book</a:t>
            </a:r>
          </a:p>
        </p:txBody>
      </p:sp>
    </p:spTree>
    <p:extLst>
      <p:ext uri="{BB962C8B-B14F-4D97-AF65-F5344CB8AC3E}">
        <p14:creationId xmlns:p14="http://schemas.microsoft.com/office/powerpoint/2010/main" val="28065066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What is the difference between untyped and strongly typed XML?</a:t>
            </a:r>
          </a:p>
          <a:p>
            <a:r>
              <a:rPr lang="en-US"/>
              <a:t>Imagine an XML file is parsed without an XSD into a variable called "xml". The first child of the root object is an element named &lt;</a:t>
            </a:r>
            <a:r>
              <a:rPr lang="en-US" err="1"/>
              <a:t>loadOptions</a:t>
            </a:r>
            <a:r>
              <a:rPr lang="en-US"/>
              <a:t>&gt; and there are no other elements with that name. Name two Gosu expressions that would access the &lt;</a:t>
            </a:r>
            <a:r>
              <a:rPr lang="en-US" err="1"/>
              <a:t>loadOptions</a:t>
            </a:r>
            <a:r>
              <a:rPr lang="en-US"/>
              <a:t>&gt; element.</a:t>
            </a:r>
          </a:p>
          <a:p>
            <a:r>
              <a:rPr lang="en-US"/>
              <a:t>How do you make an XSD known to Guidewire?</a:t>
            </a:r>
          </a:p>
          <a:p>
            <a:r>
              <a:rPr lang="en-US"/>
              <a:t>Name two features of strongly typed XML that are not available with untyped XML.</a:t>
            </a:r>
          </a:p>
          <a:p>
            <a:endParaRPr lang="en-US"/>
          </a:p>
        </p:txBody>
      </p:sp>
      <p:sp>
        <p:nvSpPr>
          <p:cNvPr id="4" name="Title 1"/>
          <p:cNvSpPr txBox="1">
            <a:spLocks/>
          </p:cNvSpPr>
          <p:nvPr/>
        </p:nvSpPr>
        <p:spPr>
          <a:xfrm>
            <a:off x="692151" y="171449"/>
            <a:ext cx="8433816"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155" algn="l" rtl="0" eaLnBrk="1" fontAlgn="base" hangingPunct="1">
              <a:lnSpc>
                <a:spcPct val="90000"/>
              </a:lnSpc>
              <a:spcBef>
                <a:spcPct val="0"/>
              </a:spcBef>
              <a:spcAft>
                <a:spcPct val="0"/>
              </a:spcAft>
              <a:defRPr sz="3000" b="1">
                <a:solidFill>
                  <a:schemeClr val="accent1"/>
                </a:solidFill>
                <a:latin typeface="Arial" charset="0"/>
              </a:defRPr>
            </a:lvl6pPr>
            <a:lvl7pPr marL="914309" algn="l" rtl="0" eaLnBrk="1" fontAlgn="base" hangingPunct="1">
              <a:lnSpc>
                <a:spcPct val="90000"/>
              </a:lnSpc>
              <a:spcBef>
                <a:spcPct val="0"/>
              </a:spcBef>
              <a:spcAft>
                <a:spcPct val="0"/>
              </a:spcAft>
              <a:defRPr sz="3000" b="1">
                <a:solidFill>
                  <a:schemeClr val="accent1"/>
                </a:solidFill>
                <a:latin typeface="Arial" charset="0"/>
              </a:defRPr>
            </a:lvl7pPr>
            <a:lvl8pPr marL="1371464" algn="l" rtl="0" eaLnBrk="1" fontAlgn="base" hangingPunct="1">
              <a:lnSpc>
                <a:spcPct val="90000"/>
              </a:lnSpc>
              <a:spcBef>
                <a:spcPct val="0"/>
              </a:spcBef>
              <a:spcAft>
                <a:spcPct val="0"/>
              </a:spcAft>
              <a:defRPr sz="3000" b="1">
                <a:solidFill>
                  <a:schemeClr val="accent1"/>
                </a:solidFill>
                <a:latin typeface="Arial" charset="0"/>
              </a:defRPr>
            </a:lvl8pPr>
            <a:lvl9pPr marL="1828618"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Review Questions</a:t>
            </a:r>
          </a:p>
        </p:txBody>
      </p:sp>
    </p:spTree>
    <p:extLst>
      <p:ext uri="{BB962C8B-B14F-4D97-AF65-F5344CB8AC3E}">
        <p14:creationId xmlns:p14="http://schemas.microsoft.com/office/powerpoint/2010/main" val="220891661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79150" y="861827"/>
            <a:ext cx="8318500" cy="5486400"/>
          </a:xfrm>
        </p:spPr>
        <p:txBody>
          <a:bodyPr/>
          <a:lstStyle/>
          <a:p>
            <a:pPr marL="0" indent="0">
              <a:buNone/>
            </a:pPr>
            <a:r>
              <a:rPr lang="en-US"/>
              <a:t>Identify if each statement about an XML model is True or False.</a:t>
            </a:r>
          </a:p>
          <a:p>
            <a:r>
              <a:rPr lang="en-US"/>
              <a:t>It can take any number of input values.</a:t>
            </a:r>
          </a:p>
          <a:p>
            <a:r>
              <a:rPr lang="en-US"/>
              <a:t>It has a published XSD.</a:t>
            </a:r>
          </a:p>
          <a:p>
            <a:r>
              <a:rPr lang="en-US"/>
              <a:t>It can make use of conditional statements and for loops.</a:t>
            </a:r>
          </a:p>
          <a:p>
            <a:r>
              <a:rPr lang="en-US"/>
              <a:t>It can include values from both the object that triggered the message event and objects related to the triggering object.</a:t>
            </a:r>
          </a:p>
          <a:p>
            <a:r>
              <a:rPr lang="en-US"/>
              <a:t>It can be used only for payload generation</a:t>
            </a:r>
          </a:p>
          <a:p>
            <a:endParaRPr lang="en-US"/>
          </a:p>
        </p:txBody>
      </p:sp>
      <p:sp>
        <p:nvSpPr>
          <p:cNvPr id="5" name="Title 1"/>
          <p:cNvSpPr txBox="1">
            <a:spLocks/>
          </p:cNvSpPr>
          <p:nvPr/>
        </p:nvSpPr>
        <p:spPr>
          <a:xfrm>
            <a:off x="533400" y="171449"/>
            <a:ext cx="8433816"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155" algn="l" rtl="0" eaLnBrk="1" fontAlgn="base" hangingPunct="1">
              <a:lnSpc>
                <a:spcPct val="90000"/>
              </a:lnSpc>
              <a:spcBef>
                <a:spcPct val="0"/>
              </a:spcBef>
              <a:spcAft>
                <a:spcPct val="0"/>
              </a:spcAft>
              <a:defRPr sz="3000" b="1">
                <a:solidFill>
                  <a:schemeClr val="accent1"/>
                </a:solidFill>
                <a:latin typeface="Arial" charset="0"/>
              </a:defRPr>
            </a:lvl6pPr>
            <a:lvl7pPr marL="914309" algn="l" rtl="0" eaLnBrk="1" fontAlgn="base" hangingPunct="1">
              <a:lnSpc>
                <a:spcPct val="90000"/>
              </a:lnSpc>
              <a:spcBef>
                <a:spcPct val="0"/>
              </a:spcBef>
              <a:spcAft>
                <a:spcPct val="0"/>
              </a:spcAft>
              <a:defRPr sz="3000" b="1">
                <a:solidFill>
                  <a:schemeClr val="accent1"/>
                </a:solidFill>
                <a:latin typeface="Arial" charset="0"/>
              </a:defRPr>
            </a:lvl7pPr>
            <a:lvl8pPr marL="1371464" algn="l" rtl="0" eaLnBrk="1" fontAlgn="base" hangingPunct="1">
              <a:lnSpc>
                <a:spcPct val="90000"/>
              </a:lnSpc>
              <a:spcBef>
                <a:spcPct val="0"/>
              </a:spcBef>
              <a:spcAft>
                <a:spcPct val="0"/>
              </a:spcAft>
              <a:defRPr sz="3000" b="1">
                <a:solidFill>
                  <a:schemeClr val="accent1"/>
                </a:solidFill>
                <a:latin typeface="Arial" charset="0"/>
              </a:defRPr>
            </a:lvl8pPr>
            <a:lvl9pPr marL="1828618"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a:solidFill>
                  <a:schemeClr val="accent6"/>
                </a:solidFill>
              </a:rPr>
              <a:t>Review Questions</a:t>
            </a:r>
          </a:p>
        </p:txBody>
      </p:sp>
    </p:spTree>
    <p:extLst>
      <p:ext uri="{BB962C8B-B14F-4D97-AF65-F5344CB8AC3E}">
        <p14:creationId xmlns:p14="http://schemas.microsoft.com/office/powerpoint/2010/main" val="178566840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r>
              <a:rPr lang="en-US"/>
              <a:t>Thank you</a:t>
            </a:r>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437944562"/>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84D9DB-4B73-4CA3-BA46-0DE6C3936B23}">
  <ds:schemaRefs>
    <ds:schemaRef ds:uri="ec2ac320-4691-4145-9221-fe31435db7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8981997-DCF5-422B-A5A3-D3A6464AF3CC}">
  <ds:schemaRefs>
    <ds:schemaRef ds:uri="e38a8859-07ab-46c5-a44f-5c9b86e92d7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13F7042-266D-40FE-B559-D7DA999F0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60</Slides>
  <Notes>56</Notes>
  <HiddenSlides>0</HiddenSlide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Emerald_Template</vt:lpstr>
      <vt:lpstr>InsuranceSuite 10 Integration</vt:lpstr>
      <vt:lpstr>PowerPoint Presentation</vt:lpstr>
      <vt:lpstr>PowerPoint Presentation</vt:lpstr>
      <vt:lpstr>XML</vt:lpstr>
      <vt:lpstr>XML elements</vt:lpstr>
      <vt:lpstr>XML namespaces</vt:lpstr>
      <vt:lpstr>XSDs</vt:lpstr>
      <vt:lpstr>Untyped and strongly typed XML</vt:lpstr>
      <vt:lpstr>Serialization</vt:lpstr>
      <vt:lpstr>PowerPoint Presentation</vt:lpstr>
      <vt:lpstr>XML and Gosu</vt:lpstr>
      <vt:lpstr>The XmlElement class</vt:lpstr>
      <vt:lpstr>The QName property</vt:lpstr>
      <vt:lpstr>Attribute and text properties</vt:lpstr>
      <vt:lpstr>XML simple values</vt:lpstr>
      <vt:lpstr>PowerPoint Presentation</vt:lpstr>
      <vt:lpstr>Parse XML without an XSD</vt:lpstr>
      <vt:lpstr>Accessing element properties</vt:lpstr>
      <vt:lpstr>Accessing children by index</vt:lpstr>
      <vt:lpstr>Accessing children by name</vt:lpstr>
      <vt:lpstr>Accessing children by where() methods</vt:lpstr>
      <vt:lpstr>Accessing attributes and values</vt:lpstr>
      <vt:lpstr>Accessing element contents</vt:lpstr>
      <vt:lpstr>PowerPoint Presentation</vt:lpstr>
      <vt:lpstr>Modifying an existing XmlElement</vt:lpstr>
      <vt:lpstr>Creating new XmlElements (1)</vt:lpstr>
      <vt:lpstr>Creating new XmlElements (2)</vt:lpstr>
      <vt:lpstr>Exporting XML</vt:lpstr>
      <vt:lpstr>PowerPoint Presentation</vt:lpstr>
      <vt:lpstr>Strongly typed XML</vt:lpstr>
      <vt:lpstr>Strongly typed XML</vt:lpstr>
      <vt:lpstr>Making an XSD available to Guidewire</vt:lpstr>
      <vt:lpstr>Parsing a strongly typed XML file</vt:lpstr>
      <vt:lpstr>Parsing a strongly typed XML file</vt:lpstr>
      <vt:lpstr>Generate XML using an XSD</vt:lpstr>
      <vt:lpstr>XSD types as Gosu types</vt:lpstr>
      <vt:lpstr>XmlElement property prefix $</vt:lpstr>
      <vt:lpstr>Exporting XML</vt:lpstr>
      <vt:lpstr>Automatic validation of XML</vt:lpstr>
      <vt:lpstr>PowerPoint Presentation</vt:lpstr>
      <vt:lpstr>XML Model</vt:lpstr>
      <vt:lpstr>XML Model</vt:lpstr>
      <vt:lpstr>XML modeler editor</vt:lpstr>
      <vt:lpstr>Create the XML model</vt:lpstr>
      <vt:lpstr>Add fields to the xml model</vt:lpstr>
      <vt:lpstr>Generating XML output with XML model</vt:lpstr>
      <vt:lpstr>Customizing model output with GXOptions</vt:lpstr>
      <vt:lpstr>Optimizing XML model output performance</vt:lpstr>
      <vt:lpstr>XML Model Labels</vt:lpstr>
      <vt:lpstr>Using XML model Labels</vt:lpstr>
      <vt:lpstr>Model Properties</vt:lpstr>
      <vt:lpstr>Deploy Code Changes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and XML</dc:title>
  <dc:subject>Integration, Gosu, and XML</dc:subject>
  <dc:creator>Guidewire Education</dc:creator>
  <cp:keywords>Guidewire 8.0 Application Integration</cp:keywords>
  <cp:revision>1</cp:revision>
  <dcterms:created xsi:type="dcterms:W3CDTF">2014-04-02T23:48:38Z</dcterms:created>
  <dcterms:modified xsi:type="dcterms:W3CDTF">2021-03-24T12:09:30Z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