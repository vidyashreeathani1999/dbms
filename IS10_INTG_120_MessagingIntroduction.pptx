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35"/>
  </p:notesMasterIdLst>
  <p:handoutMasterIdLst>
    <p:handoutMasterId r:id="rId36"/>
  </p:handoutMasterIdLst>
  <p:sldIdLst>
    <p:sldId id="283" r:id="rId5"/>
    <p:sldId id="258" r:id="rId6"/>
    <p:sldId id="260" r:id="rId7"/>
    <p:sldId id="262" r:id="rId8"/>
    <p:sldId id="265" r:id="rId9"/>
    <p:sldId id="266" r:id="rId10"/>
    <p:sldId id="267" r:id="rId11"/>
    <p:sldId id="268" r:id="rId12"/>
    <p:sldId id="275" r:id="rId13"/>
    <p:sldId id="263" r:id="rId14"/>
    <p:sldId id="264" r:id="rId15"/>
    <p:sldId id="269" r:id="rId16"/>
    <p:sldId id="276" r:id="rId17"/>
    <p:sldId id="281" r:id="rId18"/>
    <p:sldId id="270" r:id="rId19"/>
    <p:sldId id="271" r:id="rId20"/>
    <p:sldId id="282" r:id="rId21"/>
    <p:sldId id="289" r:id="rId22"/>
    <p:sldId id="290" r:id="rId23"/>
    <p:sldId id="291" r:id="rId24"/>
    <p:sldId id="292" r:id="rId25"/>
    <p:sldId id="293" r:id="rId26"/>
    <p:sldId id="294" r:id="rId27"/>
    <p:sldId id="284" r:id="rId28"/>
    <p:sldId id="285" r:id="rId29"/>
    <p:sldId id="286" r:id="rId30"/>
    <p:sldId id="287" r:id="rId31"/>
    <p:sldId id="296" r:id="rId32"/>
    <p:sldId id="29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7C0BBBE-4C60-4D1D-B1E2-1E55D6D5B9B2}">
          <p14:sldIdLst>
            <p14:sldId id="283"/>
            <p14:sldId id="258"/>
          </p14:sldIdLst>
        </p14:section>
        <p14:section name="Overview" id="{AC69B05E-BBF6-4A3F-88A8-53F9F5F530D8}">
          <p14:sldIdLst>
            <p14:sldId id="260"/>
            <p14:sldId id="262"/>
            <p14:sldId id="265"/>
            <p14:sldId id="266"/>
            <p14:sldId id="267"/>
            <p14:sldId id="268"/>
            <p14:sldId id="275"/>
          </p14:sldIdLst>
        </p14:section>
        <p14:section name="Walkthrough" id="{394E52D8-0F42-4BA7-82AA-44656B4FDDFD}">
          <p14:sldIdLst>
            <p14:sldId id="263"/>
            <p14:sldId id="264"/>
            <p14:sldId id="269"/>
            <p14:sldId id="276"/>
            <p14:sldId id="281"/>
            <p14:sldId id="270"/>
            <p14:sldId id="271"/>
            <p14:sldId id="282"/>
            <p14:sldId id="289"/>
            <p14:sldId id="290"/>
            <p14:sldId id="291"/>
            <p14:sldId id="292"/>
            <p14:sldId id="293"/>
            <p14:sldId id="294"/>
          </p14:sldIdLst>
        </p14:section>
        <p14:section name="Review" id="{62E48339-F833-41E3-9D92-3F737862A2AF}">
          <p14:sldIdLst>
            <p14:sldId id="284"/>
            <p14:sldId id="285"/>
            <p14:sldId id="286"/>
            <p14:sldId id="287"/>
            <p14:sldId id="296"/>
            <p14:sldId id="297"/>
            <p14:sldId id="288"/>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23" clrIdx="0"/>
  <p:cmAuthor id="1" name="Guidewire Education" initials="sluersen"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3399"/>
    <a:srgbClr val="9900FF"/>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E8CDD8-3A6F-4D84-906F-0D84D1D8CA7A}" v="37" dt="2020-12-11T08:39:26.3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0681" autoAdjust="0"/>
  </p:normalViewPr>
  <p:slideViewPr>
    <p:cSldViewPr showGuides="1">
      <p:cViewPr varScale="1">
        <p:scale>
          <a:sx n="48" d="100"/>
          <a:sy n="48" d="100"/>
        </p:scale>
        <p:origin x="1324" y="44"/>
      </p:cViewPr>
      <p:guideLst>
        <p:guide orient="horz"/>
        <p:guide/>
      </p:guideLst>
    </p:cSldViewPr>
  </p:slideViewPr>
  <p:notesTextViewPr>
    <p:cViewPr>
      <p:scale>
        <a:sx n="150" d="100"/>
        <a:sy n="150" d="100"/>
      </p:scale>
      <p:origin x="0" y="-184"/>
    </p:cViewPr>
  </p:notesTextViewPr>
  <p:sorterViewPr>
    <p:cViewPr>
      <p:scale>
        <a:sx n="100" d="100"/>
        <a:sy n="100" d="100"/>
      </p:scale>
      <p:origin x="0" y="0"/>
    </p:cViewPr>
  </p:sorterViewPr>
  <p:notesViewPr>
    <p:cSldViewPr showGuides="1">
      <p:cViewPr varScale="1">
        <p:scale>
          <a:sx n="102" d="100"/>
          <a:sy n="102" d="100"/>
        </p:scale>
        <p:origin x="-3108"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ttacharyya, Mainak (Cognizant)" userId="S::213492@cognizant.com::1c0b91e7-b625-4a1a-8503-7e05bedae16a" providerId="AD" clId="Web-{5DE8CDD8-3A6F-4D84-906F-0D84D1D8CA7A}"/>
    <pc:docChg chg="modSld">
      <pc:chgData name="Bhattacharyya, Mainak (Cognizant)" userId="S::213492@cognizant.com::1c0b91e7-b625-4a1a-8503-7e05bedae16a" providerId="AD" clId="Web-{5DE8CDD8-3A6F-4D84-906F-0D84D1D8CA7A}" dt="2020-12-11T08:39:26.376" v="36" actId="20577"/>
      <pc:docMkLst>
        <pc:docMk/>
      </pc:docMkLst>
      <pc:sldChg chg="modSp">
        <pc:chgData name="Bhattacharyya, Mainak (Cognizant)" userId="S::213492@cognizant.com::1c0b91e7-b625-4a1a-8503-7e05bedae16a" providerId="AD" clId="Web-{5DE8CDD8-3A6F-4D84-906F-0D84D1D8CA7A}" dt="2020-12-11T08:39:26.376" v="36" actId="20577"/>
        <pc:sldMkLst>
          <pc:docMk/>
          <pc:sldMk cId="2159502090" sldId="285"/>
        </pc:sldMkLst>
        <pc:spChg chg="mod">
          <ac:chgData name="Bhattacharyya, Mainak (Cognizant)" userId="S::213492@cognizant.com::1c0b91e7-b625-4a1a-8503-7e05bedae16a" providerId="AD" clId="Web-{5DE8CDD8-3A6F-4D84-906F-0D84D1D8CA7A}" dt="2020-12-11T08:39:26.376" v="36" actId="20577"/>
          <ac:spMkLst>
            <pc:docMk/>
            <pc:sldMk cId="2159502090" sldId="285"/>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12/21/2020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2001-2014.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architecture of Guidewire messaging is asynchronous. It is possible for an outbound message to be sent to an external system synchronously or asynchronously,</a:t>
            </a:r>
            <a:r>
              <a:rPr lang="en-US" baseline="0" dirty="0"/>
              <a:t> depending on the delivery mechanism supported by external system. However, typically the messages are not processed immediately upon being placed in the message table. Therefore, since the acknowledging message processing aspect is asynchronous, the overall architecture is considered asynchronous.</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table has a prefix (represented above by "xx_") that varies with each application. For TrainingApp, which is based on ContactCenter, the message physical table is named ab_message</a:t>
            </a:r>
            <a:r>
              <a:rPr lang="en-US" baseline="0" dirty="0"/>
              <a:t> in the database.</a:t>
            </a:r>
          </a:p>
          <a:p>
            <a:endParaRPr lang="en-US" dirty="0"/>
          </a:p>
          <a:p>
            <a:r>
              <a:rPr lang="en-US" dirty="0"/>
              <a:t>An exception</a:t>
            </a:r>
            <a:r>
              <a:rPr lang="en-US" baseline="0" dirty="0"/>
              <a:t> in the initial sending of the message throws an error. An error can also occur in the external system that the message is being sent to. In either case, Guidewire </a:t>
            </a:r>
            <a:r>
              <a:rPr lang="en-US" dirty="0"/>
              <a:t>reports an error with the message.</a:t>
            </a:r>
            <a:r>
              <a:rPr lang="en-US" baseline="0" dirty="0"/>
              <a:t> G</a:t>
            </a:r>
            <a:r>
              <a:rPr lang="en-US" dirty="0"/>
              <a:t>uidewire will always retries to resend the message with an error.  The message</a:t>
            </a:r>
            <a:r>
              <a:rPr lang="en-US" baseline="0" dirty="0"/>
              <a:t> status is Retryable Error</a:t>
            </a:r>
            <a:r>
              <a:rPr lang="en-US" dirty="0"/>
              <a:t>. Later lessons</a:t>
            </a:r>
            <a:r>
              <a:rPr lang="en-US" baseline="0" dirty="0"/>
              <a:t> discuss how to configure the resending of a message.</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23768006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Almost all of the screens in the "Training: Messaging" location group (including the Message Table screen shown above) are unique to TrainingApp and have been created for instructional purposes only. The genuine Guidewire applications provide an "Event Messages" administration screen. This screen is discussed in the "Sending Messages" and "Acknowledging Messages" lessons.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3843739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Technically speaking, message creation is triggered by adding an event to an event-aware entity. This almost always involves a data change, though it isn't a requirement.</a:t>
            </a:r>
          </a:p>
          <a:p>
            <a:endParaRPr lang="en-US" dirty="0"/>
          </a:p>
          <a:p>
            <a:r>
              <a:rPr lang="en-US" dirty="0"/>
              <a:t>A positive acknowledgement means that the message was successfully received and processed by the external system.</a:t>
            </a:r>
          </a:p>
          <a:p>
            <a:endParaRPr lang="en-US" dirty="0"/>
          </a:p>
          <a:p>
            <a:r>
              <a:rPr lang="en-US" dirty="0"/>
              <a:t>A negative acknowledgement means that the message was received, but some type of error occurred and the message was not processed. (In some cases, the integration code will attempt to resend the message. In other cases, the message must be addressed manually.)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3381339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Messaging is accomplished using a variety of Guidewire components. The primary components have been listed above, but the list is not exhaustive.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4182002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messaging components are discussed through the messaging section of the course, such as:</a:t>
            </a:r>
          </a:p>
          <a:p>
            <a:pPr marL="171450" indent="-171450">
              <a:buFont typeface="Arial" pitchFamily="34" charset="0"/>
              <a:buChar char="•"/>
            </a:pPr>
            <a:r>
              <a:rPr lang="en-US" dirty="0"/>
              <a:t>The MessageContext entity, which is used to simplify creation of the message.</a:t>
            </a:r>
          </a:p>
          <a:p>
            <a:pPr marL="171450" indent="-171450">
              <a:buFont typeface="Arial" pitchFamily="34" charset="0"/>
              <a:buChar char="•"/>
            </a:pPr>
            <a:r>
              <a:rPr lang="en-US" dirty="0"/>
              <a:t>Gosu templates, which are used to generated message payloads.</a:t>
            </a:r>
          </a:p>
          <a:p>
            <a:pPr marL="171450" indent="-171450">
              <a:buFont typeface="Arial" pitchFamily="34" charset="0"/>
              <a:buChar char="•"/>
            </a:pPr>
            <a:r>
              <a:rPr lang="en-US" dirty="0"/>
              <a:t>Guidewire XML models, which are used to generated message payloads.</a:t>
            </a:r>
          </a:p>
          <a:p>
            <a:pPr marL="171450" indent="-171450">
              <a:buFont typeface="Arial" pitchFamily="34" charset="0"/>
              <a:buChar char="•"/>
            </a:pPr>
            <a:r>
              <a:rPr lang="en-US" dirty="0"/>
              <a:t>Web services, which can be used to send messages to external systems or receive responses from them.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4182002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new bank account is created, Acme wants to verify that the bank name, routing number, and account number reference a real bank account.</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BankAccount</a:t>
            </a:r>
            <a:r>
              <a:rPr lang="en-US" baseline="0" dirty="0"/>
              <a:t> is an EventAware entity.  The entity specifies an &lt;events /&gt; element in its definition which means that the BankAccount entity delegates to the EventAware delegate. </a:t>
            </a:r>
            <a:r>
              <a:rPr lang="en-US" sz="1200" b="0" i="0" kern="1200" dirty="0">
                <a:solidFill>
                  <a:schemeClr val="tx1"/>
                </a:solidFill>
                <a:effectLst/>
                <a:latin typeface="Arial" pitchFamily="34" charset="0"/>
                <a:ea typeface="+mn-ea"/>
                <a:cs typeface="Arial" pitchFamily="34" charset="0"/>
              </a:rPr>
              <a:t>A delegate is an entity associated with an implemented interface that multiple parent entities can reuse.  The</a:t>
            </a:r>
            <a:r>
              <a:rPr lang="en-US" sz="1200" b="0" i="0" kern="1200" baseline="0" dirty="0">
                <a:solidFill>
                  <a:schemeClr val="tx1"/>
                </a:solidFill>
                <a:effectLst/>
                <a:latin typeface="Arial" pitchFamily="34" charset="0"/>
                <a:ea typeface="+mn-ea"/>
                <a:cs typeface="Arial" pitchFamily="34" charset="0"/>
              </a:rPr>
              <a:t> EventAware entity is an internal entity that implements the messaging interface.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baseline="0" dirty="0">
                <a:solidFill>
                  <a:schemeClr val="tx1"/>
                </a:solidFill>
                <a:effectLst/>
                <a:latin typeface="Arial" pitchFamily="34" charset="0"/>
                <a:ea typeface="+mn-ea"/>
                <a:cs typeface="Arial" pitchFamily="34" charset="0"/>
              </a:rPr>
              <a:t>For all entities that implement the EventAware delegate, the Guidewire application automatically creates specific events: entityNameChanged, entityNameRemoved, and entityNameAdded. The BankAccount entity implements the BankAccountChanged, BankAccountRemoved, and BankAccountAdded messaging events.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a:defRPr/>
            </a:pPr>
            <a:r>
              <a:rPr lang="en-US" dirty="0"/>
              <a:t>When a user clicks Update, each BankAccount in the ListView row triggers an event specific to each bank account entity instance.  Newly added bank accounts trigger the BankAccountAdded event.  Modified bank accounts trigger the BankAccountChanged event.  Removed bank accounts trigger the BankAccountRemoved event.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 messaging destination </a:t>
            </a:r>
            <a:r>
              <a:rPr lang="en-US" dirty="0"/>
              <a:t>represents external system used to reply with a response to sent messages.</a:t>
            </a:r>
            <a:r>
              <a:rPr lang="en-US" baseline="0" dirty="0"/>
              <a:t> </a:t>
            </a:r>
            <a:r>
              <a:rPr lang="en-US" dirty="0"/>
              <a:t>Bank Account Verification is </a:t>
            </a:r>
            <a:r>
              <a:rPr lang="en-US" baseline="0" dirty="0"/>
              <a:t>messaging destination that subscribes</a:t>
            </a:r>
            <a:r>
              <a:rPr lang="en-US" dirty="0"/>
              <a:t> to </a:t>
            </a:r>
            <a:r>
              <a:rPr lang="en-US" baseline="0" dirty="0"/>
              <a:t>the </a:t>
            </a:r>
            <a:r>
              <a:rPr lang="en-US" dirty="0"/>
              <a:t>BankAccountAdded and BankAccountChanged events.</a:t>
            </a:r>
            <a:r>
              <a:rPr lang="en-US" baseline="0" dirty="0"/>
              <a:t> In other words, the Bank Account Verification messaging destination</a:t>
            </a:r>
            <a:r>
              <a:rPr lang="en-US" dirty="0"/>
              <a:t> </a:t>
            </a:r>
            <a:r>
              <a:rPr lang="en-US" baseline="0" dirty="0"/>
              <a:t>listens for </a:t>
            </a:r>
            <a:r>
              <a:rPr lang="en-US" dirty="0"/>
              <a:t>when user</a:t>
            </a:r>
            <a:r>
              <a:rPr lang="en-US" baseline="0" dirty="0"/>
              <a:t> creates a bank account and when a user edits a bank account.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3145716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3071696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user clicks Update,</a:t>
            </a:r>
            <a:r>
              <a:rPr lang="en-US" baseline="0" dirty="0"/>
              <a:t> each modified </a:t>
            </a:r>
            <a:r>
              <a:rPr lang="en-US" baseline="0" dirty="0" err="1" smtClean="0"/>
              <a:t>BankAccount</a:t>
            </a:r>
            <a:r>
              <a:rPr lang="en-US" baseline="0" dirty="0" smtClean="0"/>
              <a:t> </a:t>
            </a:r>
            <a:r>
              <a:rPr lang="en-US" baseline="0" dirty="0"/>
              <a:t>row in </a:t>
            </a:r>
            <a:r>
              <a:rPr lang="en-US" baseline="0" dirty="0" err="1"/>
              <a:t>ListView</a:t>
            </a:r>
            <a:r>
              <a:rPr lang="en-US" baseline="0" dirty="0"/>
              <a:t> triggers an event specific to each bank account entity instance. Newly added bank accounts trigger the </a:t>
            </a:r>
            <a:r>
              <a:rPr lang="en-US" baseline="0" dirty="0" err="1"/>
              <a:t>BankAccountAddedEvent</a:t>
            </a:r>
            <a:r>
              <a:rPr lang="en-US" baseline="0" dirty="0"/>
              <a:t>. Modified bank accounts trigger the </a:t>
            </a:r>
            <a:r>
              <a:rPr lang="en-US" baseline="0" dirty="0" err="1"/>
              <a:t>BankAccountChaned</a:t>
            </a:r>
            <a:r>
              <a:rPr lang="en-US" baseline="0" dirty="0"/>
              <a:t> event. Removed bank accounts trigger the </a:t>
            </a:r>
            <a:r>
              <a:rPr lang="en-US" baseline="0" dirty="0" err="1"/>
              <a:t>BankAccountRemoved</a:t>
            </a:r>
            <a:r>
              <a:rPr lang="en-US" baseline="0" dirty="0"/>
              <a:t> event.</a:t>
            </a:r>
          </a:p>
          <a:p>
            <a:endParaRPr lang="en-US" baseline="0"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2979049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When the application triggers a subscribed-to</a:t>
            </a:r>
            <a:r>
              <a:rPr lang="en-US" baseline="0" dirty="0"/>
              <a:t> </a:t>
            </a:r>
            <a:r>
              <a:rPr lang="en-US" dirty="0"/>
              <a:t>messaging event (listened for by a destination), the application calls the Event Fired rule set.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An event</a:t>
            </a:r>
            <a:r>
              <a:rPr lang="en-US" baseline="0" dirty="0"/>
              <a:t> fired rule set defines a specific r</a:t>
            </a:r>
            <a:r>
              <a:rPr lang="en-US" dirty="0"/>
              <a:t>oot entity</a:t>
            </a:r>
            <a:r>
              <a:rPr lang="en-US" baseline="0" dirty="0"/>
              <a:t> as t</a:t>
            </a:r>
            <a:r>
              <a:rPr lang="en-US" dirty="0"/>
              <a:t>he entity that implements the event messaging interface</a:t>
            </a:r>
            <a:r>
              <a:rPr lang="en-US" baseline="0" dirty="0"/>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a:t>
            </a:r>
            <a:r>
              <a:rPr lang="en-US" baseline="0" dirty="0"/>
              <a:t> root entity differs from the Message entity. The distinction is important to understand. The root entity represents the instance of the entity that fired the event, in this case, an instance of a BankAccount. The message represents an instance of the Message entity. </a:t>
            </a:r>
          </a:p>
          <a:p>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All instances of a message entity are stored in the message table. The Message entity has many fields. The field that stores the content of the message is the Payload field.  The payload field is what the application sends to the messaging destination.</a:t>
            </a:r>
          </a:p>
          <a:p>
            <a:endParaRPr lang="en-US" baseline="0" dirty="0"/>
          </a:p>
          <a:p>
            <a:r>
              <a:rPr lang="en-US" dirty="0"/>
              <a:t>Payload generation is not reflected in the user interface.</a:t>
            </a:r>
            <a:br>
              <a:rPr lang="en-US" dirty="0"/>
            </a:br>
            <a:r>
              <a:rPr lang="en-US" dirty="0"/>
              <a:t/>
            </a:r>
            <a:br>
              <a:rPr lang="en-US" dirty="0"/>
            </a:br>
            <a:r>
              <a:rPr lang="en-US" dirty="0"/>
              <a:t>The Event Fired rule creates message payload and message that is associated with the root entity and the default root object is the entity instance that triggers the event.  The message payload is text-base content regarding root object (typically).  The message context assigns a root object for the message.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2774679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34665884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If you create or change a bank account in TrainingApp and watch the console, you will see a short lag between the click of the Update button and the printing of the payload. This lag occurs because the message table is scanned for new messages only once every few seconds (polling frequency). In other words, the lag occurs because all message integration points are at least partially asynchronous.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 </a:t>
            </a:r>
            <a:r>
              <a:rPr lang="en-US" b="1" dirty="0"/>
              <a:t>late binding</a:t>
            </a:r>
            <a:r>
              <a:rPr lang="en-US" b="1" baseline="0" dirty="0"/>
              <a:t> value </a:t>
            </a:r>
            <a:r>
              <a:rPr lang="en-US" baseline="0" dirty="0"/>
              <a:t>is a message payload value that can not be determined until right before the message is sent (send-time-only available data v. event-time data). </a:t>
            </a:r>
            <a:r>
              <a:rPr lang="en-US" b="1" baseline="0" dirty="0"/>
              <a:t>Payload transformation</a:t>
            </a:r>
            <a:r>
              <a:rPr lang="en-US" baseline="0" dirty="0"/>
              <a:t> is when the original payload is altered prior to sending the payload to the external system. Late binding is a form of payload transformation.</a:t>
            </a:r>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3569771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dirty="0" err="1"/>
              <a:t>TrainingApp</a:t>
            </a:r>
            <a:r>
              <a:rPr lang="en-US" dirty="0"/>
              <a:t>, for contacts with newly added or changed bank accounts, you can see the results of message acknowledgement in the user interface when the </a:t>
            </a:r>
            <a:r>
              <a:rPr lang="en-US" dirty="0" smtClean="0"/>
              <a:t>“Verified?” </a:t>
            </a:r>
            <a:r>
              <a:rPr lang="en-US" dirty="0"/>
              <a:t>value changes from Pending to Verified or Invalid.</a:t>
            </a:r>
          </a:p>
          <a:p>
            <a:endParaRPr lang="en-US" dirty="0"/>
          </a:p>
          <a:p>
            <a:r>
              <a:rPr lang="en-US" dirty="0"/>
              <a:t>A response is a reply from an external system that usually contains some additional data for the Guidewire application to process. Such a reply message may be received and handled by either the transport plugin or the reply plugin, or even a published web service API, depending on the reply message exchange protocol utilized.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13253986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servers involved at each point of the process are important because they determine where payload work should occur. The majority of payload generation should be done in Event Fired rules on the </a:t>
            </a:r>
            <a:r>
              <a:rPr lang="en-US" dirty="0" err="1"/>
              <a:t>ui</a:t>
            </a:r>
            <a:r>
              <a:rPr lang="en-US" dirty="0"/>
              <a:t> role server that manages the given user's session. However, if some portion of payload generation must be done immediately before the message is sent, that portion of the payload can be generated on the messaging role server.</a:t>
            </a:r>
          </a:p>
          <a:p>
            <a:endParaRPr lang="en-US" dirty="0"/>
          </a:p>
          <a:p>
            <a:r>
              <a:rPr lang="en-US" dirty="0"/>
              <a:t>A message is always processed in at least two and as many as four transactions:</a:t>
            </a:r>
          </a:p>
          <a:p>
            <a:endParaRPr lang="en-US" dirty="0"/>
          </a:p>
          <a:p>
            <a:r>
              <a:rPr lang="en-US" dirty="0"/>
              <a:t>* Transaction 1 —- Creates the message and generates the payload. This transaction always occurs.</a:t>
            </a:r>
          </a:p>
          <a:p>
            <a:endParaRPr lang="en-US" dirty="0"/>
          </a:p>
          <a:p>
            <a:r>
              <a:rPr lang="en-US" dirty="0"/>
              <a:t>* Transaction 2 — Prior to sending the message, an optional transaction may transform the message payload. This is usually done when the message must include information that can only be known immediately before sending the message.</a:t>
            </a:r>
          </a:p>
          <a:p>
            <a:endParaRPr lang="en-US" dirty="0"/>
          </a:p>
          <a:p>
            <a:r>
              <a:rPr lang="en-US" dirty="0"/>
              <a:t>* Transaction 3 – The sending of the message to the external system occurs in its own transaction. This transaction always occurs. If the external system acknowledges the message synchronously, then the acknowledgement is included in this transaction.</a:t>
            </a:r>
          </a:p>
          <a:p>
            <a:endParaRPr lang="en-US" dirty="0"/>
          </a:p>
          <a:p>
            <a:r>
              <a:rPr lang="en-US" dirty="0"/>
              <a:t>* Transaction 4 — If the external system acknowledges the message asynchronously, then a separate transaction processes the</a:t>
            </a:r>
          </a:p>
          <a:p>
            <a:r>
              <a:rPr lang="en-US" dirty="0"/>
              <a:t>acknowledgement. This transaction does not occur for messages that are acknowledged synchronously.</a:t>
            </a:r>
          </a:p>
          <a:p>
            <a:endParaRPr lang="en-US" dirty="0"/>
          </a:p>
          <a:p>
            <a:r>
              <a:rPr lang="en-US" dirty="0"/>
              <a:t>The transaction structure is  important because this  determines the work that is rolled back if an error occurs.</a:t>
            </a:r>
          </a:p>
          <a:p>
            <a:endParaRPr lang="en-US" dirty="0"/>
          </a:p>
          <a:p>
            <a:r>
              <a:rPr lang="en-US" b="1" dirty="0"/>
              <a:t>Message plugins</a:t>
            </a:r>
          </a:p>
          <a:p>
            <a:pPr marL="171450" indent="-171450">
              <a:buFont typeface="Arial" panose="020B0604020202020204" pitchFamily="34" charset="0"/>
              <a:buChar char="•"/>
            </a:pPr>
            <a:r>
              <a:rPr lang="en-US" dirty="0"/>
              <a:t>Request plugin</a:t>
            </a:r>
          </a:p>
          <a:p>
            <a:pPr marL="400050" lvl="1" indent="-171450">
              <a:buFont typeface="Arial" panose="020B0604020202020204" pitchFamily="34" charset="0"/>
              <a:buChar char="•"/>
            </a:pPr>
            <a:r>
              <a:rPr lang="en-US" dirty="0"/>
              <a:t>Handles payload transformation of an message about to be sent  </a:t>
            </a:r>
          </a:p>
          <a:p>
            <a:pPr marL="171450" lvl="0" indent="-171450">
              <a:buFont typeface="Arial" panose="020B0604020202020204" pitchFamily="34" charset="0"/>
              <a:buChar char="•"/>
            </a:pPr>
            <a:r>
              <a:rPr lang="en-US" dirty="0"/>
              <a:t>Transport plugin</a:t>
            </a:r>
          </a:p>
          <a:p>
            <a:pPr marL="400050" lvl="1" indent="-171450">
              <a:buFont typeface="Arial" panose="020B0604020202020204" pitchFamily="34" charset="0"/>
              <a:buChar char="•"/>
            </a:pPr>
            <a:r>
              <a:rPr lang="en-US" dirty="0"/>
              <a:t>Sends the message</a:t>
            </a:r>
          </a:p>
          <a:p>
            <a:pPr marL="400050" lvl="1" indent="-171450">
              <a:buFont typeface="Arial" panose="020B0604020202020204" pitchFamily="34" charset="0"/>
              <a:buChar char="•"/>
            </a:pPr>
            <a:r>
              <a:rPr lang="en-US" dirty="0"/>
              <a:t>Process synchronous acknowledgment replies</a:t>
            </a:r>
          </a:p>
          <a:p>
            <a:pPr marL="171450" indent="-171450">
              <a:buFont typeface="Arial" panose="020B0604020202020204" pitchFamily="34" charset="0"/>
              <a:buChar char="•"/>
            </a:pPr>
            <a:r>
              <a:rPr lang="en-US" dirty="0"/>
              <a:t>Reply plugin</a:t>
            </a:r>
          </a:p>
          <a:p>
            <a:pPr marL="400050" lvl="1" indent="-171450">
              <a:buFont typeface="Arial" panose="020B0604020202020204" pitchFamily="34" charset="0"/>
              <a:buChar char="•"/>
            </a:pPr>
            <a:r>
              <a:rPr lang="en-US" dirty="0"/>
              <a:t>Processes asynchronous acknowledgment replies</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12564606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gw.plugin.messaging.MessagePlugin</a:t>
            </a:r>
            <a:r>
              <a:rPr lang="en-US" dirty="0"/>
              <a:t> -  the base message plugin interface extended by all specialized message plugin interfaces </a:t>
            </a:r>
          </a:p>
          <a:p>
            <a:endParaRPr lang="en-US" b="1" dirty="0"/>
          </a:p>
          <a:p>
            <a:r>
              <a:rPr lang="en-US" b="1" dirty="0"/>
              <a:t>shutdown, suspend, resume, </a:t>
            </a:r>
            <a:r>
              <a:rPr lang="en-US" b="1" dirty="0" err="1"/>
              <a:t>setDestinationID</a:t>
            </a:r>
            <a:r>
              <a:rPr lang="en-US" b="1" dirty="0"/>
              <a:t> methods</a:t>
            </a:r>
          </a:p>
          <a:p>
            <a:endParaRPr lang="en-US" dirty="0"/>
          </a:p>
          <a:p>
            <a:r>
              <a:rPr lang="en-US" dirty="0"/>
              <a:t>These four methods are declared in the common </a:t>
            </a:r>
            <a:r>
              <a:rPr lang="en-US" dirty="0" err="1"/>
              <a:t>MessagePlugin</a:t>
            </a:r>
            <a:r>
              <a:rPr lang="en-US" dirty="0"/>
              <a:t> interface, which all specialized messaging plugin interfaces extend further more. In other words, every messaging plugin class must implement these either directly (or indirectly, e.g. inherited from a common messaging plugin implementation base class). The first three methods (shutdown/suspend/resume) provide the essential</a:t>
            </a:r>
          </a:p>
          <a:p>
            <a:r>
              <a:rPr lang="en-US" dirty="0"/>
              <a:t>control over a messaging plugin instance status (and ultimately a messaging destination), and are consumed either implicitly by the GW messaging framework when/as needed (app shutdown, failed send, unhandled exception, app startup) or explicitly by user actions via the messaging admin UI (suspend/resume).</a:t>
            </a:r>
          </a:p>
          <a:p>
            <a:endParaRPr lang="en-US" dirty="0"/>
          </a:p>
          <a:p>
            <a:r>
              <a:rPr lang="en-US" dirty="0"/>
              <a:t>The </a:t>
            </a:r>
            <a:r>
              <a:rPr lang="en-US" dirty="0" err="1"/>
              <a:t>setDestinationID</a:t>
            </a:r>
            <a:r>
              <a:rPr lang="en-US" dirty="0"/>
              <a:t> method is called by the GW application framework at the time a messaging plugin class is loaded/instantiated for a particular destination. This allows the initialized plugin class instance to preserve and later utilize/reference the actual destination ID for which this messaging plugin instance has been loaded (such as </a:t>
            </a:r>
            <a:r>
              <a:rPr lang="en-US" dirty="0" err="1"/>
              <a:t>SenderReflD</a:t>
            </a:r>
            <a:r>
              <a:rPr lang="en-US" dirty="0"/>
              <a:t> generating in the request plugin, or the reply plugin message finder API, logging in all of them etc.).</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37621964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 in the </a:t>
            </a:r>
            <a:r>
              <a:rPr lang="en-US" b="1" dirty="0"/>
              <a:t>Training: Messaging</a:t>
            </a:r>
            <a:r>
              <a:rPr lang="en-US" dirty="0"/>
              <a:t> location group (including the Message Table screen shown above} are unique to the </a:t>
            </a:r>
            <a:r>
              <a:rPr lang="en-US" dirty="0" err="1"/>
              <a:t>TrainingApp</a:t>
            </a:r>
            <a:r>
              <a:rPr lang="en-US" dirty="0"/>
              <a:t> only and have been created for learning purposes only. The genuine Guidewire applications provide a </a:t>
            </a:r>
            <a:r>
              <a:rPr lang="en-US" b="1" dirty="0"/>
              <a:t>Message Queues</a:t>
            </a:r>
          </a:p>
          <a:p>
            <a:r>
              <a:rPr lang="en-US" dirty="0"/>
              <a:t>administration screen (under the Monitoring location group).</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8475912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 in the </a:t>
            </a:r>
            <a:r>
              <a:rPr lang="en-US" b="1" dirty="0"/>
              <a:t>Training: Messaging</a:t>
            </a:r>
            <a:r>
              <a:rPr lang="en-US" dirty="0"/>
              <a:t> location group (including the Message Table screen shown above} are unique to the </a:t>
            </a:r>
            <a:r>
              <a:rPr lang="en-US" dirty="0" err="1"/>
              <a:t>TrainingApp</a:t>
            </a:r>
            <a:r>
              <a:rPr lang="en-US" dirty="0"/>
              <a:t> only and have been created for learning purposes only. The genuine Guidewire applications provide a </a:t>
            </a:r>
            <a:r>
              <a:rPr lang="en-US" b="1" dirty="0"/>
              <a:t>Message Queues</a:t>
            </a:r>
          </a:p>
          <a:p>
            <a:r>
              <a:rPr lang="en-US" dirty="0"/>
              <a:t>administration screen (under the Monitoring location group).</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4445751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Queues screen is available in all </a:t>
            </a:r>
            <a:r>
              <a:rPr lang="en-US" dirty="0" err="1"/>
              <a:t>InsuranceSuite</a:t>
            </a:r>
            <a:r>
              <a:rPr lang="en-US" dirty="0"/>
              <a:t> applications. The screens in the Training: Messaging location group (including the Message Table screen shown above) are unique to the </a:t>
            </a:r>
            <a:r>
              <a:rPr lang="en-US" dirty="0" err="1"/>
              <a:t>TrainingApp</a:t>
            </a:r>
            <a:r>
              <a:rPr lang="en-US" dirty="0"/>
              <a:t> only and have been created for learning purposes only.</a:t>
            </a:r>
          </a:p>
          <a:p>
            <a:endParaRPr lang="en-US" dirty="0"/>
          </a:p>
          <a:p>
            <a:r>
              <a:rPr lang="en-US" dirty="0"/>
              <a:t>From Message Queues, you can suspend, resume, and view messages for each destination </a:t>
            </a:r>
          </a:p>
          <a:p>
            <a:endParaRPr lang="en-US" dirty="0"/>
          </a:p>
          <a:p>
            <a:r>
              <a:rPr lang="en-US" dirty="0"/>
              <a:t>The Message Queues screens group all unacknowledged messages by:</a:t>
            </a:r>
          </a:p>
          <a:p>
            <a:endParaRPr lang="en-US" dirty="0"/>
          </a:p>
          <a:p>
            <a:pPr marL="171450" indent="-171450">
              <a:buFont typeface="Arial" panose="020B0604020202020204" pitchFamily="34" charset="0"/>
              <a:buChar char="•"/>
            </a:pPr>
            <a:r>
              <a:rPr lang="en-US" dirty="0"/>
              <a:t>Destination, then...</a:t>
            </a:r>
          </a:p>
          <a:p>
            <a:pPr marL="171450" indent="-171450">
              <a:buFont typeface="Arial" panose="020B0604020202020204" pitchFamily="34" charset="0"/>
              <a:buChar char="•"/>
            </a:pPr>
            <a:r>
              <a:rPr lang="en-US" dirty="0"/>
              <a:t>Primary entity (safe-ordering, plus one set for all unordered), then...</a:t>
            </a:r>
          </a:p>
          <a:p>
            <a:pPr marL="171450" indent="-171450">
              <a:buFont typeface="Arial" panose="020B0604020202020204" pitchFamily="34" charset="0"/>
              <a:buChar char="•"/>
            </a:pPr>
            <a:r>
              <a:rPr lang="en-US" dirty="0"/>
              <a:t>Status: failed, </a:t>
            </a:r>
            <a:r>
              <a:rPr lang="en-US" dirty="0" err="1"/>
              <a:t>retryable</a:t>
            </a:r>
            <a:r>
              <a:rPr lang="en-US" dirty="0"/>
              <a:t> error, in flight, and unsent</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3374869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781701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3869802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5572836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1. a) Triggering a message</a:t>
            </a:r>
          </a:p>
          <a:p>
            <a:pPr marL="0" indent="0">
              <a:buNone/>
            </a:pPr>
            <a:r>
              <a:rPr lang="en-US" dirty="0"/>
              <a:t>1. b) Creating a message and payload</a:t>
            </a:r>
          </a:p>
          <a:p>
            <a:pPr marL="0" indent="0">
              <a:buNone/>
            </a:pPr>
            <a:r>
              <a:rPr lang="en-US" dirty="0"/>
              <a:t>1. c) Optionally transform the payload</a:t>
            </a:r>
          </a:p>
          <a:p>
            <a:pPr marL="0" indent="0">
              <a:buNone/>
            </a:pPr>
            <a:r>
              <a:rPr lang="en-US" dirty="0"/>
              <a:t>1. d) Sending the message to an external system</a:t>
            </a:r>
          </a:p>
          <a:p>
            <a:pPr marL="0" indent="0">
              <a:buNone/>
            </a:pPr>
            <a:r>
              <a:rPr lang="en-US" dirty="0"/>
              <a:t>1.</a:t>
            </a:r>
            <a:r>
              <a:rPr lang="en-US" baseline="0" dirty="0"/>
              <a:t> e) Processing message acknowledgement</a:t>
            </a:r>
            <a:endParaRPr lang="en-US" dirty="0"/>
          </a:p>
          <a:p>
            <a:r>
              <a:rPr lang="en-US" dirty="0"/>
              <a:t>2. a)</a:t>
            </a:r>
            <a:r>
              <a:rPr lang="en-US" baseline="0" dirty="0"/>
              <a:t> Pending send.</a:t>
            </a:r>
          </a:p>
          <a:p>
            <a:r>
              <a:rPr lang="en-US" baseline="0" dirty="0"/>
              <a:t>2. b) Pending acknowledged (sent but no acknowledgement received).</a:t>
            </a:r>
          </a:p>
          <a:p>
            <a:r>
              <a:rPr lang="en-US" baseline="0" dirty="0"/>
              <a:t>2. c) </a:t>
            </a:r>
            <a:r>
              <a:rPr lang="en-US" baseline="0" dirty="0" err="1"/>
              <a:t>Retryable</a:t>
            </a:r>
            <a:r>
              <a:rPr lang="en-US" baseline="0" dirty="0"/>
              <a:t> error (sent and </a:t>
            </a:r>
            <a:r>
              <a:rPr lang="en-US" baseline="0" dirty="0" err="1"/>
              <a:t>and</a:t>
            </a:r>
            <a:r>
              <a:rPr lang="en-US" baseline="0" dirty="0"/>
              <a:t> error reported by external system, a negative acknowledgement or NACK).</a:t>
            </a:r>
            <a:endParaRPr lang="en-US" dirty="0"/>
          </a:p>
          <a:p>
            <a:r>
              <a:rPr lang="en-US" dirty="0"/>
              <a:t>3.</a:t>
            </a:r>
            <a:r>
              <a:rPr lang="en-US" baseline="0" dirty="0"/>
              <a:t> </a:t>
            </a:r>
            <a:r>
              <a:rPr lang="en-US" dirty="0"/>
              <a:t>The two</a:t>
            </a:r>
            <a:r>
              <a:rPr lang="en-US" baseline="0" dirty="0"/>
              <a:t> clustering server roles are: the </a:t>
            </a:r>
            <a:r>
              <a:rPr lang="en-US" b="1" baseline="0" dirty="0" err="1"/>
              <a:t>ui</a:t>
            </a:r>
            <a:r>
              <a:rPr lang="en-US" baseline="0" dirty="0"/>
              <a:t> role and </a:t>
            </a:r>
            <a:r>
              <a:rPr lang="en-US" b="1" baseline="0" dirty="0"/>
              <a:t>messaging</a:t>
            </a:r>
            <a:r>
              <a:rPr lang="en-US" baseline="0" dirty="0"/>
              <a:t> role.</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23672486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3830463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658368" y="118873"/>
            <a:ext cx="11094720"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5" name="txt SubTitle"/>
          <p:cNvSpPr>
            <a:spLocks noGrp="1"/>
          </p:cNvSpPr>
          <p:nvPr>
            <p:ph type="body" sz="quarter" idx="10"/>
          </p:nvPr>
        </p:nvSpPr>
        <p:spPr>
          <a:xfrm>
            <a:off x="658368" y="486102"/>
            <a:ext cx="1109472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a:t>Click to edit Master text styles</a:t>
            </a:r>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1869692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399"/>
            <a:ext cx="5444067"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339417" y="914399"/>
            <a:ext cx="5444067"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038682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a:t>Click to edit Right Column Subtitle</a:t>
            </a:r>
          </a:p>
        </p:txBody>
      </p:sp>
      <p:sp>
        <p:nvSpPr>
          <p:cNvPr id="4" name="txt Lef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a:t>Click to edit Master title style</a:t>
            </a:r>
            <a:endParaRPr lang="en-US" dirty="0"/>
          </a:p>
        </p:txBody>
      </p:sp>
      <p:sp>
        <p:nvSpPr>
          <p:cNvPr id="3" name="txt Left Col Content"/>
          <p:cNvSpPr>
            <a:spLocks noGrp="1"/>
          </p:cNvSpPr>
          <p:nvPr>
            <p:ph sz="half" idx="1"/>
          </p:nvPr>
        </p:nvSpPr>
        <p:spPr>
          <a:xfrm>
            <a:off x="692149" y="914399"/>
            <a:ext cx="353568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44704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82296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30886176"/>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1752602"/>
            <a:ext cx="353568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44704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82296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694944" y="914400"/>
            <a:ext cx="353568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13" name="txt Center Col SubTitle"/>
          <p:cNvSpPr>
            <a:spLocks noGrp="1"/>
          </p:cNvSpPr>
          <p:nvPr>
            <p:ph type="body" sz="quarter" idx="12" hasCustomPrompt="1"/>
          </p:nvPr>
        </p:nvSpPr>
        <p:spPr>
          <a:xfrm>
            <a:off x="4474464" y="914400"/>
            <a:ext cx="353568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Center Column Subtitle</a:t>
            </a:r>
          </a:p>
        </p:txBody>
      </p:sp>
      <p:sp>
        <p:nvSpPr>
          <p:cNvPr id="15" name="txt Right Col SubTitle"/>
          <p:cNvSpPr>
            <a:spLocks noGrp="1"/>
          </p:cNvSpPr>
          <p:nvPr>
            <p:ph type="body" sz="quarter" idx="13" hasCustomPrompt="1"/>
          </p:nvPr>
        </p:nvSpPr>
        <p:spPr>
          <a:xfrm>
            <a:off x="8229600" y="914400"/>
            <a:ext cx="353568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Right Column Subtitle</a:t>
            </a:r>
          </a:p>
        </p:txBody>
      </p:sp>
    </p:spTree>
    <p:extLst>
      <p:ext uri="{BB962C8B-B14F-4D97-AF65-F5344CB8AC3E}">
        <p14:creationId xmlns:p14="http://schemas.microsoft.com/office/powerpoint/2010/main" val="35811933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658368" y="120651"/>
            <a:ext cx="11091333"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Top Content"/>
          <p:cNvSpPr>
            <a:spLocks noGrp="1"/>
          </p:cNvSpPr>
          <p:nvPr>
            <p:ph type="body" sz="quarter" idx="10"/>
          </p:nvPr>
        </p:nvSpPr>
        <p:spPr>
          <a:xfrm>
            <a:off x="694944" y="914400"/>
            <a:ext cx="1109472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6824858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a:t>Click to edit Master title style</a:t>
            </a:r>
            <a:endParaRPr lang="en-US" dirty="0"/>
          </a:p>
        </p:txBody>
      </p:sp>
      <p:sp>
        <p:nvSpPr>
          <p:cNvPr id="3" name="txt Top Content"/>
          <p:cNvSpPr>
            <a:spLocks noGrp="1"/>
          </p:cNvSpPr>
          <p:nvPr>
            <p:ph idx="1"/>
          </p:nvPr>
        </p:nvSpPr>
        <p:spPr>
          <a:xfrm>
            <a:off x="692151" y="9144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176163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658368" y="120651"/>
            <a:ext cx="11091333" cy="742951"/>
          </a:xfrm>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5" name="txt Top Content"/>
          <p:cNvSpPr>
            <a:spLocks noGrp="1"/>
          </p:cNvSpPr>
          <p:nvPr>
            <p:ph type="body" sz="quarter" idx="10"/>
          </p:nvPr>
        </p:nvSpPr>
        <p:spPr>
          <a:xfrm>
            <a:off x="694944" y="914400"/>
            <a:ext cx="1109472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xt Middle Content"/>
          <p:cNvSpPr>
            <a:spLocks noGrp="1"/>
          </p:cNvSpPr>
          <p:nvPr>
            <p:ph idx="11"/>
          </p:nvPr>
        </p:nvSpPr>
        <p:spPr>
          <a:xfrm>
            <a:off x="694267" y="27432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68375149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Top Content"/>
          <p:cNvSpPr>
            <a:spLocks noGrp="1"/>
          </p:cNvSpPr>
          <p:nvPr>
            <p:ph idx="1"/>
          </p:nvPr>
        </p:nvSpPr>
        <p:spPr>
          <a:xfrm>
            <a:off x="692151" y="9144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6586969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2"/>
            <a:ext cx="353568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352920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1752602"/>
            <a:ext cx="353568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694944" y="914400"/>
            <a:ext cx="353568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Tree>
    <p:extLst>
      <p:ext uri="{BB962C8B-B14F-4D97-AF65-F5344CB8AC3E}">
        <p14:creationId xmlns:p14="http://schemas.microsoft.com/office/powerpoint/2010/main" val="1366646524"/>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402"/>
            <a:ext cx="5444067"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694944" y="914400"/>
            <a:ext cx="5449824"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3" name="txt Right Col Content"/>
          <p:cNvSpPr>
            <a:spLocks noGrp="1"/>
          </p:cNvSpPr>
          <p:nvPr>
            <p:ph sz="half" idx="1"/>
          </p:nvPr>
        </p:nvSpPr>
        <p:spPr>
          <a:xfrm>
            <a:off x="692151" y="1752600"/>
            <a:ext cx="5444067"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8786661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8" y="914399"/>
            <a:ext cx="737616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061337"/>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2"/>
            <a:ext cx="353568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1368497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1752602"/>
            <a:ext cx="353568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xt Right Col SubTitle"/>
          <p:cNvSpPr>
            <a:spLocks noGrp="1" noChangeArrowheads="1"/>
          </p:cNvSpPr>
          <p:nvPr>
            <p:ph type="subTitle" idx="11" hasCustomPrompt="1"/>
          </p:nvPr>
        </p:nvSpPr>
        <p:spPr>
          <a:xfrm>
            <a:off x="8229600" y="914400"/>
            <a:ext cx="353568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Right Column Subtitle</a:t>
            </a:r>
          </a:p>
        </p:txBody>
      </p:sp>
    </p:spTree>
    <p:extLst>
      <p:ext uri="{BB962C8B-B14F-4D97-AF65-F5344CB8AC3E}">
        <p14:creationId xmlns:p14="http://schemas.microsoft.com/office/powerpoint/2010/main" val="427667511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339417" y="914402"/>
            <a:ext cx="5444067"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3728354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p>
        </p:txBody>
      </p:sp>
      <p:sp>
        <p:nvSpPr>
          <p:cNvPr id="8" name="txt Right Col SubTitle"/>
          <p:cNvSpPr>
            <a:spLocks noGrp="1"/>
          </p:cNvSpPr>
          <p:nvPr>
            <p:ph type="body" sz="quarter" idx="11" hasCustomPrompt="1"/>
          </p:nvPr>
        </p:nvSpPr>
        <p:spPr>
          <a:xfrm>
            <a:off x="6339840" y="914400"/>
            <a:ext cx="5449824" cy="838200"/>
          </a:xfrm>
        </p:spPr>
        <p:txBody>
          <a:bodyPr/>
          <a:lstStyle>
            <a:lvl1pPr marL="0" indent="0">
              <a:buFontTx/>
              <a:buNone/>
              <a:defRPr/>
            </a:lvl1pPr>
          </a:lstStyle>
          <a:p>
            <a:r>
              <a:rPr lang="en-US" altLang="en-US" dirty="0"/>
              <a:t>Click to edit Right Column Subtitle</a:t>
            </a:r>
          </a:p>
        </p:txBody>
      </p:sp>
      <p:sp>
        <p:nvSpPr>
          <p:cNvPr id="4" name="txt Right Col Content"/>
          <p:cNvSpPr>
            <a:spLocks noGrp="1"/>
          </p:cNvSpPr>
          <p:nvPr>
            <p:ph sz="half" idx="2"/>
          </p:nvPr>
        </p:nvSpPr>
        <p:spPr>
          <a:xfrm>
            <a:off x="6339417" y="1752600"/>
            <a:ext cx="5444067"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67609076"/>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4406900" y="914400"/>
            <a:ext cx="73761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72425577"/>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
        <p:nvSpPr>
          <p:cNvPr id="3" name="txt Title Fixed NotesOnly"/>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0"/>
            <a:ext cx="353568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694944" y="4572000"/>
            <a:ext cx="1109472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0365302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0"/>
            <a:ext cx="353568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694944" y="36576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9713000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3657600"/>
            <a:ext cx="353568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694944" y="9144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59471830"/>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2743200"/>
            <a:ext cx="353568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694944" y="914400"/>
            <a:ext cx="1109472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2836984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0"/>
            <a:ext cx="353568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694944" y="4572000"/>
            <a:ext cx="1109472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962378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8229600" y="914400"/>
            <a:ext cx="353568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694944" y="36576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7995710"/>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8229600" y="3657600"/>
            <a:ext cx="353568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694944" y="914400"/>
            <a:ext cx="1109472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40261398"/>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8229600" y="2743200"/>
            <a:ext cx="353568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694944" y="914400"/>
            <a:ext cx="1109472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13376759"/>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a:solidFill>
                  <a:schemeClr val="accent1"/>
                </a:solidFill>
              </a:rPr>
              <a:t>This lesson uses the notes section for additional explanation and information.</a:t>
            </a:r>
            <a:r>
              <a:rPr lang="en-US" sz="1600" dirty="0">
                <a:solidFill>
                  <a:schemeClr val="accent1"/>
                </a:solidFill>
              </a:rPr>
              <a:t> </a:t>
            </a:r>
            <a:br>
              <a:rPr lang="en-US" sz="1600" dirty="0">
                <a:solidFill>
                  <a:schemeClr val="accent1"/>
                </a:solidFill>
              </a:rPr>
            </a:br>
            <a:r>
              <a:rPr lang="en-US" sz="1600" b="0" dirty="0">
                <a:solidFill>
                  <a:schemeClr val="accent1"/>
                </a:solidFill>
              </a:rPr>
              <a:t>To view the notes in PowerPoint, select View </a:t>
            </a:r>
            <a:r>
              <a:rPr lang="en-US" sz="1600" b="0" dirty="0">
                <a:solidFill>
                  <a:schemeClr val="accent1"/>
                </a:solidFill>
                <a:sym typeface="Wingdings" pitchFamily="2" charset="2"/>
              </a:rPr>
              <a:t> Normal or </a:t>
            </a:r>
            <a:r>
              <a:rPr lang="en-US" sz="1600" b="0" dirty="0">
                <a:solidFill>
                  <a:schemeClr val="accent1"/>
                </a:solidFill>
              </a:rPr>
              <a:t>View </a:t>
            </a:r>
            <a:r>
              <a:rPr lang="en-US" sz="1600" b="0" dirty="0">
                <a:solidFill>
                  <a:schemeClr val="accent1"/>
                </a:solidFill>
                <a:sym typeface="Wingdings" pitchFamily="2" charset="2"/>
              </a:rPr>
              <a:t> </a:t>
            </a:r>
            <a:r>
              <a:rPr lang="en-US" sz="1600" b="0" dirty="0">
                <a:solidFill>
                  <a:schemeClr val="accent1"/>
                </a:solidFill>
              </a:rPr>
              <a:t>Notes Page. </a:t>
            </a:r>
            <a:br>
              <a:rPr lang="en-US" sz="1600" b="0" dirty="0">
                <a:solidFill>
                  <a:schemeClr val="accent1"/>
                </a:solidFill>
              </a:rPr>
            </a:br>
            <a:r>
              <a:rPr lang="en-US" sz="1600" b="0" dirty="0">
                <a:solidFill>
                  <a:schemeClr val="accent1"/>
                </a:solidFill>
              </a:rPr>
              <a:t>When printing </a:t>
            </a:r>
            <a:r>
              <a:rPr lang="en-US" sz="1600" dirty="0">
                <a:solidFill>
                  <a:schemeClr val="accent1"/>
                </a:solidFill>
              </a:rPr>
              <a:t>notes, select Note Pages and</a:t>
            </a:r>
            <a:r>
              <a:rPr lang="en-US" sz="1600" baseline="0" dirty="0">
                <a:solidFill>
                  <a:schemeClr val="accent1"/>
                </a:solidFill>
              </a:rPr>
              <a:t> </a:t>
            </a:r>
            <a:r>
              <a:rPr lang="en-US" sz="1600" b="0" dirty="0">
                <a:solidFill>
                  <a:schemeClr val="accent1"/>
                </a:solidFill>
              </a:rPr>
              <a:t>Print hidden slides.</a:t>
            </a: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mj-lt"/>
              </a:rPr>
              <a:t> questions</a:t>
            </a:r>
          </a:p>
        </p:txBody>
      </p:sp>
      <p:sp>
        <p:nvSpPr>
          <p:cNvPr id="7" name="txt Content Fixed"/>
          <p:cNvSpPr/>
          <p:nvPr/>
        </p:nvSpPr>
        <p:spPr>
          <a:xfrm>
            <a:off x="694944" y="914400"/>
            <a:ext cx="1109472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692151" y="1447800"/>
            <a:ext cx="11091333"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Statement.</a:t>
            </a:r>
          </a:p>
          <a:p>
            <a:pPr lvl="0"/>
            <a:r>
              <a:rPr lang="en-US" dirty="0"/>
              <a:t>Statement.</a:t>
            </a:r>
          </a:p>
          <a:p>
            <a:pPr lvl="0"/>
            <a:r>
              <a:rPr lang="en-US" dirty="0"/>
              <a:t>Statement.</a:t>
            </a:r>
          </a:p>
          <a:p>
            <a:pPr lvl="0"/>
            <a:r>
              <a:rPr lang="en-US" dirty="0"/>
              <a:t>Statement.</a:t>
            </a:r>
          </a:p>
        </p:txBody>
      </p:sp>
    </p:spTree>
    <p:extLst>
      <p:ext uri="{BB962C8B-B14F-4D97-AF65-F5344CB8AC3E}">
        <p14:creationId xmlns:p14="http://schemas.microsoft.com/office/powerpoint/2010/main" val="2696677930"/>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36148945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32070698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7301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2001-2014. All 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dirty="0">
                <a:latin typeface="+mj-lt"/>
              </a:endParaRPr>
            </a:p>
          </p:txBody>
        </p:sp>
      </p:grpSp>
      <p:pic>
        <p:nvPicPr>
          <p:cNvPr id="1031" name="pic Logo Text" descr="guidewire.png"/>
          <p:cNvPicPr>
            <a:picLocks noChangeAspect="1"/>
          </p:cNvPicPr>
          <p:nvPr/>
        </p:nvPicPr>
        <p:blipFill>
          <a:blip r:embed="rId43"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 id="2147483776" r:id="rId12"/>
    <p:sldLayoutId id="2147483777" r:id="rId13"/>
    <p:sldLayoutId id="2147483778" r:id="rId14"/>
    <p:sldLayoutId id="2147483779" r:id="rId15"/>
    <p:sldLayoutId id="2147483780" r:id="rId16"/>
    <p:sldLayoutId id="2147483781" r:id="rId17"/>
    <p:sldLayoutId id="2147483782" r:id="rId18"/>
    <p:sldLayoutId id="2147483783" r:id="rId19"/>
    <p:sldLayoutId id="2147483784" r:id="rId20"/>
    <p:sldLayoutId id="2147483785" r:id="rId21"/>
    <p:sldLayoutId id="2147483786" r:id="rId22"/>
    <p:sldLayoutId id="2147483787" r:id="rId23"/>
    <p:sldLayoutId id="2147483788" r:id="rId24"/>
    <p:sldLayoutId id="2147483789" r:id="rId25"/>
    <p:sldLayoutId id="2147483790" r:id="rId26"/>
    <p:sldLayoutId id="2147483791" r:id="rId27"/>
    <p:sldLayoutId id="2147483792" r:id="rId28"/>
    <p:sldLayoutId id="2147483793" r:id="rId29"/>
    <p:sldLayoutId id="2147483794" r:id="rId30"/>
    <p:sldLayoutId id="2147483795" r:id="rId31"/>
    <p:sldLayoutId id="2147483796" r:id="rId32"/>
    <p:sldLayoutId id="2147483797" r:id="rId33"/>
    <p:sldLayoutId id="2147483798" r:id="rId34"/>
    <p:sldLayoutId id="2147483799" r:id="rId35"/>
    <p:sldLayoutId id="2147483800" r:id="rId36"/>
    <p:sldLayoutId id="2147483801" r:id="rId37"/>
    <p:sldLayoutId id="2147483802" r:id="rId38"/>
    <p:sldLayoutId id="2147483804" r:id="rId39"/>
    <p:sldLayoutId id="2147483805" r:id="rId40"/>
    <p:sldLayoutId id="2147483806" r:id="rId41"/>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8.emf"/><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8.emf"/><Relationship Id="rId5" Type="http://schemas.openxmlformats.org/officeDocument/2006/relationships/image" Target="../media/image13.emf"/><Relationship Id="rId4" Type="http://schemas.openxmlformats.org/officeDocument/2006/relationships/image" Target="../media/image12.emf"/></Relationships>
</file>

<file path=ppt/slides/_rels/slide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a:solidFill>
                  <a:srgbClr val="04628C"/>
                </a:solidFill>
              </a:rPr>
              <a:t>InsuranceSuite 10 Integration</a:t>
            </a:r>
          </a:p>
        </p:txBody>
      </p:sp>
      <p:sp>
        <p:nvSpPr>
          <p:cNvPr id="2" name="Rectangle 1"/>
          <p:cNvSpPr/>
          <p:nvPr/>
        </p:nvSpPr>
        <p:spPr>
          <a:xfrm>
            <a:off x="4310896"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3000" y="5139999"/>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a:solidFill>
                  <a:srgbClr val="00B0F0"/>
                </a:solidFill>
              </a:rPr>
              <a:t>MESSAGING INTRODUCTION</a:t>
            </a:r>
            <a:endParaRPr lang="en-US" sz="2400" b="0" dirty="0">
              <a:solidFill>
                <a:srgbClr val="00B0F0"/>
              </a:solidFill>
              <a:ea typeface="+mn-ea"/>
            </a:endParaRPr>
          </a:p>
        </p:txBody>
      </p:sp>
    </p:spTree>
    <p:extLst>
      <p:ext uri="{BB962C8B-B14F-4D97-AF65-F5344CB8AC3E}">
        <p14:creationId xmlns:p14="http://schemas.microsoft.com/office/powerpoint/2010/main" val="3626718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Recall the basic components of Guidewire messaging</a:t>
            </a:r>
          </a:p>
          <a:p>
            <a:pPr lvl="1"/>
            <a:r>
              <a:rPr lang="en-US" dirty="0"/>
              <a:t>Describe the basic stages of Guidewire messaging</a:t>
            </a:r>
          </a:p>
          <a:p>
            <a:pPr lvl="1"/>
            <a:endParaRPr lang="en-US" dirty="0"/>
          </a:p>
          <a:p>
            <a:pPr lvl="1"/>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Overview of messaging</a:t>
            </a:r>
          </a:p>
          <a:p>
            <a:r>
              <a:rPr lang="en-US" dirty="0"/>
              <a:t>Walkthrough of a sample message</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020058" y="151599"/>
            <a:ext cx="8321040" cy="742951"/>
          </a:xfrm>
        </p:spPr>
        <p:txBody>
          <a:bodyPr/>
          <a:lstStyle/>
          <a:p>
            <a:r>
              <a:rPr lang="en-US" dirty="0"/>
              <a:t>What is Guidewire Messaging</a:t>
            </a:r>
          </a:p>
        </p:txBody>
      </p:sp>
      <p:sp>
        <p:nvSpPr>
          <p:cNvPr id="2" name="Content Placeholder 1"/>
          <p:cNvSpPr>
            <a:spLocks noGrp="1"/>
          </p:cNvSpPr>
          <p:nvPr>
            <p:ph idx="1"/>
          </p:nvPr>
        </p:nvSpPr>
        <p:spPr>
          <a:xfrm>
            <a:off x="1889919" y="2667001"/>
            <a:ext cx="8318500" cy="3352799"/>
          </a:xfrm>
        </p:spPr>
        <p:txBody>
          <a:bodyPr/>
          <a:lstStyle/>
          <a:p>
            <a:r>
              <a:rPr lang="en-US" sz="2200" b="1" dirty="0"/>
              <a:t>Guidewire Messaging</a:t>
            </a:r>
            <a:r>
              <a:rPr lang="en-US" sz="2200" dirty="0"/>
              <a:t> is an asynchronous integration mechanism</a:t>
            </a:r>
          </a:p>
          <a:p>
            <a:pPr lvl="1"/>
            <a:r>
              <a:rPr lang="en-US" dirty="0"/>
              <a:t>Event Based Model</a:t>
            </a:r>
          </a:p>
          <a:p>
            <a:pPr lvl="2"/>
            <a:r>
              <a:rPr lang="en-US" dirty="0"/>
              <a:t>Predefined and custom events raised by new or changed business data</a:t>
            </a:r>
          </a:p>
          <a:p>
            <a:pPr lvl="3"/>
            <a:r>
              <a:rPr lang="en-US" dirty="0"/>
              <a:t>Part of the user interaction</a:t>
            </a:r>
          </a:p>
          <a:p>
            <a:pPr lvl="2"/>
            <a:r>
              <a:rPr lang="en-US" dirty="0"/>
              <a:t>Events are evaluated and processed in the Event Fired ruleset </a:t>
            </a:r>
          </a:p>
          <a:p>
            <a:pPr lvl="3"/>
            <a:r>
              <a:rPr lang="en-US" dirty="0"/>
              <a:t>Message is created and persisted in the Guidewire database</a:t>
            </a:r>
          </a:p>
          <a:p>
            <a:r>
              <a:rPr lang="en-US" sz="2200" dirty="0"/>
              <a:t>Message are sent from Guidewire Application to an external System</a:t>
            </a:r>
          </a:p>
          <a:p>
            <a:r>
              <a:rPr lang="en-US" sz="2200" dirty="0"/>
              <a:t>An External System acknowledges receipt and processing of the message (either positively or negatively)</a:t>
            </a:r>
          </a:p>
          <a:p>
            <a:endParaRPr lang="en-US" dirty="0"/>
          </a:p>
        </p:txBody>
      </p:sp>
      <p:pic>
        <p:nvPicPr>
          <p:cNvPr id="4" name="Picture 3"/>
          <p:cNvPicPr>
            <a:picLocks noChangeAspect="1"/>
          </p:cNvPicPr>
          <p:nvPr/>
        </p:nvPicPr>
        <p:blipFill>
          <a:blip r:embed="rId3"/>
          <a:stretch>
            <a:fillRect/>
          </a:stretch>
        </p:blipFill>
        <p:spPr>
          <a:xfrm>
            <a:off x="1736727" y="685800"/>
            <a:ext cx="8624887" cy="1816556"/>
          </a:xfrm>
          <a:prstGeom prst="rect">
            <a:avLst/>
          </a:prstGeom>
        </p:spPr>
      </p:pic>
    </p:spTree>
    <p:extLst>
      <p:ext uri="{BB962C8B-B14F-4D97-AF65-F5344CB8AC3E}">
        <p14:creationId xmlns:p14="http://schemas.microsoft.com/office/powerpoint/2010/main" val="270477599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message table</a:t>
            </a:r>
          </a:p>
        </p:txBody>
      </p:sp>
      <p:sp>
        <p:nvSpPr>
          <p:cNvPr id="3" name="Content Placeholder 2"/>
          <p:cNvSpPr>
            <a:spLocks noGrp="1"/>
          </p:cNvSpPr>
          <p:nvPr>
            <p:ph idx="1"/>
          </p:nvPr>
        </p:nvSpPr>
        <p:spPr>
          <a:xfrm>
            <a:off x="2043113" y="3276600"/>
            <a:ext cx="8318500" cy="3124200"/>
          </a:xfrm>
        </p:spPr>
        <p:txBody>
          <a:bodyPr/>
          <a:lstStyle/>
          <a:p>
            <a:r>
              <a:rPr lang="en-US" dirty="0"/>
              <a:t>Stores messages</a:t>
            </a:r>
          </a:p>
          <a:p>
            <a:pPr lvl="1"/>
            <a:r>
              <a:rPr lang="en-US" dirty="0"/>
              <a:t>Unsent messages</a:t>
            </a:r>
          </a:p>
          <a:p>
            <a:pPr lvl="1"/>
            <a:r>
              <a:rPr lang="en-US" dirty="0"/>
              <a:t>Sent and awaiting acknowledgement </a:t>
            </a:r>
          </a:p>
          <a:p>
            <a:pPr lvl="1"/>
            <a:r>
              <a:rPr lang="en-US" dirty="0"/>
              <a:t>Retryable Error</a:t>
            </a:r>
          </a:p>
          <a:p>
            <a:r>
              <a:rPr lang="en-US" dirty="0"/>
              <a:t>XX_MESSAGE</a:t>
            </a:r>
          </a:p>
          <a:p>
            <a:pPr lvl="1"/>
            <a:r>
              <a:rPr lang="en-US" dirty="0"/>
              <a:t>Hub of messaging infrastructure </a:t>
            </a:r>
          </a:p>
          <a:p>
            <a:pPr lvl="1"/>
            <a:r>
              <a:rPr lang="en-US" dirty="0"/>
              <a:t>Database table where XX is application code, e.g., AB_MESSAGE</a:t>
            </a:r>
          </a:p>
        </p:txBody>
      </p:sp>
      <p:pic>
        <p:nvPicPr>
          <p:cNvPr id="717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362201"/>
            <a:ext cx="1339850" cy="87947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9190" y="1765293"/>
            <a:ext cx="1322387" cy="8651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9589" y="1184650"/>
            <a:ext cx="1219200" cy="7826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8" name="tbl XX_Msg"/>
          <p:cNvGraphicFramePr>
            <a:graphicFrameLocks noGrp="1"/>
          </p:cNvGraphicFramePr>
          <p:nvPr>
            <p:extLst>
              <p:ext uri="{D42A27DB-BD31-4B8C-83A1-F6EECF244321}">
                <p14:modId xmlns:p14="http://schemas.microsoft.com/office/powerpoint/2010/main" val="1644306977"/>
              </p:ext>
            </p:extLst>
          </p:nvPr>
        </p:nvGraphicFramePr>
        <p:xfrm>
          <a:off x="2057400" y="914400"/>
          <a:ext cx="2438400" cy="2136503"/>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tblGrid>
              <a:tr h="510903">
                <a:tc gridSpan="3">
                  <a:txBody>
                    <a:bodyPr/>
                    <a:lstStyle/>
                    <a:p>
                      <a:pPr algn="ctr"/>
                      <a:r>
                        <a:rPr lang="en-US" sz="2400" dirty="0"/>
                        <a:t>xx_message</a:t>
                      </a:r>
                    </a:p>
                  </a:txBody>
                  <a:tcPr marL="139337" marR="139337" marT="69669" marB="69669"/>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25120">
                <a:tc>
                  <a:txBody>
                    <a:bodyPr/>
                    <a:lstStyle/>
                    <a:p>
                      <a:endParaRPr lang="en-US" sz="1200" dirty="0"/>
                    </a:p>
                  </a:txBody>
                  <a:tcPr marL="139337" marR="139337" marT="69669" marB="69669"/>
                </a:tc>
                <a:tc>
                  <a:txBody>
                    <a:bodyPr/>
                    <a:lstStyle/>
                    <a:p>
                      <a:endParaRPr lang="en-US" sz="1200"/>
                    </a:p>
                  </a:txBody>
                  <a:tcPr marL="139337" marR="139337" marT="69669" marB="69669"/>
                </a:tc>
                <a:tc>
                  <a:txBody>
                    <a:bodyPr/>
                    <a:lstStyle/>
                    <a:p>
                      <a:endParaRPr lang="en-US" sz="1200" dirty="0"/>
                    </a:p>
                  </a:txBody>
                  <a:tcPr marL="139337" marR="139337" marT="69669" marB="69669"/>
                </a:tc>
                <a:extLst>
                  <a:ext uri="{0D108BD9-81ED-4DB2-BD59-A6C34878D82A}">
                    <a16:rowId xmlns:a16="http://schemas.microsoft.com/office/drawing/2014/main" val="10001"/>
                  </a:ext>
                </a:extLst>
              </a:tr>
              <a:tr h="325120">
                <a:tc>
                  <a:txBody>
                    <a:bodyPr/>
                    <a:lstStyle/>
                    <a:p>
                      <a:endParaRPr lang="en-US" sz="1200" dirty="0"/>
                    </a:p>
                  </a:txBody>
                  <a:tcPr marL="139337" marR="139337" marT="69669" marB="69669"/>
                </a:tc>
                <a:tc>
                  <a:txBody>
                    <a:bodyPr/>
                    <a:lstStyle/>
                    <a:p>
                      <a:endParaRPr lang="en-US" sz="1200" dirty="0"/>
                    </a:p>
                  </a:txBody>
                  <a:tcPr marL="139337" marR="139337" marT="69669" marB="69669"/>
                </a:tc>
                <a:tc>
                  <a:txBody>
                    <a:bodyPr/>
                    <a:lstStyle/>
                    <a:p>
                      <a:endParaRPr lang="en-US" sz="1200"/>
                    </a:p>
                  </a:txBody>
                  <a:tcPr marL="139337" marR="139337" marT="69669" marB="69669"/>
                </a:tc>
                <a:extLst>
                  <a:ext uri="{0D108BD9-81ED-4DB2-BD59-A6C34878D82A}">
                    <a16:rowId xmlns:a16="http://schemas.microsoft.com/office/drawing/2014/main" val="10002"/>
                  </a:ext>
                </a:extLst>
              </a:tr>
              <a:tr h="325120">
                <a:tc>
                  <a:txBody>
                    <a:bodyPr/>
                    <a:lstStyle/>
                    <a:p>
                      <a:endParaRPr lang="en-US" sz="1200" dirty="0"/>
                    </a:p>
                  </a:txBody>
                  <a:tcPr marL="139337" marR="139337" marT="69669" marB="69669"/>
                </a:tc>
                <a:tc>
                  <a:txBody>
                    <a:bodyPr/>
                    <a:lstStyle/>
                    <a:p>
                      <a:endParaRPr lang="en-US" sz="1200" dirty="0"/>
                    </a:p>
                  </a:txBody>
                  <a:tcPr marL="139337" marR="139337" marT="69669" marB="69669"/>
                </a:tc>
                <a:tc>
                  <a:txBody>
                    <a:bodyPr/>
                    <a:lstStyle/>
                    <a:p>
                      <a:endParaRPr lang="en-US" sz="1200" dirty="0"/>
                    </a:p>
                  </a:txBody>
                  <a:tcPr marL="139337" marR="139337" marT="69669" marB="69669"/>
                </a:tc>
                <a:extLst>
                  <a:ext uri="{0D108BD9-81ED-4DB2-BD59-A6C34878D82A}">
                    <a16:rowId xmlns:a16="http://schemas.microsoft.com/office/drawing/2014/main" val="10003"/>
                  </a:ext>
                </a:extLst>
              </a:tr>
              <a:tr h="325120">
                <a:tc>
                  <a:txBody>
                    <a:bodyPr/>
                    <a:lstStyle/>
                    <a:p>
                      <a:endParaRPr lang="en-US" sz="1200"/>
                    </a:p>
                  </a:txBody>
                  <a:tcPr marL="139337" marR="139337" marT="69669" marB="69669"/>
                </a:tc>
                <a:tc>
                  <a:txBody>
                    <a:bodyPr/>
                    <a:lstStyle/>
                    <a:p>
                      <a:endParaRPr lang="en-US" sz="1200" dirty="0"/>
                    </a:p>
                  </a:txBody>
                  <a:tcPr marL="139337" marR="139337" marT="69669" marB="69669"/>
                </a:tc>
                <a:tc>
                  <a:txBody>
                    <a:bodyPr/>
                    <a:lstStyle/>
                    <a:p>
                      <a:endParaRPr lang="en-US" sz="1200" dirty="0"/>
                    </a:p>
                  </a:txBody>
                  <a:tcPr marL="139337" marR="139337" marT="69669" marB="69669"/>
                </a:tc>
                <a:extLst>
                  <a:ext uri="{0D108BD9-81ED-4DB2-BD59-A6C34878D82A}">
                    <a16:rowId xmlns:a16="http://schemas.microsoft.com/office/drawing/2014/main" val="10004"/>
                  </a:ext>
                </a:extLst>
              </a:tr>
              <a:tr h="325120">
                <a:tc>
                  <a:txBody>
                    <a:bodyPr/>
                    <a:lstStyle/>
                    <a:p>
                      <a:endParaRPr lang="en-US" sz="1200" dirty="0"/>
                    </a:p>
                  </a:txBody>
                  <a:tcPr marL="139337" marR="139337" marT="69669" marB="69669"/>
                </a:tc>
                <a:tc>
                  <a:txBody>
                    <a:bodyPr/>
                    <a:lstStyle/>
                    <a:p>
                      <a:endParaRPr lang="en-US" sz="1200" dirty="0"/>
                    </a:p>
                  </a:txBody>
                  <a:tcPr marL="139337" marR="139337" marT="69669" marB="69669"/>
                </a:tc>
                <a:tc>
                  <a:txBody>
                    <a:bodyPr/>
                    <a:lstStyle/>
                    <a:p>
                      <a:endParaRPr lang="en-US" sz="1200" dirty="0"/>
                    </a:p>
                  </a:txBody>
                  <a:tcPr marL="139337" marR="139337" marT="69669" marB="69669"/>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6182129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 table example</a:t>
            </a:r>
          </a:p>
        </p:txBody>
      </p:sp>
      <p:sp>
        <p:nvSpPr>
          <p:cNvPr id="3" name="Content Placeholder 2"/>
          <p:cNvSpPr>
            <a:spLocks noGrp="1"/>
          </p:cNvSpPr>
          <p:nvPr>
            <p:ph idx="1"/>
          </p:nvPr>
        </p:nvSpPr>
        <p:spPr>
          <a:xfrm>
            <a:off x="2043113" y="3886200"/>
            <a:ext cx="8318500" cy="2514600"/>
          </a:xfrm>
        </p:spPr>
        <p:txBody>
          <a:bodyPr/>
          <a:lstStyle/>
          <a:p>
            <a:r>
              <a:rPr lang="en-US" dirty="0"/>
              <a:t>Shows the sent and awaiting acknowledgement messages</a:t>
            </a:r>
          </a:p>
          <a:p>
            <a:pPr lvl="1"/>
            <a:r>
              <a:rPr lang="en-US" dirty="0"/>
              <a:t>Message Table list view details messages in the message table</a:t>
            </a:r>
          </a:p>
          <a:p>
            <a:pPr lvl="1"/>
            <a:r>
              <a:rPr lang="en-US" dirty="0"/>
              <a:t>TrainingApp's Administration tab</a:t>
            </a:r>
          </a:p>
          <a:p>
            <a:pPr lvl="1"/>
            <a:endParaRPr lang="en-US" dirty="0"/>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7151" y="914400"/>
            <a:ext cx="8343014" cy="2403032"/>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39483776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Stages of messaging</a:t>
            </a:r>
          </a:p>
        </p:txBody>
      </p:sp>
      <p:sp>
        <p:nvSpPr>
          <p:cNvPr id="3" name="Content Placeholder 2"/>
          <p:cNvSpPr>
            <a:spLocks noGrp="1"/>
          </p:cNvSpPr>
          <p:nvPr>
            <p:ph idx="1"/>
          </p:nvPr>
        </p:nvSpPr>
        <p:spPr>
          <a:xfrm>
            <a:off x="2023638" y="2743200"/>
            <a:ext cx="8321040" cy="3352800"/>
          </a:xfrm>
        </p:spPr>
        <p:txBody>
          <a:bodyPr/>
          <a:lstStyle/>
          <a:p>
            <a:pPr marL="800100" lvl="1" indent="-457200">
              <a:buFont typeface="+mj-lt"/>
              <a:buAutoNum type="arabicPeriod"/>
            </a:pPr>
            <a:r>
              <a:rPr lang="en-US" sz="1800" dirty="0"/>
              <a:t>Triggering a message</a:t>
            </a:r>
          </a:p>
          <a:p>
            <a:pPr lvl="2"/>
            <a:r>
              <a:rPr lang="en-US" sz="1600" dirty="0"/>
              <a:t>Newly created or modified entity triggers message creation</a:t>
            </a:r>
          </a:p>
          <a:p>
            <a:pPr marL="800100" lvl="1" indent="-457200">
              <a:buFont typeface="+mj-lt"/>
              <a:buAutoNum type="arabicPeriod"/>
            </a:pPr>
            <a:r>
              <a:rPr lang="en-US" sz="1800" dirty="0"/>
              <a:t>Creating a message and payload</a:t>
            </a:r>
          </a:p>
          <a:p>
            <a:pPr lvl="2"/>
            <a:r>
              <a:rPr lang="en-US" sz="1600" dirty="0"/>
              <a:t>Application creates message and the payload and stores in message table</a:t>
            </a:r>
          </a:p>
          <a:p>
            <a:pPr marL="800100" lvl="1" indent="-457200">
              <a:buFont typeface="+mj-lt"/>
              <a:buAutoNum type="arabicPeriod"/>
            </a:pPr>
            <a:r>
              <a:rPr lang="en-US" sz="1800" dirty="0"/>
              <a:t>Transform the payload</a:t>
            </a:r>
          </a:p>
          <a:p>
            <a:pPr lvl="2"/>
            <a:r>
              <a:rPr lang="en-US" sz="1600" dirty="0"/>
              <a:t>Optional</a:t>
            </a:r>
          </a:p>
          <a:p>
            <a:pPr marL="800100" lvl="1" indent="-457200">
              <a:buFont typeface="+mj-lt"/>
              <a:buAutoNum type="arabicPeriod"/>
            </a:pPr>
            <a:r>
              <a:rPr lang="en-US" sz="1800" dirty="0"/>
              <a:t>Sending the payload to an external system</a:t>
            </a:r>
          </a:p>
          <a:p>
            <a:pPr lvl="2"/>
            <a:r>
              <a:rPr lang="en-US" sz="1600" dirty="0"/>
              <a:t>Application checks message table for messages to process and sends payload</a:t>
            </a:r>
          </a:p>
          <a:p>
            <a:pPr marL="742950" lvl="1" indent="-396875">
              <a:buFont typeface="+mj-lt"/>
              <a:buAutoNum type="arabicPeriod"/>
            </a:pPr>
            <a:r>
              <a:rPr lang="en-US" sz="1800" dirty="0"/>
              <a:t> Processing acknowledgement</a:t>
            </a:r>
          </a:p>
          <a:p>
            <a:pPr lvl="2"/>
            <a:r>
              <a:rPr lang="en-US" sz="1600" dirty="0"/>
              <a:t>External system acknowledges success or reports an error</a:t>
            </a:r>
          </a:p>
          <a:p>
            <a:pPr lvl="2"/>
            <a:r>
              <a:rPr lang="en-US" sz="1600" dirty="0"/>
              <a:t>Application processes the received response</a:t>
            </a:r>
          </a:p>
          <a:p>
            <a:pPr lvl="1"/>
            <a:endParaRPr lang="en-US" dirty="0"/>
          </a:p>
        </p:txBody>
      </p:sp>
      <p:pic>
        <p:nvPicPr>
          <p:cNvPr id="4" name="Picture 3"/>
          <p:cNvPicPr>
            <a:picLocks noChangeAspect="1"/>
          </p:cNvPicPr>
          <p:nvPr/>
        </p:nvPicPr>
        <p:blipFill>
          <a:blip r:embed="rId3"/>
          <a:stretch>
            <a:fillRect/>
          </a:stretch>
        </p:blipFill>
        <p:spPr>
          <a:xfrm>
            <a:off x="1956816" y="762001"/>
            <a:ext cx="8382000" cy="1663603"/>
          </a:xfrm>
          <a:prstGeom prst="rect">
            <a:avLst/>
          </a:prstGeom>
        </p:spPr>
      </p:pic>
    </p:spTree>
    <p:extLst>
      <p:ext uri="{BB962C8B-B14F-4D97-AF65-F5344CB8AC3E}">
        <p14:creationId xmlns:p14="http://schemas.microsoft.com/office/powerpoint/2010/main" val="317381408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components of messaging (1)</a:t>
            </a:r>
          </a:p>
        </p:txBody>
      </p:sp>
      <p:sp>
        <p:nvSpPr>
          <p:cNvPr id="4" name="Content Placeholder 3"/>
          <p:cNvSpPr>
            <a:spLocks noGrp="1"/>
          </p:cNvSpPr>
          <p:nvPr>
            <p:ph sz="half" idx="1"/>
          </p:nvPr>
        </p:nvSpPr>
        <p:spPr/>
        <p:txBody>
          <a:bodyPr/>
          <a:lstStyle/>
          <a:p>
            <a:r>
              <a:rPr lang="en-US" dirty="0"/>
              <a:t>Event </a:t>
            </a:r>
          </a:p>
          <a:p>
            <a:pPr lvl="1"/>
            <a:r>
              <a:rPr lang="en-US" dirty="0"/>
              <a:t>An notification of a change</a:t>
            </a:r>
          </a:p>
          <a:p>
            <a:pPr lvl="1"/>
            <a:r>
              <a:rPr lang="en-US" dirty="0"/>
              <a:t>May be of interest to an external system</a:t>
            </a:r>
          </a:p>
          <a:p>
            <a:pPr lvl="1"/>
            <a:r>
              <a:rPr lang="en-US" dirty="0"/>
              <a:t>Triggers Event Fired rule set</a:t>
            </a:r>
          </a:p>
          <a:p>
            <a:r>
              <a:rPr lang="en-US" dirty="0"/>
              <a:t>Event Fired rule set</a:t>
            </a:r>
          </a:p>
          <a:p>
            <a:pPr lvl="1"/>
            <a:r>
              <a:rPr lang="en-US" dirty="0"/>
              <a:t>Called for each messaging event</a:t>
            </a:r>
          </a:p>
          <a:p>
            <a:pPr lvl="1"/>
            <a:r>
              <a:rPr lang="en-US" dirty="0"/>
              <a:t>Generates message payload</a:t>
            </a:r>
          </a:p>
          <a:p>
            <a:pPr lvl="1"/>
            <a:r>
              <a:rPr lang="en-US" dirty="0"/>
              <a:t>Creates message</a:t>
            </a:r>
          </a:p>
          <a:p>
            <a:r>
              <a:rPr lang="en-US" dirty="0"/>
              <a:t>Message Payload</a:t>
            </a:r>
          </a:p>
          <a:p>
            <a:pPr lvl="1"/>
            <a:r>
              <a:rPr lang="en-US" dirty="0"/>
              <a:t>Formatted string such as CSV, XML, </a:t>
            </a:r>
            <a:br>
              <a:rPr lang="en-US" dirty="0"/>
            </a:br>
            <a:r>
              <a:rPr lang="en-US" dirty="0"/>
              <a:t>or JSON</a:t>
            </a:r>
          </a:p>
          <a:p>
            <a:r>
              <a:rPr lang="en-US" dirty="0"/>
              <a:t>Message</a:t>
            </a:r>
          </a:p>
          <a:p>
            <a:pPr lvl="1"/>
            <a:r>
              <a:rPr lang="en-US" dirty="0"/>
              <a:t>Information, including payload, to send to an external system in response to an event</a:t>
            </a:r>
          </a:p>
          <a:p>
            <a:pPr lvl="1"/>
            <a:endParaRPr lang="en-US" dirty="0"/>
          </a:p>
          <a:p>
            <a:pPr lvl="1"/>
            <a:endParaRPr lang="en-US" dirty="0"/>
          </a:p>
        </p:txBody>
      </p:sp>
      <p:sp>
        <p:nvSpPr>
          <p:cNvPr id="18" name="Text Box 44"/>
          <p:cNvSpPr txBox="1">
            <a:spLocks noChangeArrowheads="1"/>
          </p:cNvSpPr>
          <p:nvPr/>
        </p:nvSpPr>
        <p:spPr bwMode="auto">
          <a:xfrm>
            <a:off x="9346636" y="1478311"/>
            <a:ext cx="168794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solidFill>
                  <a:schemeClr val="bg1"/>
                </a:solidFill>
              </a:rPr>
              <a:t>EventAware EntityAdded</a:t>
            </a:r>
          </a:p>
        </p:txBody>
      </p:sp>
      <p:pic>
        <p:nvPicPr>
          <p:cNvPr id="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2144" y="4179723"/>
            <a:ext cx="1064169" cy="6771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22243" y="2689860"/>
            <a:ext cx="1020199" cy="9144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5" name="Group 24"/>
          <p:cNvGrpSpPr/>
          <p:nvPr/>
        </p:nvGrpSpPr>
        <p:grpSpPr>
          <a:xfrm>
            <a:off x="8315186" y="962755"/>
            <a:ext cx="991127" cy="1161320"/>
            <a:chOff x="2448995" y="2044222"/>
            <a:chExt cx="1532365" cy="1795498"/>
          </a:xfrm>
        </p:grpSpPr>
        <p:pic>
          <p:nvPicPr>
            <p:cNvPr id="2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48995" y="2044222"/>
              <a:ext cx="1532365" cy="17954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7" name="Group 26"/>
            <p:cNvGrpSpPr/>
            <p:nvPr/>
          </p:nvGrpSpPr>
          <p:grpSpPr>
            <a:xfrm>
              <a:off x="3298002" y="2109793"/>
              <a:ext cx="569146" cy="552157"/>
              <a:chOff x="8351520" y="2281418"/>
              <a:chExt cx="1021080" cy="990600"/>
            </a:xfrm>
          </p:grpSpPr>
          <p:sp>
            <p:nvSpPr>
              <p:cNvPr id="28" name="Arc 27"/>
              <p:cNvSpPr/>
              <p:nvPr/>
            </p:nvSpPr>
            <p:spPr bwMode="auto">
              <a:xfrm>
                <a:off x="8351520" y="2357618"/>
                <a:ext cx="838201" cy="8382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
            <p:nvSpPr>
              <p:cNvPr id="29" name="Arc 28"/>
              <p:cNvSpPr/>
              <p:nvPr/>
            </p:nvSpPr>
            <p:spPr bwMode="auto">
              <a:xfrm>
                <a:off x="8382000" y="2281418"/>
                <a:ext cx="990600" cy="990600"/>
              </a:xfrm>
              <a:prstGeom prst="arc">
                <a:avLst>
                  <a:gd name="adj1" fmla="val 17911168"/>
                  <a:gd name="adj2" fmla="val 3597263"/>
                </a:avLst>
              </a:prstGeom>
              <a:noFill/>
              <a:ln w="28575" cap="rnd" cmpd="sng" algn="ctr">
                <a:solidFill>
                  <a:schemeClr val="tx2">
                    <a:lumMod val="50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grpSp>
      </p:grpSp>
      <p:pic>
        <p:nvPicPr>
          <p:cNvPr id="307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42143" y="5562601"/>
            <a:ext cx="1219200" cy="78263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796727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components of messaging (2)</a:t>
            </a:r>
          </a:p>
        </p:txBody>
      </p:sp>
      <p:sp>
        <p:nvSpPr>
          <p:cNvPr id="4" name="Content Placeholder 3"/>
          <p:cNvSpPr>
            <a:spLocks noGrp="1"/>
          </p:cNvSpPr>
          <p:nvPr>
            <p:ph sz="half" idx="1"/>
          </p:nvPr>
        </p:nvSpPr>
        <p:spPr/>
        <p:txBody>
          <a:bodyPr/>
          <a:lstStyle/>
          <a:p>
            <a:r>
              <a:rPr lang="en-US" dirty="0"/>
              <a:t>Message table</a:t>
            </a:r>
          </a:p>
          <a:p>
            <a:pPr lvl="1"/>
            <a:r>
              <a:rPr lang="en-US" dirty="0"/>
              <a:t>Unsent messages</a:t>
            </a:r>
          </a:p>
          <a:p>
            <a:pPr lvl="1"/>
            <a:r>
              <a:rPr lang="en-US" dirty="0"/>
              <a:t>Sent messages awaiting acknowledgement</a:t>
            </a:r>
          </a:p>
          <a:p>
            <a:pPr lvl="1"/>
            <a:r>
              <a:rPr lang="en-US" dirty="0"/>
              <a:t>Sent and acknowledged with an error messages</a:t>
            </a:r>
          </a:p>
          <a:p>
            <a:r>
              <a:rPr lang="en-US" dirty="0"/>
              <a:t>Destination</a:t>
            </a:r>
          </a:p>
          <a:p>
            <a:pPr lvl="1"/>
            <a:r>
              <a:rPr lang="en-US" dirty="0"/>
              <a:t>Represents external system that receives sent messages</a:t>
            </a:r>
          </a:p>
          <a:p>
            <a:r>
              <a:rPr lang="en-US" dirty="0"/>
              <a:t>Messaging plugins</a:t>
            </a:r>
          </a:p>
          <a:p>
            <a:pPr lvl="1"/>
            <a:r>
              <a:rPr lang="en-US" dirty="0"/>
              <a:t>Transform payload</a:t>
            </a:r>
          </a:p>
          <a:p>
            <a:pPr lvl="1"/>
            <a:r>
              <a:rPr lang="en-US" dirty="0"/>
              <a:t>Sends the message</a:t>
            </a:r>
          </a:p>
          <a:p>
            <a:pPr lvl="1"/>
            <a:r>
              <a:rPr lang="en-US" dirty="0"/>
              <a:t>Process synchronous and asynchronous responses from the external system</a:t>
            </a:r>
          </a:p>
        </p:txBody>
      </p:sp>
      <p:graphicFrame>
        <p:nvGraphicFramePr>
          <p:cNvPr id="60" name="tbl XX_Msg"/>
          <p:cNvGraphicFramePr>
            <a:graphicFrameLocks noGrp="1"/>
          </p:cNvGraphicFramePr>
          <p:nvPr>
            <p:extLst>
              <p:ext uri="{D42A27DB-BD31-4B8C-83A1-F6EECF244321}">
                <p14:modId xmlns:p14="http://schemas.microsoft.com/office/powerpoint/2010/main" val="1359113236"/>
              </p:ext>
            </p:extLst>
          </p:nvPr>
        </p:nvGraphicFramePr>
        <p:xfrm>
          <a:off x="7696200" y="914400"/>
          <a:ext cx="1600200" cy="1402080"/>
        </p:xfrm>
        <a:graphic>
          <a:graphicData uri="http://schemas.openxmlformats.org/drawingml/2006/table">
            <a:tbl>
              <a:tblPr firstRow="1" bandRow="1">
                <a:effectLst>
                  <a:outerShdw blurRad="50800" dist="38100" dir="2700000" algn="tl" rotWithShape="0">
                    <a:prstClr val="black">
                      <a:alpha val="40000"/>
                    </a:prstClr>
                  </a:outerShdw>
                </a:effectLst>
                <a:tableStyleId>{93296810-A885-4BE3-A3E7-6D5BEEA58F35}</a:tableStyleId>
              </a:tblPr>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tblGrid>
              <a:tr h="317500">
                <a:tc gridSpan="3">
                  <a:txBody>
                    <a:bodyPr/>
                    <a:lstStyle/>
                    <a:p>
                      <a:pPr algn="ctr"/>
                      <a:r>
                        <a:rPr lang="en-US" sz="1600" dirty="0"/>
                        <a:t>xx_message</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211485">
                <a:tc>
                  <a:txBody>
                    <a:bodyPr/>
                    <a:lstStyle/>
                    <a:p>
                      <a:endParaRPr lang="en-US" sz="800" dirty="0"/>
                    </a:p>
                  </a:txBody>
                  <a:tcPr/>
                </a:tc>
                <a:tc>
                  <a:txBody>
                    <a:bodyPr/>
                    <a:lstStyle/>
                    <a:p>
                      <a:endParaRPr lang="en-US" sz="800"/>
                    </a:p>
                  </a:txBody>
                  <a:tcPr/>
                </a:tc>
                <a:tc>
                  <a:txBody>
                    <a:bodyPr/>
                    <a:lstStyle/>
                    <a:p>
                      <a:endParaRPr lang="en-US" sz="800" dirty="0"/>
                    </a:p>
                  </a:txBody>
                  <a:tcPr/>
                </a:tc>
                <a:extLst>
                  <a:ext uri="{0D108BD9-81ED-4DB2-BD59-A6C34878D82A}">
                    <a16:rowId xmlns:a16="http://schemas.microsoft.com/office/drawing/2014/main" val="10001"/>
                  </a:ext>
                </a:extLst>
              </a:tr>
              <a:tr h="202719">
                <a:tc>
                  <a:txBody>
                    <a:bodyPr/>
                    <a:lstStyle/>
                    <a:p>
                      <a:endParaRPr lang="en-US" sz="800" dirty="0"/>
                    </a:p>
                  </a:txBody>
                  <a:tcPr/>
                </a:tc>
                <a:tc>
                  <a:txBody>
                    <a:bodyPr/>
                    <a:lstStyle/>
                    <a:p>
                      <a:endParaRPr lang="en-US" sz="800" dirty="0"/>
                    </a:p>
                  </a:txBody>
                  <a:tcPr/>
                </a:tc>
                <a:tc>
                  <a:txBody>
                    <a:bodyPr/>
                    <a:lstStyle/>
                    <a:p>
                      <a:endParaRPr lang="en-US" sz="800"/>
                    </a:p>
                  </a:txBody>
                  <a:tcPr/>
                </a:tc>
                <a:extLst>
                  <a:ext uri="{0D108BD9-81ED-4DB2-BD59-A6C34878D82A}">
                    <a16:rowId xmlns:a16="http://schemas.microsoft.com/office/drawing/2014/main" val="10002"/>
                  </a:ext>
                </a:extLst>
              </a:tr>
              <a:tr h="202719">
                <a:tc>
                  <a:txBody>
                    <a:bodyPr/>
                    <a:lstStyle/>
                    <a:p>
                      <a:endParaRPr lang="en-US" sz="800" dirty="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3"/>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4"/>
                  </a:ext>
                </a:extLst>
              </a:tr>
              <a:tr h="202719">
                <a:tc>
                  <a:txBody>
                    <a:bodyPr/>
                    <a:lstStyle/>
                    <a:p>
                      <a:endParaRPr lang="en-US" sz="800"/>
                    </a:p>
                  </a:txBody>
                  <a:tcPr/>
                </a:tc>
                <a:tc>
                  <a:txBody>
                    <a:bodyPr/>
                    <a:lstStyle/>
                    <a:p>
                      <a:endParaRPr lang="en-US" sz="800" dirty="0"/>
                    </a:p>
                  </a:txBody>
                  <a:tcPr/>
                </a:tc>
                <a:tc>
                  <a:txBody>
                    <a:bodyPr/>
                    <a:lstStyle/>
                    <a:p>
                      <a:endParaRPr lang="en-US" sz="800" dirty="0"/>
                    </a:p>
                  </a:txBody>
                  <a:tcPr/>
                </a:tc>
                <a:extLst>
                  <a:ext uri="{0D108BD9-81ED-4DB2-BD59-A6C34878D82A}">
                    <a16:rowId xmlns:a16="http://schemas.microsoft.com/office/drawing/2014/main" val="10005"/>
                  </a:ext>
                </a:extLst>
              </a:tr>
            </a:tbl>
          </a:graphicData>
        </a:graphic>
      </p:graphicFrame>
      <p:sp>
        <p:nvSpPr>
          <p:cNvPr id="61" name="txt Request"/>
          <p:cNvSpPr txBox="1">
            <a:spLocks noChangeArrowheads="1"/>
          </p:cNvSpPr>
          <p:nvPr/>
        </p:nvSpPr>
        <p:spPr bwMode="auto">
          <a:xfrm>
            <a:off x="8941172" y="3592960"/>
            <a:ext cx="93217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a:solidFill>
                  <a:schemeClr val="bg1"/>
                </a:solidFill>
              </a:rPr>
              <a:t>Request </a:t>
            </a:r>
            <a:br>
              <a:rPr lang="en-US" sz="1600" dirty="0">
                <a:solidFill>
                  <a:schemeClr val="bg1"/>
                </a:solidFill>
              </a:rPr>
            </a:br>
            <a:r>
              <a:rPr lang="en-US" sz="1600" dirty="0">
                <a:solidFill>
                  <a:schemeClr val="bg1"/>
                </a:solidFill>
              </a:rPr>
              <a:t>Plugin</a:t>
            </a:r>
          </a:p>
        </p:txBody>
      </p:sp>
      <p:sp>
        <p:nvSpPr>
          <p:cNvPr id="62" name="txt Transport"/>
          <p:cNvSpPr txBox="1">
            <a:spLocks noChangeArrowheads="1"/>
          </p:cNvSpPr>
          <p:nvPr/>
        </p:nvSpPr>
        <p:spPr bwMode="auto">
          <a:xfrm>
            <a:off x="8940182" y="4529267"/>
            <a:ext cx="1184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a:solidFill>
                  <a:schemeClr val="bg1"/>
                </a:solidFill>
              </a:rPr>
              <a:t>Transport </a:t>
            </a:r>
            <a:br>
              <a:rPr lang="en-US" sz="1600" dirty="0">
                <a:solidFill>
                  <a:schemeClr val="bg1"/>
                </a:solidFill>
              </a:rPr>
            </a:br>
            <a:r>
              <a:rPr lang="en-US" sz="1600" dirty="0">
                <a:solidFill>
                  <a:schemeClr val="bg1"/>
                </a:solidFill>
              </a:rPr>
              <a:t>Plugin</a:t>
            </a:r>
          </a:p>
        </p:txBody>
      </p:sp>
      <p:sp>
        <p:nvSpPr>
          <p:cNvPr id="63" name="txt Reply"/>
          <p:cNvSpPr txBox="1">
            <a:spLocks noChangeArrowheads="1"/>
          </p:cNvSpPr>
          <p:nvPr/>
        </p:nvSpPr>
        <p:spPr bwMode="auto">
          <a:xfrm>
            <a:off x="8949744" y="5562601"/>
            <a:ext cx="118485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spcAft>
                <a:spcPct val="30000"/>
              </a:spcAft>
              <a:buClr>
                <a:schemeClr val="tx1"/>
              </a:buClr>
            </a:pPr>
            <a:r>
              <a:rPr lang="en-US" sz="1600" dirty="0">
                <a:solidFill>
                  <a:schemeClr val="bg1"/>
                </a:solidFill>
              </a:rPr>
              <a:t>Reply </a:t>
            </a:r>
            <a:br>
              <a:rPr lang="en-US" sz="1600" dirty="0">
                <a:solidFill>
                  <a:schemeClr val="bg1"/>
                </a:solidFill>
              </a:rPr>
            </a:br>
            <a:r>
              <a:rPr lang="en-US" sz="1600" dirty="0">
                <a:solidFill>
                  <a:schemeClr val="bg1"/>
                </a:solidFill>
              </a:rPr>
              <a:t>Plugin</a:t>
            </a:r>
          </a:p>
        </p:txBody>
      </p:sp>
      <p:sp>
        <p:nvSpPr>
          <p:cNvPr id="64" name="txt DestID"/>
          <p:cNvSpPr txBox="1">
            <a:spLocks noChangeArrowheads="1"/>
          </p:cNvSpPr>
          <p:nvPr/>
        </p:nvSpPr>
        <p:spPr bwMode="auto">
          <a:xfrm>
            <a:off x="8970097" y="2590801"/>
            <a:ext cx="1422028"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sz="1600" dirty="0">
                <a:solidFill>
                  <a:schemeClr val="bg1"/>
                </a:solidFill>
              </a:rPr>
              <a:t>Destination</a:t>
            </a:r>
            <a:br>
              <a:rPr lang="en-US" sz="1600" dirty="0">
                <a:solidFill>
                  <a:schemeClr val="bg1"/>
                </a:solidFill>
              </a:rPr>
            </a:br>
            <a:r>
              <a:rPr lang="en-US" sz="1600" dirty="0">
                <a:solidFill>
                  <a:schemeClr val="bg1"/>
                </a:solidFill>
              </a:rPr>
              <a:t>ID = 20</a:t>
            </a:r>
          </a:p>
        </p:txBody>
      </p:sp>
      <p:pic>
        <p:nvPicPr>
          <p:cNvPr id="65" name="icn Msg Destin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8600" y="2555988"/>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6" name="icn Plg Repl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1754" y="5562600"/>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7" name="inc Plg Transpor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7470" y="4564509"/>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 name="icn Plg Reques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82233" y="3573909"/>
            <a:ext cx="802008" cy="9695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045746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messaging</a:t>
            </a:r>
          </a:p>
          <a:p>
            <a:r>
              <a:rPr lang="en-US" dirty="0">
                <a:solidFill>
                  <a:schemeClr val="bg1"/>
                </a:solidFill>
              </a:rPr>
              <a:t>Walkthrough of a sample message</a:t>
            </a:r>
          </a:p>
          <a:p>
            <a:endParaRPr lang="en-US" dirty="0"/>
          </a:p>
        </p:txBody>
      </p:sp>
    </p:spTree>
    <p:extLst>
      <p:ext uri="{BB962C8B-B14F-4D97-AF65-F5344CB8AC3E}">
        <p14:creationId xmlns:p14="http://schemas.microsoft.com/office/powerpoint/2010/main" val="119220029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Use case: Bank account verification</a:t>
            </a:r>
          </a:p>
        </p:txBody>
      </p:sp>
      <p:sp>
        <p:nvSpPr>
          <p:cNvPr id="10" name="Content Placeholder 9"/>
          <p:cNvSpPr>
            <a:spLocks noGrp="1"/>
          </p:cNvSpPr>
          <p:nvPr>
            <p:ph idx="1"/>
          </p:nvPr>
        </p:nvSpPr>
        <p:spPr>
          <a:xfrm>
            <a:off x="2043113" y="4419600"/>
            <a:ext cx="8318500" cy="1981200"/>
          </a:xfrm>
        </p:spPr>
        <p:txBody>
          <a:bodyPr/>
          <a:lstStyle/>
          <a:p>
            <a:r>
              <a:rPr lang="en-US" dirty="0"/>
              <a:t>Messaging process verifies bank account details</a:t>
            </a:r>
          </a:p>
          <a:p>
            <a:pPr lvl="1"/>
            <a:r>
              <a:rPr lang="en-US" dirty="0"/>
              <a:t>Bank name, routing number, and account number </a:t>
            </a:r>
          </a:p>
          <a:p>
            <a:pPr lvl="1"/>
            <a:r>
              <a:rPr lang="en-US" dirty="0"/>
              <a:t>New and modified accounts</a:t>
            </a:r>
          </a:p>
          <a:p>
            <a:r>
              <a:rPr lang="en-US" dirty="0"/>
              <a:t>Verified? shows messaging acknowledgment status</a:t>
            </a:r>
          </a:p>
          <a:p>
            <a:pPr lvl="1"/>
            <a:r>
              <a:rPr lang="en-US" dirty="0"/>
              <a:t>Pending, Verified or Invalid</a:t>
            </a:r>
          </a:p>
        </p:txBody>
      </p:sp>
      <p:pic>
        <p:nvPicPr>
          <p:cNvPr id="2" name="Picture 1"/>
          <p:cNvPicPr>
            <a:picLocks noChangeAspect="1"/>
          </p:cNvPicPr>
          <p:nvPr/>
        </p:nvPicPr>
        <p:blipFill>
          <a:blip r:embed="rId3"/>
          <a:stretch>
            <a:fillRect/>
          </a:stretch>
        </p:blipFill>
        <p:spPr>
          <a:xfrm>
            <a:off x="1739278" y="762001"/>
            <a:ext cx="8622336" cy="3055085"/>
          </a:xfrm>
          <a:prstGeom prst="rect">
            <a:avLst/>
          </a:prstGeom>
        </p:spPr>
      </p:pic>
    </p:spTree>
    <p:extLst>
      <p:ext uri="{BB962C8B-B14F-4D97-AF65-F5344CB8AC3E}">
        <p14:creationId xmlns:p14="http://schemas.microsoft.com/office/powerpoint/2010/main" val="329817043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1: Triggering the message (1)</a:t>
            </a:r>
          </a:p>
        </p:txBody>
      </p:sp>
      <p:sp>
        <p:nvSpPr>
          <p:cNvPr id="3" name="Content Placeholder 2"/>
          <p:cNvSpPr>
            <a:spLocks noGrp="1"/>
          </p:cNvSpPr>
          <p:nvPr>
            <p:ph idx="1"/>
          </p:nvPr>
        </p:nvSpPr>
        <p:spPr>
          <a:xfrm>
            <a:off x="2045208" y="3733800"/>
            <a:ext cx="7900684" cy="2667000"/>
          </a:xfrm>
        </p:spPr>
        <p:txBody>
          <a:bodyPr/>
          <a:lstStyle/>
          <a:p>
            <a:r>
              <a:rPr lang="en-US" dirty="0"/>
              <a:t>Event</a:t>
            </a:r>
          </a:p>
          <a:p>
            <a:pPr lvl="1"/>
            <a:r>
              <a:rPr lang="en-US" dirty="0"/>
              <a:t>A notification of a change (add, update, remove)</a:t>
            </a:r>
          </a:p>
          <a:p>
            <a:pPr lvl="1"/>
            <a:r>
              <a:rPr lang="en-US" dirty="0"/>
              <a:t>May trigger Event Fired rule set, if listened by destinations(s)</a:t>
            </a:r>
          </a:p>
          <a:p>
            <a:r>
              <a:rPr lang="en-US" dirty="0" err="1"/>
              <a:t>BankAccount</a:t>
            </a:r>
            <a:r>
              <a:rPr lang="en-US" dirty="0"/>
              <a:t> is an EventAware entity</a:t>
            </a:r>
          </a:p>
          <a:p>
            <a:pPr lvl="1"/>
            <a:r>
              <a:rPr lang="en-US" dirty="0"/>
              <a:t>Once a bank account is modified (created, changed, removed) an event is triggered</a:t>
            </a:r>
          </a:p>
          <a:p>
            <a:pPr marL="400050" lvl="1" indent="0">
              <a:buNone/>
            </a:pPr>
            <a:endParaRPr lang="en-US" dirty="0"/>
          </a:p>
        </p:txBody>
      </p:sp>
      <p:pic>
        <p:nvPicPr>
          <p:cNvPr id="22" name="icn Msg Destin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87000" y="4495800"/>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a:blip r:embed="rId4"/>
          <a:stretch>
            <a:fillRect/>
          </a:stretch>
        </p:blipFill>
        <p:spPr>
          <a:xfrm>
            <a:off x="1834290" y="1259441"/>
            <a:ext cx="8688012" cy="2076740"/>
          </a:xfrm>
          <a:prstGeom prst="rect">
            <a:avLst/>
          </a:prstGeom>
        </p:spPr>
      </p:pic>
      <p:sp>
        <p:nvSpPr>
          <p:cNvPr id="4" name="Rectangular Callout 3"/>
          <p:cNvSpPr/>
          <p:nvPr/>
        </p:nvSpPr>
        <p:spPr bwMode="auto">
          <a:xfrm>
            <a:off x="8001001" y="959752"/>
            <a:ext cx="1643921" cy="1173848"/>
          </a:xfrm>
          <a:prstGeom prst="wedgeRectCallout">
            <a:avLst>
              <a:gd name="adj1" fmla="val -13070"/>
              <a:gd name="adj2" fmla="val 74270"/>
            </a:avLst>
          </a:prstGeom>
          <a:solidFill>
            <a:schemeClr val="tx1"/>
          </a:solid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1"/>
                </a:solidFill>
              </a:rPr>
              <a:t>Pending </a:t>
            </a:r>
            <a:br>
              <a:rPr lang="en-US" dirty="0">
                <a:solidFill>
                  <a:schemeClr val="bg1"/>
                </a:solidFill>
              </a:rPr>
            </a:br>
            <a:r>
              <a:rPr lang="en-US" dirty="0">
                <a:solidFill>
                  <a:schemeClr val="bg1"/>
                </a:solidFill>
              </a:rPr>
              <a:t>is </a:t>
            </a:r>
            <a:br>
              <a:rPr lang="en-US" dirty="0">
                <a:solidFill>
                  <a:schemeClr val="bg1"/>
                </a:solidFill>
              </a:rPr>
            </a:br>
            <a:r>
              <a:rPr lang="en-US" dirty="0">
                <a:solidFill>
                  <a:schemeClr val="bg1"/>
                </a:solidFill>
              </a:rPr>
              <a:t>unverified </a:t>
            </a:r>
            <a:br>
              <a:rPr lang="en-US" dirty="0">
                <a:solidFill>
                  <a:schemeClr val="bg1"/>
                </a:solidFill>
              </a:rPr>
            </a:br>
            <a:r>
              <a:rPr lang="en-US" dirty="0">
                <a:solidFill>
                  <a:schemeClr val="bg1"/>
                </a:solidFill>
              </a:rPr>
              <a:t>account </a:t>
            </a:r>
          </a:p>
        </p:txBody>
      </p:sp>
    </p:spTree>
    <p:extLst>
      <p:ext uri="{BB962C8B-B14F-4D97-AF65-F5344CB8AC3E}">
        <p14:creationId xmlns:p14="http://schemas.microsoft.com/office/powerpoint/2010/main" val="109386742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1: Triggering the message (2)</a:t>
            </a:r>
          </a:p>
        </p:txBody>
      </p:sp>
      <p:pic>
        <p:nvPicPr>
          <p:cNvPr id="17" name="Picture 16"/>
          <p:cNvPicPr>
            <a:picLocks noChangeAspect="1"/>
          </p:cNvPicPr>
          <p:nvPr/>
        </p:nvPicPr>
        <p:blipFill>
          <a:blip r:embed="rId3"/>
          <a:stretch>
            <a:fillRect/>
          </a:stretch>
        </p:blipFill>
        <p:spPr>
          <a:xfrm>
            <a:off x="1834290" y="861823"/>
            <a:ext cx="8688012" cy="2076740"/>
          </a:xfrm>
          <a:prstGeom prst="rect">
            <a:avLst/>
          </a:prstGeom>
        </p:spPr>
      </p:pic>
      <p:sp>
        <p:nvSpPr>
          <p:cNvPr id="18" name="Content Placeholder 2"/>
          <p:cNvSpPr>
            <a:spLocks noGrp="1"/>
          </p:cNvSpPr>
          <p:nvPr>
            <p:ph idx="1"/>
          </p:nvPr>
        </p:nvSpPr>
        <p:spPr>
          <a:xfrm>
            <a:off x="2029499" y="3505200"/>
            <a:ext cx="7900684" cy="2667000"/>
          </a:xfrm>
        </p:spPr>
        <p:txBody>
          <a:bodyPr/>
          <a:lstStyle/>
          <a:p>
            <a:r>
              <a:rPr lang="en-US" dirty="0"/>
              <a:t>Messaging destination listens to specific events</a:t>
            </a:r>
          </a:p>
          <a:p>
            <a:pPr lvl="1"/>
            <a:r>
              <a:rPr lang="en-US" dirty="0"/>
              <a:t>Subscribes to </a:t>
            </a:r>
            <a:r>
              <a:rPr lang="en-US" dirty="0" err="1"/>
              <a:t>BankAccountAdded</a:t>
            </a:r>
            <a:r>
              <a:rPr lang="en-US" dirty="0"/>
              <a:t> and </a:t>
            </a:r>
            <a:r>
              <a:rPr lang="en-US" dirty="0" err="1"/>
              <a:t>BankAccountChanged</a:t>
            </a:r>
            <a:r>
              <a:rPr lang="en-US" dirty="0"/>
              <a:t> events</a:t>
            </a:r>
          </a:p>
          <a:p>
            <a:pPr lvl="1"/>
            <a:r>
              <a:rPr lang="en-US" dirty="0"/>
              <a:t>Represents an external system used to reply to sent messages</a:t>
            </a:r>
          </a:p>
          <a:p>
            <a:pPr marL="400050" lvl="1" indent="0">
              <a:buNone/>
            </a:pPr>
            <a:endParaRPr lang="en-US" dirty="0"/>
          </a:p>
        </p:txBody>
      </p:sp>
    </p:spTree>
    <p:extLst>
      <p:ext uri="{BB962C8B-B14F-4D97-AF65-F5344CB8AC3E}">
        <p14:creationId xmlns:p14="http://schemas.microsoft.com/office/powerpoint/2010/main" val="407902284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1: Triggering the message (3)</a:t>
            </a:r>
          </a:p>
        </p:txBody>
      </p:sp>
      <p:sp>
        <p:nvSpPr>
          <p:cNvPr id="18" name="Content Placeholder 2"/>
          <p:cNvSpPr>
            <a:spLocks noGrp="1"/>
          </p:cNvSpPr>
          <p:nvPr>
            <p:ph idx="1"/>
          </p:nvPr>
        </p:nvSpPr>
        <p:spPr>
          <a:xfrm>
            <a:off x="2035361" y="5029200"/>
            <a:ext cx="7900684" cy="1752600"/>
          </a:xfrm>
        </p:spPr>
        <p:txBody>
          <a:bodyPr/>
          <a:lstStyle/>
          <a:p>
            <a:r>
              <a:rPr lang="en-US" dirty="0"/>
              <a:t>Console output details</a:t>
            </a:r>
          </a:p>
          <a:p>
            <a:pPr lvl="1"/>
            <a:r>
              <a:rPr lang="en-US" dirty="0"/>
              <a:t>Messaging Destination ID is 13</a:t>
            </a:r>
          </a:p>
          <a:p>
            <a:pPr lvl="1"/>
            <a:r>
              <a:rPr lang="en-US" dirty="0" err="1"/>
              <a:t>EventAware</a:t>
            </a:r>
            <a:r>
              <a:rPr lang="en-US" dirty="0"/>
              <a:t> entity is </a:t>
            </a:r>
            <a:r>
              <a:rPr lang="en-US" dirty="0" err="1"/>
              <a:t>BankAccount</a:t>
            </a:r>
            <a:endParaRPr lang="en-US" dirty="0"/>
          </a:p>
          <a:p>
            <a:pPr lvl="1"/>
            <a:r>
              <a:rPr lang="en-US" dirty="0"/>
              <a:t>Event is </a:t>
            </a:r>
            <a:r>
              <a:rPr lang="en-US" dirty="0" err="1"/>
              <a:t>BankAccountChanged</a:t>
            </a:r>
            <a:endParaRPr lang="en-US" dirty="0"/>
          </a:p>
          <a:p>
            <a:pPr marL="400050" lvl="1" indent="0">
              <a:buNone/>
            </a:pPr>
            <a:endParaRPr lang="en-US" dirty="0"/>
          </a:p>
        </p:txBody>
      </p:sp>
      <p:pic>
        <p:nvPicPr>
          <p:cNvPr id="3" name="Picture 2"/>
          <p:cNvPicPr>
            <a:picLocks noChangeAspect="1"/>
          </p:cNvPicPr>
          <p:nvPr/>
        </p:nvPicPr>
        <p:blipFill rotWithShape="1">
          <a:blip r:embed="rId3"/>
          <a:srcRect b="5024"/>
          <a:stretch/>
        </p:blipFill>
        <p:spPr>
          <a:xfrm>
            <a:off x="6553200" y="762002"/>
            <a:ext cx="3785616" cy="975359"/>
          </a:xfrm>
          <a:prstGeom prst="rect">
            <a:avLst/>
          </a:prstGeom>
        </p:spPr>
      </p:pic>
      <p:pic>
        <p:nvPicPr>
          <p:cNvPr id="4" name="Picture 3"/>
          <p:cNvPicPr>
            <a:picLocks noChangeAspect="1"/>
          </p:cNvPicPr>
          <p:nvPr/>
        </p:nvPicPr>
        <p:blipFill>
          <a:blip r:embed="rId4"/>
          <a:stretch>
            <a:fillRect/>
          </a:stretch>
        </p:blipFill>
        <p:spPr>
          <a:xfrm>
            <a:off x="1746068" y="1788950"/>
            <a:ext cx="6912737" cy="1640051"/>
          </a:xfrm>
          <a:prstGeom prst="rect">
            <a:avLst/>
          </a:prstGeom>
        </p:spPr>
      </p:pic>
      <p:pic>
        <p:nvPicPr>
          <p:cNvPr id="8" name="Picture 7"/>
          <p:cNvPicPr>
            <a:picLocks noChangeAspect="1"/>
          </p:cNvPicPr>
          <p:nvPr/>
        </p:nvPicPr>
        <p:blipFill>
          <a:blip r:embed="rId5"/>
          <a:stretch>
            <a:fillRect/>
          </a:stretch>
        </p:blipFill>
        <p:spPr>
          <a:xfrm>
            <a:off x="5474677" y="3429000"/>
            <a:ext cx="5123270" cy="1506416"/>
          </a:xfrm>
          <a:prstGeom prst="rect">
            <a:avLst/>
          </a:prstGeom>
        </p:spPr>
      </p:pic>
    </p:spTree>
    <p:extLst>
      <p:ext uri="{BB962C8B-B14F-4D97-AF65-F5344CB8AC3E}">
        <p14:creationId xmlns:p14="http://schemas.microsoft.com/office/powerpoint/2010/main" val="7199543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2: Creating a message and payload</a:t>
            </a:r>
          </a:p>
        </p:txBody>
      </p:sp>
      <p:sp>
        <p:nvSpPr>
          <p:cNvPr id="3" name="Content Placeholder 2"/>
          <p:cNvSpPr>
            <a:spLocks noGrp="1"/>
          </p:cNvSpPr>
          <p:nvPr>
            <p:ph sz="half" idx="1"/>
          </p:nvPr>
        </p:nvSpPr>
        <p:spPr>
          <a:xfrm>
            <a:off x="2043114" y="914402"/>
            <a:ext cx="8215317" cy="5475289"/>
          </a:xfrm>
        </p:spPr>
        <p:txBody>
          <a:bodyPr/>
          <a:lstStyle/>
          <a:p>
            <a:pPr lvl="1"/>
            <a:endParaRPr lang="en-US" dirty="0"/>
          </a:p>
          <a:p>
            <a:pPr lvl="1"/>
            <a:endParaRPr lang="en-US" dirty="0"/>
          </a:p>
        </p:txBody>
      </p:sp>
      <p:pic>
        <p:nvPicPr>
          <p:cNvPr id="4" name="Picture 3"/>
          <p:cNvPicPr>
            <a:picLocks noChangeAspect="1"/>
          </p:cNvPicPr>
          <p:nvPr/>
        </p:nvPicPr>
        <p:blipFill rotWithShape="1">
          <a:blip r:embed="rId3"/>
          <a:srcRect l="-412" t="4819" r="412"/>
          <a:stretch/>
        </p:blipFill>
        <p:spPr>
          <a:xfrm>
            <a:off x="2133600" y="609601"/>
            <a:ext cx="7640116" cy="1505171"/>
          </a:xfrm>
          <a:prstGeom prst="rect">
            <a:avLst/>
          </a:prstGeom>
        </p:spPr>
      </p:pic>
      <p:sp>
        <p:nvSpPr>
          <p:cNvPr id="19" name="Content Placeholder 2"/>
          <p:cNvSpPr txBox="1">
            <a:spLocks/>
          </p:cNvSpPr>
          <p:nvPr/>
        </p:nvSpPr>
        <p:spPr bwMode="auto">
          <a:xfrm>
            <a:off x="1524000" y="2082384"/>
            <a:ext cx="7900684"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Arial" pitchFamily="34" charset="0"/>
              <a:buChar char="-"/>
              <a:defRPr sz="18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8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8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8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800">
                <a:solidFill>
                  <a:schemeClr val="bg1"/>
                </a:solidFill>
                <a:latin typeface="+mn-lt"/>
              </a:defRPr>
            </a:lvl9pPr>
          </a:lstStyle>
          <a:p>
            <a:r>
              <a:rPr lang="en-US" kern="0" dirty="0"/>
              <a:t>Event Fired rule set</a:t>
            </a:r>
          </a:p>
          <a:p>
            <a:pPr lvl="1"/>
            <a:r>
              <a:rPr lang="en-US" kern="0" dirty="0"/>
              <a:t>Called for each destination-subscribed messaging event</a:t>
            </a:r>
          </a:p>
          <a:p>
            <a:pPr lvl="1"/>
            <a:r>
              <a:rPr lang="en-US" kern="0" dirty="0"/>
              <a:t>Generate a new message and payload</a:t>
            </a:r>
          </a:p>
          <a:p>
            <a:r>
              <a:rPr lang="en-US" kern="0" dirty="0"/>
              <a:t>Message payload</a:t>
            </a:r>
          </a:p>
          <a:p>
            <a:pPr lvl="1"/>
            <a:r>
              <a:rPr lang="en-US" kern="0" dirty="0"/>
              <a:t>Formatted string, such as text, xml or JSON</a:t>
            </a:r>
          </a:p>
          <a:p>
            <a:r>
              <a:rPr lang="en-US" kern="0" dirty="0"/>
              <a:t>Message database table </a:t>
            </a:r>
          </a:p>
          <a:p>
            <a:pPr lvl="1"/>
            <a:r>
              <a:rPr lang="en-US" kern="0" dirty="0"/>
              <a:t>Hub of messaging infrastructure that provides persistent storage for messages with following status:	</a:t>
            </a:r>
          </a:p>
          <a:p>
            <a:pPr lvl="2"/>
            <a:r>
              <a:rPr lang="en-US" kern="0" dirty="0"/>
              <a:t>Unsent (new)</a:t>
            </a:r>
          </a:p>
          <a:p>
            <a:pPr lvl="2"/>
            <a:r>
              <a:rPr lang="en-US" kern="0" dirty="0"/>
              <a:t>Sent and awaiting acknowledgement (pending)</a:t>
            </a:r>
          </a:p>
          <a:p>
            <a:pPr lvl="2"/>
            <a:r>
              <a:rPr lang="en-US" kern="0" dirty="0" err="1"/>
              <a:t>Retryable</a:t>
            </a:r>
            <a:r>
              <a:rPr lang="en-US" kern="0" dirty="0"/>
              <a:t> Error (</a:t>
            </a:r>
            <a:r>
              <a:rPr lang="en-US" kern="0" dirty="0" err="1"/>
              <a:t>errored</a:t>
            </a:r>
            <a:r>
              <a:rPr lang="en-US" kern="0" dirty="0"/>
              <a:t>)</a:t>
            </a:r>
          </a:p>
        </p:txBody>
      </p:sp>
      <p:pic>
        <p:nvPicPr>
          <p:cNvPr id="5" name="Picture 4"/>
          <p:cNvPicPr>
            <a:picLocks noChangeAspect="1"/>
          </p:cNvPicPr>
          <p:nvPr/>
        </p:nvPicPr>
        <p:blipFill>
          <a:blip r:embed="rId4"/>
          <a:stretch>
            <a:fillRect/>
          </a:stretch>
        </p:blipFill>
        <p:spPr>
          <a:xfrm>
            <a:off x="7748275" y="3048000"/>
            <a:ext cx="2882318" cy="1447800"/>
          </a:xfrm>
          <a:prstGeom prst="rect">
            <a:avLst/>
          </a:prstGeom>
        </p:spPr>
      </p:pic>
    </p:spTree>
    <p:extLst>
      <p:ext uri="{BB962C8B-B14F-4D97-AF65-F5344CB8AC3E}">
        <p14:creationId xmlns:p14="http://schemas.microsoft.com/office/powerpoint/2010/main" val="118694572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Stage 3: Transform the payload</a:t>
            </a:r>
          </a:p>
        </p:txBody>
      </p:sp>
      <p:sp>
        <p:nvSpPr>
          <p:cNvPr id="3" name="Content Placeholder 2"/>
          <p:cNvSpPr>
            <a:spLocks noGrp="1"/>
          </p:cNvSpPr>
          <p:nvPr>
            <p:ph idx="1"/>
          </p:nvPr>
        </p:nvSpPr>
        <p:spPr>
          <a:xfrm>
            <a:off x="2011598" y="4800600"/>
            <a:ext cx="8318500" cy="1828800"/>
          </a:xfrm>
        </p:spPr>
        <p:txBody>
          <a:bodyPr/>
          <a:lstStyle/>
          <a:p>
            <a:r>
              <a:rPr lang="en-US" dirty="0"/>
              <a:t>Destination-specific messaging plugins send the message plugins process the outbound request messages</a:t>
            </a:r>
          </a:p>
          <a:p>
            <a:pPr lvl="1"/>
            <a:r>
              <a:rPr lang="en-US" dirty="0"/>
              <a:t>Request plugin</a:t>
            </a:r>
          </a:p>
          <a:p>
            <a:pPr lvl="2"/>
            <a:r>
              <a:rPr lang="en-US" dirty="0"/>
              <a:t>Optional payload transformation</a:t>
            </a:r>
          </a:p>
        </p:txBody>
      </p:sp>
      <p:pic>
        <p:nvPicPr>
          <p:cNvPr id="4" name="Picture 3"/>
          <p:cNvPicPr>
            <a:picLocks noChangeAspect="1"/>
          </p:cNvPicPr>
          <p:nvPr/>
        </p:nvPicPr>
        <p:blipFill>
          <a:blip r:embed="rId3"/>
          <a:stretch>
            <a:fillRect/>
          </a:stretch>
        </p:blipFill>
        <p:spPr>
          <a:xfrm>
            <a:off x="6781800" y="2895600"/>
            <a:ext cx="4172681" cy="1631139"/>
          </a:xfrm>
          <a:prstGeom prst="rect">
            <a:avLst/>
          </a:prstGeom>
        </p:spPr>
      </p:pic>
      <p:pic>
        <p:nvPicPr>
          <p:cNvPr id="5" name="Picture 4"/>
          <p:cNvPicPr>
            <a:picLocks noChangeAspect="1"/>
          </p:cNvPicPr>
          <p:nvPr/>
        </p:nvPicPr>
        <p:blipFill>
          <a:blip r:embed="rId4"/>
          <a:stretch>
            <a:fillRect/>
          </a:stretch>
        </p:blipFill>
        <p:spPr>
          <a:xfrm>
            <a:off x="1828801" y="685800"/>
            <a:ext cx="4681957" cy="2559866"/>
          </a:xfrm>
          <a:prstGeom prst="rect">
            <a:avLst/>
          </a:prstGeom>
        </p:spPr>
      </p:pic>
    </p:spTree>
    <p:extLst>
      <p:ext uri="{BB962C8B-B14F-4D97-AF65-F5344CB8AC3E}">
        <p14:creationId xmlns:p14="http://schemas.microsoft.com/office/powerpoint/2010/main" val="361227856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872"/>
            <a:ext cx="10363200" cy="947928"/>
          </a:xfrm>
        </p:spPr>
        <p:txBody>
          <a:bodyPr/>
          <a:lstStyle/>
          <a:p>
            <a:r>
              <a:rPr lang="en-US" dirty="0"/>
              <a:t>Stage 4: Sending the message to an external system</a:t>
            </a:r>
          </a:p>
        </p:txBody>
      </p:sp>
      <p:sp>
        <p:nvSpPr>
          <p:cNvPr id="3" name="Content Placeholder 2"/>
          <p:cNvSpPr>
            <a:spLocks noGrp="1"/>
          </p:cNvSpPr>
          <p:nvPr>
            <p:ph idx="1"/>
          </p:nvPr>
        </p:nvSpPr>
        <p:spPr>
          <a:xfrm>
            <a:off x="1066800" y="1525226"/>
            <a:ext cx="3505199" cy="1828800"/>
          </a:xfrm>
        </p:spPr>
        <p:txBody>
          <a:bodyPr/>
          <a:lstStyle/>
          <a:p>
            <a:r>
              <a:rPr lang="en-US" dirty="0"/>
              <a:t>Destination-specific messaging plugins send the message plugins process the outbound request messages</a:t>
            </a:r>
          </a:p>
          <a:p>
            <a:pPr lvl="1"/>
            <a:r>
              <a:rPr lang="en-US" dirty="0"/>
              <a:t>Transport plugin</a:t>
            </a:r>
          </a:p>
          <a:p>
            <a:pPr lvl="2"/>
            <a:r>
              <a:rPr lang="en-US" dirty="0"/>
              <a:t>Sends the payload to the external system</a:t>
            </a:r>
          </a:p>
          <a:p>
            <a:pPr lvl="2"/>
            <a:r>
              <a:rPr lang="en-US" dirty="0"/>
              <a:t>Either original payload or transformed payload</a:t>
            </a:r>
          </a:p>
        </p:txBody>
      </p:sp>
      <p:pic>
        <p:nvPicPr>
          <p:cNvPr id="6" name="Picture 5"/>
          <p:cNvPicPr>
            <a:picLocks noChangeAspect="1"/>
          </p:cNvPicPr>
          <p:nvPr/>
        </p:nvPicPr>
        <p:blipFill>
          <a:blip r:embed="rId3"/>
          <a:stretch>
            <a:fillRect/>
          </a:stretch>
        </p:blipFill>
        <p:spPr>
          <a:xfrm>
            <a:off x="5375832" y="1066801"/>
            <a:ext cx="4962984" cy="2745651"/>
          </a:xfrm>
          <a:prstGeom prst="rect">
            <a:avLst/>
          </a:prstGeom>
        </p:spPr>
      </p:pic>
      <p:pic>
        <p:nvPicPr>
          <p:cNvPr id="7" name="Picture 6"/>
          <p:cNvPicPr>
            <a:picLocks noChangeAspect="1"/>
          </p:cNvPicPr>
          <p:nvPr/>
        </p:nvPicPr>
        <p:blipFill>
          <a:blip r:embed="rId4"/>
          <a:stretch>
            <a:fillRect/>
          </a:stretch>
        </p:blipFill>
        <p:spPr>
          <a:xfrm>
            <a:off x="5791201" y="4267201"/>
            <a:ext cx="4383631" cy="1923927"/>
          </a:xfrm>
          <a:prstGeom prst="rect">
            <a:avLst/>
          </a:prstGeom>
        </p:spPr>
      </p:pic>
    </p:spTree>
    <p:extLst>
      <p:ext uri="{BB962C8B-B14F-4D97-AF65-F5344CB8AC3E}">
        <p14:creationId xmlns:p14="http://schemas.microsoft.com/office/powerpoint/2010/main" val="52740120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872"/>
            <a:ext cx="10363200" cy="947928"/>
          </a:xfrm>
        </p:spPr>
        <p:txBody>
          <a:bodyPr/>
          <a:lstStyle/>
          <a:p>
            <a:r>
              <a:rPr lang="en-US" dirty="0"/>
              <a:t>Stage 5: Processing acknowledgement</a:t>
            </a:r>
          </a:p>
        </p:txBody>
      </p:sp>
      <p:sp>
        <p:nvSpPr>
          <p:cNvPr id="3" name="Content Placeholder 2"/>
          <p:cNvSpPr>
            <a:spLocks noGrp="1"/>
          </p:cNvSpPr>
          <p:nvPr>
            <p:ph idx="1"/>
          </p:nvPr>
        </p:nvSpPr>
        <p:spPr>
          <a:xfrm>
            <a:off x="990600" y="984611"/>
            <a:ext cx="3505199" cy="1828800"/>
          </a:xfrm>
        </p:spPr>
        <p:txBody>
          <a:bodyPr/>
          <a:lstStyle/>
          <a:p>
            <a:r>
              <a:rPr lang="en-US" sz="2000" dirty="0"/>
              <a:t>External system</a:t>
            </a:r>
          </a:p>
          <a:p>
            <a:pPr lvl="1"/>
            <a:r>
              <a:rPr lang="en-US" sz="1800" dirty="0"/>
              <a:t>Receives sent message</a:t>
            </a:r>
          </a:p>
          <a:p>
            <a:pPr lvl="1"/>
            <a:r>
              <a:rPr lang="en-US" sz="1800" dirty="0"/>
              <a:t>Sends back a response</a:t>
            </a:r>
          </a:p>
          <a:p>
            <a:r>
              <a:rPr lang="en-US" sz="2000" dirty="0"/>
              <a:t>Guidewire application receives a reply message</a:t>
            </a:r>
          </a:p>
          <a:p>
            <a:pPr lvl="1"/>
            <a:r>
              <a:rPr lang="en-US" sz="1800" dirty="0"/>
              <a:t>Processed by transport plugin (synchronous)</a:t>
            </a:r>
          </a:p>
          <a:p>
            <a:pPr lvl="1"/>
            <a:r>
              <a:rPr lang="en-US" sz="1800" dirty="0"/>
              <a:t>Processed by Reply plugin or API </a:t>
            </a:r>
            <a:r>
              <a:rPr lang="en-US" sz="1800" dirty="0" smtClean="0"/>
              <a:t>(asynchronous)</a:t>
            </a:r>
            <a:endParaRPr lang="en-US" sz="1800" dirty="0"/>
          </a:p>
          <a:p>
            <a:pPr lvl="1"/>
            <a:endParaRPr lang="en-US" sz="1800" dirty="0"/>
          </a:p>
          <a:p>
            <a:pPr lvl="1"/>
            <a:endParaRPr lang="en-US" sz="1800" dirty="0"/>
          </a:p>
          <a:p>
            <a:pPr lvl="1"/>
            <a:endParaRPr lang="en-US" sz="1800" dirty="0"/>
          </a:p>
          <a:p>
            <a:pPr lvl="1"/>
            <a:endParaRPr lang="en-US" sz="1800" dirty="0"/>
          </a:p>
          <a:p>
            <a:r>
              <a:rPr lang="en-US" sz="2000" dirty="0"/>
              <a:t>Response determines the </a:t>
            </a:r>
            <a:r>
              <a:rPr lang="en-US" sz="2000" b="1" dirty="0"/>
              <a:t>Verified? </a:t>
            </a:r>
            <a:r>
              <a:rPr lang="en-US" sz="2000" dirty="0"/>
              <a:t>Field value</a:t>
            </a:r>
          </a:p>
          <a:p>
            <a:pPr lvl="1"/>
            <a:r>
              <a:rPr lang="en-US" sz="1800" dirty="0"/>
              <a:t>Verified or Invalid</a:t>
            </a:r>
          </a:p>
        </p:txBody>
      </p:sp>
      <p:pic>
        <p:nvPicPr>
          <p:cNvPr id="4" name="Picture 3"/>
          <p:cNvPicPr>
            <a:picLocks noChangeAspect="1"/>
          </p:cNvPicPr>
          <p:nvPr/>
        </p:nvPicPr>
        <p:blipFill>
          <a:blip r:embed="rId3"/>
          <a:stretch>
            <a:fillRect/>
          </a:stretch>
        </p:blipFill>
        <p:spPr>
          <a:xfrm>
            <a:off x="5715000" y="834663"/>
            <a:ext cx="6124575" cy="3209925"/>
          </a:xfrm>
          <a:prstGeom prst="rect">
            <a:avLst/>
          </a:prstGeom>
        </p:spPr>
      </p:pic>
      <p:pic>
        <p:nvPicPr>
          <p:cNvPr id="5" name="Picture 4"/>
          <p:cNvPicPr>
            <a:picLocks noChangeAspect="1"/>
          </p:cNvPicPr>
          <p:nvPr/>
        </p:nvPicPr>
        <p:blipFill>
          <a:blip r:embed="rId4"/>
          <a:stretch>
            <a:fillRect/>
          </a:stretch>
        </p:blipFill>
        <p:spPr>
          <a:xfrm>
            <a:off x="5685453" y="4953000"/>
            <a:ext cx="5925377" cy="1438476"/>
          </a:xfrm>
          <a:prstGeom prst="rect">
            <a:avLst/>
          </a:prstGeom>
        </p:spPr>
      </p:pic>
      <p:pic>
        <p:nvPicPr>
          <p:cNvPr id="8" name="Picture 7"/>
          <p:cNvPicPr>
            <a:picLocks noChangeAspect="1"/>
          </p:cNvPicPr>
          <p:nvPr/>
        </p:nvPicPr>
        <p:blipFill>
          <a:blip r:embed="rId5"/>
          <a:stretch>
            <a:fillRect/>
          </a:stretch>
        </p:blipFill>
        <p:spPr>
          <a:xfrm>
            <a:off x="558733" y="4049253"/>
            <a:ext cx="5125165" cy="1057423"/>
          </a:xfrm>
          <a:prstGeom prst="rect">
            <a:avLst/>
          </a:prstGeom>
        </p:spPr>
      </p:pic>
    </p:spTree>
    <p:extLst>
      <p:ext uri="{BB962C8B-B14F-4D97-AF65-F5344CB8AC3E}">
        <p14:creationId xmlns:p14="http://schemas.microsoft.com/office/powerpoint/2010/main" val="111651391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872"/>
            <a:ext cx="10363200" cy="947928"/>
          </a:xfrm>
        </p:spPr>
        <p:txBody>
          <a:bodyPr/>
          <a:lstStyle/>
          <a:p>
            <a:r>
              <a:rPr lang="en-US" dirty="0"/>
              <a:t>Guidewire servers and messaging transactions</a:t>
            </a:r>
          </a:p>
        </p:txBody>
      </p:sp>
      <p:sp>
        <p:nvSpPr>
          <p:cNvPr id="3" name="Content Placeholder 2"/>
          <p:cNvSpPr>
            <a:spLocks noGrp="1"/>
          </p:cNvSpPr>
          <p:nvPr>
            <p:ph idx="1"/>
          </p:nvPr>
        </p:nvSpPr>
        <p:spPr>
          <a:xfrm>
            <a:off x="838200" y="4191000"/>
            <a:ext cx="10591800" cy="1828800"/>
          </a:xfrm>
        </p:spPr>
        <p:txBody>
          <a:bodyPr/>
          <a:lstStyle/>
          <a:p>
            <a:r>
              <a:rPr lang="en-US" sz="2000" dirty="0"/>
              <a:t>Messaging is managed in multiple contexts</a:t>
            </a:r>
          </a:p>
          <a:p>
            <a:pPr lvl="1"/>
            <a:r>
              <a:rPr lang="en-US" sz="1800" dirty="0"/>
              <a:t>The application context processes message creation (on server(s) with the “</a:t>
            </a:r>
            <a:r>
              <a:rPr lang="en-US" sz="1800" dirty="0" err="1"/>
              <a:t>ui</a:t>
            </a:r>
            <a:r>
              <a:rPr lang="en-US" sz="1800" dirty="0"/>
              <a:t>” role)</a:t>
            </a:r>
          </a:p>
          <a:p>
            <a:pPr lvl="1"/>
            <a:r>
              <a:rPr lang="en-US" sz="1800" dirty="0"/>
              <a:t>All other work is done in the integration context (on server(s) with the “messaging” role)</a:t>
            </a:r>
          </a:p>
          <a:p>
            <a:r>
              <a:rPr lang="en-US" sz="2000" dirty="0"/>
              <a:t>Messaging occurs across multiple transactions</a:t>
            </a:r>
          </a:p>
          <a:p>
            <a:pPr lvl="1"/>
            <a:r>
              <a:rPr lang="en-US" sz="1800" dirty="0"/>
              <a:t>If an exception is thrown, work in the current transaction is rolled back</a:t>
            </a:r>
          </a:p>
        </p:txBody>
      </p:sp>
      <p:pic>
        <p:nvPicPr>
          <p:cNvPr id="6" name="Picture 5"/>
          <p:cNvPicPr>
            <a:picLocks noChangeAspect="1"/>
          </p:cNvPicPr>
          <p:nvPr/>
        </p:nvPicPr>
        <p:blipFill>
          <a:blip r:embed="rId3"/>
          <a:stretch>
            <a:fillRect/>
          </a:stretch>
        </p:blipFill>
        <p:spPr>
          <a:xfrm>
            <a:off x="533400" y="592836"/>
            <a:ext cx="11098174" cy="3400900"/>
          </a:xfrm>
          <a:prstGeom prst="rect">
            <a:avLst/>
          </a:prstGeom>
        </p:spPr>
      </p:pic>
    </p:spTree>
    <p:extLst>
      <p:ext uri="{BB962C8B-B14F-4D97-AF65-F5344CB8AC3E}">
        <p14:creationId xmlns:p14="http://schemas.microsoft.com/office/powerpoint/2010/main" val="103174494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872"/>
            <a:ext cx="10363200" cy="947928"/>
          </a:xfrm>
        </p:spPr>
        <p:txBody>
          <a:bodyPr/>
          <a:lstStyle/>
          <a:p>
            <a:r>
              <a:rPr lang="en-US" dirty="0"/>
              <a:t>Message plugin interfaces</a:t>
            </a:r>
          </a:p>
        </p:txBody>
      </p:sp>
      <p:sp>
        <p:nvSpPr>
          <p:cNvPr id="4" name="Content Placeholder 3"/>
          <p:cNvSpPr>
            <a:spLocks noGrp="1"/>
          </p:cNvSpPr>
          <p:nvPr>
            <p:ph idx="1"/>
          </p:nvPr>
        </p:nvSpPr>
        <p:spPr/>
        <p:txBody>
          <a:bodyPr/>
          <a:lstStyle/>
          <a:p>
            <a:endParaRPr lang="en-US"/>
          </a:p>
        </p:txBody>
      </p:sp>
      <p:pic>
        <p:nvPicPr>
          <p:cNvPr id="5" name="Picture 4"/>
          <p:cNvPicPr>
            <a:picLocks noChangeAspect="1"/>
          </p:cNvPicPr>
          <p:nvPr/>
        </p:nvPicPr>
        <p:blipFill>
          <a:blip r:embed="rId3"/>
          <a:stretch>
            <a:fillRect/>
          </a:stretch>
        </p:blipFill>
        <p:spPr>
          <a:xfrm>
            <a:off x="437360" y="680654"/>
            <a:ext cx="11317279" cy="5496692"/>
          </a:xfrm>
          <a:prstGeom prst="rect">
            <a:avLst/>
          </a:prstGeom>
        </p:spPr>
      </p:pic>
    </p:spTree>
    <p:extLst>
      <p:ext uri="{BB962C8B-B14F-4D97-AF65-F5344CB8AC3E}">
        <p14:creationId xmlns:p14="http://schemas.microsoft.com/office/powerpoint/2010/main" val="233069401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872"/>
            <a:ext cx="10363200" cy="947928"/>
          </a:xfrm>
        </p:spPr>
        <p:txBody>
          <a:bodyPr/>
          <a:lstStyle/>
          <a:p>
            <a:r>
              <a:rPr lang="en-US" dirty="0"/>
              <a:t>Training: Messaging</a:t>
            </a:r>
          </a:p>
        </p:txBody>
      </p:sp>
      <p:sp>
        <p:nvSpPr>
          <p:cNvPr id="3" name="Content Placeholder 2"/>
          <p:cNvSpPr>
            <a:spLocks noGrp="1"/>
          </p:cNvSpPr>
          <p:nvPr>
            <p:ph idx="1"/>
          </p:nvPr>
        </p:nvSpPr>
        <p:spPr>
          <a:xfrm>
            <a:off x="429299" y="1066800"/>
            <a:ext cx="7886700" cy="1828800"/>
          </a:xfrm>
        </p:spPr>
        <p:txBody>
          <a:bodyPr/>
          <a:lstStyle/>
          <a:p>
            <a:r>
              <a:rPr lang="en-US" sz="2000" dirty="0"/>
              <a:t>Available only in the </a:t>
            </a:r>
            <a:r>
              <a:rPr lang="en-US" sz="2000" dirty="0" err="1"/>
              <a:t>TrainingApp</a:t>
            </a:r>
            <a:r>
              <a:rPr lang="en-US" sz="2000" dirty="0"/>
              <a:t> application</a:t>
            </a:r>
          </a:p>
          <a:p>
            <a:pPr lvl="1"/>
            <a:r>
              <a:rPr lang="en-US" sz="1600" dirty="0"/>
              <a:t>Administration tab </a:t>
            </a:r>
            <a:r>
              <a:rPr lang="en-US" sz="1600" dirty="0">
                <a:sym typeface="Wingdings" panose="05000000000000000000" pitchFamily="2" charset="2"/>
              </a:rPr>
              <a:t> Training: Messaging</a:t>
            </a:r>
          </a:p>
          <a:p>
            <a:r>
              <a:rPr lang="en-US" sz="2000" dirty="0">
                <a:sym typeface="Wingdings" panose="05000000000000000000" pitchFamily="2" charset="2"/>
              </a:rPr>
              <a:t>Message Table</a:t>
            </a:r>
          </a:p>
          <a:p>
            <a:pPr lvl="1"/>
            <a:r>
              <a:rPr lang="en-US" sz="1600" dirty="0">
                <a:sym typeface="Wingdings" panose="05000000000000000000" pitchFamily="2" charset="2"/>
              </a:rPr>
              <a:t>Shows pending send (unsent), pending acknowledgement (sent), and </a:t>
            </a:r>
            <a:r>
              <a:rPr lang="en-US" sz="1600" dirty="0" err="1">
                <a:sym typeface="Wingdings" panose="05000000000000000000" pitchFamily="2" charset="2"/>
              </a:rPr>
              <a:t>Retryable</a:t>
            </a:r>
            <a:r>
              <a:rPr lang="en-US" sz="1600" dirty="0">
                <a:sym typeface="Wingdings" panose="05000000000000000000" pitchFamily="2" charset="2"/>
              </a:rPr>
              <a:t> error (</a:t>
            </a:r>
            <a:r>
              <a:rPr lang="en-US" sz="1600" dirty="0" err="1">
                <a:sym typeface="Wingdings" panose="05000000000000000000" pitchFamily="2" charset="2"/>
              </a:rPr>
              <a:t>errored</a:t>
            </a:r>
            <a:r>
              <a:rPr lang="en-US" sz="1600" dirty="0">
                <a:sym typeface="Wingdings" panose="05000000000000000000" pitchFamily="2" charset="2"/>
              </a:rPr>
              <a:t> messages)</a:t>
            </a:r>
          </a:p>
          <a:p>
            <a:r>
              <a:rPr lang="en-US" sz="2000" dirty="0" err="1"/>
              <a:t>MessageHistory</a:t>
            </a:r>
            <a:r>
              <a:rPr lang="en-US" sz="2000" dirty="0"/>
              <a:t> Table</a:t>
            </a:r>
          </a:p>
          <a:p>
            <a:pPr lvl="1"/>
            <a:r>
              <a:rPr lang="en-US" sz="1600" dirty="0"/>
              <a:t>Shows acknowledged, duplicate, or </a:t>
            </a:r>
            <a:r>
              <a:rPr lang="en-US" sz="1600" dirty="0" err="1"/>
              <a:t>errored</a:t>
            </a:r>
            <a:r>
              <a:rPr lang="en-US" sz="1600" dirty="0"/>
              <a:t> messages</a:t>
            </a:r>
          </a:p>
          <a:p>
            <a:r>
              <a:rPr lang="en-US" sz="2000" dirty="0"/>
              <a:t>Message Administration</a:t>
            </a:r>
          </a:p>
          <a:p>
            <a:pPr lvl="1"/>
            <a:r>
              <a:rPr lang="en-US" sz="1800" dirty="0"/>
              <a:t>A copy of the Message Queues screen found in all </a:t>
            </a:r>
            <a:r>
              <a:rPr lang="en-US" sz="1800" dirty="0" err="1"/>
              <a:t>InsuranceSuite</a:t>
            </a:r>
            <a:r>
              <a:rPr lang="en-US" sz="1800" dirty="0"/>
              <a:t> applications</a:t>
            </a:r>
          </a:p>
        </p:txBody>
      </p:sp>
      <p:pic>
        <p:nvPicPr>
          <p:cNvPr id="4" name="Picture 3"/>
          <p:cNvPicPr>
            <a:picLocks noChangeAspect="1"/>
          </p:cNvPicPr>
          <p:nvPr/>
        </p:nvPicPr>
        <p:blipFill>
          <a:blip r:embed="rId3"/>
          <a:stretch>
            <a:fillRect/>
          </a:stretch>
        </p:blipFill>
        <p:spPr>
          <a:xfrm>
            <a:off x="8610600" y="762000"/>
            <a:ext cx="3219899" cy="4191585"/>
          </a:xfrm>
          <a:prstGeom prst="rect">
            <a:avLst/>
          </a:prstGeom>
        </p:spPr>
      </p:pic>
    </p:spTree>
    <p:extLst>
      <p:ext uri="{BB962C8B-B14F-4D97-AF65-F5344CB8AC3E}">
        <p14:creationId xmlns:p14="http://schemas.microsoft.com/office/powerpoint/2010/main" val="417989896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872"/>
            <a:ext cx="10363200" cy="947928"/>
          </a:xfrm>
        </p:spPr>
        <p:txBody>
          <a:bodyPr/>
          <a:lstStyle/>
          <a:p>
            <a:r>
              <a:rPr lang="en-US" dirty="0"/>
              <a:t>Training: Messaging – Demo Screens</a:t>
            </a:r>
          </a:p>
        </p:txBody>
      </p:sp>
      <p:sp>
        <p:nvSpPr>
          <p:cNvPr id="3" name="Content Placeholder 2"/>
          <p:cNvSpPr>
            <a:spLocks noGrp="1"/>
          </p:cNvSpPr>
          <p:nvPr>
            <p:ph idx="1"/>
          </p:nvPr>
        </p:nvSpPr>
        <p:spPr>
          <a:xfrm>
            <a:off x="581699" y="4220201"/>
            <a:ext cx="11153102" cy="1828800"/>
          </a:xfrm>
        </p:spPr>
        <p:txBody>
          <a:bodyPr/>
          <a:lstStyle/>
          <a:p>
            <a:r>
              <a:rPr lang="en-US" sz="2000" dirty="0"/>
              <a:t>Message Acknowledgement </a:t>
            </a:r>
          </a:p>
          <a:p>
            <a:pPr lvl="1"/>
            <a:r>
              <a:rPr lang="en-US" sz="1600" dirty="0"/>
              <a:t>Simulates message acknowledgement from an external system for a given message reference ID</a:t>
            </a:r>
          </a:p>
          <a:p>
            <a:r>
              <a:rPr lang="en-US" sz="2000" dirty="0"/>
              <a:t>Safe Ordering </a:t>
            </a:r>
          </a:p>
          <a:p>
            <a:pPr lvl="1"/>
            <a:r>
              <a:rPr lang="en-US" sz="1600" dirty="0"/>
              <a:t>Lets you send multiple messages for the same entity for safe-order and non-safe-order entity</a:t>
            </a:r>
          </a:p>
        </p:txBody>
      </p:sp>
      <p:pic>
        <p:nvPicPr>
          <p:cNvPr id="5" name="Picture 4"/>
          <p:cNvPicPr>
            <a:picLocks noChangeAspect="1"/>
          </p:cNvPicPr>
          <p:nvPr/>
        </p:nvPicPr>
        <p:blipFill>
          <a:blip r:embed="rId3"/>
          <a:stretch>
            <a:fillRect/>
          </a:stretch>
        </p:blipFill>
        <p:spPr>
          <a:xfrm>
            <a:off x="4800600" y="1093237"/>
            <a:ext cx="7011378" cy="3086531"/>
          </a:xfrm>
          <a:prstGeom prst="rect">
            <a:avLst/>
          </a:prstGeom>
        </p:spPr>
      </p:pic>
      <p:sp>
        <p:nvSpPr>
          <p:cNvPr id="6" name="Content Placeholder 2"/>
          <p:cNvSpPr txBox="1">
            <a:spLocks/>
          </p:cNvSpPr>
          <p:nvPr/>
        </p:nvSpPr>
        <p:spPr bwMode="auto">
          <a:xfrm>
            <a:off x="581699" y="1468792"/>
            <a:ext cx="4381011"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sz="2000" kern="0" dirty="0"/>
              <a:t>Each demo screen has a </a:t>
            </a:r>
            <a:r>
              <a:rPr lang="en-US" sz="2000" b="1" kern="0" dirty="0"/>
              <a:t>Display instructions</a:t>
            </a:r>
            <a:r>
              <a:rPr lang="en-US" sz="2000" kern="0" dirty="0"/>
              <a:t> link</a:t>
            </a:r>
          </a:p>
          <a:p>
            <a:r>
              <a:rPr lang="en-US" sz="2000" kern="0" dirty="0">
                <a:sym typeface="Wingdings" panose="05000000000000000000" pitchFamily="2" charset="2"/>
              </a:rPr>
              <a:t>Message Generator</a:t>
            </a:r>
          </a:p>
          <a:p>
            <a:pPr lvl="1"/>
            <a:r>
              <a:rPr lang="en-US" sz="1600" kern="0" dirty="0">
                <a:sym typeface="Wingdings" panose="05000000000000000000" pitchFamily="2" charset="2"/>
              </a:rPr>
              <a:t>Creates a new message for a given message reference ID</a:t>
            </a:r>
          </a:p>
          <a:p>
            <a:r>
              <a:rPr lang="en-US" sz="2000" kern="0" dirty="0"/>
              <a:t>Message Exception</a:t>
            </a:r>
          </a:p>
          <a:p>
            <a:pPr lvl="1"/>
            <a:r>
              <a:rPr lang="en-US" sz="1600" kern="0" dirty="0"/>
              <a:t>Throws an exception for a given message reference ID</a:t>
            </a:r>
            <a:endParaRPr lang="en-US" sz="1800" kern="0" dirty="0"/>
          </a:p>
        </p:txBody>
      </p:sp>
    </p:spTree>
    <p:extLst>
      <p:ext uri="{BB962C8B-B14F-4D97-AF65-F5344CB8AC3E}">
        <p14:creationId xmlns:p14="http://schemas.microsoft.com/office/powerpoint/2010/main" val="364534045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872"/>
            <a:ext cx="10363200" cy="947928"/>
          </a:xfrm>
        </p:spPr>
        <p:txBody>
          <a:bodyPr/>
          <a:lstStyle/>
          <a:p>
            <a:r>
              <a:rPr lang="en-US" dirty="0"/>
              <a:t>Message Queues</a:t>
            </a:r>
          </a:p>
        </p:txBody>
      </p:sp>
      <p:sp>
        <p:nvSpPr>
          <p:cNvPr id="6" name="Content Placeholder 2"/>
          <p:cNvSpPr txBox="1">
            <a:spLocks/>
          </p:cNvSpPr>
          <p:nvPr/>
        </p:nvSpPr>
        <p:spPr bwMode="auto">
          <a:xfrm>
            <a:off x="581699" y="1066800"/>
            <a:ext cx="4381011"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endParaRPr lang="en-US" sz="1800" kern="0" dirty="0"/>
          </a:p>
        </p:txBody>
      </p:sp>
      <p:pic>
        <p:nvPicPr>
          <p:cNvPr id="4" name="Picture 3"/>
          <p:cNvPicPr>
            <a:picLocks noChangeAspect="1"/>
          </p:cNvPicPr>
          <p:nvPr/>
        </p:nvPicPr>
        <p:blipFill>
          <a:blip r:embed="rId3"/>
          <a:stretch>
            <a:fillRect/>
          </a:stretch>
        </p:blipFill>
        <p:spPr>
          <a:xfrm>
            <a:off x="4066106" y="567954"/>
            <a:ext cx="7668695" cy="4877481"/>
          </a:xfrm>
          <a:prstGeom prst="rect">
            <a:avLst/>
          </a:prstGeom>
        </p:spPr>
      </p:pic>
      <p:sp>
        <p:nvSpPr>
          <p:cNvPr id="7" name="Content Placeholder 6"/>
          <p:cNvSpPr>
            <a:spLocks noGrp="1"/>
          </p:cNvSpPr>
          <p:nvPr>
            <p:ph idx="1"/>
          </p:nvPr>
        </p:nvSpPr>
        <p:spPr>
          <a:xfrm>
            <a:off x="692151" y="914400"/>
            <a:ext cx="3373955" cy="1828800"/>
          </a:xfrm>
        </p:spPr>
        <p:txBody>
          <a:bodyPr/>
          <a:lstStyle/>
          <a:p>
            <a:r>
              <a:rPr lang="en-US" dirty="0"/>
              <a:t>A series of drilldown screens for message administration</a:t>
            </a:r>
          </a:p>
          <a:p>
            <a:r>
              <a:rPr lang="en-US" dirty="0"/>
              <a:t>Administration tab</a:t>
            </a:r>
          </a:p>
          <a:p>
            <a:pPr lvl="1"/>
            <a:r>
              <a:rPr lang="en-US" b="1" dirty="0"/>
              <a:t>Monitoring </a:t>
            </a:r>
            <a:r>
              <a:rPr lang="en-US" b="1" dirty="0">
                <a:sym typeface="Wingdings" panose="05000000000000000000" pitchFamily="2" charset="2"/>
              </a:rPr>
              <a:t>Message Queues</a:t>
            </a:r>
            <a:r>
              <a:rPr lang="en-US" dirty="0">
                <a:sym typeface="Wingdings" panose="05000000000000000000" pitchFamily="2" charset="2"/>
              </a:rPr>
              <a:t>, or</a:t>
            </a:r>
          </a:p>
          <a:p>
            <a:pPr lvl="1"/>
            <a:r>
              <a:rPr lang="en-US" b="1" dirty="0">
                <a:sym typeface="Wingdings" panose="05000000000000000000" pitchFamily="2" charset="2"/>
              </a:rPr>
              <a:t>Training: Messaging  Message Administration</a:t>
            </a:r>
          </a:p>
          <a:p>
            <a:r>
              <a:rPr lang="en-US" dirty="0">
                <a:sym typeface="Wingdings" panose="05000000000000000000" pitchFamily="2" charset="2"/>
              </a:rPr>
              <a:t>Suspend, resume, and view messages for each destination</a:t>
            </a:r>
            <a:endParaRPr lang="en-US" dirty="0"/>
          </a:p>
        </p:txBody>
      </p:sp>
    </p:spTree>
    <p:extLst>
      <p:ext uri="{BB962C8B-B14F-4D97-AF65-F5344CB8AC3E}">
        <p14:creationId xmlns:p14="http://schemas.microsoft.com/office/powerpoint/2010/main" val="215197062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DEMO</a:t>
            </a:r>
          </a:p>
        </p:txBody>
      </p:sp>
    </p:spTree>
    <p:extLst>
      <p:ext uri="{BB962C8B-B14F-4D97-AF65-F5344CB8AC3E}">
        <p14:creationId xmlns:p14="http://schemas.microsoft.com/office/powerpoint/2010/main" val="17328460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a:solidFill>
                  <a:schemeClr val="bg1"/>
                </a:solidFill>
                <a:ea typeface="+mn-lt"/>
                <a:cs typeface="+mn-lt"/>
              </a:rPr>
              <a:t>The video demonstrates creating messages using messaging administration screens in Training App.</a:t>
            </a:r>
          </a:p>
          <a:p>
            <a:r>
              <a:rPr lang="en-US" sz="2400" dirty="0">
                <a:solidFill>
                  <a:schemeClr val="bg1"/>
                </a:solidFill>
                <a:ea typeface="+mn-lt"/>
                <a:cs typeface="+mn-lt"/>
              </a:rPr>
              <a:t>Pre-Requisites</a:t>
            </a:r>
          </a:p>
          <a:p>
            <a:pPr lvl="1"/>
            <a:r>
              <a:rPr lang="en-US" sz="2400" dirty="0">
                <a:ea typeface="+mn-lt"/>
                <a:cs typeface="+mn-lt"/>
              </a:rPr>
              <a:t>Training App and Studio</a:t>
            </a:r>
          </a:p>
          <a:p>
            <a:pPr lvl="1"/>
            <a:r>
              <a:rPr lang="en-US" sz="2400" dirty="0">
                <a:ea typeface="+mn-lt"/>
                <a:cs typeface="+mn-lt"/>
              </a:rPr>
              <a:t>Supported Browser</a:t>
            </a:r>
            <a:endParaRPr lang="en-US" dirty="0"/>
          </a:p>
        </p:txBody>
      </p:sp>
    </p:spTree>
    <p:extLst>
      <p:ext uri="{BB962C8B-B14F-4D97-AF65-F5344CB8AC3E}">
        <p14:creationId xmlns:p14="http://schemas.microsoft.com/office/powerpoint/2010/main" val="2159502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LAB</a:t>
            </a:r>
          </a:p>
        </p:txBody>
      </p:sp>
    </p:spTree>
    <p:extLst>
      <p:ext uri="{BB962C8B-B14F-4D97-AF65-F5344CB8AC3E}">
        <p14:creationId xmlns:p14="http://schemas.microsoft.com/office/powerpoint/2010/main" val="4217219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“Bundles and Database Transactions” chapter in the “InsuranceSuite 10 Integration: Kickstart “ work book</a:t>
            </a:r>
          </a:p>
        </p:txBody>
      </p:sp>
    </p:spTree>
    <p:extLst>
      <p:ext uri="{BB962C8B-B14F-4D97-AF65-F5344CB8AC3E}">
        <p14:creationId xmlns:p14="http://schemas.microsoft.com/office/powerpoint/2010/main" val="414547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872"/>
            <a:ext cx="10363200" cy="947928"/>
          </a:xfrm>
        </p:spPr>
        <p:txBody>
          <a:bodyPr/>
          <a:lstStyle/>
          <a:p>
            <a:r>
              <a:rPr lang="en-US" dirty="0"/>
              <a:t>Review Question</a:t>
            </a:r>
          </a:p>
        </p:txBody>
      </p:sp>
      <p:sp>
        <p:nvSpPr>
          <p:cNvPr id="6" name="Content Placeholder 2"/>
          <p:cNvSpPr txBox="1">
            <a:spLocks/>
          </p:cNvSpPr>
          <p:nvPr/>
        </p:nvSpPr>
        <p:spPr bwMode="auto">
          <a:xfrm>
            <a:off x="581699" y="1066800"/>
            <a:ext cx="4381011"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endParaRPr lang="en-US" sz="1800" kern="0" dirty="0"/>
          </a:p>
        </p:txBody>
      </p:sp>
      <p:sp>
        <p:nvSpPr>
          <p:cNvPr id="7" name="Content Placeholder 6"/>
          <p:cNvSpPr>
            <a:spLocks noGrp="1"/>
          </p:cNvSpPr>
          <p:nvPr>
            <p:ph idx="1"/>
          </p:nvPr>
        </p:nvSpPr>
        <p:spPr>
          <a:xfrm>
            <a:off x="692151" y="914400"/>
            <a:ext cx="10509249" cy="1828800"/>
          </a:xfrm>
        </p:spPr>
        <p:txBody>
          <a:bodyPr/>
          <a:lstStyle/>
          <a:p>
            <a:pPr marL="457200" indent="-457200">
              <a:buFont typeface="+mj-lt"/>
              <a:buAutoNum type="arabicPeriod"/>
            </a:pPr>
            <a:r>
              <a:rPr lang="en-US" dirty="0"/>
              <a:t>What are the five stages of Guidewire messaging?</a:t>
            </a:r>
          </a:p>
          <a:p>
            <a:pPr marL="457200" indent="-457200">
              <a:buFont typeface="+mj-lt"/>
              <a:buAutoNum type="arabicPeriod"/>
            </a:pPr>
            <a:r>
              <a:rPr lang="en-US" dirty="0"/>
              <a:t>What are the three possible statuses for messages that are in the message table?</a:t>
            </a:r>
          </a:p>
          <a:p>
            <a:pPr marL="457200" indent="-457200">
              <a:buFont typeface="+mj-lt"/>
              <a:buAutoNum type="arabicPeriod"/>
            </a:pPr>
            <a:r>
              <a:rPr lang="en-US" dirty="0"/>
              <a:t>For a Guidewire implementation using clustering, what two server roles execute the work for messaging? What work is done by each server role?</a:t>
            </a:r>
          </a:p>
        </p:txBody>
      </p:sp>
    </p:spTree>
    <p:extLst>
      <p:ext uri="{BB962C8B-B14F-4D97-AF65-F5344CB8AC3E}">
        <p14:creationId xmlns:p14="http://schemas.microsoft.com/office/powerpoint/2010/main" val="307691316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8872"/>
            <a:ext cx="10363200" cy="947928"/>
          </a:xfrm>
        </p:spPr>
        <p:txBody>
          <a:bodyPr/>
          <a:lstStyle/>
          <a:p>
            <a:r>
              <a:rPr lang="en-US" dirty="0"/>
              <a:t>Lesson objectives review</a:t>
            </a:r>
          </a:p>
        </p:txBody>
      </p:sp>
      <p:sp>
        <p:nvSpPr>
          <p:cNvPr id="6" name="Content Placeholder 2"/>
          <p:cNvSpPr txBox="1">
            <a:spLocks/>
          </p:cNvSpPr>
          <p:nvPr/>
        </p:nvSpPr>
        <p:spPr bwMode="auto">
          <a:xfrm>
            <a:off x="581699" y="1066800"/>
            <a:ext cx="4381011"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endParaRPr lang="en-US" sz="1800" kern="0" dirty="0"/>
          </a:p>
        </p:txBody>
      </p:sp>
      <p:sp>
        <p:nvSpPr>
          <p:cNvPr id="7" name="Content Placeholder 6"/>
          <p:cNvSpPr>
            <a:spLocks noGrp="1"/>
          </p:cNvSpPr>
          <p:nvPr>
            <p:ph idx="1"/>
          </p:nvPr>
        </p:nvSpPr>
        <p:spPr>
          <a:xfrm>
            <a:off x="609600" y="914400"/>
            <a:ext cx="10509249" cy="1828800"/>
          </a:xfrm>
        </p:spPr>
        <p:txBody>
          <a:bodyPr/>
          <a:lstStyle/>
          <a:p>
            <a:pPr marL="0" indent="0">
              <a:buNone/>
            </a:pPr>
            <a:r>
              <a:rPr lang="en-US" b="1" dirty="0"/>
              <a:t>You are now able to:</a:t>
            </a:r>
          </a:p>
          <a:p>
            <a:r>
              <a:rPr lang="en-US" dirty="0"/>
              <a:t>Understand the concept of Guidewire messaging</a:t>
            </a:r>
          </a:p>
          <a:p>
            <a:r>
              <a:rPr lang="en-US" dirty="0"/>
              <a:t>Identify the basic components of Guidewire messaging</a:t>
            </a:r>
          </a:p>
          <a:p>
            <a:r>
              <a:rPr lang="en-US" dirty="0"/>
              <a:t>Describe the basic stages of Guidewire messaging</a:t>
            </a:r>
          </a:p>
          <a:p>
            <a:r>
              <a:rPr lang="en-US" dirty="0"/>
              <a:t>Understand how to message administration screens</a:t>
            </a:r>
          </a:p>
        </p:txBody>
      </p:sp>
    </p:spTree>
    <p:extLst>
      <p:ext uri="{BB962C8B-B14F-4D97-AF65-F5344CB8AC3E}">
        <p14:creationId xmlns:p14="http://schemas.microsoft.com/office/powerpoint/2010/main" val="220570996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p:txBody>
          <a:bodyPr/>
          <a:lstStyle/>
          <a:p>
            <a:endParaRPr lang="en-US" dirty="0"/>
          </a:p>
        </p:txBody>
      </p:sp>
      <p:sp>
        <p:nvSpPr>
          <p:cNvPr id="4" name="Text Placeholder 3"/>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3551398850"/>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EEF9D87-815B-49EF-848B-FC4476C468FE}">
  <ds:schemaRefs>
    <ds:schemaRef ds:uri="http://schemas.microsoft.com/sharepoint/v3/contenttype/forms"/>
  </ds:schemaRefs>
</ds:datastoreItem>
</file>

<file path=customXml/itemProps2.xml><?xml version="1.0" encoding="utf-8"?>
<ds:datastoreItem xmlns:ds="http://schemas.openxmlformats.org/officeDocument/2006/customXml" ds:itemID="{5F8D2C4F-2501-4A98-AB93-5C9E14BBE3F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6B03284-D7DF-4C4E-988D-F27CBE2A567D}"/>
</file>

<file path=docProps/app.xml><?xml version="1.0" encoding="utf-8"?>
<Properties xmlns="http://schemas.openxmlformats.org/officeDocument/2006/extended-properties" xmlns:vt="http://schemas.openxmlformats.org/officeDocument/2006/docPropsVTypes">
  <Template>Emerald_Template</Template>
  <TotalTime>44886</TotalTime>
  <Words>3021</Words>
  <Application>Microsoft Office PowerPoint</Application>
  <PresentationFormat>Widescreen</PresentationFormat>
  <Paragraphs>294</Paragraphs>
  <Slides>30</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Calibri</vt:lpstr>
      <vt:lpstr>Times New Roman</vt:lpstr>
      <vt:lpstr>Wingdings</vt:lpstr>
      <vt:lpstr>Wingdings 2</vt:lpstr>
      <vt:lpstr>Wingdings 3</vt:lpstr>
      <vt:lpstr>Emerald_Template</vt:lpstr>
      <vt:lpstr>InsuranceSuite 10 Integration</vt:lpstr>
      <vt:lpstr>PowerPoint Presentation</vt:lpstr>
      <vt:lpstr>PowerPoint Presentation</vt:lpstr>
      <vt:lpstr>What is Guidewire Messaging</vt:lpstr>
      <vt:lpstr>Physical message table</vt:lpstr>
      <vt:lpstr>Message table example</vt:lpstr>
      <vt:lpstr>Stages of messaging</vt:lpstr>
      <vt:lpstr>Primary components of messaging (1)</vt:lpstr>
      <vt:lpstr>Primary components of messaging (2)</vt:lpstr>
      <vt:lpstr>PowerPoint Presentation</vt:lpstr>
      <vt:lpstr>Use case: Bank account verification</vt:lpstr>
      <vt:lpstr>Stage 1: Triggering the message (1)</vt:lpstr>
      <vt:lpstr>Stage 1: Triggering the message (2)</vt:lpstr>
      <vt:lpstr>Stage 1: Triggering the message (3)</vt:lpstr>
      <vt:lpstr>Stage 2: Creating a message and payload</vt:lpstr>
      <vt:lpstr>Stage 3: Transform the payload</vt:lpstr>
      <vt:lpstr>Stage 4: Sending the message to an external system</vt:lpstr>
      <vt:lpstr>Stage 5: Processing acknowledgement</vt:lpstr>
      <vt:lpstr>Guidewire servers and messaging transactions</vt:lpstr>
      <vt:lpstr>Message plugin interfaces</vt:lpstr>
      <vt:lpstr>Training: Messaging</vt:lpstr>
      <vt:lpstr>Training: Messaging – Demo Screens</vt:lpstr>
      <vt:lpstr>Message Queues</vt:lpstr>
      <vt:lpstr>PowerPoint Presentation</vt:lpstr>
      <vt:lpstr>PowerPoint Presentation</vt:lpstr>
      <vt:lpstr>PowerPoint Presentation</vt:lpstr>
      <vt:lpstr>PowerPoint Presentation</vt:lpstr>
      <vt:lpstr>Review Question</vt:lpstr>
      <vt:lpstr>Lesson objectives review</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Messaging Introduction</dc:title>
  <dc:subject>Guidewire 8.0 Application Integration Messaging Introduction</dc:subject>
  <dc:creator>Seth Luersen</dc:creator>
  <cp:keywords>Emerald;Guidewire 8.0 Application Integration;Messaging Introduction</cp:keywords>
  <cp:lastModifiedBy>Neyyadiyilsahadevan, Anoop (Cognizant)</cp:lastModifiedBy>
  <cp:revision>186</cp:revision>
  <dcterms:created xsi:type="dcterms:W3CDTF">2013-08-19T16:16:51Z</dcterms:created>
  <dcterms:modified xsi:type="dcterms:W3CDTF">2020-12-21T18:10:54Z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