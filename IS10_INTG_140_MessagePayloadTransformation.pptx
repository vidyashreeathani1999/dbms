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63" r:id="rId4"/>
  </p:sldMasterIdLst>
  <p:notesMasterIdLst>
    <p:notesMasterId r:id="rId35"/>
  </p:notesMasterIdLst>
  <p:handoutMasterIdLst>
    <p:handoutMasterId r:id="rId36"/>
  </p:handoutMasterIdLst>
  <p:sldIdLst>
    <p:sldId id="354" r:id="rId5"/>
    <p:sldId id="258" r:id="rId6"/>
    <p:sldId id="260" r:id="rId7"/>
    <p:sldId id="262" r:id="rId8"/>
    <p:sldId id="273" r:id="rId9"/>
    <p:sldId id="263" r:id="rId10"/>
    <p:sldId id="334" r:id="rId11"/>
    <p:sldId id="275" r:id="rId12"/>
    <p:sldId id="277" r:id="rId13"/>
    <p:sldId id="336" r:id="rId14"/>
    <p:sldId id="333" r:id="rId15"/>
    <p:sldId id="269" r:id="rId16"/>
    <p:sldId id="270" r:id="rId17"/>
    <p:sldId id="279" r:id="rId18"/>
    <p:sldId id="281" r:id="rId19"/>
    <p:sldId id="288" r:id="rId20"/>
    <p:sldId id="280" r:id="rId21"/>
    <p:sldId id="322" r:id="rId22"/>
    <p:sldId id="331" r:id="rId23"/>
    <p:sldId id="347" r:id="rId24"/>
    <p:sldId id="329" r:id="rId25"/>
    <p:sldId id="285" r:id="rId26"/>
    <p:sldId id="337" r:id="rId27"/>
    <p:sldId id="383" r:id="rId28"/>
    <p:sldId id="384" r:id="rId29"/>
    <p:sldId id="385" r:id="rId30"/>
    <p:sldId id="386" r:id="rId31"/>
    <p:sldId id="387" r:id="rId32"/>
    <p:sldId id="388" r:id="rId33"/>
    <p:sldId id="38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D47EC14-819B-4972-BC16-BE44602FD0A8}">
          <p14:sldIdLst>
            <p14:sldId id="354"/>
            <p14:sldId id="258"/>
          </p14:sldIdLst>
        </p14:section>
        <p14:section name="Message Plugins" id="{EAC8D782-0AE2-45AD-9F1C-ECB74FA8F1FA}">
          <p14:sldIdLst>
            <p14:sldId id="260"/>
            <p14:sldId id="262"/>
            <p14:sldId id="273"/>
          </p14:sldIdLst>
        </p14:section>
        <p14:section name="Late binging" id="{C86E8301-2962-498A-9D82-5FDEB0855D63}">
          <p14:sldIdLst>
            <p14:sldId id="263"/>
            <p14:sldId id="334"/>
            <p14:sldId id="275"/>
            <p14:sldId id="277"/>
            <p14:sldId id="336"/>
            <p14:sldId id="333"/>
          </p14:sldIdLst>
        </p14:section>
        <p14:section name="Request plugin" id="{B7B2D8FA-F213-476F-A003-0CEC89232316}">
          <p14:sldIdLst>
            <p14:sldId id="269"/>
            <p14:sldId id="270"/>
            <p14:sldId id="279"/>
            <p14:sldId id="281"/>
            <p14:sldId id="288"/>
            <p14:sldId id="280"/>
            <p14:sldId id="322"/>
            <p14:sldId id="331"/>
            <p14:sldId id="347"/>
            <p14:sldId id="329"/>
            <p14:sldId id="285"/>
            <p14:sldId id="337"/>
            <p14:sldId id="383"/>
            <p14:sldId id="384"/>
            <p14:sldId id="385"/>
            <p14:sldId id="386"/>
            <p14:sldId id="387"/>
            <p14:sldId id="388"/>
            <p14:sldId id="389"/>
          </p14:sldIdLst>
        </p14:section>
        <p14:section name="Transport plugin" id="{A2752C5E-1FD9-4BC6-9421-5131B9FD8F09}">
          <p14:sldIdLst/>
        </p14:section>
        <p14:section name="Retry" id="{96A8A1C1-0D1F-4E38-AB76-ADB667918810}">
          <p14:sldIdLst/>
        </p14:section>
        <p14:section name="Safe ordering" id="{E604966B-DE3D-448B-82C6-E5E3CC584441}">
          <p14:sldIdLst/>
        </p14:section>
        <p14:section name="Review" id="{D49392C1-BDB7-450E-8E6A-8EDCD4F941A2}">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32" clrIdx="0"/>
  <p:cmAuthor id="1" name="Guidewire Education" initials="sluersen" lastIdx="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9D8CA6-1F2C-4B47-AB95-2551FB5E25B2}" v="2" dt="2020-12-30T17:56:38.827"/>
    <p1510:client id="{443B6EF9-A375-4C20-92A2-EFAD20304085}" v="69" dt="2020-12-30T17:54:25.157"/>
    <p1510:client id="{6B55FBDB-9932-4DDF-82E6-EAE2229C4D98}" v="1" dt="2021-04-13T17:05:59.220"/>
    <p1510:client id="{81BE1AC1-5E6A-4092-9769-ED5BAD1FB419}" v="3" dt="2021-03-18T12:07:12.876"/>
    <p1510:client id="{D24CD0BC-14E8-4DF2-AD13-4623068F98EC}" v="2" dt="2021-03-18T12:27:03.1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guide/>
      </p:guideLst>
    </p:cSldViewPr>
  </p:slideViewPr>
  <p:notesViewPr>
    <p:cSldViewPr snapToGrid="0">
      <p:cViewPr>
        <p:scale>
          <a:sx n="1" d="2"/>
          <a:sy n="1" d="2"/>
        </p:scale>
        <p:origin x="0" y="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Priyadharshini (Cognizant)" userId="S::888356@cognizant.com::642862ec-6159-4a24-a642-752c6e32b8df" providerId="AD" clId="Web-{6B55FBDB-9932-4DDF-82E6-EAE2229C4D98}"/>
    <pc:docChg chg="sldOrd">
      <pc:chgData name="S, Priyadharshini (Cognizant)" userId="S::888356@cognizant.com::642862ec-6159-4a24-a642-752c6e32b8df" providerId="AD" clId="Web-{6B55FBDB-9932-4DDF-82E6-EAE2229C4D98}" dt="2021-04-13T17:05:59.220" v="0"/>
      <pc:docMkLst>
        <pc:docMk/>
      </pc:docMkLst>
      <pc:sldChg chg="ord">
        <pc:chgData name="S, Priyadharshini (Cognizant)" userId="S::888356@cognizant.com::642862ec-6159-4a24-a642-752c6e32b8df" providerId="AD" clId="Web-{6B55FBDB-9932-4DDF-82E6-EAE2229C4D98}" dt="2021-04-13T17:05:59.220" v="0"/>
        <pc:sldMkLst>
          <pc:docMk/>
          <pc:sldMk cId="2773898776" sldId="347"/>
        </pc:sldMkLst>
      </pc:sldChg>
    </pc:docChg>
  </pc:docChgLst>
  <pc:docChgLst>
    <pc:chgData name="Kumar, Abhimanyu (Cognizant)" userId="S::556569@cognizant.com::f63125fa-0623-4292-ade5-75bfefd53034" providerId="AD" clId="Web-{443B6EF9-A375-4C20-92A2-EFAD20304085}"/>
    <pc:docChg chg="modSld">
      <pc:chgData name="Kumar, Abhimanyu (Cognizant)" userId="S::556569@cognizant.com::f63125fa-0623-4292-ade5-75bfefd53034" providerId="AD" clId="Web-{443B6EF9-A375-4C20-92A2-EFAD20304085}" dt="2020-12-30T17:54:24.345" v="67" actId="20577"/>
      <pc:docMkLst>
        <pc:docMk/>
      </pc:docMkLst>
      <pc:sldChg chg="modSp">
        <pc:chgData name="Kumar, Abhimanyu (Cognizant)" userId="S::556569@cognizant.com::f63125fa-0623-4292-ade5-75bfefd53034" providerId="AD" clId="Web-{443B6EF9-A375-4C20-92A2-EFAD20304085}" dt="2020-12-30T17:54:24.345" v="67" actId="20577"/>
        <pc:sldMkLst>
          <pc:docMk/>
          <pc:sldMk cId="1420841179" sldId="385"/>
        </pc:sldMkLst>
        <pc:spChg chg="mod">
          <ac:chgData name="Kumar, Abhimanyu (Cognizant)" userId="S::556569@cognizant.com::f63125fa-0623-4292-ade5-75bfefd53034" providerId="AD" clId="Web-{443B6EF9-A375-4C20-92A2-EFAD20304085}" dt="2020-12-30T17:54:24.345" v="67" actId="20577"/>
          <ac:spMkLst>
            <pc:docMk/>
            <pc:sldMk cId="1420841179" sldId="385"/>
            <ac:spMk id="2" creationId="{00000000-0000-0000-0000-000000000000}"/>
          </ac:spMkLst>
        </pc:spChg>
      </pc:sldChg>
    </pc:docChg>
  </pc:docChgLst>
  <pc:docChgLst>
    <pc:chgData name="M, Aasini (Cognizant)" userId="S::888068@cognizant.com::55ed88c3-ceaf-4e03-b435-379504192f72" providerId="AD" clId="Web-{D24CD0BC-14E8-4DF2-AD13-4623068F98EC}"/>
    <pc:docChg chg="modSld">
      <pc:chgData name="M, Aasini (Cognizant)" userId="S::888068@cognizant.com::55ed88c3-ceaf-4e03-b435-379504192f72" providerId="AD" clId="Web-{D24CD0BC-14E8-4DF2-AD13-4623068F98EC}" dt="2021-03-18T12:27:03.192" v="1" actId="1076"/>
      <pc:docMkLst>
        <pc:docMk/>
      </pc:docMkLst>
      <pc:sldChg chg="modSp">
        <pc:chgData name="M, Aasini (Cognizant)" userId="S::888068@cognizant.com::55ed88c3-ceaf-4e03-b435-379504192f72" providerId="AD" clId="Web-{D24CD0BC-14E8-4DF2-AD13-4623068F98EC}" dt="2021-03-18T12:27:03.192" v="1" actId="1076"/>
        <pc:sldMkLst>
          <pc:docMk/>
          <pc:sldMk cId="2195662717" sldId="388"/>
        </pc:sldMkLst>
        <pc:spChg chg="mod">
          <ac:chgData name="M, Aasini (Cognizant)" userId="S::888068@cognizant.com::55ed88c3-ceaf-4e03-b435-379504192f72" providerId="AD" clId="Web-{D24CD0BC-14E8-4DF2-AD13-4623068F98EC}" dt="2021-03-18T12:27:03.192" v="1" actId="1076"/>
          <ac:spMkLst>
            <pc:docMk/>
            <pc:sldMk cId="2195662717" sldId="388"/>
            <ac:spMk id="3" creationId="{00000000-0000-0000-0000-000000000000}"/>
          </ac:spMkLst>
        </pc:spChg>
      </pc:sldChg>
    </pc:docChg>
  </pc:docChgLst>
  <pc:docChgLst>
    <pc:chgData name="Kumar, Abhimanyu (Cognizant)" userId="S::556569@cognizant.com::f63125fa-0623-4292-ade5-75bfefd53034" providerId="AD" clId="Web-{439D8CA6-1F2C-4B47-AB95-2551FB5E25B2}"/>
    <pc:docChg chg="modSld">
      <pc:chgData name="Kumar, Abhimanyu (Cognizant)" userId="S::556569@cognizant.com::f63125fa-0623-4292-ade5-75bfefd53034" providerId="AD" clId="Web-{439D8CA6-1F2C-4B47-AB95-2551FB5E25B2}" dt="2020-12-30T17:56:38.827" v="1" actId="20577"/>
      <pc:docMkLst>
        <pc:docMk/>
      </pc:docMkLst>
      <pc:sldChg chg="modSp">
        <pc:chgData name="Kumar, Abhimanyu (Cognizant)" userId="S::556569@cognizant.com::f63125fa-0623-4292-ade5-75bfefd53034" providerId="AD" clId="Web-{439D8CA6-1F2C-4B47-AB95-2551FB5E25B2}" dt="2020-12-30T17:56:38.827" v="1" actId="20577"/>
        <pc:sldMkLst>
          <pc:docMk/>
          <pc:sldMk cId="1420841179" sldId="385"/>
        </pc:sldMkLst>
        <pc:spChg chg="mod">
          <ac:chgData name="Kumar, Abhimanyu (Cognizant)" userId="S::556569@cognizant.com::f63125fa-0623-4292-ade5-75bfefd53034" providerId="AD" clId="Web-{439D8CA6-1F2C-4B47-AB95-2551FB5E25B2}" dt="2020-12-30T17:56:38.827" v="1" actId="20577"/>
          <ac:spMkLst>
            <pc:docMk/>
            <pc:sldMk cId="1420841179" sldId="385"/>
            <ac:spMk id="2" creationId="{00000000-0000-0000-0000-000000000000}"/>
          </ac:spMkLst>
        </pc:spChg>
      </pc:sldChg>
    </pc:docChg>
  </pc:docChgLst>
  <pc:docChgLst>
    <pc:chgData name="M, Aasini (Cognizant)" userId="S::888068@cognizant.com::55ed88c3-ceaf-4e03-b435-379504192f72" providerId="AD" clId="Web-{81BE1AC1-5E6A-4092-9769-ED5BAD1FB419}"/>
    <pc:docChg chg="modSld">
      <pc:chgData name="M, Aasini (Cognizant)" userId="S::888068@cognizant.com::55ed88c3-ceaf-4e03-b435-379504192f72" providerId="AD" clId="Web-{81BE1AC1-5E6A-4092-9769-ED5BAD1FB419}" dt="2021-03-18T12:07:12.876" v="2" actId="14100"/>
      <pc:docMkLst>
        <pc:docMk/>
      </pc:docMkLst>
      <pc:sldChg chg="modSp">
        <pc:chgData name="M, Aasini (Cognizant)" userId="S::888068@cognizant.com::55ed88c3-ceaf-4e03-b435-379504192f72" providerId="AD" clId="Web-{81BE1AC1-5E6A-4092-9769-ED5BAD1FB419}" dt="2021-03-18T12:07:12.876" v="2" actId="14100"/>
        <pc:sldMkLst>
          <pc:docMk/>
          <pc:sldMk cId="2195662717" sldId="388"/>
        </pc:sldMkLst>
        <pc:spChg chg="mod">
          <ac:chgData name="M, Aasini (Cognizant)" userId="S::888068@cognizant.com::55ed88c3-ceaf-4e03-b435-379504192f72" providerId="AD" clId="Web-{81BE1AC1-5E6A-4092-9769-ED5BAD1FB419}" dt="2021-03-18T12:07:12.876" v="2" actId="14100"/>
          <ac:spMkLst>
            <pc:docMk/>
            <pc:sldMk cId="2195662717" sldId="388"/>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4/13/2021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a:latin typeface="Arial" pitchFamily="34" charset="0"/>
                <a:cs typeface="Arial" pitchFamily="34" charset="0"/>
              </a:rPr>
              <a:t>© Guidewire Software, Inc. 2001-2014. All rights reserved.</a:t>
            </a:r>
            <a:br>
              <a:rPr lang="en-US" sz="800">
                <a:latin typeface="Arial" pitchFamily="34" charset="0"/>
                <a:cs typeface="Arial" pitchFamily="34" charset="0"/>
              </a:rPr>
            </a:br>
            <a:r>
              <a:rPr lang="en-US" sz="80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A plugin is a</a:t>
            </a:r>
            <a:r>
              <a:rPr lang="en-US" baseline="0"/>
              <a:t> defined program that perfoms an action, for example, authenticates a user, generates a number for checks, or sends a message to an external system.  A plugin can implement either a Gosu or Java class.</a:t>
            </a:r>
          </a:p>
          <a:p>
            <a:endParaRPr lang="en-US" baseline="0"/>
          </a:p>
          <a:p>
            <a:r>
              <a:rPr lang="en-US"/>
              <a:t>A predefined plugin executes generic functionality unrelated to messaging. You can have only one implementation of a given predefined plugin (such as authentication) per application.</a:t>
            </a:r>
          </a:p>
          <a:p>
            <a:endParaRPr lang="en-US"/>
          </a:p>
          <a:p>
            <a:r>
              <a:rPr lang="en-US"/>
              <a:t>Only one plugin of each type can be defined per destination.  Multiple destination can specify the same plugin type</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u="sng"/>
              <a:t>Guidewire</a:t>
            </a:r>
            <a:r>
              <a:rPr lang="en-US" u="sng" baseline="0"/>
              <a:t> servers and messaging transactions</a:t>
            </a:r>
          </a:p>
          <a:p>
            <a:endParaRPr lang="en-US" u="sng" baseline="0"/>
          </a:p>
          <a:p>
            <a:r>
              <a:rPr lang="en-US" u="none" baseline="0"/>
              <a:t>The servers involved at each point of the process are important because they determine where payload work should occur. The majority of payload generation should be done in event fired rules on the </a:t>
            </a:r>
            <a:r>
              <a:rPr lang="en-US" b="1" u="none" baseline="0" err="1"/>
              <a:t>ui</a:t>
            </a:r>
            <a:r>
              <a:rPr lang="en-US" u="none" baseline="0"/>
              <a:t> role server that manages the given user’s session.</a:t>
            </a:r>
          </a:p>
          <a:p>
            <a:r>
              <a:rPr lang="en-US" u="none" baseline="0"/>
              <a:t>However, if some portion of payload generation must be done immediately before the message is sent, that portion of the payload can be generated of the </a:t>
            </a:r>
            <a:r>
              <a:rPr lang="en-US" b="1" u="none" baseline="0"/>
              <a:t>messaging</a:t>
            </a:r>
            <a:r>
              <a:rPr lang="en-US" u="none" baseline="0"/>
              <a:t> role server.</a:t>
            </a:r>
          </a:p>
          <a:p>
            <a:endParaRPr lang="en-US" u="none" baseline="0"/>
          </a:p>
          <a:p>
            <a:r>
              <a:rPr lang="en-US" u="none" baseline="0"/>
              <a:t>A message is always processed in at least two and as many as four transactions:</a:t>
            </a:r>
          </a:p>
          <a:p>
            <a:pPr marL="171450" indent="-171450">
              <a:buFont typeface="Arial" panose="020B0604020202020204" pitchFamily="34" charset="0"/>
              <a:buChar char="•"/>
            </a:pPr>
            <a:r>
              <a:rPr lang="en-US" u="none"/>
              <a:t>Transaction</a:t>
            </a:r>
            <a:r>
              <a:rPr lang="en-US" u="none" baseline="0"/>
              <a:t> 1 – Creates the message and generates the payload. This transaction always occurs.</a:t>
            </a:r>
          </a:p>
          <a:p>
            <a:pPr marL="171450" indent="-171450">
              <a:buFont typeface="Arial" panose="020B0604020202020204" pitchFamily="34" charset="0"/>
              <a:buChar char="•"/>
            </a:pPr>
            <a:r>
              <a:rPr lang="en-US" u="none" baseline="0"/>
              <a:t>Transaction 2 – Prior to sending the message, an optional transaction may transform the message payload. This is usually done when the message must include information that can only be known immediately before sending the message.</a:t>
            </a:r>
          </a:p>
          <a:p>
            <a:pPr marL="171450" indent="-171450">
              <a:buFont typeface="Arial" panose="020B0604020202020204" pitchFamily="34" charset="0"/>
              <a:buChar char="•"/>
            </a:pPr>
            <a:r>
              <a:rPr lang="en-US" u="none" baseline="0"/>
              <a:t>Transaction 3 – The sending of the message to the external system occurs in its own transaction. This transaction always occurs. If the external system acknowledges the message synchronously, then the acknowledgement is included in the transaction.</a:t>
            </a:r>
          </a:p>
          <a:p>
            <a:pPr marL="171450" indent="-171450">
              <a:buFont typeface="Arial" panose="020B0604020202020204" pitchFamily="34" charset="0"/>
              <a:buChar char="•"/>
            </a:pPr>
            <a:r>
              <a:rPr lang="en-US" u="none" baseline="0"/>
              <a:t>Transaction 4 – If the external system acknowledges the message asynchronously, then a separate transaction processes the acknowledgement. This transaction does not occur for messages that are acknowledged synchronously.</a:t>
            </a:r>
          </a:p>
          <a:p>
            <a:pPr marL="0" indent="0">
              <a:buFont typeface="Arial" panose="020B0604020202020204" pitchFamily="34" charset="0"/>
              <a:buNone/>
            </a:pPr>
            <a:endParaRPr lang="en-US" u="none" baseline="0"/>
          </a:p>
          <a:p>
            <a:pPr marL="0" indent="0">
              <a:buFont typeface="Arial" panose="020B0604020202020204" pitchFamily="34" charset="0"/>
              <a:buNone/>
            </a:pPr>
            <a:r>
              <a:rPr lang="en-US" u="none" baseline="0"/>
              <a:t>The transaction structure is important because this determines the work that is rolled back if an error occurs.</a:t>
            </a:r>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771682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some cases, a message does not need a reply from the external system. These are "fire and finish" messages where Guidewire must simply inform some other system of some event, but Guidewire does not get any response from the other system. </a:t>
            </a:r>
          </a:p>
          <a:p>
            <a:endParaRPr lang="en-US"/>
          </a:p>
          <a:p>
            <a:r>
              <a:rPr lang="en-US"/>
              <a:t>In other cases, a message is replied to synchronously at the time that it is sent. </a:t>
            </a:r>
          </a:p>
          <a:p>
            <a:endParaRPr lang="en-US"/>
          </a:p>
          <a:p>
            <a:r>
              <a:rPr lang="en-US"/>
              <a:t>In both cases, there is no need to set the SenderRefID field. Guidewire synchronously marks the message as acknowledged within the transport plugin's send() method. </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923405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All entities, including Message, have a PublicID field. The purpose of this field is to identify instances of the entity as they are known by the external system. Thus, the purpose of the SenderRefID field is identical to that of the PublicID field. The Message entity has two public identification fields because earlier versions of the Guidewire applications did not have the PublicID field across all entities. However, the Message entity absolutely required a settable field that could be shared with external systems, and so Message was created with the SenderRefID field. As the Guidewire applications matured, the PublicID field was added to entities in the data model. This allowed other entities beyond Message to be shared with external systems.</a:t>
            </a:r>
          </a:p>
          <a:p>
            <a:endParaRPr lang="en-US"/>
          </a:p>
          <a:p>
            <a:r>
              <a:rPr lang="en-US"/>
              <a:t>Even though you theoretically could use Message's PublicID field, Guidewire recommends you use SenderRefID instead. There are numerous base application methods that make use of SenderRefID, such as IMessagingToolsAPI's getMessageID() method that takes the SenderRefID as an input and the MessageFinder's findHistoryBySenderRefID() method). Using PublicID to identify a message could make an implementation more complex.</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4032628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When</a:t>
            </a:r>
            <a:r>
              <a:rPr lang="en-US" baseline="0"/>
              <a:t> </a:t>
            </a:r>
            <a:r>
              <a:rPr lang="en-US"/>
              <a:t>a message is replied to asynchronously, a Guidewire application can generate a message identifier</a:t>
            </a:r>
            <a:r>
              <a:rPr lang="en-US" baseline="0"/>
              <a:t> </a:t>
            </a:r>
            <a:r>
              <a:rPr lang="en-US"/>
              <a:t>that is acceptable to the external system.  The SenderRefID is an option identifier</a:t>
            </a:r>
            <a:r>
              <a:rPr lang="en-US" baseline="0"/>
              <a:t> that the external system can use to manage Guidewire application messages.</a:t>
            </a:r>
          </a:p>
          <a:p>
            <a:endParaRPr lang="en-US" baseline="0"/>
          </a:p>
          <a:p>
            <a:r>
              <a:rPr lang="en-US"/>
              <a:t>A request plugin can set the </a:t>
            </a:r>
            <a:r>
              <a:rPr lang="en-US" err="1"/>
              <a:t>SenderRefID</a:t>
            </a:r>
            <a:r>
              <a:rPr lang="en-US" baseline="0"/>
              <a:t> field during late binding of the message.  This is helpful for setting the </a:t>
            </a:r>
            <a:r>
              <a:rPr lang="en-US" baseline="0" err="1"/>
              <a:t>SenderRefID</a:t>
            </a:r>
            <a:r>
              <a:rPr lang="en-US" baseline="0"/>
              <a:t> to the </a:t>
            </a:r>
            <a:r>
              <a:rPr lang="en-US" baseline="0" err="1"/>
              <a:t>PublicID</a:t>
            </a:r>
            <a:r>
              <a:rPr lang="en-US" baseline="0"/>
              <a:t> of the message being sent.  The </a:t>
            </a:r>
            <a:r>
              <a:rPr lang="en-US" baseline="0" err="1"/>
              <a:t>PublicID</a:t>
            </a:r>
            <a:r>
              <a:rPr lang="en-US" baseline="0"/>
              <a:t> is only discoverable after the Guidewire application generates the initial message and commits the message to the database.  Generating the message and the message payload occurs during the Event Fired rules.  Of course, it is possible to set the </a:t>
            </a:r>
            <a:r>
              <a:rPr lang="en-US" baseline="0" err="1"/>
              <a:t>SenderRefID</a:t>
            </a:r>
            <a:r>
              <a:rPr lang="en-US" baseline="0"/>
              <a:t> for the message to another value, but a</a:t>
            </a:r>
            <a:r>
              <a:rPr lang="en-US"/>
              <a:t> common approach in these situations is to simply set the </a:t>
            </a:r>
            <a:r>
              <a:rPr lang="en-US" err="1"/>
              <a:t>SenderRefID</a:t>
            </a:r>
            <a:r>
              <a:rPr lang="en-US"/>
              <a:t> to the </a:t>
            </a:r>
            <a:r>
              <a:rPr lang="en-US" err="1"/>
              <a:t>PublicID</a:t>
            </a:r>
            <a:r>
              <a:rPr lang="en-US" baseline="0"/>
              <a:t> during late binding.</a:t>
            </a:r>
            <a:endParaRPr lang="en-US"/>
          </a:p>
          <a:p>
            <a:endParaRPr lang="en-US"/>
          </a:p>
          <a:p>
            <a:endParaRPr lang="en-US" baseline="0"/>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1756605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1756605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Good candidates for late binding include:</a:t>
            </a:r>
          </a:p>
          <a:p>
            <a:pPr marL="171450" indent="-171450">
              <a:buFont typeface="Arial" pitchFamily="34" charset="0"/>
              <a:buChar char="•"/>
            </a:pPr>
            <a:r>
              <a:rPr lang="en-US"/>
              <a:t>A send timestamp</a:t>
            </a:r>
          </a:p>
          <a:p>
            <a:pPr marL="171450" indent="-171450">
              <a:buFont typeface="Arial" pitchFamily="34" charset="0"/>
              <a:buChar char="•"/>
            </a:pPr>
            <a:r>
              <a:rPr lang="en-US"/>
              <a:t>The message ID and/or its public ID</a:t>
            </a:r>
          </a:p>
          <a:p>
            <a:pPr marL="171450" indent="-171450">
              <a:buFont typeface="Arial" pitchFamily="34" charset="0"/>
              <a:buChar char="•"/>
            </a:pPr>
            <a:r>
              <a:rPr lang="en-US"/>
              <a:t>An identifier from the external system that was sent in reply to a previous message</a:t>
            </a:r>
          </a:p>
          <a:p>
            <a:endParaRPr lang="en-US"/>
          </a:p>
          <a:p>
            <a:r>
              <a:rPr lang="en-US"/>
              <a:t>For example, imagine an integration point in which the first message communicates that a new entity was added. The reply to the first message contains the ID to be used for the new entity on the external system. The second message identifies a change on this new entity. However, the second message is created before the first message has been sent (or before the reply to the first message has been received). The second message must use the ID in the reply to the first message. The only way this ID can be added to the second message is through late binding.</a:t>
            </a:r>
          </a:p>
          <a:p>
            <a:endParaRPr lang="en-US"/>
          </a:p>
          <a:p>
            <a:r>
              <a:rPr lang="en-US"/>
              <a:t>Typically, values that are to be late bound are added to the message payload using a placeholder marked by special character delimiters, such as &lt;@@ and @@&gt;. In the message request plugin, these placeholders are replaced with the required data.</a:t>
            </a:r>
          </a:p>
          <a:p>
            <a:r>
              <a:rPr lang="en-US"/>
              <a:t>Be careful about what data you set via late binding. Typically, the message payload should reflect a consistent snapshot of the system at the time the Event Fired rule executed. Late binding should not be used to capture entity data after message creation.</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572902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Payload transformation is done in the request plugin's beforeSend() method. It is called immediately before the message is sent. The method must always return a payload.</a:t>
            </a:r>
          </a:p>
          <a:p>
            <a:r>
              <a:rPr lang="en-US"/>
              <a:t>If the payload is not transformed, then the original payload should be returned.</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169609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eaLnBrk="1" hangingPunct="1"/>
            <a:r>
              <a:rPr lang="en-US"/>
              <a:t>You can modify the message payload using a placeholder or token</a:t>
            </a:r>
            <a:r>
              <a:rPr lang="en-US" baseline="0"/>
              <a:t>. Often, tokens and placeholders are designated with special</a:t>
            </a:r>
            <a:r>
              <a:rPr lang="en-US"/>
              <a:t> character delimiters, such as &lt;@@ and @@&gt;. In the beforeSend() method, these placeholders are replaced with the required data for late</a:t>
            </a:r>
            <a:r>
              <a:rPr lang="en-US" baseline="0"/>
              <a:t> binding</a:t>
            </a:r>
            <a:r>
              <a:rPr lang="en-US"/>
              <a:t>.</a:t>
            </a:r>
          </a:p>
          <a:p>
            <a:pPr eaLnBrk="1" hangingPunct="1"/>
            <a:endParaRPr lang="en-US"/>
          </a:p>
          <a:p>
            <a:pPr eaLnBrk="1" hangingPunct="1"/>
            <a:r>
              <a:rPr lang="en-US"/>
              <a:t>In some situations, the initial sending of the message is unsuccessful. This could be because of a problem with the Guidewire application or with the external system. In these situations, the message needs to be resent. Because a message may be sent multiple times, the beforeSend() method may be called multiple times. Therefore, the beforeSend() method should </a:t>
            </a:r>
            <a:r>
              <a:rPr lang="en-US" b="1"/>
              <a:t>not</a:t>
            </a:r>
            <a:r>
              <a:rPr lang="en-US"/>
              <a:t> modify the message payload directly. Instead, it should return a transformed payload. This lets later attempts to send the message update the payload as appropriate.</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169609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eaLnBrk="1" hangingPunct="1"/>
            <a:r>
              <a:rPr lang="en-US"/>
              <a:t>When an asynchronous reply is received, the SenderRefID is used to locate the message to acknowledge, even if the message was sent multiple times. As long as all automatically retried messages have the same SenderRefID as the original, Guidewire can find the correct message to acknowledge, regardless of which specific instance the external system is replying to.</a:t>
            </a:r>
          </a:p>
          <a:p>
            <a:pPr eaLnBrk="1" hangingPunct="1"/>
            <a:endParaRPr lang="en-US"/>
          </a:p>
          <a:p>
            <a:pPr eaLnBrk="1" hangingPunct="1"/>
            <a:r>
              <a:rPr lang="en-US"/>
              <a:t>In the example above, the SenderRefID is set to the message's public ID. Theoretically, the public ID shouldn't change with multiple calls to the beforeSend() method. So in this particular case, it is unlikely that the SenderRefID would change, even if it was reset multiple times. Nevertheless, it is best practice to set the SenderRefID only once, and to check that the value is not null prior to setting it.</a:t>
            </a:r>
          </a:p>
          <a:p>
            <a:pPr eaLnBrk="1" hangingPunct="1"/>
            <a:endParaRPr lang="en-US"/>
          </a:p>
          <a:p>
            <a:pPr eaLnBrk="1" hangingPunct="1"/>
            <a:r>
              <a:rPr lang="en-US"/>
              <a:t>In the example above, the code that inserts the SenderREFID value into the payload is located outside of the "if SenderRefID is null" branch. This is because SenderRefID should be set only if it hasn't already been set, but the SenderRefID should always be added to every transformed payload, regardless of when the SenderRefID value was set.</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22940878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8140547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0" u="sng"/>
              <a:t>Create</a:t>
            </a:r>
            <a:r>
              <a:rPr lang="en-US" b="0" u="sng" baseline="0"/>
              <a:t> a message request Plugin class</a:t>
            </a:r>
          </a:p>
          <a:p>
            <a:endParaRPr lang="en-US" baseline="0"/>
          </a:p>
          <a:p>
            <a:r>
              <a:rPr lang="en-US" b="0" baseline="0"/>
              <a:t>Line 9</a:t>
            </a:r>
          </a:p>
          <a:p>
            <a:pPr marL="171450" indent="-171450">
              <a:buFont typeface="Arial" panose="020B0604020202020204" pitchFamily="34" charset="0"/>
              <a:buChar char="•"/>
            </a:pPr>
            <a:r>
              <a:rPr lang="en-US" baseline="0"/>
              <a:t>Implement the </a:t>
            </a:r>
            <a:r>
              <a:rPr lang="en-US" baseline="0" err="1"/>
              <a:t>MessageRequest</a:t>
            </a:r>
            <a:r>
              <a:rPr lang="en-US" baseline="0"/>
              <a:t> interface.</a:t>
            </a:r>
          </a:p>
          <a:p>
            <a:pPr marL="171450" indent="-171450">
              <a:buFont typeface="Arial" panose="020B0604020202020204" pitchFamily="34" charset="0"/>
              <a:buChar char="•"/>
            </a:pPr>
            <a:r>
              <a:rPr lang="en-US" baseline="0"/>
              <a:t>Message entity instance is in transaction scope.</a:t>
            </a:r>
          </a:p>
          <a:p>
            <a:pPr marL="0" indent="0">
              <a:buFont typeface="Wingdings" panose="05000000000000000000" pitchFamily="2" charset="2"/>
              <a:buNone/>
            </a:pPr>
            <a:endParaRPr lang="en-US" baseline="0"/>
          </a:p>
          <a:p>
            <a:pPr marL="0" indent="0" algn="l">
              <a:buFont typeface="Wingdings" panose="05000000000000000000" pitchFamily="2" charset="2"/>
              <a:buNone/>
            </a:pPr>
            <a:r>
              <a:rPr lang="en-US" b="0" baseline="0"/>
              <a:t>Line 15-16</a:t>
            </a:r>
          </a:p>
          <a:p>
            <a:pPr marL="171450" indent="-171450">
              <a:buFont typeface="Arial" panose="020B0604020202020204" pitchFamily="34" charset="0"/>
              <a:buChar char="•"/>
            </a:pPr>
            <a:r>
              <a:rPr lang="en-US" baseline="0"/>
              <a:t>Add method annotations.</a:t>
            </a:r>
          </a:p>
          <a:p>
            <a:pPr marL="0" indent="0">
              <a:buFont typeface="Wingdings" panose="05000000000000000000" pitchFamily="2" charset="2"/>
              <a:buNone/>
            </a:pPr>
            <a:endParaRPr lang="en-US" baseline="0"/>
          </a:p>
          <a:p>
            <a:pPr marL="0" indent="0">
              <a:buFont typeface="Wingdings" panose="05000000000000000000" pitchFamily="2" charset="2"/>
              <a:buNone/>
            </a:pPr>
            <a:r>
              <a:rPr lang="en-US" b="0" baseline="0"/>
              <a:t>Line 17</a:t>
            </a:r>
          </a:p>
          <a:p>
            <a:pPr marL="171450" indent="-171450">
              <a:buFont typeface="Arial" panose="020B0604020202020204" pitchFamily="34" charset="0"/>
              <a:buChar char="•"/>
            </a:pPr>
            <a:r>
              <a:rPr lang="en-US" baseline="0"/>
              <a:t>Must Override </a:t>
            </a:r>
            <a:r>
              <a:rPr lang="en-US" baseline="0" err="1"/>
              <a:t>beforeSend</a:t>
            </a:r>
            <a:r>
              <a:rPr lang="en-US" baseline="0"/>
              <a:t> method.</a:t>
            </a:r>
          </a:p>
          <a:p>
            <a:pPr marL="171450" indent="-171450">
              <a:buFont typeface="Arial" panose="020B0604020202020204" pitchFamily="34" charset="0"/>
              <a:buChar char="•"/>
            </a:pPr>
            <a:r>
              <a:rPr lang="en-US" baseline="0"/>
              <a:t>Passed the Message Object.</a:t>
            </a:r>
          </a:p>
          <a:p>
            <a:pPr marL="171450" indent="-171450">
              <a:buFont typeface="Arial" panose="020B0604020202020204" pitchFamily="34" charset="0"/>
              <a:buChar char="•"/>
            </a:pPr>
            <a:r>
              <a:rPr lang="en-US" baseline="0"/>
              <a:t>Payload transformation is done in the request plugin’s </a:t>
            </a:r>
            <a:r>
              <a:rPr lang="en-US" baseline="0" err="1"/>
              <a:t>beforeSend</a:t>
            </a:r>
            <a:r>
              <a:rPr lang="en-US" baseline="0"/>
              <a:t> method.</a:t>
            </a:r>
          </a:p>
          <a:p>
            <a:pPr marL="171450" indent="-171450">
              <a:buFont typeface="Arial" panose="020B0604020202020204" pitchFamily="34" charset="0"/>
              <a:buChar char="•"/>
            </a:pPr>
            <a:r>
              <a:rPr lang="en-US" baseline="0"/>
              <a:t>It is called immediately before the message is sent.</a:t>
            </a:r>
          </a:p>
          <a:p>
            <a:pPr marL="171450" indent="-171450">
              <a:buFont typeface="Arial" panose="020B0604020202020204" pitchFamily="34" charset="0"/>
              <a:buChar char="•"/>
            </a:pPr>
            <a:r>
              <a:rPr lang="en-US" baseline="0"/>
              <a:t>The method must always return a transformed payload. If the payload is not transformed, then the original payload should be returned.</a:t>
            </a:r>
          </a:p>
          <a:p>
            <a:pPr marL="0" indent="0">
              <a:buFont typeface="Wingdings" panose="05000000000000000000" pitchFamily="2" charset="2"/>
              <a:buNone/>
            </a:pPr>
            <a:endParaRPr lang="en-US" baseline="0"/>
          </a:p>
          <a:p>
            <a:pPr marL="0" indent="0">
              <a:buFont typeface="Wingdings" panose="05000000000000000000" pitchFamily="2" charset="2"/>
              <a:buNone/>
            </a:pPr>
            <a:r>
              <a:rPr lang="en-US" b="0" u="sng" baseline="0" err="1"/>
              <a:t>afterSend</a:t>
            </a:r>
            <a:r>
              <a:rPr lang="en-US" b="0" u="sng" baseline="0"/>
              <a:t> method</a:t>
            </a:r>
          </a:p>
          <a:p>
            <a:pPr marL="0" indent="0">
              <a:buFont typeface="Wingdings" panose="05000000000000000000" pitchFamily="2" charset="2"/>
              <a:buNone/>
            </a:pPr>
            <a:r>
              <a:rPr lang="en-US" b="0" baseline="0"/>
              <a:t>It performs post-processing on the message object immediately after sending the message with the send method of the </a:t>
            </a:r>
            <a:r>
              <a:rPr lang="en-US" b="0" baseline="0" err="1"/>
              <a:t>MessageTransport</a:t>
            </a:r>
            <a:r>
              <a:rPr lang="en-US" b="0" baseline="0"/>
              <a:t> plugin. Typically not implemented.</a:t>
            </a:r>
            <a:endParaRPr lang="en-US" b="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1696092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1073101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The example above shows the triggering entity in the user interface (a savings account for William Andy, whose public ID is ab:5), the request plugin's beforeSend() method, and the payload generated for that message. Note that the age in seconds has been added to the payload.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27707517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27593744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For non-messaging plugins (such as authentication), you can implement only one version of each plugin at a time. For messaging plugins, you can implement any number of MessageRequest, MessageTransport, and MessageReply plugins.</a:t>
            </a:r>
          </a:p>
          <a:p>
            <a:endParaRPr lang="en-US"/>
          </a:p>
          <a:p>
            <a:r>
              <a:rPr lang="en-US"/>
              <a:t>Every destination can use only one message transport plugin. Theoretically, a given message transport plugin class can be used by multiple destinations. However, this would be uncommon for most types of destinations, except for standardized cases, such as simple transport of the payload as a text message sent to a JMS destination.</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8240936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If you implement your message request plugin in Java, then you will need to compile the Java class and recopy it into the Guidewire directory structure.</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
        <p:nvSpPr>
          <p:cNvPr id="7" name="Slide Image Placeholder 6"/>
          <p:cNvSpPr>
            <a:spLocks noGrp="1" noRot="1" noChangeAspect="1"/>
          </p:cNvSpPr>
          <p:nvPr>
            <p:ph type="sldImg"/>
          </p:nvPr>
        </p:nvSpPr>
        <p:spPr>
          <a:xfrm>
            <a:off x="-76200" y="304800"/>
            <a:ext cx="7010400" cy="3943350"/>
          </a:xfrm>
        </p:spPr>
      </p:sp>
    </p:spTree>
    <p:extLst>
      <p:ext uri="{BB962C8B-B14F-4D97-AF65-F5344CB8AC3E}">
        <p14:creationId xmlns:p14="http://schemas.microsoft.com/office/powerpoint/2010/main" val="27366402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2844428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43973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828682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3303696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Answers</a:t>
            </a:r>
          </a:p>
          <a:p>
            <a:r>
              <a:rPr lang="en-US"/>
              <a:t>1a) Payload generation occurs on the application server. Payload transformation occurs on the batch server.</a:t>
            </a:r>
          </a:p>
          <a:p>
            <a:r>
              <a:rPr lang="en-US"/>
              <a:t>1b) Payload generation occurs during Event Fired rules (right after the triggering event occurs). Payload transformation occurs right before the message is sent (in the request plugin's beforeSend() method, which is called immediately before the transport plugin's send() method).</a:t>
            </a:r>
          </a:p>
          <a:p>
            <a:r>
              <a:rPr lang="en-US"/>
              <a:t>2) You would need to "late bind" a message if information that needs to go in the message payload is not known at the time the message payload is generated in Event Fired rules.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824272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a:t>Click to edit Left Column Subtitle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a:t>Click to edit Right Column Subtitle</a:t>
            </a:r>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p>
        </p:txBody>
      </p:sp>
      <p:sp>
        <p:nvSpPr>
          <p:cNvPr id="3" name="txt Top Content"/>
          <p:cNvSpPr>
            <a:spLocks noGrp="1"/>
          </p:cNvSpPr>
          <p:nvPr>
            <p:ph idx="1"/>
          </p:nvPr>
        </p:nvSpPr>
        <p:spPr>
          <a:xfrm>
            <a:off x="692151" y="9144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6586969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
        <p:nvSpPr>
          <p:cNvPr id="3" name="txt Left Col Content"/>
          <p:cNvSpPr>
            <a:spLocks noGrp="1"/>
          </p:cNvSpPr>
          <p:nvPr>
            <p:ph sz="half" idx="1"/>
          </p:nvPr>
        </p:nvSpPr>
        <p:spPr>
          <a:xfrm>
            <a:off x="692148" y="914399"/>
            <a:ext cx="737616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9706133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18606217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a:t>Topic 01 (Current topic = black font color)</a:t>
            </a:r>
          </a:p>
          <a:p>
            <a:pPr lvl="0"/>
            <a:r>
              <a:rPr lang="en-US"/>
              <a:t>Topic 02</a:t>
            </a:r>
          </a:p>
          <a:p>
            <a:pPr lvl="0"/>
            <a:r>
              <a:rPr lang="en-US"/>
              <a:t>Topic 03</a:t>
            </a:r>
          </a:p>
          <a:p>
            <a:pPr lvl="0"/>
            <a:r>
              <a:rPr lang="en-US"/>
              <a:t>Topic 04</a:t>
            </a:r>
          </a:p>
          <a:p>
            <a:pPr lvl="0"/>
            <a:endParaRPr lang="en-US"/>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a:solidFill>
                  <a:schemeClr val="accent1"/>
                </a:solidFill>
              </a:rPr>
              <a:t>This lesson uses the notes section for additional explanation and information.</a:t>
            </a:r>
            <a:r>
              <a:rPr lang="en-US" sz="1600">
                <a:solidFill>
                  <a:schemeClr val="accent1"/>
                </a:solidFill>
              </a:rPr>
              <a:t> </a:t>
            </a:r>
            <a:br>
              <a:rPr lang="en-US" sz="1600">
                <a:solidFill>
                  <a:schemeClr val="accent1"/>
                </a:solidFill>
              </a:rPr>
            </a:br>
            <a:r>
              <a:rPr lang="en-US" sz="1600" b="0">
                <a:solidFill>
                  <a:schemeClr val="accent1"/>
                </a:solidFill>
              </a:rPr>
              <a:t>To view the notes in PowerPoint, select View </a:t>
            </a:r>
            <a:r>
              <a:rPr lang="en-US" sz="1600" b="0">
                <a:solidFill>
                  <a:schemeClr val="accent1"/>
                </a:solidFill>
                <a:sym typeface="Wingdings" pitchFamily="2" charset="2"/>
              </a:rPr>
              <a:t> Normal or </a:t>
            </a:r>
            <a:r>
              <a:rPr lang="en-US" sz="1600" b="0">
                <a:solidFill>
                  <a:schemeClr val="accent1"/>
                </a:solidFill>
              </a:rPr>
              <a:t>View </a:t>
            </a:r>
            <a:r>
              <a:rPr lang="en-US" sz="1600" b="0">
                <a:solidFill>
                  <a:schemeClr val="accent1"/>
                </a:solidFill>
                <a:sym typeface="Wingdings" pitchFamily="2" charset="2"/>
              </a:rPr>
              <a:t> </a:t>
            </a:r>
            <a:r>
              <a:rPr lang="en-US" sz="1600" b="0">
                <a:solidFill>
                  <a:schemeClr val="accent1"/>
                </a:solidFill>
              </a:rPr>
              <a:t>Notes Page. </a:t>
            </a:r>
            <a:br>
              <a:rPr lang="en-US" sz="1600" b="0">
                <a:solidFill>
                  <a:schemeClr val="accent1"/>
                </a:solidFill>
              </a:rPr>
            </a:br>
            <a:r>
              <a:rPr lang="en-US" sz="1600" b="0">
                <a:solidFill>
                  <a:schemeClr val="accent1"/>
                </a:solidFill>
              </a:rPr>
              <a:t>When printing </a:t>
            </a:r>
            <a:r>
              <a:rPr lang="en-US" sz="1600">
                <a:solidFill>
                  <a:schemeClr val="accent1"/>
                </a:solidFill>
              </a:rPr>
              <a:t>notes, select Note Pages and</a:t>
            </a:r>
            <a:r>
              <a:rPr lang="en-US" sz="1600" baseline="0">
                <a:solidFill>
                  <a:schemeClr val="accent1"/>
                </a:solidFill>
              </a:rPr>
              <a:t> </a:t>
            </a:r>
            <a:r>
              <a:rPr lang="en-US" sz="1600" b="0">
                <a:solidFill>
                  <a:schemeClr val="accent1"/>
                </a:solidFill>
              </a:rPr>
              <a:t>Print hidden slides.</a:t>
            </a:r>
          </a:p>
          <a:p>
            <a:pPr lvl="1" algn="l">
              <a:spcBef>
                <a:spcPct val="20000"/>
              </a:spcBef>
              <a:buSzPct val="90000"/>
              <a:buFont typeface="Wingdings 2" pitchFamily="18" charset="2"/>
              <a:buNone/>
            </a:pPr>
            <a:endParaRPr lang="en-US" sz="1400" b="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Question…?</a:t>
            </a:r>
          </a:p>
          <a:p>
            <a:pPr lvl="0"/>
            <a:r>
              <a:rPr lang="en-US"/>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a:t>Question…?</a:t>
            </a:r>
          </a:p>
          <a:p>
            <a:pPr lvl="0"/>
            <a:endParaRPr lang="en-US"/>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a:t>
            </a:r>
          </a:p>
        </p:txBody>
      </p:sp>
    </p:spTree>
    <p:extLst>
      <p:ext uri="{BB962C8B-B14F-4D97-AF65-F5344CB8AC3E}">
        <p14:creationId xmlns:p14="http://schemas.microsoft.com/office/powerpoint/2010/main" val="19242213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1844425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898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8" r:id="rId2"/>
    <p:sldLayoutId id="2147483771" r:id="rId3"/>
    <p:sldLayoutId id="2147483774" r:id="rId4"/>
    <p:sldLayoutId id="2147483776" r:id="rId5"/>
    <p:sldLayoutId id="2147483781" r:id="rId6"/>
    <p:sldLayoutId id="2147483793" r:id="rId7"/>
    <p:sldLayoutId id="2147483794" r:id="rId8"/>
    <p:sldLayoutId id="2147483799" r:id="rId9"/>
    <p:sldLayoutId id="2147483800" r:id="rId10"/>
    <p:sldLayoutId id="2147483801" r:id="rId11"/>
    <p:sldLayoutId id="2147483804" r:id="rId12"/>
    <p:sldLayoutId id="2147483805" r:id="rId13"/>
    <p:sldLayoutId id="2147483806" r:id="rId14"/>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2.emf"/><Relationship Id="rId7"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12.emf"/><Relationship Id="rId7"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4.emf"/><Relationship Id="rId5" Type="http://schemas.openxmlformats.org/officeDocument/2006/relationships/image" Target="../media/image16.emf"/><Relationship Id="rId4" Type="http://schemas.openxmlformats.org/officeDocument/2006/relationships/image" Target="../media/image15.emf"/><Relationship Id="rId9" Type="http://schemas.openxmlformats.org/officeDocument/2006/relationships/image" Target="../media/image11.emf"/></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6.emf"/><Relationship Id="rId7"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6.emf"/><Relationship Id="rId5" Type="http://schemas.openxmlformats.org/officeDocument/2006/relationships/image" Target="../media/image7.emf"/><Relationship Id="rId4" Type="http://schemas.openxmlformats.org/officeDocument/2006/relationships/image" Target="../media/image14.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7.emf"/><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6.emf"/><Relationship Id="rId5" Type="http://schemas.openxmlformats.org/officeDocument/2006/relationships/image" Target="../media/image22.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27.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a:solidFill>
                  <a:srgbClr val="04628C"/>
                </a:solidFill>
              </a:rPr>
              <a:t>InsuranceSuite 10 Integration</a:t>
            </a:r>
          </a:p>
        </p:txBody>
      </p:sp>
      <p:sp>
        <p:nvSpPr>
          <p:cNvPr id="6" name="Footer Placeholder 5"/>
          <p:cNvSpPr>
            <a:spLocks noGrp="1"/>
          </p:cNvSpPr>
          <p:nvPr>
            <p:ph type="ftr" sz="quarter" idx="3"/>
          </p:nvPr>
        </p:nvSpPr>
        <p:spPr/>
        <p:txBody>
          <a:bodyPr/>
          <a:lstStyle/>
          <a:p>
            <a:r>
              <a:rPr lang="en-US">
                <a:solidFill>
                  <a:srgbClr val="04628C"/>
                </a:solidFill>
              </a:rPr>
              <a:t>© 2020 Cognizant</a:t>
            </a:r>
          </a:p>
        </p:txBody>
      </p:sp>
      <p:sp>
        <p:nvSpPr>
          <p:cNvPr id="2" name="Rectangle 1"/>
          <p:cNvSpPr/>
          <p:nvPr/>
        </p:nvSpPr>
        <p:spPr>
          <a:xfrm>
            <a:off x="4310896" y="3244334"/>
            <a:ext cx="3570208" cy="369332"/>
          </a:xfrm>
          <a:prstGeom prst="rect">
            <a:avLst/>
          </a:prstGeom>
        </p:spPr>
        <p:txBody>
          <a:bodyPr wrap="none">
            <a:spAutoFit/>
          </a:bodyPr>
          <a:lstStyle/>
          <a:p>
            <a:r>
              <a:rPr lang="en-US"/>
              <a:t>InsuranceSuite 10 Fundamentals</a:t>
            </a:r>
          </a:p>
        </p:txBody>
      </p:sp>
      <p:sp>
        <p:nvSpPr>
          <p:cNvPr id="8" name="Title 2"/>
          <p:cNvSpPr txBox="1">
            <a:spLocks/>
          </p:cNvSpPr>
          <p:nvPr/>
        </p:nvSpPr>
        <p:spPr bwMode="white">
          <a:xfrm>
            <a:off x="1143000" y="5139999"/>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a:solidFill>
                  <a:srgbClr val="00B0F0"/>
                </a:solidFill>
              </a:rPr>
              <a:t>MESSAGE PAYLOAD TRANSFORMATION</a:t>
            </a:r>
            <a:endParaRPr lang="en-US" sz="2400" b="0">
              <a:solidFill>
                <a:srgbClr val="00B0F0"/>
              </a:solidFill>
              <a:ea typeface="+mn-ea"/>
            </a:endParaRPr>
          </a:p>
        </p:txBody>
      </p:sp>
    </p:spTree>
    <p:extLst>
      <p:ext uri="{BB962C8B-B14F-4D97-AF65-F5344CB8AC3E}">
        <p14:creationId xmlns:p14="http://schemas.microsoft.com/office/powerpoint/2010/main" val="57388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a:t>Describe the plugins used in sending messages</a:t>
            </a:r>
          </a:p>
          <a:p>
            <a:pPr lvl="1"/>
            <a:r>
              <a:rPr lang="en-US"/>
              <a:t>Set sender reference IDs and late bind messages</a:t>
            </a:r>
          </a:p>
          <a:p>
            <a:pPr lvl="1"/>
            <a:r>
              <a:rPr lang="en-US"/>
              <a:t>Write message request plugins</a:t>
            </a:r>
          </a:p>
          <a:p>
            <a:pPr lvl="1"/>
            <a:r>
              <a:rPr lang="en-US"/>
              <a:t>Write message transport plugins</a:t>
            </a:r>
          </a:p>
          <a:p>
            <a:pPr lvl="1"/>
            <a:r>
              <a:rPr lang="en-US"/>
              <a:t>Describe the functionality of safe ordering</a:t>
            </a:r>
          </a:p>
          <a:p>
            <a:pPr lvl="1"/>
            <a:r>
              <a:rPr lang="en-US"/>
              <a:t>Describe how errors are handled when sending messages</a:t>
            </a:r>
          </a:p>
          <a:p>
            <a:endParaRPr lang="en-US"/>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solidFill>
                  <a:schemeClr val="bg1"/>
                </a:solidFill>
              </a:rPr>
              <a:t>Sending message plugins</a:t>
            </a:r>
          </a:p>
          <a:p>
            <a:r>
              <a:rPr lang="en-US"/>
              <a:t>SenderRefIDs and late binding</a:t>
            </a:r>
          </a:p>
          <a:p>
            <a:r>
              <a:rPr lang="en-US"/>
              <a:t>The message request plugin</a:t>
            </a:r>
          </a:p>
          <a:p>
            <a:r>
              <a:rPr lang="en-US"/>
              <a:t>The message transport plugin</a:t>
            </a:r>
          </a:p>
          <a:p>
            <a:r>
              <a:rPr lang="en-US"/>
              <a:t>Retry scenarios</a:t>
            </a:r>
          </a:p>
          <a:p>
            <a:r>
              <a:rPr lang="en-US"/>
              <a:t>Safe ordering</a:t>
            </a:r>
          </a:p>
          <a:p>
            <a:endParaRPr lang="en-US"/>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Messaging plugins</a:t>
            </a:r>
          </a:p>
        </p:txBody>
      </p:sp>
      <p:sp>
        <p:nvSpPr>
          <p:cNvPr id="4" name="Content Placeholder 3"/>
          <p:cNvSpPr>
            <a:spLocks noGrp="1"/>
          </p:cNvSpPr>
          <p:nvPr>
            <p:ph sz="half" idx="1"/>
          </p:nvPr>
        </p:nvSpPr>
        <p:spPr/>
        <p:txBody>
          <a:bodyPr/>
          <a:lstStyle/>
          <a:p>
            <a:r>
              <a:rPr lang="en-US"/>
              <a:t>A  messaging destination calls </a:t>
            </a:r>
            <a:br>
              <a:rPr lang="en-US"/>
            </a:br>
            <a:r>
              <a:rPr lang="en-US" b="1"/>
              <a:t>messaging plugin</a:t>
            </a:r>
            <a:r>
              <a:rPr lang="en-US"/>
              <a:t> to…</a:t>
            </a:r>
          </a:p>
          <a:p>
            <a:pPr lvl="1"/>
            <a:r>
              <a:rPr lang="en-US"/>
              <a:t>Handle the late binding of a generated </a:t>
            </a:r>
            <a:br>
              <a:rPr lang="en-US"/>
            </a:br>
            <a:r>
              <a:rPr lang="en-US"/>
              <a:t>message</a:t>
            </a:r>
          </a:p>
          <a:p>
            <a:pPr lvl="1"/>
            <a:r>
              <a:rPr lang="en-US"/>
              <a:t>Send a message</a:t>
            </a:r>
          </a:p>
          <a:p>
            <a:pPr lvl="1"/>
            <a:r>
              <a:rPr lang="en-US"/>
              <a:t>Acknowledge a received message</a:t>
            </a:r>
          </a:p>
          <a:p>
            <a:r>
              <a:rPr lang="en-US"/>
              <a:t>Request Plugin</a:t>
            </a:r>
          </a:p>
          <a:p>
            <a:pPr lvl="1"/>
            <a:r>
              <a:rPr lang="en-US"/>
              <a:t>Handles the late binding of an </a:t>
            </a:r>
            <a:br>
              <a:rPr lang="en-US"/>
            </a:br>
            <a:r>
              <a:rPr lang="en-US"/>
              <a:t>message about to be sent</a:t>
            </a:r>
          </a:p>
          <a:p>
            <a:r>
              <a:rPr lang="en-US"/>
              <a:t>Transport Plugin </a:t>
            </a:r>
          </a:p>
          <a:p>
            <a:pPr lvl="1"/>
            <a:r>
              <a:rPr lang="en-US"/>
              <a:t>Sends the message</a:t>
            </a:r>
          </a:p>
          <a:p>
            <a:pPr lvl="1"/>
            <a:r>
              <a:rPr lang="en-US"/>
              <a:t>Acknowledges synchronous replies</a:t>
            </a:r>
          </a:p>
          <a:p>
            <a:r>
              <a:rPr lang="en-US"/>
              <a:t>Reply Plugin</a:t>
            </a:r>
          </a:p>
          <a:p>
            <a:pPr lvl="1"/>
            <a:r>
              <a:rPr lang="en-US"/>
              <a:t>Acknowledges a received message</a:t>
            </a:r>
          </a:p>
          <a:p>
            <a:pPr lvl="1"/>
            <a:endParaRPr lang="en-US"/>
          </a:p>
        </p:txBody>
      </p:sp>
      <p:sp>
        <p:nvSpPr>
          <p:cNvPr id="92" name="txt Request"/>
          <p:cNvSpPr txBox="1">
            <a:spLocks noChangeArrowheads="1"/>
          </p:cNvSpPr>
          <p:nvPr/>
        </p:nvSpPr>
        <p:spPr bwMode="auto">
          <a:xfrm>
            <a:off x="8941172" y="3143251"/>
            <a:ext cx="93217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a:solidFill>
                  <a:schemeClr val="bg1"/>
                </a:solidFill>
              </a:rPr>
              <a:t>Request </a:t>
            </a:r>
            <a:br>
              <a:rPr lang="en-US" sz="1600">
                <a:solidFill>
                  <a:schemeClr val="bg1"/>
                </a:solidFill>
              </a:rPr>
            </a:br>
            <a:r>
              <a:rPr lang="en-US" sz="1600">
                <a:solidFill>
                  <a:schemeClr val="bg1"/>
                </a:solidFill>
              </a:rPr>
              <a:t>Plugin</a:t>
            </a:r>
          </a:p>
        </p:txBody>
      </p:sp>
      <p:sp>
        <p:nvSpPr>
          <p:cNvPr id="111" name="txt Transport"/>
          <p:cNvSpPr txBox="1">
            <a:spLocks noChangeArrowheads="1"/>
          </p:cNvSpPr>
          <p:nvPr/>
        </p:nvSpPr>
        <p:spPr bwMode="auto">
          <a:xfrm>
            <a:off x="8940182" y="4308158"/>
            <a:ext cx="1184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a:solidFill>
                  <a:schemeClr val="bg1"/>
                </a:solidFill>
              </a:rPr>
              <a:t>Transport </a:t>
            </a:r>
            <a:br>
              <a:rPr lang="en-US" sz="1600">
                <a:solidFill>
                  <a:schemeClr val="bg1"/>
                </a:solidFill>
              </a:rPr>
            </a:br>
            <a:r>
              <a:rPr lang="en-US" sz="1600">
                <a:solidFill>
                  <a:schemeClr val="bg1"/>
                </a:solidFill>
              </a:rPr>
              <a:t>Plugin</a:t>
            </a:r>
          </a:p>
        </p:txBody>
      </p:sp>
      <p:sp>
        <p:nvSpPr>
          <p:cNvPr id="130" name="txt Reply"/>
          <p:cNvSpPr txBox="1">
            <a:spLocks noChangeArrowheads="1"/>
          </p:cNvSpPr>
          <p:nvPr/>
        </p:nvSpPr>
        <p:spPr bwMode="auto">
          <a:xfrm>
            <a:off x="8949744" y="5562601"/>
            <a:ext cx="1184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a:solidFill>
                  <a:schemeClr val="bg1"/>
                </a:solidFill>
              </a:rPr>
              <a:t>Reply </a:t>
            </a:r>
            <a:br>
              <a:rPr lang="en-US" sz="1600">
                <a:solidFill>
                  <a:schemeClr val="bg1"/>
                </a:solidFill>
              </a:rPr>
            </a:br>
            <a:r>
              <a:rPr lang="en-US" sz="1600">
                <a:solidFill>
                  <a:schemeClr val="bg1"/>
                </a:solidFill>
              </a:rPr>
              <a:t>Plugin</a:t>
            </a:r>
          </a:p>
        </p:txBody>
      </p:sp>
      <p:sp>
        <p:nvSpPr>
          <p:cNvPr id="169" name="txt DestID"/>
          <p:cNvSpPr txBox="1">
            <a:spLocks noChangeArrowheads="1"/>
          </p:cNvSpPr>
          <p:nvPr/>
        </p:nvSpPr>
        <p:spPr bwMode="auto">
          <a:xfrm>
            <a:off x="8970097" y="914401"/>
            <a:ext cx="142202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a:solidFill>
                  <a:schemeClr val="bg1"/>
                </a:solidFill>
              </a:rPr>
              <a:t>Destination</a:t>
            </a:r>
            <a:br>
              <a:rPr lang="en-US" sz="1600">
                <a:solidFill>
                  <a:schemeClr val="bg1"/>
                </a:solidFill>
              </a:rPr>
            </a:br>
            <a:r>
              <a:rPr lang="en-US" sz="1600">
                <a:solidFill>
                  <a:schemeClr val="bg1"/>
                </a:solidFill>
              </a:rPr>
              <a:t>ID = 20</a:t>
            </a:r>
          </a:p>
        </p:txBody>
      </p:sp>
      <p:pic>
        <p:nvPicPr>
          <p:cNvPr id="1038" name="icn Msg Destin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0" y="925613"/>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7" name="icn Plg Repl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1754" y="5562600"/>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6" name="inc Plg Transpor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77470" y="4343400"/>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9" name="icn Plg Reques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2233" y="3124200"/>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47759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Plugins for sending a message </a:t>
            </a:r>
          </a:p>
        </p:txBody>
      </p:sp>
      <p:sp>
        <p:nvSpPr>
          <p:cNvPr id="9" name="TextBox 8"/>
          <p:cNvSpPr txBox="1"/>
          <p:nvPr/>
        </p:nvSpPr>
        <p:spPr>
          <a:xfrm>
            <a:off x="1143000" y="3886200"/>
            <a:ext cx="10610088" cy="2413631"/>
          </a:xfrm>
          <a:prstGeom prst="rect">
            <a:avLst/>
          </a:prstGeom>
          <a:noFill/>
        </p:spPr>
        <p:txBody>
          <a:bodyPr wrap="square" rtlCol="0">
            <a:noAutofit/>
          </a:bodyPr>
          <a:lstStyle/>
          <a:p>
            <a:pPr marL="285750" indent="-285750">
              <a:buFont typeface="Arial" panose="020B0604020202020204" pitchFamily="34" charset="0"/>
              <a:buChar char="•"/>
            </a:pPr>
            <a:r>
              <a:rPr lang="en-US" sz="2400">
                <a:solidFill>
                  <a:schemeClr val="bg1"/>
                </a:solidFill>
                <a:latin typeface="Arial" pitchFamily="32" charset="0"/>
                <a:cs typeface="Arial" pitchFamily="32" charset="0"/>
              </a:rPr>
              <a:t>All activity from payload transformation tales place in transaction 2</a:t>
            </a:r>
          </a:p>
          <a:p>
            <a:endParaRPr lang="en-US" sz="2400">
              <a:solidFill>
                <a:schemeClr val="bg1"/>
              </a:solidFill>
              <a:latin typeface="Arial" pitchFamily="32" charset="0"/>
              <a:cs typeface="Arial" pitchFamily="32" charset="0"/>
            </a:endParaRPr>
          </a:p>
          <a:p>
            <a:pPr marL="285750" indent="-285750">
              <a:buFont typeface="Arial" panose="020B0604020202020204" pitchFamily="34" charset="0"/>
              <a:buChar char="•"/>
            </a:pPr>
            <a:r>
              <a:rPr lang="en-US" sz="2400">
                <a:solidFill>
                  <a:schemeClr val="bg1"/>
                </a:solidFill>
                <a:latin typeface="Arial" pitchFamily="32" charset="0"/>
                <a:cs typeface="Arial" pitchFamily="32" charset="0"/>
              </a:rPr>
              <a:t>Messaging Occurs across multiple transactions</a:t>
            </a:r>
          </a:p>
          <a:p>
            <a:pPr marL="742950" lvl="1" indent="-285750">
              <a:buFont typeface="Arial" panose="020B0604020202020204" pitchFamily="34" charset="0"/>
              <a:buChar char="•"/>
            </a:pPr>
            <a:r>
              <a:rPr lang="en-US" sz="2400">
                <a:solidFill>
                  <a:schemeClr val="bg1"/>
                </a:solidFill>
                <a:latin typeface="Arial" pitchFamily="32" charset="0"/>
                <a:cs typeface="Arial" pitchFamily="32" charset="0"/>
              </a:rPr>
              <a:t>If an exception is thrown, work in the current transaction is rolled back.</a:t>
            </a:r>
          </a:p>
        </p:txBody>
      </p:sp>
      <p:pic>
        <p:nvPicPr>
          <p:cNvPr id="3" name="Picture 2"/>
          <p:cNvPicPr>
            <a:picLocks noChangeAspect="1"/>
          </p:cNvPicPr>
          <p:nvPr/>
        </p:nvPicPr>
        <p:blipFill>
          <a:blip r:embed="rId3"/>
          <a:stretch>
            <a:fillRect/>
          </a:stretch>
        </p:blipFill>
        <p:spPr>
          <a:xfrm>
            <a:off x="1143000" y="861823"/>
            <a:ext cx="8610600" cy="2572407"/>
          </a:xfrm>
          <a:prstGeom prst="rect">
            <a:avLst/>
          </a:prstGeom>
        </p:spPr>
      </p:pic>
    </p:spTree>
    <p:extLst>
      <p:ext uri="{BB962C8B-B14F-4D97-AF65-F5344CB8AC3E}">
        <p14:creationId xmlns:p14="http://schemas.microsoft.com/office/powerpoint/2010/main" val="349127748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Sending message plugins</a:t>
            </a:r>
          </a:p>
          <a:p>
            <a:r>
              <a:rPr lang="en-US">
                <a:solidFill>
                  <a:schemeClr val="bg1"/>
                </a:solidFill>
              </a:rPr>
              <a:t>SenderRefIDs and late binding</a:t>
            </a:r>
          </a:p>
          <a:p>
            <a:r>
              <a:rPr lang="en-US"/>
              <a:t>The message request plugin</a:t>
            </a:r>
          </a:p>
          <a:p>
            <a:r>
              <a:rPr lang="en-US"/>
              <a:t>The message transport plugin</a:t>
            </a:r>
          </a:p>
          <a:p>
            <a:r>
              <a:rPr lang="en-US"/>
              <a:t>Retry scenarios</a:t>
            </a:r>
          </a:p>
          <a:p>
            <a:r>
              <a:rPr lang="en-US"/>
              <a:t>Safe ordering</a:t>
            </a:r>
          </a:p>
          <a:p>
            <a:endParaRPr lang="en-US"/>
          </a:p>
        </p:txBody>
      </p:sp>
    </p:spTree>
    <p:extLst>
      <p:ext uri="{BB962C8B-B14F-4D97-AF65-F5344CB8AC3E}">
        <p14:creationId xmlns:p14="http://schemas.microsoft.com/office/powerpoint/2010/main" val="427038415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SenderRefIDs</a:t>
            </a:r>
          </a:p>
        </p:txBody>
      </p:sp>
      <p:sp>
        <p:nvSpPr>
          <p:cNvPr id="4" name="Content Placeholder 3"/>
          <p:cNvSpPr>
            <a:spLocks noGrp="1"/>
          </p:cNvSpPr>
          <p:nvPr>
            <p:ph idx="1"/>
          </p:nvPr>
        </p:nvSpPr>
        <p:spPr>
          <a:xfrm>
            <a:off x="533400" y="3657600"/>
            <a:ext cx="9828213" cy="2743200"/>
          </a:xfrm>
        </p:spPr>
        <p:txBody>
          <a:bodyPr/>
          <a:lstStyle/>
          <a:p>
            <a:r>
              <a:rPr lang="en-US"/>
              <a:t>When message acknowledgement is asynchronous, the external system needs a way to identify which message it is acknowledging</a:t>
            </a:r>
          </a:p>
          <a:p>
            <a:pPr lvl="1"/>
            <a:r>
              <a:rPr lang="en-US"/>
              <a:t>To do this, a SenderRefID is assigned to the message when it is sent</a:t>
            </a:r>
          </a:p>
          <a:p>
            <a:pPr lvl="1"/>
            <a:r>
              <a:rPr lang="en-US"/>
              <a:t>When the external system sends an acknowledgement, it uses the SenderRefID to identify the message</a:t>
            </a:r>
          </a:p>
          <a:p>
            <a:endParaRPr lang="en-US"/>
          </a:p>
        </p:txBody>
      </p:sp>
      <p:sp>
        <p:nvSpPr>
          <p:cNvPr id="19" name="rec GWRE"/>
          <p:cNvSpPr>
            <a:spLocks noChangeArrowheads="1"/>
          </p:cNvSpPr>
          <p:nvPr/>
        </p:nvSpPr>
        <p:spPr bwMode="auto">
          <a:xfrm>
            <a:off x="2285999" y="1774201"/>
            <a:ext cx="1463040" cy="276999"/>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a:p>
        </p:txBody>
      </p:sp>
      <p:pic>
        <p:nvPicPr>
          <p:cNvPr id="20" name="icon GWRE app"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2214" y="983062"/>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xt GWREapp"/>
          <p:cNvSpPr txBox="1">
            <a:spLocks noChangeArrowheads="1"/>
          </p:cNvSpPr>
          <p:nvPr/>
        </p:nvSpPr>
        <p:spPr bwMode="auto">
          <a:xfrm>
            <a:off x="2285999" y="2186388"/>
            <a:ext cx="146304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a:solidFill>
                  <a:schemeClr val="bg1"/>
                </a:solidFill>
              </a:rPr>
              <a:t>Guidewire application</a:t>
            </a:r>
          </a:p>
        </p:txBody>
      </p:sp>
      <p:sp>
        <p:nvSpPr>
          <p:cNvPr id="22" name="rec Ext Sys"/>
          <p:cNvSpPr>
            <a:spLocks noChangeArrowheads="1"/>
          </p:cNvSpPr>
          <p:nvPr/>
        </p:nvSpPr>
        <p:spPr bwMode="auto">
          <a:xfrm>
            <a:off x="8772523" y="1779051"/>
            <a:ext cx="1463040" cy="276999"/>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a:p>
        </p:txBody>
      </p:sp>
      <p:sp>
        <p:nvSpPr>
          <p:cNvPr id="24" name="txt ExtSys"/>
          <p:cNvSpPr txBox="1">
            <a:spLocks noChangeArrowheads="1"/>
          </p:cNvSpPr>
          <p:nvPr/>
        </p:nvSpPr>
        <p:spPr bwMode="auto">
          <a:xfrm>
            <a:off x="8772524" y="2186387"/>
            <a:ext cx="1463039"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a:solidFill>
                  <a:schemeClr val="bg1"/>
                </a:solidFill>
              </a:rPr>
              <a:t>External</a:t>
            </a:r>
            <a:br>
              <a:rPr lang="en-US">
                <a:solidFill>
                  <a:schemeClr val="bg1"/>
                </a:solidFill>
              </a:rPr>
            </a:br>
            <a:r>
              <a:rPr lang="en-US">
                <a:solidFill>
                  <a:schemeClr val="bg1"/>
                </a:solidFill>
              </a:rPr>
              <a:t>system</a:t>
            </a:r>
          </a:p>
        </p:txBody>
      </p:sp>
      <p:sp>
        <p:nvSpPr>
          <p:cNvPr id="25" name="ln Retry 2"/>
          <p:cNvSpPr>
            <a:spLocks noChangeShapeType="1"/>
          </p:cNvSpPr>
          <p:nvPr/>
        </p:nvSpPr>
        <p:spPr bwMode="auto">
          <a:xfrm flipH="1">
            <a:off x="3749040" y="2523133"/>
            <a:ext cx="5023481"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6" name="ln Send 1"/>
          <p:cNvSpPr>
            <a:spLocks noChangeShapeType="1"/>
          </p:cNvSpPr>
          <p:nvPr/>
        </p:nvSpPr>
        <p:spPr bwMode="auto">
          <a:xfrm>
            <a:off x="3749039" y="1516462"/>
            <a:ext cx="4993323"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5" name="Rounded Rectangle 34"/>
          <p:cNvSpPr/>
          <p:nvPr/>
        </p:nvSpPr>
        <p:spPr bwMode="auto">
          <a:xfrm>
            <a:off x="5105400" y="1362030"/>
            <a:ext cx="1828800" cy="311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a:solidFill>
                  <a:schemeClr val="bg1"/>
                </a:solidFill>
              </a:rPr>
              <a:t>message ab:61</a:t>
            </a:r>
          </a:p>
        </p:txBody>
      </p:sp>
      <p:sp>
        <p:nvSpPr>
          <p:cNvPr id="36" name="Rounded Rectangle 35"/>
          <p:cNvSpPr/>
          <p:nvPr/>
        </p:nvSpPr>
        <p:spPr bwMode="auto">
          <a:xfrm>
            <a:off x="5486400" y="2209544"/>
            <a:ext cx="1905000" cy="588640"/>
          </a:xfrm>
          <a:prstGeom prst="roundRect">
            <a:avLst/>
          </a:prstGeom>
          <a:solidFill>
            <a:schemeClr val="tx1"/>
          </a:solid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a:solidFill>
                  <a:schemeClr val="bg1"/>
                </a:solidFill>
              </a:rPr>
              <a:t>message ab:61</a:t>
            </a:r>
            <a:br>
              <a:rPr lang="en-US">
                <a:solidFill>
                  <a:schemeClr val="bg1"/>
                </a:solidFill>
              </a:rPr>
            </a:br>
            <a:r>
              <a:rPr lang="en-US">
                <a:solidFill>
                  <a:schemeClr val="bg1"/>
                </a:solidFill>
              </a:rPr>
              <a:t>processed</a:t>
            </a:r>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1" y="1278385"/>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401" y="2331975"/>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23609" y="1066800"/>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475238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SenderRefID field</a:t>
            </a:r>
          </a:p>
        </p:txBody>
      </p:sp>
      <p:sp>
        <p:nvSpPr>
          <p:cNvPr id="3" name="Content Placeholder 2"/>
          <p:cNvSpPr>
            <a:spLocks noGrp="1"/>
          </p:cNvSpPr>
          <p:nvPr>
            <p:ph idx="1"/>
          </p:nvPr>
        </p:nvSpPr>
        <p:spPr/>
        <p:txBody>
          <a:bodyPr/>
          <a:lstStyle/>
          <a:p>
            <a:r>
              <a:rPr lang="en-US"/>
              <a:t>Optional identifier</a:t>
            </a:r>
          </a:p>
          <a:p>
            <a:r>
              <a:rPr lang="en-US"/>
              <a:t>Guidewire application adds during late binding</a:t>
            </a:r>
          </a:p>
          <a:p>
            <a:r>
              <a:rPr lang="en-US"/>
              <a:t>External systems sets in acknowledgement</a:t>
            </a:r>
          </a:p>
        </p:txBody>
      </p:sp>
      <p:pic>
        <p:nvPicPr>
          <p:cNvPr id="4" name="Picture 3"/>
          <p:cNvPicPr>
            <a:picLocks noChangeAspect="1"/>
          </p:cNvPicPr>
          <p:nvPr/>
        </p:nvPicPr>
        <p:blipFill>
          <a:blip r:embed="rId3"/>
          <a:stretch>
            <a:fillRect/>
          </a:stretch>
        </p:blipFill>
        <p:spPr>
          <a:xfrm>
            <a:off x="1752601" y="2438400"/>
            <a:ext cx="8727831" cy="3733800"/>
          </a:xfrm>
          <a:prstGeom prst="rect">
            <a:avLst/>
          </a:prstGeom>
        </p:spPr>
      </p:pic>
    </p:spTree>
    <p:extLst>
      <p:ext uri="{BB962C8B-B14F-4D97-AF65-F5344CB8AC3E}">
        <p14:creationId xmlns:p14="http://schemas.microsoft.com/office/powerpoint/2010/main" val="119363707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Guidewire determines SenderRefID…</a:t>
            </a:r>
          </a:p>
        </p:txBody>
      </p:sp>
      <p:sp>
        <p:nvSpPr>
          <p:cNvPr id="3" name="Content Placeholder 2"/>
          <p:cNvSpPr>
            <a:spLocks noGrp="1"/>
          </p:cNvSpPr>
          <p:nvPr>
            <p:ph idx="1"/>
          </p:nvPr>
        </p:nvSpPr>
        <p:spPr>
          <a:xfrm>
            <a:off x="2043113" y="4038600"/>
            <a:ext cx="8318500" cy="2362200"/>
          </a:xfrm>
        </p:spPr>
        <p:txBody>
          <a:bodyPr/>
          <a:lstStyle/>
          <a:p>
            <a:r>
              <a:rPr lang="en-US"/>
              <a:t>When the request plugin handles late binding</a:t>
            </a:r>
          </a:p>
          <a:p>
            <a:pPr lvl="1"/>
            <a:r>
              <a:rPr lang="en-US"/>
              <a:t>Sets the SenderRefID</a:t>
            </a:r>
          </a:p>
          <a:p>
            <a:pPr lvl="1"/>
            <a:r>
              <a:rPr lang="en-US"/>
              <a:t>Adds the SenderRefID to the message payload</a:t>
            </a:r>
          </a:p>
          <a:p>
            <a:r>
              <a:rPr lang="en-US"/>
              <a:t>The transport plugin sends the payload (with the ID) to the external system</a:t>
            </a:r>
          </a:p>
        </p:txBody>
      </p:sp>
      <p:cxnSp>
        <p:nvCxnSpPr>
          <p:cNvPr id="117" name="elb 2"/>
          <p:cNvCxnSpPr/>
          <p:nvPr/>
        </p:nvCxnSpPr>
        <p:spPr bwMode="auto">
          <a:xfrm rot="16200000" flipH="1">
            <a:off x="5538860" y="1457360"/>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6" name="elb 1"/>
          <p:cNvCxnSpPr/>
          <p:nvPr/>
        </p:nvCxnSpPr>
        <p:spPr bwMode="auto">
          <a:xfrm flipV="1">
            <a:off x="3674393" y="1278018"/>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67" name="icn External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7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8" name="txt External System"/>
          <p:cNvSpPr txBox="1">
            <a:spLocks noChangeArrowheads="1"/>
          </p:cNvSpPr>
          <p:nvPr/>
        </p:nvSpPr>
        <p:spPr bwMode="auto">
          <a:xfrm>
            <a:off x="9195754" y="2133601"/>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a:solidFill>
                  <a:schemeClr val="bg1"/>
                </a:solidFill>
              </a:rPr>
              <a:t>external</a:t>
            </a:r>
            <a:br>
              <a:rPr lang="en-US">
                <a:solidFill>
                  <a:schemeClr val="bg1"/>
                </a:solidFill>
              </a:rPr>
            </a:br>
            <a:r>
              <a:rPr lang="en-US">
                <a:solidFill>
                  <a:schemeClr val="bg1"/>
                </a:solidFill>
              </a:rPr>
              <a:t>system</a:t>
            </a:r>
          </a:p>
        </p:txBody>
      </p:sp>
      <p:sp>
        <p:nvSpPr>
          <p:cNvPr id="63" name="txt Msg Sending"/>
          <p:cNvSpPr txBox="1">
            <a:spLocks noChangeArrowheads="1"/>
          </p:cNvSpPr>
          <p:nvPr/>
        </p:nvSpPr>
        <p:spPr bwMode="auto">
          <a:xfrm>
            <a:off x="6629401"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a:solidFill>
                  <a:schemeClr val="bg1"/>
                </a:solidFill>
              </a:rPr>
              <a:t>sending</a:t>
            </a:r>
            <a:br>
              <a:rPr lang="en-US" sz="1600">
                <a:solidFill>
                  <a:schemeClr val="bg1"/>
                </a:solidFill>
              </a:rPr>
            </a:br>
            <a:r>
              <a:rPr lang="en-US" sz="1600">
                <a:solidFill>
                  <a:schemeClr val="bg1"/>
                </a:solidFill>
              </a:rPr>
              <a:t>message</a:t>
            </a:r>
          </a:p>
        </p:txBody>
      </p:sp>
      <p:sp>
        <p:nvSpPr>
          <p:cNvPr id="99" name="txt Late binding"/>
          <p:cNvSpPr txBox="1">
            <a:spLocks noChangeArrowheads="1"/>
          </p:cNvSpPr>
          <p:nvPr/>
        </p:nvSpPr>
        <p:spPr bwMode="auto">
          <a:xfrm>
            <a:off x="7313303" y="1010734"/>
            <a:ext cx="287663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a:solidFill>
                  <a:schemeClr val="bg1"/>
                </a:solidFill>
              </a:rPr>
              <a:t>SenderRefID handled in </a:t>
            </a:r>
            <a:br>
              <a:rPr lang="en-US">
                <a:solidFill>
                  <a:schemeClr val="bg1"/>
                </a:solidFill>
              </a:rPr>
            </a:br>
            <a:r>
              <a:rPr lang="en-US">
                <a:solidFill>
                  <a:schemeClr val="bg1"/>
                </a:solidFill>
              </a:rPr>
              <a:t>late binding</a:t>
            </a:r>
          </a:p>
        </p:txBody>
      </p:sp>
      <p:sp>
        <p:nvSpPr>
          <p:cNvPr id="120" name="txt Msg Sending"/>
          <p:cNvSpPr txBox="1">
            <a:spLocks noChangeArrowheads="1"/>
          </p:cNvSpPr>
          <p:nvPr/>
        </p:nvSpPr>
        <p:spPr bwMode="auto">
          <a:xfrm>
            <a:off x="6629401"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a:solidFill>
                  <a:schemeClr val="bg1"/>
                </a:solidFill>
              </a:rPr>
              <a:t>sending</a:t>
            </a:r>
            <a:br>
              <a:rPr lang="en-US" sz="1600">
                <a:solidFill>
                  <a:schemeClr val="bg1"/>
                </a:solidFill>
              </a:rPr>
            </a:br>
            <a:r>
              <a:rPr lang="en-US" sz="1600">
                <a:solidFill>
                  <a:schemeClr val="bg1"/>
                </a:solidFill>
              </a:rPr>
              <a:t>message</a:t>
            </a:r>
          </a:p>
        </p:txBody>
      </p:sp>
      <p:sp>
        <p:nvSpPr>
          <p:cNvPr id="121" name="lin 3"/>
          <p:cNvSpPr>
            <a:spLocks noChangeShapeType="1"/>
          </p:cNvSpPr>
          <p:nvPr/>
        </p:nvSpPr>
        <p:spPr bwMode="auto">
          <a:xfrm>
            <a:off x="6629401"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6" name="txt Plg Request"/>
          <p:cNvSpPr txBox="1">
            <a:spLocks noChangeArrowheads="1"/>
          </p:cNvSpPr>
          <p:nvPr/>
        </p:nvSpPr>
        <p:spPr bwMode="auto">
          <a:xfrm>
            <a:off x="4181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a:solidFill>
                  <a:schemeClr val="bg1"/>
                </a:solidFill>
              </a:rPr>
              <a:t>Request</a:t>
            </a:r>
            <a:br>
              <a:rPr lang="en-US" sz="1600">
                <a:solidFill>
                  <a:schemeClr val="bg1"/>
                </a:solidFill>
              </a:rPr>
            </a:br>
            <a:r>
              <a:rPr lang="en-US" sz="1600">
                <a:solidFill>
                  <a:schemeClr val="bg1"/>
                </a:solidFill>
              </a:rPr>
              <a:t>Plugin</a:t>
            </a:r>
          </a:p>
        </p:txBody>
      </p:sp>
      <p:pic>
        <p:nvPicPr>
          <p:cNvPr id="102" name="icn Ms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1" y="1021684"/>
            <a:ext cx="736655" cy="4739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 name="icn Msg Sen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3161"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 name="icn Msg Payloa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7668" y="1498612"/>
            <a:ext cx="833733"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6" name="icn Plg Reques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91162" y="914401"/>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8" name="txt Pugin Transport"/>
          <p:cNvSpPr txBox="1">
            <a:spLocks noChangeArrowheads="1"/>
          </p:cNvSpPr>
          <p:nvPr/>
        </p:nvSpPr>
        <p:spPr bwMode="auto">
          <a:xfrm>
            <a:off x="4181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a:solidFill>
                  <a:schemeClr val="bg1"/>
                </a:solidFill>
              </a:rPr>
              <a:t>Transport</a:t>
            </a:r>
            <a:br>
              <a:rPr lang="en-US" sz="1600">
                <a:solidFill>
                  <a:schemeClr val="bg1"/>
                </a:solidFill>
              </a:rPr>
            </a:br>
            <a:r>
              <a:rPr lang="en-US" sz="1600">
                <a:solidFill>
                  <a:schemeClr val="bg1"/>
                </a:solidFill>
              </a:rPr>
              <a:t>Plugin</a:t>
            </a:r>
          </a:p>
        </p:txBody>
      </p:sp>
      <p:pic>
        <p:nvPicPr>
          <p:cNvPr id="129" name="inc Plg Transpor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6399" y="2521906"/>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30" name="tbl XX_Msg"/>
          <p:cNvGraphicFramePr>
            <a:graphicFrameLocks noGrp="1"/>
          </p:cNvGraphicFramePr>
          <p:nvPr>
            <p:extLst>
              <p:ext uri="{D42A27DB-BD31-4B8C-83A1-F6EECF244321}">
                <p14:modId xmlns:p14="http://schemas.microsoft.com/office/powerpoint/2010/main" val="2866608595"/>
              </p:ext>
            </p:extLst>
          </p:nvPr>
        </p:nvGraphicFramePr>
        <p:xfrm>
          <a:off x="2057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a:t>xx_message</a:t>
                      </a: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1485">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1"/>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2"/>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3"/>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4"/>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7914960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lin 2"/>
          <p:cNvSpPr>
            <a:spLocks noChangeShapeType="1"/>
          </p:cNvSpPr>
          <p:nvPr/>
        </p:nvSpPr>
        <p:spPr bwMode="auto">
          <a:xfrm>
            <a:off x="6477000" y="3422511"/>
            <a:ext cx="2612662" cy="0"/>
          </a:xfrm>
          <a:prstGeom prst="line">
            <a:avLst/>
          </a:prstGeom>
          <a:noFill/>
          <a:ln w="28575">
            <a:solidFill>
              <a:schemeClr val="accent6"/>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99" name="icn External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7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7" name="txt External System"/>
          <p:cNvSpPr txBox="1">
            <a:spLocks noChangeArrowheads="1"/>
          </p:cNvSpPr>
          <p:nvPr/>
        </p:nvSpPr>
        <p:spPr bwMode="auto">
          <a:xfrm>
            <a:off x="9195754" y="2133601"/>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a:solidFill>
                  <a:schemeClr val="bg1"/>
                </a:solidFill>
              </a:rPr>
              <a:t>external</a:t>
            </a:r>
            <a:br>
              <a:rPr lang="en-US">
                <a:solidFill>
                  <a:schemeClr val="bg1"/>
                </a:solidFill>
              </a:rPr>
            </a:br>
            <a:r>
              <a:rPr lang="en-US">
                <a:solidFill>
                  <a:schemeClr val="bg1"/>
                </a:solidFill>
              </a:rPr>
              <a:t>system</a:t>
            </a:r>
          </a:p>
        </p:txBody>
      </p:sp>
      <p:sp>
        <p:nvSpPr>
          <p:cNvPr id="2" name="Title 1"/>
          <p:cNvSpPr>
            <a:spLocks noGrp="1"/>
          </p:cNvSpPr>
          <p:nvPr>
            <p:ph type="title"/>
          </p:nvPr>
        </p:nvSpPr>
        <p:spPr>
          <a:xfrm>
            <a:off x="2017776" y="118873"/>
            <a:ext cx="8650224" cy="742951"/>
          </a:xfrm>
        </p:spPr>
        <p:txBody>
          <a:bodyPr/>
          <a:lstStyle/>
          <a:p>
            <a:r>
              <a:rPr lang="en-US"/>
              <a:t>External system determines SenderRefID…</a:t>
            </a:r>
          </a:p>
        </p:txBody>
      </p:sp>
      <p:sp>
        <p:nvSpPr>
          <p:cNvPr id="3" name="Content Placeholder 2"/>
          <p:cNvSpPr>
            <a:spLocks noGrp="1"/>
          </p:cNvSpPr>
          <p:nvPr>
            <p:ph idx="1"/>
          </p:nvPr>
        </p:nvSpPr>
        <p:spPr>
          <a:xfrm>
            <a:off x="2043113" y="4419600"/>
            <a:ext cx="8318500" cy="1981200"/>
          </a:xfrm>
        </p:spPr>
        <p:txBody>
          <a:bodyPr/>
          <a:lstStyle/>
          <a:p>
            <a:r>
              <a:rPr lang="en-US"/>
              <a:t>The request plugin does not handle the SenderRefID</a:t>
            </a:r>
          </a:p>
          <a:p>
            <a:r>
              <a:rPr lang="en-US"/>
              <a:t>The transport plugin:</a:t>
            </a:r>
          </a:p>
          <a:p>
            <a:pPr lvl="1"/>
            <a:r>
              <a:rPr lang="en-US"/>
              <a:t>Sends the message</a:t>
            </a:r>
          </a:p>
          <a:p>
            <a:pPr lvl="1"/>
            <a:r>
              <a:rPr lang="en-US"/>
              <a:t>Receives the SenderRefID value from the external system</a:t>
            </a:r>
          </a:p>
          <a:p>
            <a:pPr lvl="1"/>
            <a:r>
              <a:rPr lang="en-US"/>
              <a:t>Sets the SenderRefID field for the message</a:t>
            </a:r>
          </a:p>
        </p:txBody>
      </p:sp>
      <p:sp>
        <p:nvSpPr>
          <p:cNvPr id="63" name="Text Box 60"/>
          <p:cNvSpPr txBox="1">
            <a:spLocks noChangeArrowheads="1"/>
          </p:cNvSpPr>
          <p:nvPr/>
        </p:nvSpPr>
        <p:spPr bwMode="auto">
          <a:xfrm>
            <a:off x="6629401"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a:solidFill>
                  <a:schemeClr val="bg1"/>
                </a:solidFill>
              </a:rPr>
              <a:t>sending</a:t>
            </a:r>
            <a:br>
              <a:rPr lang="en-US" sz="1600">
                <a:solidFill>
                  <a:schemeClr val="bg1"/>
                </a:solidFill>
              </a:rPr>
            </a:br>
            <a:r>
              <a:rPr lang="en-US" sz="1600">
                <a:solidFill>
                  <a:schemeClr val="bg1"/>
                </a:solidFill>
              </a:rPr>
              <a:t>message</a:t>
            </a:r>
          </a:p>
        </p:txBody>
      </p:sp>
      <p:cxnSp>
        <p:nvCxnSpPr>
          <p:cNvPr id="69" name="Elbow Connector 68"/>
          <p:cNvCxnSpPr/>
          <p:nvPr/>
        </p:nvCxnSpPr>
        <p:spPr bwMode="auto">
          <a:xfrm rot="16200000" flipH="1">
            <a:off x="5538860" y="1451319"/>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6" name="Elbow Connector 75"/>
          <p:cNvCxnSpPr/>
          <p:nvPr/>
        </p:nvCxnSpPr>
        <p:spPr bwMode="auto">
          <a:xfrm flipV="1">
            <a:off x="3674393" y="1278018"/>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20" name="txt Sending Msg"/>
          <p:cNvSpPr txBox="1">
            <a:spLocks noChangeArrowheads="1"/>
          </p:cNvSpPr>
          <p:nvPr/>
        </p:nvSpPr>
        <p:spPr bwMode="auto">
          <a:xfrm>
            <a:off x="6629401"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a:solidFill>
                  <a:schemeClr val="bg1"/>
                </a:solidFill>
              </a:rPr>
              <a:t>sending</a:t>
            </a:r>
            <a:br>
              <a:rPr lang="en-US" sz="1600">
                <a:solidFill>
                  <a:schemeClr val="bg1"/>
                </a:solidFill>
              </a:rPr>
            </a:br>
            <a:r>
              <a:rPr lang="en-US" sz="1600">
                <a:solidFill>
                  <a:schemeClr val="bg1"/>
                </a:solidFill>
              </a:rPr>
              <a:t>message</a:t>
            </a:r>
          </a:p>
        </p:txBody>
      </p:sp>
      <p:sp>
        <p:nvSpPr>
          <p:cNvPr id="121" name="lin 1"/>
          <p:cNvSpPr>
            <a:spLocks noChangeShapeType="1"/>
          </p:cNvSpPr>
          <p:nvPr/>
        </p:nvSpPr>
        <p:spPr bwMode="auto">
          <a:xfrm>
            <a:off x="6629401"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7" name="txt Sybc"/>
          <p:cNvSpPr txBox="1">
            <a:spLocks noChangeArrowheads="1"/>
          </p:cNvSpPr>
          <p:nvPr/>
        </p:nvSpPr>
        <p:spPr bwMode="auto">
          <a:xfrm>
            <a:off x="6608763" y="3154625"/>
            <a:ext cx="23685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a:solidFill>
                  <a:srgbClr val="009900"/>
                </a:solidFill>
              </a:rPr>
              <a:t>synchronous </a:t>
            </a:r>
            <a:br>
              <a:rPr lang="en-US" sz="1600">
                <a:solidFill>
                  <a:srgbClr val="009900"/>
                </a:solidFill>
              </a:rPr>
            </a:br>
            <a:r>
              <a:rPr lang="en-US" sz="1600">
                <a:solidFill>
                  <a:srgbClr val="009900"/>
                </a:solidFill>
              </a:rPr>
              <a:t>reply</a:t>
            </a:r>
          </a:p>
        </p:txBody>
      </p:sp>
      <p:sp>
        <p:nvSpPr>
          <p:cNvPr id="135" name="txt SendRefID Sent"/>
          <p:cNvSpPr txBox="1">
            <a:spLocks noChangeArrowheads="1"/>
          </p:cNvSpPr>
          <p:nvPr/>
        </p:nvSpPr>
        <p:spPr bwMode="auto">
          <a:xfrm>
            <a:off x="6629401" y="3914002"/>
            <a:ext cx="35131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a:solidFill>
                  <a:schemeClr val="bg1"/>
                </a:solidFill>
              </a:rPr>
              <a:t>SenderRefID sent immediately</a:t>
            </a:r>
          </a:p>
        </p:txBody>
      </p:sp>
      <p:sp>
        <p:nvSpPr>
          <p:cNvPr id="136" name="lin 3"/>
          <p:cNvSpPr>
            <a:spLocks noChangeShapeType="1"/>
          </p:cNvSpPr>
          <p:nvPr/>
        </p:nvSpPr>
        <p:spPr bwMode="auto">
          <a:xfrm>
            <a:off x="3679273" y="3429000"/>
            <a:ext cx="2416727" cy="0"/>
          </a:xfrm>
          <a:prstGeom prst="line">
            <a:avLst/>
          </a:prstGeom>
          <a:noFill/>
          <a:ln w="28575">
            <a:solidFill>
              <a:schemeClr val="accent6"/>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7" name="txt SendRefID saved"/>
          <p:cNvSpPr txBox="1">
            <a:spLocks noChangeArrowheads="1"/>
          </p:cNvSpPr>
          <p:nvPr/>
        </p:nvSpPr>
        <p:spPr bwMode="auto">
          <a:xfrm>
            <a:off x="3629628" y="3914002"/>
            <a:ext cx="21348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a:solidFill>
                  <a:schemeClr val="bg1"/>
                </a:solidFill>
              </a:rPr>
              <a:t>SenderRefID saved</a:t>
            </a:r>
          </a:p>
        </p:txBody>
      </p:sp>
      <p:sp>
        <p:nvSpPr>
          <p:cNvPr id="119" name="txt Pugin Transport"/>
          <p:cNvSpPr txBox="1">
            <a:spLocks noChangeArrowheads="1"/>
          </p:cNvSpPr>
          <p:nvPr/>
        </p:nvSpPr>
        <p:spPr bwMode="auto">
          <a:xfrm>
            <a:off x="4181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a:solidFill>
                  <a:schemeClr val="bg1"/>
                </a:solidFill>
              </a:rPr>
              <a:t>Transport</a:t>
            </a:r>
            <a:br>
              <a:rPr lang="en-US" sz="1600">
                <a:solidFill>
                  <a:schemeClr val="bg1"/>
                </a:solidFill>
              </a:rPr>
            </a:br>
            <a:r>
              <a:rPr lang="en-US" sz="1600">
                <a:solidFill>
                  <a:schemeClr val="bg1"/>
                </a:solidFill>
              </a:rPr>
              <a:t>Plugin</a:t>
            </a:r>
          </a:p>
        </p:txBody>
      </p:sp>
      <p:sp>
        <p:nvSpPr>
          <p:cNvPr id="126" name="txt Pugin Request"/>
          <p:cNvSpPr txBox="1">
            <a:spLocks noChangeArrowheads="1"/>
          </p:cNvSpPr>
          <p:nvPr/>
        </p:nvSpPr>
        <p:spPr bwMode="auto">
          <a:xfrm>
            <a:off x="4181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a:solidFill>
                  <a:schemeClr val="bg1"/>
                </a:solidFill>
              </a:rPr>
              <a:t>Request</a:t>
            </a:r>
            <a:br>
              <a:rPr lang="en-US" sz="1600">
                <a:solidFill>
                  <a:schemeClr val="bg1"/>
                </a:solidFill>
              </a:rPr>
            </a:br>
            <a:r>
              <a:rPr lang="en-US" sz="1600">
                <a:solidFill>
                  <a:schemeClr val="bg1"/>
                </a:solidFill>
              </a:rPr>
              <a:t>Plugin</a:t>
            </a:r>
          </a:p>
        </p:txBody>
      </p:sp>
      <p:pic>
        <p:nvPicPr>
          <p:cNvPr id="139" name="icn Msg Se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3161"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0" name="icn Msg Payloa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7668" y="1498612"/>
            <a:ext cx="833733"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 name="icn Ms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1" y="1021684"/>
            <a:ext cx="736655" cy="4739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5" name="inc Plg Transpor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6399" y="2521906"/>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6" name="icn Plg Reques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91162" y="914401"/>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47" name="tbl XX_Msg"/>
          <p:cNvGraphicFramePr>
            <a:graphicFrameLocks noGrp="1"/>
          </p:cNvGraphicFramePr>
          <p:nvPr>
            <p:extLst>
              <p:ext uri="{D42A27DB-BD31-4B8C-83A1-F6EECF244321}">
                <p14:modId xmlns:p14="http://schemas.microsoft.com/office/powerpoint/2010/main" val="1244220879"/>
              </p:ext>
            </p:extLst>
          </p:nvPr>
        </p:nvGraphicFramePr>
        <p:xfrm>
          <a:off x="2057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a:t>xx_message</a:t>
                      </a: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1485">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1"/>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2"/>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3"/>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4"/>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5"/>
                  </a:ext>
                </a:extLst>
              </a:tr>
            </a:tbl>
          </a:graphicData>
        </a:graphic>
      </p:graphicFrame>
      <p:pic>
        <p:nvPicPr>
          <p:cNvPr id="24"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40383" y="3126741"/>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002528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Late binding values</a:t>
            </a:r>
          </a:p>
        </p:txBody>
      </p:sp>
      <p:sp>
        <p:nvSpPr>
          <p:cNvPr id="3" name="Content Placeholder 2"/>
          <p:cNvSpPr>
            <a:spLocks noGrp="1"/>
          </p:cNvSpPr>
          <p:nvPr>
            <p:ph idx="1"/>
          </p:nvPr>
        </p:nvSpPr>
        <p:spPr/>
        <p:txBody>
          <a:bodyPr/>
          <a:lstStyle/>
          <a:p>
            <a:r>
              <a:rPr lang="en-US"/>
              <a:t>A </a:t>
            </a:r>
            <a:r>
              <a:rPr lang="en-US" b="1"/>
              <a:t>late binding value </a:t>
            </a:r>
            <a:r>
              <a:rPr lang="en-US"/>
              <a:t>is a </a:t>
            </a:r>
            <a:br>
              <a:rPr lang="en-US"/>
            </a:br>
            <a:r>
              <a:rPr lang="en-US"/>
              <a:t>message payload value </a:t>
            </a:r>
            <a:br>
              <a:rPr lang="en-US"/>
            </a:br>
            <a:r>
              <a:rPr lang="en-US"/>
              <a:t>that cannot be determined </a:t>
            </a:r>
            <a:br>
              <a:rPr lang="en-US"/>
            </a:br>
            <a:r>
              <a:rPr lang="en-US"/>
              <a:t>until right before the message is sent</a:t>
            </a:r>
          </a:p>
          <a:p>
            <a:r>
              <a:rPr lang="en-US"/>
              <a:t>The message request plugin is responsible for replacing all late binding values with actual values</a:t>
            </a:r>
          </a:p>
          <a:p>
            <a:endParaRPr lang="en-US"/>
          </a:p>
          <a:p>
            <a:endParaRPr lang="en-US"/>
          </a:p>
          <a:p>
            <a:endParaRPr lang="en-US"/>
          </a:p>
        </p:txBody>
      </p:sp>
      <p:pic>
        <p:nvPicPr>
          <p:cNvPr id="5123" name="pic Console Frame"/>
          <p:cNvPicPr>
            <a:picLocks noChangeAspect="1" noChangeArrowheads="1"/>
          </p:cNvPicPr>
          <p:nvPr/>
        </p:nvPicPr>
        <p:blipFill rotWithShape="1">
          <a:blip r:embed="rId3">
            <a:extLst>
              <a:ext uri="{28A0092B-C50C-407E-A947-70E740481C1C}">
                <a14:useLocalDpi xmlns:a14="http://schemas.microsoft.com/office/drawing/2010/main" val="0"/>
              </a:ext>
            </a:extLst>
          </a:blip>
          <a:srcRect b="30723"/>
          <a:stretch/>
        </p:blipFill>
        <p:spPr bwMode="auto">
          <a:xfrm>
            <a:off x="2082800" y="914846"/>
            <a:ext cx="8201266" cy="223475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xt Console Output"/>
          <p:cNvSpPr txBox="1"/>
          <p:nvPr/>
        </p:nvSpPr>
        <p:spPr>
          <a:xfrm>
            <a:off x="2575796" y="1285560"/>
            <a:ext cx="7708271" cy="1506472"/>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 Stage 3(a) -- Transforming the message payload with </a:t>
            </a:r>
            <a:br>
              <a:rPr lang="en-US" sz="1600" b="1">
                <a:solidFill>
                  <a:schemeClr val="bg1"/>
                </a:solidFill>
                <a:latin typeface="Courier New" pitchFamily="49" charset="0"/>
                <a:cs typeface="Courier New" pitchFamily="49" charset="0"/>
              </a:rPr>
            </a:br>
            <a:r>
              <a:rPr lang="en-US" sz="1600" b="1">
                <a:solidFill>
                  <a:schemeClr val="bg1"/>
                </a:solidFill>
                <a:latin typeface="Courier New" pitchFamily="49" charset="0"/>
                <a:cs typeface="Courier New" pitchFamily="49" charset="0"/>
              </a:rPr>
              <a:t>    late binding ***</a:t>
            </a:r>
          </a:p>
          <a:p>
            <a:r>
              <a:rPr lang="en-US" sz="1600" b="1">
                <a:solidFill>
                  <a:schemeClr val="bg1"/>
                </a:solidFill>
                <a:latin typeface="Courier New" pitchFamily="49" charset="0"/>
                <a:cs typeface="Courier New" pitchFamily="49" charset="0"/>
              </a:rPr>
              <a:t>    Request plugin: BankAccountVerificationRequest – </a:t>
            </a:r>
            <a:br>
              <a:rPr lang="en-US" sz="1600" b="1">
                <a:solidFill>
                  <a:schemeClr val="bg1"/>
                </a:solidFill>
                <a:latin typeface="Courier New" pitchFamily="49" charset="0"/>
                <a:cs typeface="Courier New" pitchFamily="49" charset="0"/>
              </a:rPr>
            </a:br>
            <a:r>
              <a:rPr lang="en-US" sz="1600" b="1">
                <a:solidFill>
                  <a:schemeClr val="bg1"/>
                </a:solidFill>
                <a:latin typeface="Courier New" pitchFamily="49" charset="0"/>
                <a:cs typeface="Courier New" pitchFamily="49" charset="0"/>
              </a:rPr>
              <a:t>    beforeSend()</a:t>
            </a:r>
          </a:p>
          <a:p>
            <a:r>
              <a:rPr lang="en-US" sz="1600" b="1">
                <a:solidFill>
                  <a:schemeClr val="bg1"/>
                </a:solidFill>
                <a:latin typeface="Courier New" pitchFamily="49" charset="0"/>
                <a:cs typeface="Courier New" pitchFamily="49" charset="0"/>
              </a:rPr>
              <a:t>    Message ID is 630</a:t>
            </a:r>
          </a:p>
          <a:p>
            <a:r>
              <a:rPr lang="en-US" sz="1600" b="1">
                <a:solidFill>
                  <a:schemeClr val="bg1"/>
                </a:solidFill>
                <a:latin typeface="Courier New" pitchFamily="49" charset="0"/>
                <a:cs typeface="Courier New" pitchFamily="49" charset="0"/>
              </a:rPr>
              <a:t>    Replaced token &lt;@@ageOfMessageInSeconds@@&gt; with value 3</a:t>
            </a:r>
          </a:p>
          <a:p>
            <a:r>
              <a:rPr lang="en-US" sz="1600" b="1">
                <a:solidFill>
                  <a:schemeClr val="bg1"/>
                </a:solidFill>
                <a:latin typeface="Courier New" pitchFamily="49" charset="0"/>
                <a:cs typeface="Courier New" pitchFamily="49" charset="0"/>
              </a:rPr>
              <a:t>    Returning payload string</a:t>
            </a:r>
          </a:p>
        </p:txBody>
      </p:sp>
      <p:sp>
        <p:nvSpPr>
          <p:cNvPr id="6" name="Rounded Rectangle 5"/>
          <p:cNvSpPr/>
          <p:nvPr/>
        </p:nvSpPr>
        <p:spPr bwMode="auto">
          <a:xfrm>
            <a:off x="3000803" y="2528654"/>
            <a:ext cx="6968266" cy="290746"/>
          </a:xfrm>
          <a:prstGeom prst="roundRect">
            <a:avLst/>
          </a:prstGeom>
          <a:no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11" name="Elbow Connector 10"/>
          <p:cNvCxnSpPr>
            <a:endCxn id="6" idx="3"/>
          </p:cNvCxnSpPr>
          <p:nvPr/>
        </p:nvCxnSpPr>
        <p:spPr bwMode="auto">
          <a:xfrm flipV="1">
            <a:off x="7753239" y="2674027"/>
            <a:ext cx="2215831" cy="769498"/>
          </a:xfrm>
          <a:prstGeom prst="bentConnector3">
            <a:avLst>
              <a:gd name="adj1" fmla="val 110317"/>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4" name="Rounded Rectangle 13"/>
          <p:cNvSpPr/>
          <p:nvPr/>
        </p:nvSpPr>
        <p:spPr bwMode="auto">
          <a:xfrm>
            <a:off x="8305800" y="3053000"/>
            <a:ext cx="1447800" cy="762000"/>
          </a:xfrm>
          <a:prstGeom prst="roundRect">
            <a:avLst>
              <a:gd name="adj" fmla="val 12381"/>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r>
              <a:rPr lang="en-US" sz="1600">
                <a:solidFill>
                  <a:schemeClr val="bg1"/>
                </a:solidFill>
              </a:rPr>
              <a:t>Replace token </a:t>
            </a:r>
            <a:br>
              <a:rPr lang="en-US" sz="1600">
                <a:solidFill>
                  <a:schemeClr val="bg1"/>
                </a:solidFill>
              </a:rPr>
            </a:br>
            <a:r>
              <a:rPr lang="en-US" sz="1600">
                <a:solidFill>
                  <a:schemeClr val="bg1"/>
                </a:solidFill>
              </a:rPr>
              <a:t>with age </a:t>
            </a:r>
            <a:br>
              <a:rPr lang="en-US" sz="1600">
                <a:solidFill>
                  <a:schemeClr val="bg1"/>
                </a:solidFill>
              </a:rPr>
            </a:br>
            <a:r>
              <a:rPr lang="en-US" sz="1600">
                <a:solidFill>
                  <a:schemeClr val="bg1"/>
                </a:solidFill>
              </a:rPr>
              <a:t>in seconds</a:t>
            </a:r>
          </a:p>
        </p:txBody>
      </p:sp>
      <p:sp>
        <p:nvSpPr>
          <p:cNvPr id="36" name="txt Plg Request"/>
          <p:cNvSpPr txBox="1">
            <a:spLocks noChangeArrowheads="1"/>
          </p:cNvSpPr>
          <p:nvPr/>
        </p:nvSpPr>
        <p:spPr bwMode="auto">
          <a:xfrm>
            <a:off x="5759694" y="32375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a:solidFill>
                  <a:schemeClr val="bg1"/>
                </a:solidFill>
              </a:rPr>
              <a:t>Request</a:t>
            </a:r>
            <a:br>
              <a:rPr lang="en-US" sz="1600">
                <a:solidFill>
                  <a:schemeClr val="bg1"/>
                </a:solidFill>
              </a:rPr>
            </a:br>
            <a:r>
              <a:rPr lang="en-US" sz="1600">
                <a:solidFill>
                  <a:schemeClr val="bg1"/>
                </a:solidFill>
              </a:rPr>
              <a:t>Plugin</a:t>
            </a:r>
          </a:p>
        </p:txBody>
      </p:sp>
    </p:spTree>
    <p:extLst>
      <p:ext uri="{BB962C8B-B14F-4D97-AF65-F5344CB8AC3E}">
        <p14:creationId xmlns:p14="http://schemas.microsoft.com/office/powerpoint/2010/main" val="149834916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Sending message plugins</a:t>
            </a:r>
          </a:p>
          <a:p>
            <a:r>
              <a:rPr lang="en-US"/>
              <a:t>SenderRefIDs and late binding</a:t>
            </a:r>
          </a:p>
          <a:p>
            <a:r>
              <a:rPr lang="en-US">
                <a:solidFill>
                  <a:schemeClr val="bg1"/>
                </a:solidFill>
              </a:rPr>
              <a:t>The message request plugin</a:t>
            </a:r>
          </a:p>
          <a:p>
            <a:r>
              <a:rPr lang="en-US"/>
              <a:t>The message transport plugin</a:t>
            </a:r>
          </a:p>
          <a:p>
            <a:r>
              <a:rPr lang="en-US"/>
              <a:t>Retry scenarios</a:t>
            </a:r>
          </a:p>
          <a:p>
            <a:r>
              <a:rPr lang="en-US"/>
              <a:t>Safe ordering</a:t>
            </a:r>
          </a:p>
          <a:p>
            <a:endParaRPr lang="en-US"/>
          </a:p>
        </p:txBody>
      </p:sp>
    </p:spTree>
    <p:extLst>
      <p:ext uri="{BB962C8B-B14F-4D97-AF65-F5344CB8AC3E}">
        <p14:creationId xmlns:p14="http://schemas.microsoft.com/office/powerpoint/2010/main" val="370937619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Message request plugin</a:t>
            </a:r>
          </a:p>
        </p:txBody>
      </p:sp>
      <p:sp>
        <p:nvSpPr>
          <p:cNvPr id="4" name="Content Placeholder 3"/>
          <p:cNvSpPr>
            <a:spLocks noGrp="1"/>
          </p:cNvSpPr>
          <p:nvPr>
            <p:ph idx="1"/>
          </p:nvPr>
        </p:nvSpPr>
        <p:spPr>
          <a:xfrm>
            <a:off x="2043113" y="4114800"/>
            <a:ext cx="8318500" cy="2286000"/>
          </a:xfrm>
        </p:spPr>
        <p:txBody>
          <a:bodyPr/>
          <a:lstStyle/>
          <a:p>
            <a:r>
              <a:rPr lang="en-US"/>
              <a:t>The message request plugin is responsible for:</a:t>
            </a:r>
          </a:p>
          <a:p>
            <a:pPr lvl="1"/>
            <a:r>
              <a:rPr lang="en-US"/>
              <a:t>Setting the SenderRefID and adding the value to the message payload (when replies are asynchronous and Guidewire can determine the ID)</a:t>
            </a:r>
          </a:p>
          <a:p>
            <a:pPr lvl="1"/>
            <a:r>
              <a:rPr lang="en-US"/>
              <a:t>Setting any other non-SenderRefID late binding values</a:t>
            </a:r>
          </a:p>
          <a:p>
            <a:pPr lvl="1"/>
            <a:r>
              <a:rPr lang="en-US"/>
              <a:t>Called before the payload is sent by transport plugin</a:t>
            </a:r>
          </a:p>
        </p:txBody>
      </p:sp>
      <p:sp>
        <p:nvSpPr>
          <p:cNvPr id="95" name="Text Box 74"/>
          <p:cNvSpPr txBox="1">
            <a:spLocks noChangeArrowheads="1"/>
          </p:cNvSpPr>
          <p:nvPr/>
        </p:nvSpPr>
        <p:spPr bwMode="auto">
          <a:xfrm>
            <a:off x="6826884" y="914400"/>
            <a:ext cx="307911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a:solidFill>
                  <a:schemeClr val="bg1"/>
                </a:solidFill>
              </a:rPr>
              <a:t>Payload</a:t>
            </a:r>
          </a:p>
          <a:p>
            <a:pPr algn="l"/>
            <a:r>
              <a:rPr lang="en-US">
                <a:solidFill>
                  <a:schemeClr val="bg1"/>
                </a:solidFill>
              </a:rPr>
              <a:t>Transformation</a:t>
            </a:r>
          </a:p>
        </p:txBody>
      </p:sp>
      <p:pic>
        <p:nvPicPr>
          <p:cNvPr id="97" name="icn Msg Pay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7908" y="1482933"/>
            <a:ext cx="833733"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8" name="icn Ms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0969" y="2536702"/>
            <a:ext cx="736655" cy="4739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9" name="icn Plg Reques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3688" y="1253262"/>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0" name="txt Pugin Request"/>
          <p:cNvSpPr txBox="1">
            <a:spLocks noChangeArrowheads="1"/>
          </p:cNvSpPr>
          <p:nvPr/>
        </p:nvSpPr>
        <p:spPr bwMode="auto">
          <a:xfrm>
            <a:off x="4363892" y="764311"/>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a:solidFill>
                  <a:schemeClr val="bg1"/>
                </a:solidFill>
              </a:rPr>
              <a:t>Request</a:t>
            </a:r>
            <a:br>
              <a:rPr lang="en-US" sz="1600">
                <a:solidFill>
                  <a:schemeClr val="bg1"/>
                </a:solidFill>
              </a:rPr>
            </a:br>
            <a:r>
              <a:rPr lang="en-US" sz="1600">
                <a:solidFill>
                  <a:schemeClr val="bg1"/>
                </a:solidFill>
              </a:rPr>
              <a:t>Plugin</a:t>
            </a:r>
          </a:p>
        </p:txBody>
      </p:sp>
      <p:graphicFrame>
        <p:nvGraphicFramePr>
          <p:cNvPr id="2" name="tbl XX_Msg"/>
          <p:cNvGraphicFramePr>
            <a:graphicFrameLocks noGrp="1"/>
          </p:cNvGraphicFramePr>
          <p:nvPr>
            <p:extLst>
              <p:ext uri="{D42A27DB-BD31-4B8C-83A1-F6EECF244321}">
                <p14:modId xmlns:p14="http://schemas.microsoft.com/office/powerpoint/2010/main" val="567528755"/>
              </p:ext>
            </p:extLst>
          </p:nvPr>
        </p:nvGraphicFramePr>
        <p:xfrm>
          <a:off x="2103980" y="1912433"/>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a:t>xx_message</a:t>
                      </a: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1485">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1"/>
                  </a:ext>
                </a:extLst>
              </a:tr>
              <a:tr h="205927">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2"/>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3"/>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4"/>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5"/>
                  </a:ext>
                </a:extLst>
              </a:tr>
            </a:tbl>
          </a:graphicData>
        </a:graphic>
      </p:graphicFrame>
      <p:pic>
        <p:nvPicPr>
          <p:cNvPr id="13" name="icn Ms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9778" y="2572524"/>
            <a:ext cx="736655" cy="4739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inc Plg Transpor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73551" y="2468555"/>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icn External Syste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6321" y="247888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8963180" y="1814327"/>
            <a:ext cx="1552420" cy="667854"/>
          </a:xfrm>
          <a:prstGeom prst="rect">
            <a:avLst/>
          </a:prstGeom>
          <a:noFill/>
        </p:spPr>
        <p:txBody>
          <a:bodyPr wrap="none" rtlCol="0">
            <a:noAutofit/>
          </a:bodyPr>
          <a:lstStyle/>
          <a:p>
            <a:r>
              <a:rPr lang="en-US" b="1">
                <a:solidFill>
                  <a:schemeClr val="bg1"/>
                </a:solidFill>
                <a:latin typeface="Arial" pitchFamily="32" charset="0"/>
                <a:cs typeface="Arial" pitchFamily="32" charset="0"/>
              </a:rPr>
              <a:t>External </a:t>
            </a:r>
          </a:p>
          <a:p>
            <a:r>
              <a:rPr lang="en-US" b="1">
                <a:solidFill>
                  <a:schemeClr val="bg1"/>
                </a:solidFill>
                <a:latin typeface="Arial" pitchFamily="32" charset="0"/>
                <a:cs typeface="Arial" pitchFamily="32" charset="0"/>
              </a:rPr>
              <a:t>System</a:t>
            </a:r>
          </a:p>
        </p:txBody>
      </p:sp>
      <p:sp>
        <p:nvSpPr>
          <p:cNvPr id="6" name="TextBox 5"/>
          <p:cNvSpPr txBox="1"/>
          <p:nvPr/>
        </p:nvSpPr>
        <p:spPr>
          <a:xfrm>
            <a:off x="6249778" y="3389565"/>
            <a:ext cx="1751223" cy="430892"/>
          </a:xfrm>
          <a:prstGeom prst="rect">
            <a:avLst/>
          </a:prstGeom>
          <a:noFill/>
        </p:spPr>
        <p:txBody>
          <a:bodyPr wrap="square" rtlCol="0">
            <a:noAutofit/>
          </a:bodyPr>
          <a:lstStyle/>
          <a:p>
            <a:pPr lvl="1"/>
            <a:r>
              <a:rPr lang="en-US" b="1">
                <a:solidFill>
                  <a:schemeClr val="bg1"/>
                </a:solidFill>
                <a:latin typeface="Arial" pitchFamily="32" charset="0"/>
                <a:cs typeface="Arial" pitchFamily="32" charset="0"/>
              </a:rPr>
              <a:t>Transport Plugin</a:t>
            </a:r>
          </a:p>
        </p:txBody>
      </p:sp>
      <p:sp>
        <p:nvSpPr>
          <p:cNvPr id="29" name="lin 3"/>
          <p:cNvSpPr>
            <a:spLocks noChangeShapeType="1"/>
          </p:cNvSpPr>
          <p:nvPr/>
        </p:nvSpPr>
        <p:spPr bwMode="auto">
          <a:xfrm>
            <a:off x="8305801" y="2828110"/>
            <a:ext cx="822960"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0" name="lin 3"/>
          <p:cNvSpPr>
            <a:spLocks noChangeShapeType="1"/>
          </p:cNvSpPr>
          <p:nvPr/>
        </p:nvSpPr>
        <p:spPr bwMode="auto">
          <a:xfrm>
            <a:off x="6986433" y="2825251"/>
            <a:ext cx="487119"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1" name="lin 3"/>
          <p:cNvSpPr>
            <a:spLocks noChangeShapeType="1"/>
          </p:cNvSpPr>
          <p:nvPr/>
        </p:nvSpPr>
        <p:spPr bwMode="auto">
          <a:xfrm flipV="1">
            <a:off x="5007623" y="2773689"/>
            <a:ext cx="1242154" cy="10177"/>
          </a:xfrm>
          <a:prstGeom prst="line">
            <a:avLst/>
          </a:prstGeom>
          <a:noFill/>
          <a:ln w="28575">
            <a:solidFill>
              <a:schemeClr val="accent1"/>
            </a:solidFill>
            <a:round/>
            <a:headEnd type="none" w="med" len="med"/>
            <a:tailEnd type="non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2" name="lin 3"/>
          <p:cNvSpPr>
            <a:spLocks noChangeShapeType="1"/>
          </p:cNvSpPr>
          <p:nvPr/>
        </p:nvSpPr>
        <p:spPr bwMode="auto">
          <a:xfrm>
            <a:off x="3704180" y="2773686"/>
            <a:ext cx="530260" cy="0"/>
          </a:xfrm>
          <a:prstGeom prst="line">
            <a:avLst/>
          </a:prstGeom>
          <a:noFill/>
          <a:ln w="28575">
            <a:solidFill>
              <a:schemeClr val="accent1"/>
            </a:solidFill>
            <a:round/>
            <a:headEnd type="none" w="med" len="med"/>
            <a:tailEnd type="non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4" name="lin 3"/>
          <p:cNvSpPr>
            <a:spLocks noChangeShapeType="1"/>
          </p:cNvSpPr>
          <p:nvPr/>
        </p:nvSpPr>
        <p:spPr bwMode="auto">
          <a:xfrm flipV="1">
            <a:off x="5791200" y="1782834"/>
            <a:ext cx="906707" cy="0"/>
          </a:xfrm>
          <a:prstGeom prst="line">
            <a:avLst/>
          </a:prstGeom>
          <a:noFill/>
          <a:ln w="28575">
            <a:solidFill>
              <a:schemeClr val="accent1"/>
            </a:solidFill>
            <a:prstDash val="sysDot"/>
            <a:round/>
            <a:headEnd type="none" w="med" len="med"/>
            <a:tailEnd type="non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cxnSp>
        <p:nvCxnSpPr>
          <p:cNvPr id="26" name="Elbow Connector 25"/>
          <p:cNvCxnSpPr>
            <a:stCxn id="98" idx="0"/>
            <a:endCxn id="99" idx="1"/>
          </p:cNvCxnSpPr>
          <p:nvPr/>
        </p:nvCxnSpPr>
        <p:spPr bwMode="auto">
          <a:xfrm rot="5400000" flipH="1" flipV="1">
            <a:off x="4462747" y="2035760"/>
            <a:ext cx="677493" cy="324392"/>
          </a:xfrm>
          <a:prstGeom prst="bentConnector2">
            <a:avLst/>
          </a:prstGeom>
          <a:noFill/>
          <a:ln w="12700" cap="flat" cmpd="sng" algn="ctr">
            <a:solidFill>
              <a:srgbClr val="FF0000"/>
            </a:solidFill>
            <a:prstDash val="dash"/>
            <a:round/>
            <a:headEnd type="none" w="med" len="med"/>
            <a:tailEnd type="arrow" w="med" len="med"/>
          </a:ln>
          <a:effectLst/>
        </p:spPr>
      </p:cxnSp>
      <p:cxnSp>
        <p:nvCxnSpPr>
          <p:cNvPr id="28" name="Elbow Connector 27"/>
          <p:cNvCxnSpPr>
            <a:stCxn id="97" idx="3"/>
          </p:cNvCxnSpPr>
          <p:nvPr/>
        </p:nvCxnSpPr>
        <p:spPr bwMode="auto">
          <a:xfrm>
            <a:off x="7531640" y="1748472"/>
            <a:ext cx="316960" cy="716685"/>
          </a:xfrm>
          <a:prstGeom prst="bentConnector2">
            <a:avLst/>
          </a:prstGeom>
          <a:noFill/>
          <a:ln w="12700" cap="flat" cmpd="sng" algn="ctr">
            <a:solidFill>
              <a:srgbClr val="FF0000"/>
            </a:solidFill>
            <a:prstDash val="dash"/>
            <a:round/>
            <a:headEnd type="none" w="med" len="med"/>
            <a:tailEnd type="triangle"/>
          </a:ln>
          <a:effectLst/>
        </p:spPr>
      </p:cxnSp>
      <p:sp>
        <p:nvSpPr>
          <p:cNvPr id="33" name="Rounded Rectangle 32"/>
          <p:cNvSpPr/>
          <p:nvPr/>
        </p:nvSpPr>
        <p:spPr bwMode="auto">
          <a:xfrm>
            <a:off x="4363892" y="685800"/>
            <a:ext cx="4322908" cy="1793088"/>
          </a:xfrm>
          <a:prstGeom prst="roundRect">
            <a:avLst/>
          </a:prstGeom>
          <a:noFill/>
          <a:ln w="19050" algn="ctr">
            <a:solidFill>
              <a:srgbClr val="D33941"/>
            </a:solidFill>
            <a:prstDash val="sysDash"/>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97142041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1828800" y="914401"/>
            <a:ext cx="457200" cy="122495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t>beforeSend() – override </a:t>
            </a:r>
          </a:p>
        </p:txBody>
      </p:sp>
      <p:sp>
        <p:nvSpPr>
          <p:cNvPr id="3" name="Content Placeholder 2"/>
          <p:cNvSpPr>
            <a:spLocks noGrp="1"/>
          </p:cNvSpPr>
          <p:nvPr>
            <p:ph idx="1"/>
          </p:nvPr>
        </p:nvSpPr>
        <p:spPr>
          <a:xfrm>
            <a:off x="2043113" y="4038600"/>
            <a:ext cx="8318500" cy="2362200"/>
          </a:xfrm>
        </p:spPr>
        <p:txBody>
          <a:bodyPr/>
          <a:lstStyle/>
          <a:p>
            <a:r>
              <a:rPr lang="en-US" b="1">
                <a:latin typeface="Courier New" pitchFamily="49" charset="0"/>
                <a:cs typeface="Courier New" pitchFamily="49" charset="0"/>
              </a:rPr>
              <a:t>gw.plugin.messaging.MessageRequest</a:t>
            </a:r>
          </a:p>
          <a:p>
            <a:pPr lvl="1"/>
            <a:r>
              <a:rPr lang="en-US"/>
              <a:t>Message request plugin class must implement interface</a:t>
            </a:r>
          </a:p>
          <a:p>
            <a:pPr lvl="1"/>
            <a:r>
              <a:rPr lang="en-US"/>
              <a:t>Override beforeSend()</a:t>
            </a:r>
          </a:p>
          <a:p>
            <a:r>
              <a:rPr lang="en-US" b="1">
                <a:latin typeface="Courier New" pitchFamily="49" charset="0"/>
                <a:cs typeface="Courier New" pitchFamily="49" charset="0"/>
              </a:rPr>
              <a:t>beforeSend()</a:t>
            </a:r>
          </a:p>
          <a:p>
            <a:pPr lvl="1"/>
            <a:r>
              <a:rPr lang="en-US"/>
              <a:t>Called before message is sent</a:t>
            </a:r>
          </a:p>
          <a:p>
            <a:pPr lvl="1"/>
            <a:r>
              <a:rPr lang="en-US"/>
              <a:t>Must always return a String, even if payload is not transformed</a:t>
            </a:r>
          </a:p>
        </p:txBody>
      </p:sp>
      <p:sp>
        <p:nvSpPr>
          <p:cNvPr id="5" name="Rectangle 4"/>
          <p:cNvSpPr/>
          <p:nvPr/>
        </p:nvSpPr>
        <p:spPr>
          <a:xfrm>
            <a:off x="1828800" y="914401"/>
            <a:ext cx="8948650" cy="1224951"/>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39 </a:t>
            </a:r>
            <a:r>
              <a:rPr lang="en-US" sz="1600" b="1">
                <a:solidFill>
                  <a:srgbClr val="000080"/>
                </a:solidFill>
                <a:latin typeface="Courier New"/>
                <a:ea typeface="Times New Roman"/>
                <a:cs typeface="Times New Roman"/>
              </a:rPr>
              <a:t>override function </a:t>
            </a:r>
            <a:r>
              <a:rPr lang="en-US" sz="1600" b="1">
                <a:solidFill>
                  <a:srgbClr val="000000"/>
                </a:solidFill>
                <a:latin typeface="Courier New"/>
                <a:ea typeface="Times New Roman"/>
                <a:cs typeface="Times New Roman"/>
              </a:rPr>
              <a:t>beforeSend(aMessage : Message) : String {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…44   </a:t>
            </a:r>
            <a:r>
              <a:rPr lang="en-US" sz="1600" b="1">
                <a:solidFill>
                  <a:srgbClr val="000080"/>
                </a:solidFill>
                <a:latin typeface="Courier New"/>
                <a:ea typeface="Times New Roman"/>
                <a:cs typeface="Times New Roman"/>
              </a:rPr>
              <a:t>var </a:t>
            </a:r>
            <a:r>
              <a:rPr lang="en-US" sz="1600" b="1">
                <a:solidFill>
                  <a:srgbClr val="000000"/>
                </a:solidFill>
                <a:latin typeface="Courier New"/>
                <a:ea typeface="Times New Roman"/>
                <a:cs typeface="Times New Roman"/>
              </a:rPr>
              <a:t>payload = aMessage.Payload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…53   </a:t>
            </a:r>
            <a:r>
              <a:rPr lang="en-US" sz="1600" b="1">
                <a:solidFill>
                  <a:srgbClr val="000080"/>
                </a:solidFill>
                <a:latin typeface="Courier New"/>
                <a:ea typeface="Times New Roman"/>
                <a:cs typeface="Times New Roman"/>
              </a:rPr>
              <a:t>return </a:t>
            </a:r>
            <a:r>
              <a:rPr lang="en-US" sz="1600" b="1">
                <a:solidFill>
                  <a:srgbClr val="000000"/>
                </a:solidFill>
                <a:latin typeface="Courier New"/>
                <a:ea typeface="Times New Roman"/>
                <a:cs typeface="Times New Roman"/>
              </a:rPr>
              <a:t>payload </a:t>
            </a:r>
            <a:endParaRPr lang="en-US" sz="1600" b="1">
              <a:latin typeface="Calibri"/>
              <a:ea typeface="Calibri"/>
              <a:cs typeface="Times New Roman"/>
            </a:endParaRPr>
          </a:p>
          <a:p>
            <a:pPr>
              <a:lnSpc>
                <a:spcPct val="115000"/>
              </a:lnSpc>
              <a:spcAft>
                <a:spcPts val="1000"/>
              </a:spcAft>
            </a:pPr>
            <a:r>
              <a:rPr lang="en-US" sz="1600" b="1">
                <a:solidFill>
                  <a:srgbClr val="000000"/>
                </a:solidFill>
                <a:latin typeface="Courier New"/>
                <a:ea typeface="Times New Roman"/>
                <a:cs typeface="Times New Roman"/>
              </a:rPr>
              <a:t> 55 }</a:t>
            </a:r>
            <a:endParaRPr lang="en-US" sz="1600" b="1">
              <a:latin typeface="Calibri"/>
              <a:ea typeface="Calibri"/>
              <a:cs typeface="Times New Roman"/>
            </a:endParaRPr>
          </a:p>
        </p:txBody>
      </p:sp>
    </p:spTree>
    <p:extLst>
      <p:ext uri="{BB962C8B-B14F-4D97-AF65-F5344CB8AC3E}">
        <p14:creationId xmlns:p14="http://schemas.microsoft.com/office/powerpoint/2010/main" val="55109194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 Grey"/>
          <p:cNvSpPr/>
          <p:nvPr/>
        </p:nvSpPr>
        <p:spPr bwMode="auto">
          <a:xfrm>
            <a:off x="1841500" y="914401"/>
            <a:ext cx="457200" cy="2923876"/>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t>beforeSend() – transform payload</a:t>
            </a:r>
          </a:p>
        </p:txBody>
      </p:sp>
      <p:sp>
        <p:nvSpPr>
          <p:cNvPr id="3" name="Content Placeholder 2"/>
          <p:cNvSpPr>
            <a:spLocks noGrp="1"/>
          </p:cNvSpPr>
          <p:nvPr>
            <p:ph idx="1"/>
          </p:nvPr>
        </p:nvSpPr>
        <p:spPr>
          <a:xfrm>
            <a:off x="2043113" y="4114800"/>
            <a:ext cx="8318500" cy="2286000"/>
          </a:xfrm>
        </p:spPr>
        <p:txBody>
          <a:bodyPr/>
          <a:lstStyle/>
          <a:p>
            <a:r>
              <a:rPr lang="en-US"/>
              <a:t>Do </a:t>
            </a:r>
            <a:r>
              <a:rPr lang="en-US" b="1"/>
              <a:t>NOT</a:t>
            </a:r>
            <a:r>
              <a:rPr lang="en-US"/>
              <a:t> modify the message payload field directly</a:t>
            </a:r>
          </a:p>
          <a:p>
            <a:r>
              <a:rPr lang="en-US"/>
              <a:t>Modify the content of payload for sending final values</a:t>
            </a:r>
          </a:p>
          <a:p>
            <a:r>
              <a:rPr lang="en-US"/>
              <a:t>Replace tokens with late binding values</a:t>
            </a:r>
          </a:p>
          <a:p>
            <a:r>
              <a:rPr lang="en-US"/>
              <a:t>Return the transformed payload</a:t>
            </a:r>
          </a:p>
          <a:p>
            <a:pPr marL="0" indent="0">
              <a:buNone/>
            </a:pPr>
            <a:endParaRPr lang="en-US"/>
          </a:p>
        </p:txBody>
      </p:sp>
      <p:sp>
        <p:nvSpPr>
          <p:cNvPr id="5" name="Rectangle 4"/>
          <p:cNvSpPr/>
          <p:nvPr/>
        </p:nvSpPr>
        <p:spPr>
          <a:xfrm>
            <a:off x="1828800" y="914401"/>
            <a:ext cx="8948650" cy="2923877"/>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39 </a:t>
            </a:r>
            <a:r>
              <a:rPr lang="en-US" sz="1600" b="1">
                <a:solidFill>
                  <a:srgbClr val="000080"/>
                </a:solidFill>
                <a:latin typeface="Courier New"/>
                <a:ea typeface="Times New Roman"/>
                <a:cs typeface="Times New Roman"/>
              </a:rPr>
              <a:t>override function </a:t>
            </a:r>
            <a:r>
              <a:rPr lang="en-US" sz="1600" b="1">
                <a:solidFill>
                  <a:srgbClr val="000000"/>
                </a:solidFill>
                <a:latin typeface="Courier New"/>
                <a:ea typeface="Times New Roman"/>
                <a:cs typeface="Times New Roman"/>
              </a:rPr>
              <a:t>beforeSend(aMessage : Message) : String {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…44   </a:t>
            </a:r>
            <a:r>
              <a:rPr lang="en-US" sz="1600" b="1">
                <a:solidFill>
                  <a:srgbClr val="000080"/>
                </a:solidFill>
                <a:latin typeface="Courier New"/>
                <a:ea typeface="Times New Roman"/>
                <a:cs typeface="Times New Roman"/>
              </a:rPr>
              <a:t>var </a:t>
            </a:r>
            <a:r>
              <a:rPr lang="en-US" sz="1600" b="1">
                <a:solidFill>
                  <a:srgbClr val="000000"/>
                </a:solidFill>
                <a:latin typeface="Courier New"/>
                <a:ea typeface="Times New Roman"/>
                <a:cs typeface="Times New Roman"/>
              </a:rPr>
              <a:t>payload = aMessage.Payload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45   </a:t>
            </a:r>
            <a:r>
              <a:rPr lang="en-US" sz="1600" b="1">
                <a:solidFill>
                  <a:srgbClr val="000080"/>
                </a:solidFill>
                <a:latin typeface="Courier New"/>
                <a:ea typeface="Times New Roman"/>
                <a:cs typeface="Times New Roman"/>
              </a:rPr>
              <a:t>var </a:t>
            </a:r>
            <a:r>
              <a:rPr lang="en-US" sz="1600" b="1">
                <a:solidFill>
                  <a:srgbClr val="000000"/>
                </a:solidFill>
                <a:latin typeface="Courier New"/>
                <a:ea typeface="Times New Roman"/>
                <a:cs typeface="Times New Roman"/>
              </a:rPr>
              <a:t>ageInSeconds = DateUtil.secondsSince(aMessage.CreationTime)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80"/>
                </a:solidFill>
                <a:latin typeface="Courier New"/>
                <a:ea typeface="Times New Roman"/>
                <a:cs typeface="Times New Roman"/>
              </a:rPr>
              <a:t>                         as </a:t>
            </a:r>
            <a:r>
              <a:rPr lang="en-US" sz="1600" b="1">
                <a:solidFill>
                  <a:srgbClr val="000000"/>
                </a:solidFill>
                <a:latin typeface="Courier New"/>
                <a:ea typeface="Times New Roman"/>
                <a:cs typeface="Times New Roman"/>
              </a:rPr>
              <a:t>java.lang.CharSequence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46   </a:t>
            </a:r>
            <a:r>
              <a:rPr lang="en-US" sz="1600" b="1">
                <a:solidFill>
                  <a:srgbClr val="000080"/>
                </a:solidFill>
                <a:latin typeface="Courier New"/>
                <a:ea typeface="Times New Roman"/>
                <a:cs typeface="Times New Roman"/>
              </a:rPr>
              <a:t>var </a:t>
            </a:r>
            <a:r>
              <a:rPr lang="en-US" sz="1600" b="1">
                <a:solidFill>
                  <a:srgbClr val="000000"/>
                </a:solidFill>
                <a:latin typeface="Courier New"/>
                <a:ea typeface="Times New Roman"/>
                <a:cs typeface="Times New Roman"/>
              </a:rPr>
              <a:t>token = </a:t>
            </a:r>
            <a:r>
              <a:rPr lang="en-US" sz="1600" b="1">
                <a:solidFill>
                  <a:srgbClr val="008000"/>
                </a:solidFill>
                <a:latin typeface="Courier New"/>
                <a:ea typeface="Times New Roman"/>
                <a:cs typeface="Times New Roman"/>
              </a:rPr>
              <a:t>"&lt;@@ageOfMessageInSeconds@@&gt;"</a:t>
            </a:r>
            <a:r>
              <a:rPr lang="en-US" sz="1600" b="1">
                <a:solidFill>
                  <a:srgbClr val="000000"/>
                </a:solidFill>
                <a:latin typeface="Courier New"/>
                <a:ea typeface="Times New Roman"/>
                <a:cs typeface="Times New Roman"/>
              </a:rPr>
              <a:t>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47   </a:t>
            </a:r>
            <a:r>
              <a:rPr lang="en-US" sz="1600" b="1">
                <a:solidFill>
                  <a:srgbClr val="000080"/>
                </a:solidFill>
                <a:latin typeface="Courier New"/>
                <a:ea typeface="Times New Roman"/>
                <a:cs typeface="Times New Roman"/>
              </a:rPr>
              <a:t>if </a:t>
            </a:r>
            <a:r>
              <a:rPr lang="en-US" sz="1600" b="1">
                <a:solidFill>
                  <a:srgbClr val="000000"/>
                </a:solidFill>
                <a:latin typeface="Courier New"/>
                <a:ea typeface="Times New Roman"/>
                <a:cs typeface="Times New Roman"/>
              </a:rPr>
              <a:t>(payload.containsIgnoreCase(token)) {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48     payload = payload.replace(token, ageInSeconds )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…50   }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…53   </a:t>
            </a:r>
            <a:r>
              <a:rPr lang="en-US" sz="1600" b="1">
                <a:solidFill>
                  <a:srgbClr val="000080"/>
                </a:solidFill>
                <a:latin typeface="Courier New"/>
                <a:ea typeface="Times New Roman"/>
                <a:cs typeface="Times New Roman"/>
              </a:rPr>
              <a:t>return </a:t>
            </a:r>
            <a:r>
              <a:rPr lang="en-US" sz="1600" b="1">
                <a:solidFill>
                  <a:srgbClr val="000000"/>
                </a:solidFill>
                <a:latin typeface="Courier New"/>
                <a:ea typeface="Times New Roman"/>
                <a:cs typeface="Times New Roman"/>
              </a:rPr>
              <a:t>payload </a:t>
            </a:r>
            <a:endParaRPr lang="en-US" sz="1600" b="1">
              <a:latin typeface="Calibri"/>
              <a:ea typeface="Calibri"/>
              <a:cs typeface="Times New Roman"/>
            </a:endParaRPr>
          </a:p>
          <a:p>
            <a:pPr>
              <a:lnSpc>
                <a:spcPct val="115000"/>
              </a:lnSpc>
              <a:spcAft>
                <a:spcPts val="1000"/>
              </a:spcAft>
            </a:pPr>
            <a:r>
              <a:rPr lang="en-US" sz="1600" b="1">
                <a:solidFill>
                  <a:srgbClr val="000000"/>
                </a:solidFill>
                <a:latin typeface="Courier New"/>
                <a:ea typeface="Times New Roman"/>
                <a:cs typeface="Times New Roman"/>
              </a:rPr>
              <a:t> 54 }</a:t>
            </a:r>
            <a:endParaRPr lang="en-US" sz="1600" b="1">
              <a:latin typeface="Calibri"/>
              <a:ea typeface="Calibri"/>
              <a:cs typeface="Times New Roman"/>
            </a:endParaRPr>
          </a:p>
        </p:txBody>
      </p:sp>
    </p:spTree>
    <p:extLst>
      <p:ext uri="{BB962C8B-B14F-4D97-AF65-F5344CB8AC3E}">
        <p14:creationId xmlns:p14="http://schemas.microsoft.com/office/powerpoint/2010/main" val="290825340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Setting the SenderRefID in beforeSend()</a:t>
            </a:r>
          </a:p>
        </p:txBody>
      </p:sp>
      <p:sp>
        <p:nvSpPr>
          <p:cNvPr id="3" name="Content Placeholder 2"/>
          <p:cNvSpPr>
            <a:spLocks noGrp="1"/>
          </p:cNvSpPr>
          <p:nvPr>
            <p:ph idx="1"/>
          </p:nvPr>
        </p:nvSpPr>
        <p:spPr/>
        <p:txBody>
          <a:bodyPr/>
          <a:lstStyle/>
          <a:p>
            <a:r>
              <a:rPr lang="en-US"/>
              <a:t>Set SenderRefID only if it hasn't already been set</a:t>
            </a:r>
          </a:p>
          <a:p>
            <a:pPr lvl="1"/>
            <a:r>
              <a:rPr lang="en-US"/>
              <a:t>Line 44 – 47:  Guidewire may need to attempt the send multiple times, but a single SenderRefID should be used for all attempts to send the same message</a:t>
            </a:r>
          </a:p>
          <a:p>
            <a:r>
              <a:rPr lang="en-US"/>
              <a:t>Once set, SenderRefID should be added to the payload</a:t>
            </a:r>
          </a:p>
          <a:p>
            <a:pPr lvl="1"/>
            <a:r>
              <a:rPr lang="en-US"/>
              <a:t>Line 48-49: Replace token with value</a:t>
            </a:r>
          </a:p>
          <a:p>
            <a:endParaRPr lang="en-US"/>
          </a:p>
        </p:txBody>
      </p:sp>
      <p:sp>
        <p:nvSpPr>
          <p:cNvPr id="45" name="rec Grey"/>
          <p:cNvSpPr/>
          <p:nvPr/>
        </p:nvSpPr>
        <p:spPr bwMode="auto">
          <a:xfrm>
            <a:off x="1841500" y="914402"/>
            <a:ext cx="457200" cy="2357567"/>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6" name="rec Code"/>
          <p:cNvSpPr/>
          <p:nvPr/>
        </p:nvSpPr>
        <p:spPr>
          <a:xfrm>
            <a:off x="1828800" y="914400"/>
            <a:ext cx="8948650" cy="2357568"/>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35 </a:t>
            </a:r>
            <a:r>
              <a:rPr lang="en-US" sz="1600" b="1">
                <a:solidFill>
                  <a:srgbClr val="000080"/>
                </a:solidFill>
                <a:latin typeface="Courier New"/>
                <a:ea typeface="Times New Roman"/>
                <a:cs typeface="Times New Roman"/>
              </a:rPr>
              <a:t>override function </a:t>
            </a:r>
            <a:r>
              <a:rPr lang="en-US" sz="1600" b="1">
                <a:solidFill>
                  <a:srgbClr val="000000"/>
                </a:solidFill>
                <a:latin typeface="Courier New"/>
                <a:ea typeface="Times New Roman"/>
                <a:cs typeface="Times New Roman"/>
              </a:rPr>
              <a:t>beforeSend(aMessage : Message) : String {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…44   </a:t>
            </a:r>
            <a:r>
              <a:rPr lang="en-US" sz="1600" b="1">
                <a:solidFill>
                  <a:srgbClr val="000080"/>
                </a:solidFill>
                <a:latin typeface="Courier New"/>
                <a:ea typeface="Times New Roman"/>
                <a:cs typeface="Times New Roman"/>
              </a:rPr>
              <a:t>if</a:t>
            </a:r>
            <a:r>
              <a:rPr lang="en-US" sz="1600" b="1">
                <a:solidFill>
                  <a:srgbClr val="000000"/>
                </a:solidFill>
                <a:latin typeface="Courier New"/>
                <a:ea typeface="Times New Roman"/>
                <a:cs typeface="Times New Roman"/>
              </a:rPr>
              <a:t> (aMessage.SenderRefID == </a:t>
            </a:r>
            <a:r>
              <a:rPr lang="en-US" sz="1600" b="1">
                <a:solidFill>
                  <a:srgbClr val="000080"/>
                </a:solidFill>
                <a:latin typeface="Courier New"/>
                <a:ea typeface="Times New Roman"/>
                <a:cs typeface="Times New Roman"/>
              </a:rPr>
              <a:t>null</a:t>
            </a:r>
            <a:r>
              <a:rPr lang="en-US" sz="1600" b="1">
                <a:solidFill>
                  <a:srgbClr val="000000"/>
                </a:solidFill>
                <a:latin typeface="Courier New"/>
                <a:ea typeface="Times New Roman"/>
                <a:cs typeface="Times New Roman"/>
              </a:rPr>
              <a:t>) {</a:t>
            </a:r>
            <a:br>
              <a:rPr lang="en-US" sz="1600" b="1">
                <a:solidFill>
                  <a:srgbClr val="000000"/>
                </a:solidFill>
                <a:latin typeface="Courier New"/>
                <a:ea typeface="Times New Roman"/>
                <a:cs typeface="Times New Roman"/>
              </a:rPr>
            </a:br>
            <a:r>
              <a:rPr lang="en-US" sz="1600" b="1">
                <a:solidFill>
                  <a:srgbClr val="000000"/>
                </a:solidFill>
                <a:latin typeface="Courier New"/>
                <a:ea typeface="Times New Roman"/>
                <a:cs typeface="Times New Roman"/>
              </a:rPr>
              <a:t> 45     </a:t>
            </a:r>
            <a:r>
              <a:rPr lang="en-US" sz="1600" b="1">
                <a:solidFill>
                  <a:srgbClr val="000000"/>
                </a:solidFill>
                <a:latin typeface="Courier New"/>
                <a:ea typeface="Times New Roman"/>
              </a:rPr>
              <a:t>aMessage.SenderRefID = aMessage.PublicID</a:t>
            </a:r>
            <a:endParaRPr lang="en-US" sz="1600" b="1">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…47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48   </a:t>
            </a:r>
            <a:r>
              <a:rPr lang="en-US" sz="1600" b="1">
                <a:solidFill>
                  <a:srgbClr val="000080"/>
                </a:solidFill>
                <a:latin typeface="Courier New"/>
                <a:ea typeface="Times New Roman"/>
                <a:cs typeface="Times New Roman"/>
              </a:rPr>
              <a:t>var </a:t>
            </a:r>
            <a:r>
              <a:rPr lang="en-US" sz="1600" b="1">
                <a:solidFill>
                  <a:srgbClr val="000000"/>
                </a:solidFill>
                <a:latin typeface="Courier New"/>
                <a:ea typeface="Times New Roman"/>
              </a:rPr>
              <a:t>transformedPayload = aMessage.Payload.replace(</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49       </a:t>
            </a:r>
            <a:r>
              <a:rPr lang="en-US" sz="1600" b="1">
                <a:solidFill>
                  <a:srgbClr val="008000"/>
                </a:solidFill>
                <a:latin typeface="Courier New"/>
                <a:ea typeface="Times New Roman"/>
                <a:cs typeface="Times New Roman"/>
              </a:rPr>
              <a:t>"&lt;@@senderRefID@@&gt;"</a:t>
            </a:r>
            <a:r>
              <a:rPr lang="en-US" sz="1600" b="1">
                <a:solidFill>
                  <a:srgbClr val="000000"/>
                </a:solidFill>
                <a:latin typeface="Courier New"/>
                <a:ea typeface="Times New Roman"/>
                <a:cs typeface="Times New Roman"/>
              </a:rPr>
              <a:t>, aMessage.</a:t>
            </a:r>
            <a:r>
              <a:rPr lang="en-US" sz="1600" b="1">
                <a:solidFill>
                  <a:srgbClr val="000000"/>
                </a:solidFill>
                <a:latin typeface="Courier New"/>
                <a:ea typeface="Times New Roman"/>
              </a:rPr>
              <a:t>SenderRefID</a:t>
            </a:r>
            <a:r>
              <a:rPr lang="en-US" sz="1600" b="1">
                <a:solidFill>
                  <a:srgbClr val="000000"/>
                </a:solidFill>
                <a:latin typeface="Courier New"/>
                <a:ea typeface="Times New Roman"/>
                <a:cs typeface="Times New Roman"/>
              </a:rPr>
              <a:t>)</a:t>
            </a:r>
            <a:endParaRPr lang="en-US" sz="140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…51   </a:t>
            </a:r>
            <a:r>
              <a:rPr lang="en-US" sz="1600" b="1">
                <a:solidFill>
                  <a:srgbClr val="000080"/>
                </a:solidFill>
                <a:latin typeface="Courier New"/>
                <a:ea typeface="Times New Roman"/>
                <a:cs typeface="Times New Roman"/>
              </a:rPr>
              <a:t>return </a:t>
            </a:r>
            <a:r>
              <a:rPr lang="en-US" sz="1600" b="1">
                <a:solidFill>
                  <a:srgbClr val="000000"/>
                </a:solidFill>
                <a:latin typeface="Courier New"/>
                <a:ea typeface="Times New Roman"/>
                <a:cs typeface="Times New Roman"/>
              </a:rPr>
              <a:t>transformedPayload </a:t>
            </a:r>
            <a:endParaRPr lang="en-US" sz="1600" b="1">
              <a:latin typeface="Calibri"/>
              <a:ea typeface="Calibri"/>
              <a:cs typeface="Times New Roman"/>
            </a:endParaRPr>
          </a:p>
          <a:p>
            <a:pPr>
              <a:lnSpc>
                <a:spcPct val="115000"/>
              </a:lnSpc>
              <a:spcAft>
                <a:spcPts val="1000"/>
              </a:spcAft>
            </a:pPr>
            <a:r>
              <a:rPr lang="en-US" sz="1600" b="1">
                <a:solidFill>
                  <a:srgbClr val="000000"/>
                </a:solidFill>
                <a:latin typeface="Courier New"/>
                <a:ea typeface="Times New Roman"/>
                <a:cs typeface="Times New Roman"/>
              </a:rPr>
              <a:t> 52 }</a:t>
            </a:r>
            <a:endParaRPr lang="en-US" sz="1600" b="1">
              <a:latin typeface="Calibri"/>
              <a:ea typeface="Calibri"/>
              <a:cs typeface="Times New Roman"/>
            </a:endParaRPr>
          </a:p>
        </p:txBody>
      </p:sp>
    </p:spTree>
    <p:extLst>
      <p:ext uri="{BB962C8B-B14F-4D97-AF65-F5344CB8AC3E}">
        <p14:creationId xmlns:p14="http://schemas.microsoft.com/office/powerpoint/2010/main" val="137269546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Message request plugin implementation</a:t>
            </a:r>
          </a:p>
        </p:txBody>
      </p:sp>
      <p:sp>
        <p:nvSpPr>
          <p:cNvPr id="3" name="Content Placeholder 2"/>
          <p:cNvSpPr>
            <a:spLocks noGrp="1"/>
          </p:cNvSpPr>
          <p:nvPr>
            <p:ph idx="1"/>
          </p:nvPr>
        </p:nvSpPr>
        <p:spPr/>
        <p:txBody>
          <a:bodyPr/>
          <a:lstStyle/>
          <a:p>
            <a:pPr marL="457200" indent="-457200">
              <a:buFont typeface="+mj-lt"/>
              <a:buAutoNum type="arabicPeriod"/>
            </a:pPr>
            <a:r>
              <a:rPr lang="en-US"/>
              <a:t>Create the request plugin class</a:t>
            </a:r>
          </a:p>
          <a:p>
            <a:pPr marL="800100" lvl="1" indent="-457200">
              <a:buFont typeface="+mj-lt"/>
              <a:buAutoNum type="alphaLcParenR"/>
            </a:pPr>
            <a:r>
              <a:rPr lang="en-US"/>
              <a:t>Implement the  </a:t>
            </a:r>
            <a:r>
              <a:rPr lang="en-US" b="1">
                <a:latin typeface="Courier New" pitchFamily="49" charset="0"/>
                <a:cs typeface="Courier New" pitchFamily="49" charset="0"/>
              </a:rPr>
              <a:t>MessageRequest </a:t>
            </a:r>
            <a:r>
              <a:rPr lang="en-US"/>
              <a:t> interface</a:t>
            </a:r>
          </a:p>
          <a:p>
            <a:pPr marL="800100" lvl="1" indent="-457200">
              <a:buFont typeface="+mj-lt"/>
              <a:buAutoNum type="alphaLcParenR"/>
            </a:pPr>
            <a:r>
              <a:rPr lang="en-US"/>
              <a:t>Implement   </a:t>
            </a:r>
            <a:r>
              <a:rPr lang="en-US" b="1">
                <a:latin typeface="Courier New" pitchFamily="49" charset="0"/>
                <a:cs typeface="Courier New" pitchFamily="49" charset="0"/>
              </a:rPr>
              <a:t>beforeSend() </a:t>
            </a:r>
            <a:r>
              <a:rPr lang="en-US"/>
              <a:t>as needed</a:t>
            </a:r>
          </a:p>
          <a:p>
            <a:pPr marL="457200" indent="-457200">
              <a:buFont typeface="+mj-lt"/>
              <a:buAutoNum type="arabicPeriod"/>
            </a:pPr>
            <a:r>
              <a:rPr lang="en-US"/>
              <a:t>Create the plugin registry</a:t>
            </a:r>
          </a:p>
          <a:p>
            <a:pPr marL="457200" indent="-457200">
              <a:buFont typeface="+mj-lt"/>
              <a:buAutoNum type="arabicPeriod"/>
            </a:pPr>
            <a:r>
              <a:rPr lang="en-US"/>
              <a:t>Configure the plugin</a:t>
            </a:r>
          </a:p>
          <a:p>
            <a:pPr marL="457200" indent="-457200">
              <a:buFont typeface="+mj-lt"/>
              <a:buAutoNum type="arabicPeriod"/>
            </a:pPr>
            <a:r>
              <a:rPr lang="en-US"/>
              <a:t>Specify the destination plugin</a:t>
            </a:r>
          </a:p>
          <a:p>
            <a:pPr marL="457200" indent="-457200">
              <a:buFont typeface="+mj-lt"/>
              <a:buAutoNum type="arabicPeriod"/>
            </a:pPr>
            <a:r>
              <a:rPr lang="en-US"/>
              <a:t>Deploy your changes</a:t>
            </a:r>
          </a:p>
          <a:p>
            <a:endParaRPr lang="en-US"/>
          </a:p>
        </p:txBody>
      </p:sp>
    </p:spTree>
    <p:extLst>
      <p:ext uri="{BB962C8B-B14F-4D97-AF65-F5344CB8AC3E}">
        <p14:creationId xmlns:p14="http://schemas.microsoft.com/office/powerpoint/2010/main" val="106430505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1: Create request plugin class</a:t>
            </a:r>
          </a:p>
        </p:txBody>
      </p:sp>
      <p:sp>
        <p:nvSpPr>
          <p:cNvPr id="3" name="Content Placeholder 2"/>
          <p:cNvSpPr>
            <a:spLocks noGrp="1"/>
          </p:cNvSpPr>
          <p:nvPr>
            <p:ph idx="1"/>
          </p:nvPr>
        </p:nvSpPr>
        <p:spPr>
          <a:xfrm>
            <a:off x="2115482" y="826381"/>
            <a:ext cx="8228013" cy="838200"/>
          </a:xfrm>
        </p:spPr>
        <p:txBody>
          <a:bodyPr/>
          <a:lstStyle/>
          <a:p>
            <a:pPr marL="400050" lvl="1" indent="0">
              <a:buNone/>
            </a:pPr>
            <a:r>
              <a:rPr lang="en-US"/>
              <a:t>Use a package naming convention recommendation</a:t>
            </a:r>
          </a:p>
          <a:p>
            <a:pPr lvl="1"/>
            <a:r>
              <a:rPr lang="en-US" b="1">
                <a:latin typeface="Courier New" pitchFamily="49" charset="0"/>
                <a:cs typeface="Courier New" pitchFamily="49" charset="0"/>
              </a:rPr>
              <a:t>&lt;company&gt;.&lt;</a:t>
            </a:r>
            <a:r>
              <a:rPr lang="en-US" b="1" err="1">
                <a:latin typeface="Courier New" pitchFamily="49" charset="0"/>
                <a:cs typeface="Courier New" pitchFamily="49" charset="0"/>
              </a:rPr>
              <a:t>app_code</a:t>
            </a:r>
            <a:r>
              <a:rPr lang="en-US" b="1">
                <a:latin typeface="Courier New" pitchFamily="49" charset="0"/>
                <a:cs typeface="Courier New" pitchFamily="49" charset="0"/>
              </a:rPr>
              <a:t>&gt;.messaging.&lt;</a:t>
            </a:r>
            <a:r>
              <a:rPr lang="en-US" b="1" err="1">
                <a:latin typeface="Courier New" pitchFamily="49" charset="0"/>
                <a:cs typeface="Courier New" pitchFamily="49" charset="0"/>
              </a:rPr>
              <a:t>functional_area</a:t>
            </a:r>
            <a:r>
              <a:rPr lang="en-US" b="1">
                <a:latin typeface="Courier New" pitchFamily="49" charset="0"/>
                <a:cs typeface="Courier New" pitchFamily="49" charset="0"/>
              </a:rPr>
              <a:t>&gt;</a:t>
            </a:r>
          </a:p>
          <a:p>
            <a:endParaRPr lang="en-US"/>
          </a:p>
        </p:txBody>
      </p:sp>
      <p:pic>
        <p:nvPicPr>
          <p:cNvPr id="5" name="Picture 4"/>
          <p:cNvPicPr>
            <a:picLocks noChangeAspect="1"/>
          </p:cNvPicPr>
          <p:nvPr/>
        </p:nvPicPr>
        <p:blipFill>
          <a:blip r:embed="rId3"/>
          <a:stretch>
            <a:fillRect/>
          </a:stretch>
        </p:blipFill>
        <p:spPr>
          <a:xfrm>
            <a:off x="2285999" y="1828801"/>
            <a:ext cx="7239000" cy="4587709"/>
          </a:xfrm>
          <a:prstGeom prst="rect">
            <a:avLst/>
          </a:prstGeom>
        </p:spPr>
      </p:pic>
    </p:spTree>
    <p:extLst>
      <p:ext uri="{BB962C8B-B14F-4D97-AF65-F5344CB8AC3E}">
        <p14:creationId xmlns:p14="http://schemas.microsoft.com/office/powerpoint/2010/main" val="344432333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2: Create the plugin registry</a:t>
            </a:r>
          </a:p>
        </p:txBody>
      </p:sp>
      <p:sp>
        <p:nvSpPr>
          <p:cNvPr id="5" name="Content Placeholder 4"/>
          <p:cNvSpPr>
            <a:spLocks noGrp="1"/>
          </p:cNvSpPr>
          <p:nvPr>
            <p:ph idx="1"/>
          </p:nvPr>
        </p:nvSpPr>
        <p:spPr>
          <a:xfrm>
            <a:off x="2043113" y="4114800"/>
            <a:ext cx="8318500" cy="2286000"/>
          </a:xfrm>
        </p:spPr>
        <p:txBody>
          <a:bodyPr/>
          <a:lstStyle/>
          <a:p>
            <a:r>
              <a:rPr lang="en-US" b="1">
                <a:latin typeface="Courier New" pitchFamily="49" charset="0"/>
                <a:cs typeface="Courier New" pitchFamily="49" charset="0"/>
              </a:rPr>
              <a:t>\configuration\config</a:t>
            </a:r>
            <a:br>
              <a:rPr lang="en-US" b="1">
                <a:latin typeface="Courier New" pitchFamily="49" charset="0"/>
                <a:cs typeface="Courier New" pitchFamily="49" charset="0"/>
              </a:rPr>
            </a:br>
            <a:r>
              <a:rPr lang="en-US" b="1">
                <a:latin typeface="Courier New" pitchFamily="49" charset="0"/>
                <a:cs typeface="Courier New" pitchFamily="49" charset="0"/>
              </a:rPr>
              <a:t>\plugins\registry\</a:t>
            </a:r>
          </a:p>
          <a:p>
            <a:pPr lvl="1"/>
            <a:r>
              <a:rPr lang="en-US"/>
              <a:t>New </a:t>
            </a:r>
            <a:r>
              <a:rPr lang="en-US">
                <a:sym typeface="Wingdings" pitchFamily="2" charset="2"/>
              </a:rPr>
              <a:t> Plugin</a:t>
            </a:r>
          </a:p>
          <a:p>
            <a:pPr lvl="1"/>
            <a:r>
              <a:rPr lang="en-US">
                <a:sym typeface="Wingdings" pitchFamily="2" charset="2"/>
              </a:rPr>
              <a:t>In the dialog, specify Plugin name and MessageRequest interface</a:t>
            </a:r>
          </a:p>
          <a:p>
            <a:r>
              <a:rPr lang="en-US">
                <a:sym typeface="Wingdings" pitchFamily="2" charset="2"/>
              </a:rPr>
              <a:t>Example: </a:t>
            </a:r>
          </a:p>
          <a:p>
            <a:pPr lvl="1"/>
            <a:r>
              <a:rPr lang="en-US"/>
              <a:t>BankAccountVerificationRequest</a:t>
            </a:r>
            <a:r>
              <a:rPr lang="en-US">
                <a:sym typeface="Wingdings" pitchFamily="2" charset="2"/>
              </a:rPr>
              <a:t> </a:t>
            </a:r>
            <a:endParaRPr lang="en-US"/>
          </a:p>
        </p:txBody>
      </p:sp>
      <p:pic>
        <p:nvPicPr>
          <p:cNvPr id="6" name="Picture 5"/>
          <p:cNvPicPr>
            <a:picLocks noChangeAspect="1"/>
          </p:cNvPicPr>
          <p:nvPr/>
        </p:nvPicPr>
        <p:blipFill>
          <a:blip r:embed="rId3"/>
          <a:stretch>
            <a:fillRect/>
          </a:stretch>
        </p:blipFill>
        <p:spPr>
          <a:xfrm>
            <a:off x="2017776" y="762000"/>
            <a:ext cx="8421624" cy="2398022"/>
          </a:xfrm>
          <a:prstGeom prst="rect">
            <a:avLst/>
          </a:prstGeom>
        </p:spPr>
      </p:pic>
      <p:pic>
        <p:nvPicPr>
          <p:cNvPr id="10" name="Picture 9"/>
          <p:cNvPicPr/>
          <p:nvPr/>
        </p:nvPicPr>
        <p:blipFill>
          <a:blip r:embed="rId4"/>
          <a:stretch>
            <a:fillRect/>
          </a:stretch>
        </p:blipFill>
        <p:spPr>
          <a:xfrm>
            <a:off x="5257801" y="2327282"/>
            <a:ext cx="3838575" cy="1724025"/>
          </a:xfrm>
          <a:prstGeom prst="rect">
            <a:avLst/>
          </a:prstGeom>
        </p:spPr>
      </p:pic>
    </p:spTree>
    <p:extLst>
      <p:ext uri="{BB962C8B-B14F-4D97-AF65-F5344CB8AC3E}">
        <p14:creationId xmlns:p14="http://schemas.microsoft.com/office/powerpoint/2010/main" val="273207114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Late binding</a:t>
            </a:r>
          </a:p>
        </p:txBody>
      </p:sp>
      <p:pic>
        <p:nvPicPr>
          <p:cNvPr id="4" name="Picture 2"/>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r="15389"/>
          <a:stretch/>
        </p:blipFill>
        <p:spPr bwMode="auto">
          <a:xfrm>
            <a:off x="1447796" y="1219201"/>
            <a:ext cx="5345827" cy="1778889"/>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pic>
        <p:nvPicPr>
          <p:cNvPr id="5" name="picConsole Long"/>
          <p:cNvPicPr>
            <a:picLocks noChangeAspect="1" noChangeArrowheads="1"/>
          </p:cNvPicPr>
          <p:nvPr/>
        </p:nvPicPr>
        <p:blipFill rotWithShape="1">
          <a:blip r:embed="rId5">
            <a:extLst>
              <a:ext uri="{28A0092B-C50C-407E-A947-70E740481C1C}">
                <a14:useLocalDpi xmlns:a14="http://schemas.microsoft.com/office/drawing/2010/main" val="0"/>
              </a:ext>
            </a:extLst>
          </a:blip>
          <a:srcRect b="45693"/>
          <a:stretch/>
        </p:blipFill>
        <p:spPr bwMode="auto">
          <a:xfrm>
            <a:off x="2162892" y="3276601"/>
            <a:ext cx="8226667" cy="253431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xt Console Output"/>
          <p:cNvSpPr txBox="1"/>
          <p:nvPr/>
        </p:nvSpPr>
        <p:spPr>
          <a:xfrm>
            <a:off x="2602155" y="3676069"/>
            <a:ext cx="7708271" cy="1922015"/>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 Stage 3(b) -- Transforming the message payload with late</a:t>
            </a:r>
            <a:br>
              <a:rPr lang="en-US" sz="1600" b="1">
                <a:solidFill>
                  <a:schemeClr val="bg1"/>
                </a:solidFill>
                <a:latin typeface="Courier New" pitchFamily="49" charset="0"/>
                <a:cs typeface="Courier New" pitchFamily="49" charset="0"/>
              </a:rPr>
            </a:br>
            <a:r>
              <a:rPr lang="en-US" sz="1600" b="1">
                <a:solidFill>
                  <a:schemeClr val="bg1"/>
                </a:solidFill>
                <a:latin typeface="Courier New" pitchFamily="49" charset="0"/>
                <a:cs typeface="Courier New" pitchFamily="49" charset="0"/>
              </a:rPr>
              <a:t>    binding ***</a:t>
            </a:r>
          </a:p>
          <a:p>
            <a:r>
              <a:rPr lang="en-US" sz="1600" b="1">
                <a:solidFill>
                  <a:schemeClr val="bg1"/>
                </a:solidFill>
                <a:latin typeface="Courier New" pitchFamily="49" charset="0"/>
                <a:cs typeface="Courier New" pitchFamily="49" charset="0"/>
              </a:rPr>
              <a:t>    Request plugin: BankAccountVerificationRequest – </a:t>
            </a:r>
            <a:br>
              <a:rPr lang="en-US" sz="1600" b="1">
                <a:solidFill>
                  <a:schemeClr val="bg1"/>
                </a:solidFill>
                <a:latin typeface="Courier New" pitchFamily="49" charset="0"/>
                <a:cs typeface="Courier New" pitchFamily="49" charset="0"/>
              </a:rPr>
            </a:br>
            <a:r>
              <a:rPr lang="en-US" sz="1600" b="1">
                <a:solidFill>
                  <a:schemeClr val="bg1"/>
                </a:solidFill>
                <a:latin typeface="Courier New" pitchFamily="49" charset="0"/>
                <a:cs typeface="Courier New" pitchFamily="49" charset="0"/>
              </a:rPr>
              <a:t>    beforeSend()</a:t>
            </a:r>
          </a:p>
          <a:p>
            <a:r>
              <a:rPr lang="en-US" sz="1600" b="1">
                <a:solidFill>
                  <a:schemeClr val="bg1"/>
                </a:solidFill>
                <a:latin typeface="Courier New" pitchFamily="49" charset="0"/>
                <a:cs typeface="Courier New" pitchFamily="49" charset="0"/>
              </a:rPr>
              <a:t>    Message ID is 303</a:t>
            </a:r>
          </a:p>
          <a:p>
            <a:r>
              <a:rPr lang="en-US" sz="1600" b="1">
                <a:solidFill>
                  <a:schemeClr val="bg1"/>
                </a:solidFill>
                <a:latin typeface="Courier New" pitchFamily="49" charset="0"/>
                <a:cs typeface="Courier New" pitchFamily="49" charset="0"/>
              </a:rPr>
              <a:t>    Replaced token &lt;@@ageOfMessageInSeconds@@&gt; with value 10 </a:t>
            </a:r>
            <a:br>
              <a:rPr lang="en-US" sz="1600" b="1">
                <a:solidFill>
                  <a:schemeClr val="bg1"/>
                </a:solidFill>
                <a:latin typeface="Courier New" pitchFamily="49" charset="0"/>
                <a:cs typeface="Courier New" pitchFamily="49" charset="0"/>
              </a:rPr>
            </a:br>
            <a:r>
              <a:rPr lang="en-US" sz="1600" b="1">
                <a:solidFill>
                  <a:schemeClr val="bg1"/>
                </a:solidFill>
                <a:latin typeface="Courier New" pitchFamily="49" charset="0"/>
                <a:cs typeface="Courier New" pitchFamily="49" charset="0"/>
              </a:rPr>
              <a:t>    Returning payload string</a:t>
            </a:r>
            <a:br>
              <a:rPr lang="en-US" sz="1600" b="1">
                <a:solidFill>
                  <a:schemeClr val="bg1"/>
                </a:solidFill>
                <a:latin typeface="Courier New" pitchFamily="49" charset="0"/>
                <a:cs typeface="Courier New" pitchFamily="49" charset="0"/>
              </a:rPr>
            </a:br>
            <a:endParaRPr lang="en-US" sz="1600" b="1">
              <a:solidFill>
                <a:schemeClr val="bg1"/>
              </a:solidFill>
              <a:latin typeface="Courier New" pitchFamily="49" charset="0"/>
              <a:cs typeface="Courier New" pitchFamily="49" charset="0"/>
            </a:endParaRPr>
          </a:p>
        </p:txBody>
      </p:sp>
      <p:sp>
        <p:nvSpPr>
          <p:cNvPr id="62" name="Text Box 74"/>
          <p:cNvSpPr txBox="1">
            <a:spLocks noChangeArrowheads="1"/>
          </p:cNvSpPr>
          <p:nvPr/>
        </p:nvSpPr>
        <p:spPr bwMode="auto">
          <a:xfrm>
            <a:off x="8456996" y="1554647"/>
            <a:ext cx="167760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a:solidFill>
                  <a:schemeClr val="bg1"/>
                </a:solidFill>
              </a:rPr>
              <a:t>Payload </a:t>
            </a:r>
            <a:br>
              <a:rPr lang="en-US">
                <a:solidFill>
                  <a:schemeClr val="bg1"/>
                </a:solidFill>
              </a:rPr>
            </a:br>
            <a:r>
              <a:rPr lang="en-US">
                <a:solidFill>
                  <a:schemeClr val="bg1"/>
                </a:solidFill>
              </a:rPr>
              <a:t>transformed</a:t>
            </a:r>
            <a:br>
              <a:rPr lang="en-US">
                <a:solidFill>
                  <a:schemeClr val="bg1"/>
                </a:solidFill>
              </a:rPr>
            </a:br>
            <a:r>
              <a:rPr lang="en-US">
                <a:solidFill>
                  <a:schemeClr val="bg1"/>
                </a:solidFill>
              </a:rPr>
              <a:t>late binding</a:t>
            </a:r>
          </a:p>
        </p:txBody>
      </p:sp>
      <p:cxnSp>
        <p:nvCxnSpPr>
          <p:cNvPr id="63" name="Elbow Connector 62"/>
          <p:cNvCxnSpPr/>
          <p:nvPr/>
        </p:nvCxnSpPr>
        <p:spPr bwMode="auto">
          <a:xfrm rot="16200000" flipH="1">
            <a:off x="7077147" y="2333969"/>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65" name="icn Msg Payloa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95955" y="2381262"/>
            <a:ext cx="833733"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 name="icn Plg Reques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29449" y="1797051"/>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7" name="txt Pugin Request"/>
          <p:cNvSpPr txBox="1">
            <a:spLocks noChangeArrowheads="1"/>
          </p:cNvSpPr>
          <p:nvPr/>
        </p:nvSpPr>
        <p:spPr bwMode="auto">
          <a:xfrm>
            <a:off x="5719762" y="222250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a:solidFill>
                  <a:schemeClr val="bg1"/>
                </a:solidFill>
              </a:rPr>
              <a:t>Request</a:t>
            </a:r>
            <a:br>
              <a:rPr lang="en-US" sz="1600">
                <a:solidFill>
                  <a:schemeClr val="bg1"/>
                </a:solidFill>
              </a:rPr>
            </a:br>
            <a:r>
              <a:rPr lang="en-US" sz="1600">
                <a:solidFill>
                  <a:schemeClr val="bg1"/>
                </a:solidFill>
              </a:rPr>
              <a:t>Plugin</a:t>
            </a:r>
          </a:p>
        </p:txBody>
      </p:sp>
    </p:spTree>
    <p:extLst>
      <p:ext uri="{BB962C8B-B14F-4D97-AF65-F5344CB8AC3E}">
        <p14:creationId xmlns:p14="http://schemas.microsoft.com/office/powerpoint/2010/main" val="277389877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3: Configure the plugin</a:t>
            </a:r>
          </a:p>
        </p:txBody>
      </p:sp>
      <p:sp>
        <p:nvSpPr>
          <p:cNvPr id="6" name="Content Placeholder 5"/>
          <p:cNvSpPr>
            <a:spLocks noGrp="1"/>
          </p:cNvSpPr>
          <p:nvPr>
            <p:ph idx="1"/>
          </p:nvPr>
        </p:nvSpPr>
        <p:spPr>
          <a:xfrm>
            <a:off x="2043113" y="914400"/>
            <a:ext cx="8318500" cy="2514600"/>
          </a:xfrm>
        </p:spPr>
        <p:txBody>
          <a:bodyPr/>
          <a:lstStyle/>
          <a:p>
            <a:r>
              <a:rPr lang="en-US"/>
              <a:t>Add Gosu or Java Plugin</a:t>
            </a:r>
          </a:p>
          <a:p>
            <a:r>
              <a:rPr lang="en-US"/>
              <a:t>Click the ellipse (...)</a:t>
            </a:r>
          </a:p>
          <a:p>
            <a:pPr lvl="1"/>
            <a:r>
              <a:rPr lang="en-US"/>
              <a:t>Select the Class in the dialog</a:t>
            </a:r>
          </a:p>
          <a:p>
            <a:r>
              <a:rPr lang="en-US"/>
              <a:t>Example:</a:t>
            </a:r>
          </a:p>
          <a:p>
            <a:pPr lvl="1"/>
            <a:r>
              <a:rPr lang="en-US"/>
              <a:t>BankAccountVerificationRequest</a:t>
            </a:r>
          </a:p>
          <a:p>
            <a:endParaRPr lang="en-US"/>
          </a:p>
        </p:txBody>
      </p:sp>
      <p:pic>
        <p:nvPicPr>
          <p:cNvPr id="3" name="Picture 2"/>
          <p:cNvPicPr>
            <a:picLocks noChangeAspect="1"/>
          </p:cNvPicPr>
          <p:nvPr/>
        </p:nvPicPr>
        <p:blipFill>
          <a:blip r:embed="rId3"/>
          <a:stretch>
            <a:fillRect/>
          </a:stretch>
        </p:blipFill>
        <p:spPr>
          <a:xfrm>
            <a:off x="1873275" y="3124200"/>
            <a:ext cx="8610043" cy="3048000"/>
          </a:xfrm>
          <a:prstGeom prst="rect">
            <a:avLst/>
          </a:prstGeom>
        </p:spPr>
      </p:pic>
      <p:pic>
        <p:nvPicPr>
          <p:cNvPr id="10" name="Picture 9"/>
          <p:cNvPicPr>
            <a:picLocks noChangeAspect="1"/>
          </p:cNvPicPr>
          <p:nvPr/>
        </p:nvPicPr>
        <p:blipFill>
          <a:blip r:embed="rId4"/>
          <a:stretch>
            <a:fillRect/>
          </a:stretch>
        </p:blipFill>
        <p:spPr>
          <a:xfrm>
            <a:off x="2045734" y="4280329"/>
            <a:ext cx="1166636" cy="543546"/>
          </a:xfrm>
          <a:prstGeom prst="rect">
            <a:avLst/>
          </a:prstGeom>
        </p:spPr>
      </p:pic>
      <p:cxnSp>
        <p:nvCxnSpPr>
          <p:cNvPr id="11" name="Straight Arrow Connector 10"/>
          <p:cNvCxnSpPr/>
          <p:nvPr/>
        </p:nvCxnSpPr>
        <p:spPr bwMode="auto">
          <a:xfrm>
            <a:off x="2038183" y="3889947"/>
            <a:ext cx="144177" cy="390383"/>
          </a:xfrm>
          <a:prstGeom prst="straightConnector1">
            <a:avLst/>
          </a:prstGeom>
          <a:noFill/>
          <a:ln w="28575" algn="ctr">
            <a:solidFill>
              <a:schemeClr val="accent1"/>
            </a:solidFill>
            <a:round/>
            <a:headEnd/>
            <a:tailEnd type="arrow" w="lg" len="med"/>
          </a:ln>
          <a:effectLst>
            <a:outerShdw blurRad="50800" dist="38100" dir="2700000" algn="tl" rotWithShape="0">
              <a:prstClr val="black">
                <a:alpha val="40000"/>
              </a:prstClr>
            </a:outerShdw>
          </a:effectLst>
        </p:spPr>
      </p:cxnSp>
      <p:cxnSp>
        <p:nvCxnSpPr>
          <p:cNvPr id="12" name="Straight Arrow Connector 11"/>
          <p:cNvCxnSpPr/>
          <p:nvPr/>
        </p:nvCxnSpPr>
        <p:spPr bwMode="auto">
          <a:xfrm flipH="1">
            <a:off x="9677401" y="3865374"/>
            <a:ext cx="562169" cy="507548"/>
          </a:xfrm>
          <a:prstGeom prst="straightConnector1">
            <a:avLst/>
          </a:prstGeom>
          <a:noFill/>
          <a:ln w="28575" algn="ctr">
            <a:solidFill>
              <a:schemeClr val="accent1"/>
            </a:solidFill>
            <a:round/>
            <a:headEn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83364162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4: Specify the destination plugin</a:t>
            </a:r>
          </a:p>
        </p:txBody>
      </p:sp>
      <p:sp>
        <p:nvSpPr>
          <p:cNvPr id="3" name="Content Placeholder 2"/>
          <p:cNvSpPr>
            <a:spLocks noGrp="1"/>
          </p:cNvSpPr>
          <p:nvPr>
            <p:ph idx="1"/>
          </p:nvPr>
        </p:nvSpPr>
        <p:spPr/>
        <p:txBody>
          <a:bodyPr/>
          <a:lstStyle/>
          <a:p>
            <a:r>
              <a:rPr lang="en-US"/>
              <a:t>\configuration\config\messaging\messaging-config.xml</a:t>
            </a:r>
          </a:p>
          <a:p>
            <a:r>
              <a:rPr lang="en-US"/>
              <a:t>Click Add</a:t>
            </a:r>
          </a:p>
          <a:p>
            <a:r>
              <a:rPr lang="en-US"/>
              <a:t>The destination must point to a plugin registry element that references the appropriate Message Request plugin</a:t>
            </a:r>
          </a:p>
          <a:p>
            <a:endParaRPr lang="en-US"/>
          </a:p>
        </p:txBody>
      </p:sp>
      <p:pic>
        <p:nvPicPr>
          <p:cNvPr id="4" name="Picture 3"/>
          <p:cNvPicPr>
            <a:picLocks noChangeAspect="1"/>
          </p:cNvPicPr>
          <p:nvPr/>
        </p:nvPicPr>
        <p:blipFill>
          <a:blip r:embed="rId3"/>
          <a:stretch>
            <a:fillRect/>
          </a:stretch>
        </p:blipFill>
        <p:spPr>
          <a:xfrm>
            <a:off x="1985878" y="548054"/>
            <a:ext cx="8110280" cy="4023947"/>
          </a:xfrm>
          <a:prstGeom prst="rect">
            <a:avLst/>
          </a:prstGeom>
        </p:spPr>
      </p:pic>
      <p:sp>
        <p:nvSpPr>
          <p:cNvPr id="7" name="rec Ellipse"/>
          <p:cNvSpPr/>
          <p:nvPr/>
        </p:nvSpPr>
        <p:spPr bwMode="auto">
          <a:xfrm>
            <a:off x="4038601" y="2209800"/>
            <a:ext cx="4867373" cy="2378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71775655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ounded Rectangle 87"/>
          <p:cNvSpPr/>
          <p:nvPr/>
        </p:nvSpPr>
        <p:spPr bwMode="auto">
          <a:xfrm>
            <a:off x="6324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80" name="Rounded Rectangle 79"/>
          <p:cNvSpPr/>
          <p:nvPr/>
        </p:nvSpPr>
        <p:spPr bwMode="auto">
          <a:xfrm>
            <a:off x="2086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t>Step 5: Deploy message request plugin</a:t>
            </a:r>
          </a:p>
        </p:txBody>
      </p:sp>
      <p:sp>
        <p:nvSpPr>
          <p:cNvPr id="6" name="Subtitle 5"/>
          <p:cNvSpPr>
            <a:spLocks noGrp="1"/>
          </p:cNvSpPr>
          <p:nvPr>
            <p:ph type="subTitle" idx="10"/>
          </p:nvPr>
        </p:nvSpPr>
        <p:spPr/>
        <p:txBody>
          <a:bodyPr/>
          <a:lstStyle/>
          <a:p>
            <a:r>
              <a:rPr lang="en-US"/>
              <a:t>Restart Server</a:t>
            </a:r>
          </a:p>
        </p:txBody>
      </p:sp>
      <p:sp>
        <p:nvSpPr>
          <p:cNvPr id="7" name="Text Placeholder 6"/>
          <p:cNvSpPr>
            <a:spLocks noGrp="1"/>
          </p:cNvSpPr>
          <p:nvPr>
            <p:ph type="body" sz="quarter" idx="11"/>
          </p:nvPr>
        </p:nvSpPr>
        <p:spPr/>
        <p:txBody>
          <a:bodyPr/>
          <a:lstStyle/>
          <a:p>
            <a:r>
              <a:rPr lang="en-US"/>
              <a:t>Reload Changed Classes</a:t>
            </a:r>
          </a:p>
        </p:txBody>
      </p:sp>
      <p:sp>
        <p:nvSpPr>
          <p:cNvPr id="5" name="Content Placeholder 4"/>
          <p:cNvSpPr>
            <a:spLocks noGrp="1"/>
          </p:cNvSpPr>
          <p:nvPr>
            <p:ph sz="half" idx="2"/>
          </p:nvPr>
        </p:nvSpPr>
        <p:spPr/>
        <p:txBody>
          <a:bodyPr/>
          <a:lstStyle/>
          <a:p>
            <a:r>
              <a:rPr lang="en-US"/>
              <a:t>Request Plugin Gosu class</a:t>
            </a:r>
          </a:p>
          <a:p>
            <a:endParaRPr lang="en-US"/>
          </a:p>
        </p:txBody>
      </p:sp>
      <p:sp>
        <p:nvSpPr>
          <p:cNvPr id="4" name="Content Placeholder 3"/>
          <p:cNvSpPr>
            <a:spLocks noGrp="1"/>
          </p:cNvSpPr>
          <p:nvPr>
            <p:ph sz="half" idx="1"/>
          </p:nvPr>
        </p:nvSpPr>
        <p:spPr/>
        <p:txBody>
          <a:bodyPr/>
          <a:lstStyle/>
          <a:p>
            <a:r>
              <a:rPr lang="en-US"/>
              <a:t>Destinations</a:t>
            </a:r>
          </a:p>
          <a:p>
            <a:r>
              <a:rPr lang="en-US"/>
              <a:t>Plugin registry elements</a:t>
            </a:r>
          </a:p>
        </p:txBody>
      </p:sp>
      <p:sp>
        <p:nvSpPr>
          <p:cNvPr id="83" name="Rectangle 82"/>
          <p:cNvSpPr/>
          <p:nvPr/>
        </p:nvSpPr>
        <p:spPr>
          <a:xfrm>
            <a:off x="6502798" y="5562601"/>
            <a:ext cx="1734769" cy="584775"/>
          </a:xfrm>
          <a:prstGeom prst="rect">
            <a:avLst/>
          </a:prstGeom>
        </p:spPr>
        <p:txBody>
          <a:bodyPr wrap="none">
            <a:spAutoFit/>
          </a:bodyPr>
          <a:lstStyle/>
          <a:p>
            <a:pPr algn="ctr"/>
            <a:r>
              <a:rPr lang="en-US" sz="1600" b="1">
                <a:solidFill>
                  <a:schemeClr val="bg1"/>
                </a:solidFill>
              </a:rPr>
              <a:t>Request Plugin </a:t>
            </a:r>
            <a:br>
              <a:rPr lang="en-US" sz="1600" b="1">
                <a:solidFill>
                  <a:schemeClr val="bg1"/>
                </a:solidFill>
              </a:rPr>
            </a:br>
            <a:r>
              <a:rPr lang="en-US" sz="1600" b="1">
                <a:solidFill>
                  <a:schemeClr val="bg1"/>
                </a:solidFill>
              </a:rPr>
              <a:t>Gosu Class</a:t>
            </a:r>
          </a:p>
        </p:txBody>
      </p:sp>
      <p:sp>
        <p:nvSpPr>
          <p:cNvPr id="85" name="Rectangle 84"/>
          <p:cNvSpPr/>
          <p:nvPr/>
        </p:nvSpPr>
        <p:spPr>
          <a:xfrm>
            <a:off x="2213088" y="5562600"/>
            <a:ext cx="1301959" cy="338554"/>
          </a:xfrm>
          <a:prstGeom prst="rect">
            <a:avLst/>
          </a:prstGeom>
        </p:spPr>
        <p:txBody>
          <a:bodyPr wrap="none">
            <a:spAutoFit/>
          </a:bodyPr>
          <a:lstStyle/>
          <a:p>
            <a:pPr algn="ctr"/>
            <a:r>
              <a:rPr lang="en-US" sz="1600" b="1">
                <a:solidFill>
                  <a:schemeClr val="bg1"/>
                </a:solidFill>
              </a:rPr>
              <a:t>Destination</a:t>
            </a:r>
          </a:p>
        </p:txBody>
      </p:sp>
      <p:sp>
        <p:nvSpPr>
          <p:cNvPr id="86" name="Rectangle 85"/>
          <p:cNvSpPr/>
          <p:nvPr/>
        </p:nvSpPr>
        <p:spPr>
          <a:xfrm>
            <a:off x="4191001" y="5511226"/>
            <a:ext cx="1005403" cy="584775"/>
          </a:xfrm>
          <a:prstGeom prst="rect">
            <a:avLst/>
          </a:prstGeom>
        </p:spPr>
        <p:txBody>
          <a:bodyPr wrap="none">
            <a:spAutoFit/>
          </a:bodyPr>
          <a:lstStyle/>
          <a:p>
            <a:pPr algn="ctr"/>
            <a:r>
              <a:rPr lang="en-US" sz="1600" b="1">
                <a:solidFill>
                  <a:schemeClr val="bg1"/>
                </a:solidFill>
              </a:rPr>
              <a:t>Plugin </a:t>
            </a:r>
            <a:br>
              <a:rPr lang="en-US" sz="1600" b="1">
                <a:solidFill>
                  <a:schemeClr val="bg1"/>
                </a:solidFill>
              </a:rPr>
            </a:br>
            <a:r>
              <a:rPr lang="en-US" sz="1600" b="1">
                <a:solidFill>
                  <a:schemeClr val="bg1"/>
                </a:solidFill>
              </a:rPr>
              <a:t>Registry</a:t>
            </a:r>
          </a:p>
        </p:txBody>
      </p:sp>
      <p:pic>
        <p:nvPicPr>
          <p:cNvPr id="4101" name="icn Plugin Regist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0514" y="3886200"/>
            <a:ext cx="1400976" cy="12563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2" name="icn Msg Plugin Request Clas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5952" y="3714885"/>
            <a:ext cx="1286766" cy="15304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4" name="inc Destin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3681763"/>
            <a:ext cx="1149714" cy="142381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639812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a:t>Describe the plugins used in sending messages</a:t>
            </a:r>
          </a:p>
          <a:p>
            <a:pPr lvl="1"/>
            <a:r>
              <a:rPr lang="en-US"/>
              <a:t>Set sender reference IDs and late bind messages</a:t>
            </a:r>
          </a:p>
          <a:p>
            <a:pPr lvl="1"/>
            <a:r>
              <a:rPr lang="en-US"/>
              <a:t>Write message request plugins</a:t>
            </a:r>
          </a:p>
          <a:p>
            <a:pPr lvl="1"/>
            <a:r>
              <a:rPr lang="en-US"/>
              <a:t>Write message transport plugins</a:t>
            </a:r>
          </a:p>
          <a:p>
            <a:pPr lvl="1"/>
            <a:r>
              <a:rPr lang="en-US"/>
              <a:t>Describe the functionality of safe ordering</a:t>
            </a:r>
          </a:p>
          <a:p>
            <a:pPr lvl="1"/>
            <a:r>
              <a:rPr lang="en-US"/>
              <a:t>Describe how errors are handled when sending messages</a:t>
            </a:r>
          </a:p>
        </p:txBody>
      </p:sp>
    </p:spTree>
    <p:extLst>
      <p:ext uri="{BB962C8B-B14F-4D97-AF65-F5344CB8AC3E}">
        <p14:creationId xmlns:p14="http://schemas.microsoft.com/office/powerpoint/2010/main" val="374842873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4000" b="1" i="0" u="none" strike="noStrike" kern="0" cap="none" spc="0" normalizeH="0" baseline="0" noProof="0">
                <a:ln>
                  <a:noFill/>
                </a:ln>
                <a:solidFill>
                  <a:srgbClr val="04628C"/>
                </a:solidFill>
                <a:effectLst/>
                <a:uLnTx/>
                <a:uFillTx/>
                <a:latin typeface="Arial"/>
                <a:cs typeface="Arial" pitchFamily="34" charset="0"/>
              </a:rPr>
              <a:t>DEMO</a:t>
            </a:r>
          </a:p>
        </p:txBody>
      </p:sp>
    </p:spTree>
    <p:extLst>
      <p:ext uri="{BB962C8B-B14F-4D97-AF65-F5344CB8AC3E}">
        <p14:creationId xmlns:p14="http://schemas.microsoft.com/office/powerpoint/2010/main" val="78348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0" indent="0">
              <a:buNone/>
            </a:pPr>
            <a:r>
              <a:rPr lang="en-US" sz="2400">
                <a:solidFill>
                  <a:schemeClr val="bg1"/>
                </a:solidFill>
                <a:ea typeface="+mn-lt"/>
                <a:cs typeface="+mn-lt"/>
              </a:rPr>
              <a:t>This demonstration will examine the following messaging components for bank account verification.</a:t>
            </a:r>
            <a:endParaRPr lang="en-US"/>
          </a:p>
          <a:p>
            <a:r>
              <a:rPr lang="en-US" sz="2400">
                <a:solidFill>
                  <a:schemeClr val="bg1"/>
                </a:solidFill>
                <a:ea typeface="+mn-lt"/>
                <a:cs typeface="+mn-lt"/>
              </a:rPr>
              <a:t>Creating the request plugin.</a:t>
            </a:r>
          </a:p>
          <a:p>
            <a:r>
              <a:rPr lang="en-US" sz="2400">
                <a:solidFill>
                  <a:schemeClr val="bg1"/>
                </a:solidFill>
                <a:ea typeface="+mn-lt"/>
                <a:cs typeface="+mn-lt"/>
              </a:rPr>
              <a:t>Configure the plugin</a:t>
            </a:r>
            <a:endParaRPr lang="en-US">
              <a:solidFill>
                <a:schemeClr val="bg1"/>
              </a:solidFill>
            </a:endParaRPr>
          </a:p>
          <a:p>
            <a:r>
              <a:rPr lang="en-US" sz="2400">
                <a:solidFill>
                  <a:schemeClr val="bg1"/>
                </a:solidFill>
                <a:ea typeface="+mn-lt"/>
                <a:cs typeface="+mn-lt"/>
              </a:rPr>
              <a:t>Specify the destination plugin</a:t>
            </a:r>
            <a:endParaRPr lang="en-US">
              <a:solidFill>
                <a:schemeClr val="bg1"/>
              </a:solidFill>
            </a:endParaRPr>
          </a:p>
          <a:p>
            <a:endParaRPr lang="en-US" sz="2400">
              <a:ea typeface="+mn-lt"/>
              <a:cs typeface="+mn-lt"/>
            </a:endParaRPr>
          </a:p>
          <a:p>
            <a:pPr marL="0" indent="0">
              <a:buNone/>
            </a:pPr>
            <a:r>
              <a:rPr lang="en-US" sz="2400">
                <a:solidFill>
                  <a:schemeClr val="bg1"/>
                </a:solidFill>
                <a:ea typeface="+mn-lt"/>
                <a:cs typeface="+mn-lt"/>
              </a:rPr>
              <a:t>Requires:</a:t>
            </a:r>
          </a:p>
          <a:p>
            <a:r>
              <a:rPr lang="en-US" sz="2400">
                <a:solidFill>
                  <a:schemeClr val="bg1"/>
                </a:solidFill>
                <a:ea typeface="+mn-lt"/>
                <a:cs typeface="+mn-lt"/>
              </a:rPr>
              <a:t>-Training App, External App</a:t>
            </a:r>
          </a:p>
          <a:p>
            <a:r>
              <a:rPr lang="en-US" sz="2400">
                <a:solidFill>
                  <a:schemeClr val="bg1"/>
                </a:solidFill>
                <a:ea typeface="+mn-lt"/>
                <a:cs typeface="+mn-lt"/>
              </a:rPr>
              <a:t>-GW studio &amp; Supported Web Browser</a:t>
            </a:r>
          </a:p>
        </p:txBody>
      </p:sp>
    </p:spTree>
    <p:extLst>
      <p:ext uri="{BB962C8B-B14F-4D97-AF65-F5344CB8AC3E}">
        <p14:creationId xmlns:p14="http://schemas.microsoft.com/office/powerpoint/2010/main" val="1420841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4000" b="1" i="0" u="none" strike="noStrike" kern="0" cap="none" spc="0" normalizeH="0" baseline="0" noProof="0">
                <a:ln>
                  <a:noFill/>
                </a:ln>
                <a:solidFill>
                  <a:srgbClr val="04628C"/>
                </a:solidFill>
                <a:effectLst/>
                <a:uLnTx/>
                <a:uFillTx/>
                <a:latin typeface="Arial"/>
                <a:cs typeface="Arial" pitchFamily="34" charset="0"/>
              </a:rPr>
              <a:t>LAB</a:t>
            </a:r>
          </a:p>
        </p:txBody>
      </p:sp>
    </p:spTree>
    <p:extLst>
      <p:ext uri="{BB962C8B-B14F-4D97-AF65-F5344CB8AC3E}">
        <p14:creationId xmlns:p14="http://schemas.microsoft.com/office/powerpoint/2010/main" val="3474606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a:solidFill>
                  <a:schemeClr val="bg1"/>
                </a:solidFill>
              </a:rPr>
              <a:t>Complete the exercises listed in  “Message Payload Transformation” chapter in the “InsuranceSuite 10 Integration: Kickstart “ work book</a:t>
            </a:r>
          </a:p>
        </p:txBody>
      </p:sp>
    </p:spTree>
    <p:extLst>
      <p:ext uri="{BB962C8B-B14F-4D97-AF65-F5344CB8AC3E}">
        <p14:creationId xmlns:p14="http://schemas.microsoft.com/office/powerpoint/2010/main" val="260489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4717" y="669985"/>
            <a:ext cx="11005069" cy="6190890"/>
          </a:xfrm>
        </p:spPr>
        <p:txBody>
          <a:bodyPr/>
          <a:lstStyle/>
          <a:p>
            <a:r>
              <a:rPr lang="en-US"/>
              <a:t>With regards to payload generation and payload transformation:</a:t>
            </a:r>
          </a:p>
          <a:p>
            <a:pPr marL="857250" lvl="1" indent="-457200">
              <a:buFont typeface="+mj-lt"/>
              <a:buAutoNum type="alphaLcParenR"/>
            </a:pPr>
            <a:r>
              <a:rPr lang="en-US"/>
              <a:t>On which server does each take place?</a:t>
            </a:r>
          </a:p>
          <a:p>
            <a:pPr marL="857250" lvl="1" indent="-457200">
              <a:buFont typeface="+mj-lt"/>
              <a:buAutoNum type="alphaLcParenR"/>
            </a:pPr>
            <a:r>
              <a:rPr lang="en-US"/>
              <a:t>At what point in time does each take place?</a:t>
            </a:r>
          </a:p>
          <a:p>
            <a:r>
              <a:rPr lang="en-US"/>
              <a:t>Under what circumstance would you need to "late bind" a message payload?</a:t>
            </a:r>
          </a:p>
          <a:p>
            <a:pPr marL="0" indent="0">
              <a:buNone/>
            </a:pPr>
            <a:endParaRPr lang="en-US"/>
          </a:p>
        </p:txBody>
      </p:sp>
    </p:spTree>
    <p:extLst>
      <p:ext uri="{BB962C8B-B14F-4D97-AF65-F5344CB8AC3E}">
        <p14:creationId xmlns:p14="http://schemas.microsoft.com/office/powerpoint/2010/main" val="219566271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p:txBody>
          <a:bodyPr/>
          <a:lstStyle/>
          <a:p>
            <a:endParaRPr lang="en-US"/>
          </a:p>
        </p:txBody>
      </p:sp>
      <p:sp>
        <p:nvSpPr>
          <p:cNvPr id="4" name="Text Placeholder 3"/>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597715714"/>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779BC38-25ED-4C6A-8832-FB960B027130}">
  <ds:schemaRefs>
    <ds:schemaRef ds:uri="ec2ac320-4691-4145-9221-fe31435db75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E8ABBB1-B928-4C5F-8E77-A4D84DACFEA6}">
  <ds:schemaRefs>
    <ds:schemaRef ds:uri="http://schemas.microsoft.com/sharepoint/v3/contenttype/forms"/>
  </ds:schemaRefs>
</ds:datastoreItem>
</file>

<file path=customXml/itemProps3.xml><?xml version="1.0" encoding="utf-8"?>
<ds:datastoreItem xmlns:ds="http://schemas.openxmlformats.org/officeDocument/2006/customXml" ds:itemID="{EA8CA86F-6B1A-4890-A320-6BEEB8B971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8a8859-07ab-46c5-a44f-5c9b86e92d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Emerald_Template</Template>
  <Application>Microsoft Office PowerPoint</Application>
  <PresentationFormat>Widescreen</PresentationFormat>
  <Slides>30</Slides>
  <Notes>27</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Emerald_Template</vt:lpstr>
      <vt:lpstr>InsuranceSuite 10 Integration</vt:lpstr>
      <vt:lpstr>PowerPoint Presentation</vt:lpstr>
      <vt:lpstr>PowerPoint Presentation</vt:lpstr>
      <vt:lpstr>Messaging plugins</vt:lpstr>
      <vt:lpstr>Plugins for sending a message </vt:lpstr>
      <vt:lpstr>PowerPoint Presentation</vt:lpstr>
      <vt:lpstr>SenderRefIDs</vt:lpstr>
      <vt:lpstr>SenderRefID field</vt:lpstr>
      <vt:lpstr>Guidewire determines SenderRefID…</vt:lpstr>
      <vt:lpstr>External system determines SenderRefID…</vt:lpstr>
      <vt:lpstr>Late binding values</vt:lpstr>
      <vt:lpstr>PowerPoint Presentation</vt:lpstr>
      <vt:lpstr>Message request plugin</vt:lpstr>
      <vt:lpstr>beforeSend() – override </vt:lpstr>
      <vt:lpstr>beforeSend() – transform payload</vt:lpstr>
      <vt:lpstr>Setting the SenderRefID in beforeSend()</vt:lpstr>
      <vt:lpstr>Message request plugin implementation</vt:lpstr>
      <vt:lpstr>Step 1: Create request plugin class</vt:lpstr>
      <vt:lpstr>Step 2: Create the plugin registry</vt:lpstr>
      <vt:lpstr>Example: Late binding</vt:lpstr>
      <vt:lpstr>Step 3: Configure the plugin</vt:lpstr>
      <vt:lpstr>Step 4: Specify the destination plugin</vt:lpstr>
      <vt:lpstr>Step 5: Deploy message request plugin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Messaging Sending</dc:title>
  <dc:subject>Guidewire 8.0 Application Integration Messaging Sending</dc:subject>
  <dc:creator>Seth Luersen</dc:creator>
  <cp:keywords>Emerald;Guidewire 8.0 Application Integration;Messaging Sending</cp:keywords>
  <cp:revision>8</cp:revision>
  <dcterms:created xsi:type="dcterms:W3CDTF">2013-08-19T16:16:51Z</dcterms:created>
  <dcterms:modified xsi:type="dcterms:W3CDTF">2021-04-13T17:05:59Z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