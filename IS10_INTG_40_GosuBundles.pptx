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heme/themeOverride1.xml" ContentType="application/vnd.openxmlformats-officedocument.themeOverr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14">
  <p:sldMasterIdLst>
    <p:sldMasterId id="2147483763" r:id="rId4"/>
  </p:sldMasterIdLst>
  <p:notesMasterIdLst>
    <p:notesMasterId r:id="rId52"/>
  </p:notesMasterIdLst>
  <p:handoutMasterIdLst>
    <p:handoutMasterId r:id="rId53"/>
  </p:handoutMasterIdLst>
  <p:sldIdLst>
    <p:sldId id="347" r:id="rId5"/>
    <p:sldId id="258" r:id="rId6"/>
    <p:sldId id="260" r:id="rId7"/>
    <p:sldId id="267" r:id="rId8"/>
    <p:sldId id="271" r:id="rId9"/>
    <p:sldId id="272" r:id="rId10"/>
    <p:sldId id="338" r:id="rId11"/>
    <p:sldId id="311" r:id="rId12"/>
    <p:sldId id="276" r:id="rId13"/>
    <p:sldId id="273" r:id="rId14"/>
    <p:sldId id="275" r:id="rId15"/>
    <p:sldId id="274" r:id="rId16"/>
    <p:sldId id="277" r:id="rId17"/>
    <p:sldId id="331" r:id="rId18"/>
    <p:sldId id="328" r:id="rId19"/>
    <p:sldId id="329" r:id="rId20"/>
    <p:sldId id="318" r:id="rId21"/>
    <p:sldId id="317" r:id="rId22"/>
    <p:sldId id="337" r:id="rId23"/>
    <p:sldId id="334" r:id="rId24"/>
    <p:sldId id="332" r:id="rId25"/>
    <p:sldId id="319" r:id="rId26"/>
    <p:sldId id="320" r:id="rId27"/>
    <p:sldId id="297" r:id="rId28"/>
    <p:sldId id="322" r:id="rId29"/>
    <p:sldId id="330" r:id="rId30"/>
    <p:sldId id="324" r:id="rId31"/>
    <p:sldId id="295" r:id="rId32"/>
    <p:sldId id="333" r:id="rId33"/>
    <p:sldId id="265" r:id="rId34"/>
    <p:sldId id="341" r:id="rId35"/>
    <p:sldId id="343" r:id="rId36"/>
    <p:sldId id="344" r:id="rId37"/>
    <p:sldId id="326" r:id="rId38"/>
    <p:sldId id="298" r:id="rId39"/>
    <p:sldId id="345" r:id="rId40"/>
    <p:sldId id="266" r:id="rId41"/>
    <p:sldId id="262" r:id="rId42"/>
    <p:sldId id="301" r:id="rId43"/>
    <p:sldId id="305" r:id="rId44"/>
    <p:sldId id="259" r:id="rId45"/>
    <p:sldId id="357" r:id="rId46"/>
    <p:sldId id="353" r:id="rId47"/>
    <p:sldId id="355" r:id="rId48"/>
    <p:sldId id="356" r:id="rId49"/>
    <p:sldId id="261" r:id="rId50"/>
    <p:sldId id="348"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EA276501-C77F-41DE-9E47-4EA44DE6E53A}">
          <p14:sldIdLst>
            <p14:sldId id="347"/>
            <p14:sldId id="258"/>
          </p14:sldIdLst>
        </p14:section>
        <p14:section name="Database transcations and bundles" id="{A3CBC792-F989-4254-B1FB-9744929F5615}">
          <p14:sldIdLst>
            <p14:sldId id="260"/>
            <p14:sldId id="267"/>
            <p14:sldId id="271"/>
            <p14:sldId id="272"/>
            <p14:sldId id="338"/>
            <p14:sldId id="311"/>
            <p14:sldId id="276"/>
            <p14:sldId id="273"/>
            <p14:sldId id="275"/>
            <p14:sldId id="274"/>
            <p14:sldId id="277"/>
          </p14:sldIdLst>
        </p14:section>
        <p14:section name="Current and new bundles" id="{7657E37D-196B-4588-BC78-E74EE72FF66B}">
          <p14:sldIdLst>
            <p14:sldId id="331"/>
            <p14:sldId id="328"/>
            <p14:sldId id="329"/>
            <p14:sldId id="318"/>
            <p14:sldId id="317"/>
            <p14:sldId id="337"/>
            <p14:sldId id="334"/>
          </p14:sldIdLst>
        </p14:section>
        <p14:section name="Read-only entities and bundles" id="{CB34E574-A63A-45CD-88DD-1B588C90423D}">
          <p14:sldIdLst>
            <p14:sldId id="332"/>
            <p14:sldId id="319"/>
            <p14:sldId id="320"/>
            <p14:sldId id="297"/>
            <p14:sldId id="322"/>
            <p14:sldId id="330"/>
            <p14:sldId id="324"/>
            <p14:sldId id="295"/>
            <p14:sldId id="333"/>
          </p14:sldIdLst>
        </p14:section>
        <p14:section name="New Entities and bundles" id="{AE049682-064F-41E1-A860-E9352CDBB4BD}">
          <p14:sldIdLst>
            <p14:sldId id="265"/>
            <p14:sldId id="341"/>
            <p14:sldId id="343"/>
            <p14:sldId id="344"/>
            <p14:sldId id="326"/>
            <p14:sldId id="298"/>
            <p14:sldId id="345"/>
          </p14:sldIdLst>
        </p14:section>
        <p14:section name="Additional bundle functionality" id="{CC6B627B-84AC-4731-A73B-E9075791A8E3}">
          <p14:sldIdLst>
            <p14:sldId id="266"/>
            <p14:sldId id="262"/>
            <p14:sldId id="301"/>
            <p14:sldId id="305"/>
          </p14:sldIdLst>
        </p14:section>
        <p14:section name="Review" id="{0EA8C8BD-B85D-4B62-9459-AEB5D1506F5C}">
          <p14:sldIdLst>
            <p14:sldId id="259"/>
            <p14:sldId id="357"/>
            <p14:sldId id="353"/>
            <p14:sldId id="355"/>
            <p14:sldId id="356"/>
            <p14:sldId id="261"/>
            <p14:sldId id="348"/>
          </p14:sldIdLst>
        </p14:section>
      </p14:sectionLst>
    </p:ext>
    <p:ext uri="{EFAFB233-063F-42B5-8137-9DF3F51BA10A}">
      <p15:sldGuideLst xmlns:p15="http://schemas.microsoft.com/office/powerpoint/2012/main">
        <p15:guide id="1" orient="horz" userDrawn="1">
          <p15:clr>
            <a:srgbClr val="A4A3A4"/>
          </p15:clr>
        </p15:guide>
        <p15:guide id="2" userDrawn="1">
          <p15:clr>
            <a:srgbClr val="A4A3A4"/>
          </p15:clr>
        </p15:guide>
      </p15:sldGuideLst>
    </p:ext>
    <p:ext uri="{2D200454-40CA-4A62-9FC3-DE9A4176ACB9}">
      <p15:notesGuideLst xmlns:p15="http://schemas.microsoft.com/office/powerpoint/2012/main">
        <p15:guide id="1" orient="horz">
          <p15:clr>
            <a:srgbClr val="A4A3A4"/>
          </p15:clr>
        </p15:guide>
        <p15:guide id="2">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eth Luersen" initials="sl" lastIdx="24" clrIdx="0"/>
  <p:cmAuthor id="1" name="Guidewire Education" initials="sluersen" lastIdx="22"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628C"/>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DF94C9-0558-4261-83AA-85560CE95E27}" v="151" dt="2020-12-14T06:50:44.0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929" autoAdjust="0"/>
    <p:restoredTop sz="78010" autoAdjust="0"/>
  </p:normalViewPr>
  <p:slideViewPr>
    <p:cSldViewPr showGuides="1">
      <p:cViewPr varScale="1">
        <p:scale>
          <a:sx n="53" d="100"/>
          <a:sy n="53" d="100"/>
        </p:scale>
        <p:origin x="836" y="52"/>
      </p:cViewPr>
      <p:guideLst>
        <p:guide orient="horz"/>
        <p:guide/>
      </p:guideLst>
    </p:cSldViewPr>
  </p:slideViewPr>
  <p:outlineViewPr>
    <p:cViewPr>
      <p:scale>
        <a:sx n="33" d="100"/>
        <a:sy n="33" d="100"/>
      </p:scale>
      <p:origin x="0" y="25620"/>
    </p:cViewPr>
  </p:outlineViewPr>
  <p:notesTextViewPr>
    <p:cViewPr>
      <p:scale>
        <a:sx n="125" d="100"/>
        <a:sy n="125" d="100"/>
      </p:scale>
      <p:origin x="0" y="0"/>
    </p:cViewPr>
  </p:notesTextViewPr>
  <p:sorterViewPr>
    <p:cViewPr>
      <p:scale>
        <a:sx n="100" d="100"/>
        <a:sy n="100" d="100"/>
      </p:scale>
      <p:origin x="0" y="-14536"/>
    </p:cViewPr>
  </p:sorterViewPr>
  <p:notesViewPr>
    <p:cSldViewPr showGuides="1">
      <p:cViewPr varScale="1">
        <p:scale>
          <a:sx n="98" d="100"/>
          <a:sy n="98" d="100"/>
        </p:scale>
        <p:origin x="-2556" y="-96"/>
      </p:cViewPr>
      <p:guideLst>
        <p:guide orient="horz"/>
        <p:guide/>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handoutMaster" Target="handoutMasters/handoutMaster1.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nagavel, Saravanan (Cognizant)" userId="S::241962@cognizant.com::d0c3f32b-5ee3-422c-96ca-cc104dbd3e95" providerId="AD" clId="Web-{58DF94C9-0558-4261-83AA-85560CE95E27}"/>
    <pc:docChg chg="modSld">
      <pc:chgData name="Kanagavel, Saravanan (Cognizant)" userId="S::241962@cognizant.com::d0c3f32b-5ee3-422c-96ca-cc104dbd3e95" providerId="AD" clId="Web-{58DF94C9-0558-4261-83AA-85560CE95E27}" dt="2020-12-14T06:50:42.858" v="149" actId="20577"/>
      <pc:docMkLst>
        <pc:docMk/>
      </pc:docMkLst>
      <pc:sldChg chg="modSp">
        <pc:chgData name="Kanagavel, Saravanan (Cognizant)" userId="S::241962@cognizant.com::d0c3f32b-5ee3-422c-96ca-cc104dbd3e95" providerId="AD" clId="Web-{58DF94C9-0558-4261-83AA-85560CE95E27}" dt="2020-12-14T06:50:42.858" v="149" actId="20577"/>
        <pc:sldMkLst>
          <pc:docMk/>
          <pc:sldMk cId="1575750797" sldId="353"/>
        </pc:sldMkLst>
        <pc:spChg chg="mod">
          <ac:chgData name="Kanagavel, Saravanan (Cognizant)" userId="S::241962@cognizant.com::d0c3f32b-5ee3-422c-96ca-cc104dbd3e95" providerId="AD" clId="Web-{58DF94C9-0558-4261-83AA-85560CE95E27}" dt="2020-12-14T06:50:42.858" v="149" actId="20577"/>
          <ac:spMkLst>
            <pc:docMk/>
            <pc:sldMk cId="1575750797" sldId="353"/>
            <ac:spMk id="2"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B0435FB-616F-428E-8B59-652E1B735B94}" type="datetimeFigureOut">
              <a:rPr lang="en-US" smtClean="0"/>
              <a:t>12/13/2020</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29F476C-716D-4D92-B0B8-B6A8CF4642D9}" type="slidenum">
              <a:rPr lang="en-US" smtClean="0"/>
              <a:t>‹#›</a:t>
            </a:fld>
            <a:endParaRPr lang="en-US" dirty="0"/>
          </a:p>
        </p:txBody>
      </p:sp>
    </p:spTree>
    <p:extLst>
      <p:ext uri="{BB962C8B-B14F-4D97-AF65-F5344CB8AC3E}">
        <p14:creationId xmlns:p14="http://schemas.microsoft.com/office/powerpoint/2010/main" val="143120220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012" y="1"/>
            <a:ext cx="6862011" cy="228599"/>
          </a:xfrm>
          <a:prstGeom prst="rect">
            <a:avLst/>
          </a:prstGeom>
        </p:spPr>
        <p:txBody>
          <a:bodyPr vert="horz" lIns="91440" tIns="45720" rIns="91440" bIns="45720" rtlCol="0"/>
          <a:lstStyle>
            <a:lvl1pPr algn="l">
              <a:defRPr sz="1200">
                <a:latin typeface="Arial" pitchFamily="34" charset="0"/>
                <a:cs typeface="Arial" pitchFamily="34" charset="0"/>
              </a:defRPr>
            </a:lvl1pPr>
          </a:lstStyle>
          <a:p>
            <a:endParaRPr lang="en-US" dirty="0"/>
          </a:p>
        </p:txBody>
      </p:sp>
      <p:sp>
        <p:nvSpPr>
          <p:cNvPr id="4" name="Slide Image Placeholder 3"/>
          <p:cNvSpPr>
            <a:spLocks noGrp="1" noRot="1" noChangeAspect="1"/>
          </p:cNvSpPr>
          <p:nvPr>
            <p:ph type="sldImg" idx="2"/>
          </p:nvPr>
        </p:nvSpPr>
        <p:spPr>
          <a:xfrm>
            <a:off x="-76200" y="304800"/>
            <a:ext cx="7010400" cy="394335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152400" y="4343400"/>
            <a:ext cx="6553200" cy="43434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hidden="1"/>
          <p:cNvSpPr>
            <a:spLocks noGrp="1"/>
          </p:cNvSpPr>
          <p:nvPr>
            <p:ph type="ftr" sz="quarter" idx="4"/>
          </p:nvPr>
        </p:nvSpPr>
        <p:spPr>
          <a:xfrm>
            <a:off x="76200" y="8799443"/>
            <a:ext cx="3581400" cy="303213"/>
          </a:xfrm>
          <a:prstGeom prst="rect">
            <a:avLst/>
          </a:prstGeom>
        </p:spPr>
        <p:txBody>
          <a:bodyPr vert="horz" lIns="91440" tIns="45720" rIns="91440" bIns="45720" rtlCol="0" anchor="b"/>
          <a:lstStyle>
            <a:lvl1pPr algn="l">
              <a:defRPr sz="800">
                <a:latin typeface="Arial" pitchFamily="34" charset="0"/>
                <a:cs typeface="Arial" pitchFamily="34" charset="0"/>
              </a:defRPr>
            </a:lvl1pPr>
          </a:lstStyle>
          <a:p>
            <a:endParaRPr lang="en-US" dirty="0"/>
          </a:p>
        </p:txBody>
      </p:sp>
      <p:sp>
        <p:nvSpPr>
          <p:cNvPr id="7" name="Slide Number Placeholder 6"/>
          <p:cNvSpPr>
            <a:spLocks noGrp="1"/>
          </p:cNvSpPr>
          <p:nvPr>
            <p:ph type="sldNum" sz="quarter" idx="5"/>
          </p:nvPr>
        </p:nvSpPr>
        <p:spPr>
          <a:xfrm>
            <a:off x="3884613" y="8775380"/>
            <a:ext cx="2971800" cy="303212"/>
          </a:xfrm>
          <a:prstGeom prst="rect">
            <a:avLst/>
          </a:prstGeom>
        </p:spPr>
        <p:txBody>
          <a:bodyPr vert="horz" lIns="91440" tIns="45720" rIns="91440" bIns="45720" rtlCol="0" anchor="b"/>
          <a:lstStyle>
            <a:lvl1pPr algn="r">
              <a:defRPr sz="800">
                <a:latin typeface="Arial" pitchFamily="34" charset="0"/>
                <a:cs typeface="Arial" pitchFamily="34" charset="0"/>
              </a:defRPr>
            </a:lvl1pPr>
          </a:lstStyle>
          <a:p>
            <a:fld id="{BC59C1E8-2E88-4BF4-A80C-B8AE78323CDF}" type="slidenum">
              <a:rPr lang="en-US" smtClean="0"/>
              <a:pPr/>
              <a:t>‹#›</a:t>
            </a:fld>
            <a:endParaRPr lang="en-US" dirty="0"/>
          </a:p>
        </p:txBody>
      </p:sp>
      <p:sp>
        <p:nvSpPr>
          <p:cNvPr id="8" name="txt_CopyrightFooter"/>
          <p:cNvSpPr/>
          <p:nvPr/>
        </p:nvSpPr>
        <p:spPr>
          <a:xfrm>
            <a:off x="76200" y="8763000"/>
            <a:ext cx="3581400" cy="338554"/>
          </a:xfrm>
          <a:prstGeom prst="rect">
            <a:avLst/>
          </a:prstGeom>
        </p:spPr>
        <p:txBody>
          <a:bodyPr vert="horz" lIns="91440" tIns="45720" rIns="91440" bIns="45720" rtlCol="0" anchor="b"/>
          <a:lstStyle/>
          <a:p>
            <a:pPr lvl="0"/>
            <a:r>
              <a:rPr lang="en-US" sz="800" dirty="0">
                <a:latin typeface="Arial" pitchFamily="34" charset="0"/>
                <a:cs typeface="Arial" pitchFamily="34" charset="0"/>
              </a:rPr>
              <a:t>© Guidewire Software, Inc. 2001-2014. All rights reserved.</a:t>
            </a:r>
            <a:br>
              <a:rPr lang="en-US" sz="800" dirty="0">
                <a:latin typeface="Arial" pitchFamily="34" charset="0"/>
                <a:cs typeface="Arial" pitchFamily="34" charset="0"/>
              </a:rPr>
            </a:br>
            <a:r>
              <a:rPr lang="en-US" sz="800" dirty="0">
                <a:latin typeface="Arial" pitchFamily="34" charset="0"/>
                <a:cs typeface="Arial" pitchFamily="34" charset="0"/>
              </a:rPr>
              <a:t>Do not distribute without permission.</a:t>
            </a:r>
          </a:p>
        </p:txBody>
      </p:sp>
    </p:spTree>
    <p:extLst>
      <p:ext uri="{BB962C8B-B14F-4D97-AF65-F5344CB8AC3E}">
        <p14:creationId xmlns:p14="http://schemas.microsoft.com/office/powerpoint/2010/main" val="2150224147"/>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Arial" pitchFamily="34" charset="0"/>
        <a:ea typeface="+mn-ea"/>
        <a:cs typeface="Arial" pitchFamily="34" charset="0"/>
      </a:defRPr>
    </a:lvl1pPr>
    <a:lvl2pPr marL="228600" indent="0" algn="l" defTabSz="914400" rtl="0" eaLnBrk="1" latinLnBrk="0" hangingPunct="1">
      <a:defRPr sz="1000" kern="1200">
        <a:solidFill>
          <a:schemeClr val="tx1"/>
        </a:solidFill>
        <a:latin typeface="Arial" pitchFamily="34" charset="0"/>
        <a:ea typeface="+mn-ea"/>
        <a:cs typeface="Arial" pitchFamily="34" charset="0"/>
      </a:defRPr>
    </a:lvl2pPr>
    <a:lvl3pPr marL="457200" indent="0" algn="l" defTabSz="914400" rtl="0" eaLnBrk="1" latinLnBrk="0" hangingPunct="1">
      <a:defRPr sz="1000" kern="1200">
        <a:solidFill>
          <a:schemeClr val="tx1"/>
        </a:solidFill>
        <a:latin typeface="Arial" pitchFamily="34" charset="0"/>
        <a:ea typeface="+mn-ea"/>
        <a:cs typeface="Arial" pitchFamily="34" charset="0"/>
      </a:defRPr>
    </a:lvl3pPr>
    <a:lvl4pPr marL="685800" indent="0" algn="l" defTabSz="914400" rtl="0" eaLnBrk="1" latinLnBrk="0" hangingPunct="1">
      <a:defRPr sz="1000" kern="1200">
        <a:solidFill>
          <a:schemeClr val="tx1"/>
        </a:solidFill>
        <a:latin typeface="Arial" pitchFamily="34" charset="0"/>
        <a:ea typeface="+mn-ea"/>
        <a:cs typeface="Arial" pitchFamily="34" charset="0"/>
      </a:defRPr>
    </a:lvl4pPr>
    <a:lvl5pPr marL="914400" indent="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11680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SQL includes at least three data manipulation language manipulation (DML) statements. </a:t>
            </a:r>
          </a:p>
          <a:p>
            <a:pPr marL="171450" indent="-171450">
              <a:buFont typeface="Arial" pitchFamily="34" charset="0"/>
              <a:buChar char="•"/>
            </a:pPr>
            <a:r>
              <a:rPr lang="en-US" dirty="0"/>
              <a:t>INSERT (which adds one or more rows of data to a given table)</a:t>
            </a:r>
          </a:p>
          <a:p>
            <a:pPr marL="171450" indent="-171450">
              <a:buFont typeface="Arial" pitchFamily="34" charset="0"/>
              <a:buChar char="•"/>
            </a:pPr>
            <a:r>
              <a:rPr lang="en-US" dirty="0"/>
              <a:t>UPDATE (which modifies one or more existing rows of data in a given table)</a:t>
            </a:r>
          </a:p>
          <a:p>
            <a:pPr marL="171450" indent="-171450">
              <a:buFont typeface="Arial" pitchFamily="34" charset="0"/>
              <a:buChar char="•"/>
            </a:pPr>
            <a:r>
              <a:rPr lang="en-US" dirty="0"/>
              <a:t>DELETE (which removes on or more rows of data from a given table)</a:t>
            </a:r>
          </a:p>
          <a:p>
            <a:endParaRPr lang="en-US" dirty="0"/>
          </a:p>
          <a:p>
            <a:r>
              <a:rPr lang="en-US" dirty="0"/>
              <a:t>Database transactions are primarily a combination of DML statement that are typically demarcated:</a:t>
            </a:r>
          </a:p>
          <a:p>
            <a:pPr marL="171450" indent="-171450">
              <a:buFont typeface="Arial" pitchFamily="34" charset="0"/>
              <a:buChar char="•"/>
            </a:pPr>
            <a:r>
              <a:rPr lang="en-US" dirty="0"/>
              <a:t>From the "begin" that starts the transaction</a:t>
            </a:r>
          </a:p>
          <a:p>
            <a:pPr marL="171450" indent="-171450">
              <a:buFont typeface="Arial" pitchFamily="34" charset="0"/>
              <a:buChar char="•"/>
            </a:pPr>
            <a:r>
              <a:rPr lang="en-US" dirty="0"/>
              <a:t>Until either a "commit" (which successfully ends the transaction) or a "rollback" (which undoes the transaction if any statement fails)</a:t>
            </a:r>
          </a:p>
          <a:p>
            <a:endParaRPr lang="en-US" dirty="0"/>
          </a:p>
          <a:p>
            <a:r>
              <a:rPr lang="en-US" dirty="0"/>
              <a:t>An example of a database transaction involves a bank customer with multiple accounts. The customer wishes to transfer $100 from one account to another. Two separate statements are needed to do this. One statement debits the "from" account, and the other credits the "to" account. The statements must be treated as a unit. If one is allowed to succeed while the other fails, then either the customer will lose the transfer money or be double-credited for it. </a:t>
            </a:r>
          </a:p>
          <a:p>
            <a:endParaRPr lang="en-US" dirty="0"/>
          </a:p>
          <a:p>
            <a:pPr algn="ctr"/>
            <a:r>
              <a:rPr lang="en-US" dirty="0"/>
              <a:t>(continued)</a:t>
            </a:r>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8910145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"Transaction" is a term that various Guidewire products define differently.  Consider the following examples: </a:t>
            </a:r>
          </a:p>
          <a:p>
            <a:pPr marL="171450" indent="-171450">
              <a:buFont typeface="Arial" pitchFamily="34" charset="0"/>
              <a:buChar char="•"/>
            </a:pPr>
            <a:r>
              <a:rPr lang="en-US" dirty="0"/>
              <a:t>A "policy transaction" is job process that creates or modifies a policy such as a policy change, a cancellation, or a renewal.</a:t>
            </a:r>
          </a:p>
          <a:p>
            <a:pPr marL="171450" indent="-171450">
              <a:buFont typeface="Arial" pitchFamily="34" charset="0"/>
              <a:buChar char="•"/>
            </a:pPr>
            <a:r>
              <a:rPr lang="en-US" dirty="0"/>
              <a:t>In PolicyCenter, a "financial transaction" represents the change in costs for a given quotable aspect of a policy, e.g., the decrease of a deductible in collision coverage increases the cost from $10 to $17.</a:t>
            </a:r>
          </a:p>
          <a:p>
            <a:pPr marL="171450" indent="-171450">
              <a:buFont typeface="Arial" pitchFamily="34" charset="0"/>
              <a:buChar char="•"/>
            </a:pPr>
            <a:r>
              <a:rPr lang="en-US" dirty="0"/>
              <a:t>In BillingCenter, a "financial transaction" refers to the debit of money from one T-account to the credit of money to another T-account.</a:t>
            </a:r>
          </a:p>
          <a:p>
            <a:pPr marL="171450" indent="-171450">
              <a:buFont typeface="Arial" pitchFamily="34" charset="0"/>
              <a:buChar char="•"/>
            </a:pPr>
            <a:r>
              <a:rPr lang="en-US" dirty="0"/>
              <a:t>In ClaimCenter, a "financial transaction" describes the movement of money either set aside for a payment into a reserve line or out of a reserve line to make a payment.</a:t>
            </a:r>
          </a:p>
          <a:p>
            <a:endParaRPr lang="en-US" dirty="0"/>
          </a:p>
          <a:p>
            <a:r>
              <a:rPr lang="en-US" dirty="0"/>
              <a:t>Database transactions in Guidewire product database are not, by default, distributed transactions.  A distributed transaction, sometimes referred to as a global transaction, is a set of two or more related transactions that must be managed in a coordinated way.  For Java Database Connectivity (JDBC) drivers, distributed transaction functionality is built on top of connection pooling functionality.  This distributed transaction functionality is also built upon the open Extended Architecture (XA) standard for distributed transactions.  Database transactions in Guidewire products are resource-local (non-global, non-distributed, non-XA) transactions against the Guidewire product database.</a:t>
            </a:r>
          </a:p>
          <a:p>
            <a:endParaRPr lang="en-US" dirty="0"/>
          </a:p>
          <a:p>
            <a:r>
              <a:rPr lang="en-US" dirty="0"/>
              <a:t>This lesson uses the term "transaction" to refer to a non-global, non-distributed, non-XA, resource-local, database transaction against the Guidewire product database.</a:t>
            </a:r>
          </a:p>
          <a:p>
            <a:endParaRPr lang="en-US" dirty="0"/>
          </a:p>
          <a:p>
            <a:endParaRPr lang="en-US" dirty="0"/>
          </a:p>
        </p:txBody>
      </p:sp>
    </p:spTree>
    <p:extLst>
      <p:ext uri="{BB962C8B-B14F-4D97-AF65-F5344CB8AC3E}">
        <p14:creationId xmlns:p14="http://schemas.microsoft.com/office/powerpoint/2010/main" val="32093811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In object-oriented programming, an instance of a class is an object.  In database design and modeling, an instance of an entity is a row of data in a database table.   In the Guidewire paradigm for integration and configuration, the term "entity" can express a duality of both being a class and a database table.  For example, when you create a new instance of a Contact entity using the keyword "new" in Gosu or Java, not only does the Guidewire application create unique object of the type Contact in memory, but it also allows for the possibility for the object in memory to be inserted into a new row in a database table.  </a:t>
            </a:r>
          </a:p>
          <a:p>
            <a:endParaRPr lang="en-US" dirty="0"/>
          </a:p>
          <a:p>
            <a:r>
              <a:rPr lang="en-US" dirty="0"/>
              <a:t>Guidewire configurators and integrators may refer to an entity in a bundle as a “database-backed entity”, an entity of type entity.KeyableBean, and/or as entity that implements the KeyableBean delegate. This simply means that the entity is to be inserted into the database when the application commits the bundle.</a:t>
            </a:r>
          </a:p>
          <a:p>
            <a:endParaRPr lang="en-US" dirty="0"/>
          </a:p>
          <a:p>
            <a:r>
              <a:rPr lang="en-US" dirty="0"/>
              <a:t>Gosu represents a bundle with the class </a:t>
            </a:r>
            <a:r>
              <a:rPr lang="en-US" dirty="0" err="1">
                <a:latin typeface="Courier New" pitchFamily="49" charset="0"/>
                <a:cs typeface="Courier New" pitchFamily="49" charset="0"/>
              </a:rPr>
              <a:t>gw.transaction.Bundle</a:t>
            </a:r>
            <a:r>
              <a:rPr lang="en-US" dirty="0"/>
              <a:t>.  The</a:t>
            </a:r>
            <a:r>
              <a:rPr lang="en-US" baseline="0" dirty="0"/>
              <a:t> </a:t>
            </a:r>
            <a:r>
              <a:rPr lang="en-US" dirty="0"/>
              <a:t>Bundle class is a Guidewire class that implements the entity BundleProvider.  The Bundle class maintains a graph of objects for the convenience of application code. Bundles can be used to group together a number of entities for transmission to the database. The add method add beans to the bundle. The remove method marks a bean for removal.  The commit method invokes a complex procedure that tries to the save the entities in the bundle to the database. </a:t>
            </a:r>
          </a:p>
          <a:p>
            <a:endParaRPr lang="en-US" dirty="0"/>
          </a:p>
        </p:txBody>
      </p:sp>
    </p:spTree>
    <p:extLst>
      <p:ext uri="{BB962C8B-B14F-4D97-AF65-F5344CB8AC3E}">
        <p14:creationId xmlns:p14="http://schemas.microsoft.com/office/powerpoint/2010/main" val="10741840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Guidewire refers to the process of sending the entities to the database as committing the bundle to the database. If a bundle commit attempt completely succeeds, all database changes happen in a single database transaction. If the commit attempt fails in any way, the entire update fails and Gosu throws an exception. </a:t>
            </a:r>
          </a:p>
        </p:txBody>
      </p:sp>
    </p:spTree>
    <p:extLst>
      <p:ext uri="{BB962C8B-B14F-4D97-AF65-F5344CB8AC3E}">
        <p14:creationId xmlns:p14="http://schemas.microsoft.com/office/powerpoint/2010/main" val="39350664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A read-only bundle is a bundle that contains entities retrieved from the database. This includes both entities returned as the result of a query, and entities referenced by the foreign key of a related entity when the related entity is in a read-only bundle. The entities in a read-only bundle cannot be modified. However, you can copy entities from a read-only bundle into a writable bundle. </a:t>
            </a:r>
          </a:p>
          <a:p>
            <a:r>
              <a:rPr lang="en-US" dirty="0"/>
              <a:t>You must copy objects to a writable bundle to change objects or delete objects. In most programming contexts, there is a current bundle that the application has already prepared.  Not all writable bundles eventually commit to the database. For example:</a:t>
            </a:r>
          </a:p>
          <a:p>
            <a:pPr marL="171450" indent="-171450">
              <a:buFont typeface="Arial" pitchFamily="34" charset="0"/>
              <a:buChar char="•"/>
            </a:pPr>
            <a:r>
              <a:rPr lang="en-US" dirty="0"/>
              <a:t>A user might start to make data changes in the user interface but abandon the task.</a:t>
            </a:r>
          </a:p>
          <a:p>
            <a:pPr marL="171450" indent="-171450">
              <a:buFont typeface="Arial" pitchFamily="34" charset="0"/>
              <a:buChar char="•"/>
            </a:pPr>
            <a:r>
              <a:rPr lang="en-US" dirty="0"/>
              <a:t>A user might start to make data changes in the user interface, try to save them, but errors prevent completion. Eventually, the user might cancel the action before fixing and completing the action.</a:t>
            </a:r>
          </a:p>
          <a:p>
            <a:pPr marL="171450" indent="-171450">
              <a:buFont typeface="Arial" pitchFamily="34" charset="0"/>
              <a:buChar char="•"/>
            </a:pPr>
            <a:r>
              <a:rPr lang="en-US" dirty="0"/>
              <a:t>A batch process might attempt a database change, but errors prevent completing the action.</a:t>
            </a:r>
          </a:p>
          <a:p>
            <a:pPr marL="171450" indent="-171450">
              <a:buFont typeface="Arial" pitchFamily="34" charset="0"/>
              <a:buChar char="•"/>
            </a:pPr>
            <a:r>
              <a:rPr lang="en-US" dirty="0"/>
              <a:t>A web service call might attempt a database change, but errors prevent completing the action. </a:t>
            </a:r>
          </a:p>
          <a:p>
            <a:pPr marL="171450" indent="-171450">
              <a:buFont typeface="Arial" pitchFamily="34" charset="0"/>
              <a:buChar char="•"/>
            </a:pPr>
            <a:endParaRPr lang="en-US" dirty="0"/>
          </a:p>
          <a:p>
            <a:r>
              <a:rPr lang="en-US" dirty="0"/>
              <a:t>You can add a read-only entity instance to a writable bundle. You can also add an entity instance to a writable bundle even if the original entity instance is in a writable bundle already. For this action to succeed, the original entity instance must be unmodified. The entity instance must not be newly added, changed, or deleted in its existing bundle. </a:t>
            </a:r>
            <a:r>
              <a:rPr lang="en-US" sz="1200" b="0" i="0" kern="1200" dirty="0">
                <a:solidFill>
                  <a:schemeClr val="tx1"/>
                </a:solidFill>
                <a:effectLst/>
                <a:latin typeface="Arial" pitchFamily="34" charset="0"/>
                <a:ea typeface="+mn-ea"/>
                <a:cs typeface="Arial" pitchFamily="34" charset="0"/>
              </a:rPr>
              <a:t>If you try to </a:t>
            </a:r>
            <a:r>
              <a:rPr lang="en-US" sz="1200" b="1" i="0" kern="1200" dirty="0">
                <a:solidFill>
                  <a:schemeClr val="tx1"/>
                </a:solidFill>
                <a:effectLst/>
                <a:latin typeface="Arial" pitchFamily="34" charset="0"/>
                <a:ea typeface="+mn-ea"/>
                <a:cs typeface="Arial" pitchFamily="34" charset="0"/>
              </a:rPr>
              <a:t>add a modified entity </a:t>
            </a:r>
            <a:r>
              <a:rPr lang="en-US" sz="1200" b="0" i="0" kern="1200" dirty="0">
                <a:solidFill>
                  <a:schemeClr val="tx1"/>
                </a:solidFill>
                <a:effectLst/>
                <a:latin typeface="Arial" pitchFamily="34" charset="0"/>
                <a:ea typeface="+mn-ea"/>
                <a:cs typeface="Arial" pitchFamily="34" charset="0"/>
              </a:rPr>
              <a:t>instance to a new bundle, Gosu throws the exception </a:t>
            </a:r>
            <a:r>
              <a:rPr lang="en-US" sz="1200" b="0" i="0" kern="1200" dirty="0" err="1">
                <a:solidFill>
                  <a:schemeClr val="tx1"/>
                </a:solidFill>
                <a:effectLst/>
                <a:latin typeface="Arial" pitchFamily="34" charset="0"/>
                <a:ea typeface="+mn-ea"/>
                <a:cs typeface="Arial" pitchFamily="34" charset="0"/>
              </a:rPr>
              <a:t>IllegalBundleTransferException</a:t>
            </a:r>
            <a:r>
              <a:rPr lang="en-US" sz="1200" b="0" i="0" kern="1200" dirty="0">
                <a:solidFill>
                  <a:schemeClr val="tx1"/>
                </a:solidFill>
                <a:effectLst/>
                <a:latin typeface="Arial" pitchFamily="34" charset="0"/>
                <a:ea typeface="+mn-ea"/>
                <a:cs typeface="Arial" pitchFamily="34" charset="0"/>
              </a:rPr>
              <a:t>. To avoid this, be careful not to let the entity be modified in more than one bundle.</a:t>
            </a:r>
            <a:endParaRPr lang="en-US" dirty="0"/>
          </a:p>
        </p:txBody>
      </p:sp>
    </p:spTree>
    <p:extLst>
      <p:ext uri="{BB962C8B-B14F-4D97-AF65-F5344CB8AC3E}">
        <p14:creationId xmlns:p14="http://schemas.microsoft.com/office/powerpoint/2010/main" val="23872593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A current bundle that contains objects available to the current code context. The current context includes, but is not limited to, the user interface and plugins. The Guidewire application automatically creates</a:t>
            </a:r>
            <a:r>
              <a:rPr lang="en-US" baseline="0" dirty="0"/>
              <a:t> the current b</a:t>
            </a:r>
            <a:r>
              <a:rPr lang="en-US" dirty="0"/>
              <a:t>undle in order to create</a:t>
            </a:r>
            <a:r>
              <a:rPr lang="en-US" baseline="0" dirty="0"/>
              <a:t>, read, update, and delete data.  A current bundle is either read-only or writable depending on the context. For example, the current bundle in the a user interface is often read-only until a user edits the page. When a user edits data on the page, the bundle becomes writable. When the user updates or cancels edits to the page, the bundle returns to read-only. </a:t>
            </a:r>
            <a:r>
              <a:rPr lang="en-US" dirty="0"/>
              <a:t>A current bundle can be either</a:t>
            </a:r>
            <a:r>
              <a:rPr lang="en-US" baseline="0" dirty="0"/>
              <a:t> read-only or writable. </a:t>
            </a:r>
            <a:r>
              <a:rPr lang="en-US" dirty="0"/>
              <a:t>Integration developers can reference entities in the current bundle</a:t>
            </a:r>
            <a:r>
              <a:rPr lang="en-US" baseline="0" dirty="0"/>
              <a:t> using the API: </a:t>
            </a:r>
            <a:r>
              <a:rPr lang="en-US" baseline="0" dirty="0" err="1">
                <a:latin typeface="Courier New" pitchFamily="49" charset="0"/>
                <a:cs typeface="Courier New" pitchFamily="49" charset="0"/>
              </a:rPr>
              <a:t>gw.api.transaction.Transaction.getCurrent</a:t>
            </a:r>
            <a:r>
              <a:rPr lang="en-US" baseline="0" dirty="0">
                <a:latin typeface="Courier New" pitchFamily="49" charset="0"/>
                <a:cs typeface="Courier New" pitchFamily="49" charset="0"/>
              </a:rPr>
              <a:t>().</a:t>
            </a:r>
          </a:p>
          <a:p>
            <a:endParaRPr lang="en-US" dirty="0"/>
          </a:p>
          <a:p>
            <a:r>
              <a:rPr lang="en-US" dirty="0"/>
              <a:t>A new bundle is a bundle created explicitly by integration code. Unlike a read-only bundle, you can modify and commit data in a new bundle. Unlike a current bundle, you can commit a new bundle without having to worry about later interaction occurring in the bundle</a:t>
            </a:r>
            <a:r>
              <a:rPr lang="en-US" baseline="0" dirty="0"/>
              <a:t> as might occur in a user interface. </a:t>
            </a:r>
            <a:endParaRPr lang="en-US" dirty="0"/>
          </a:p>
          <a:p>
            <a:endParaRPr lang="en-US" dirty="0"/>
          </a:p>
        </p:txBody>
      </p:sp>
    </p:spTree>
    <p:extLst>
      <p:ext uri="{BB962C8B-B14F-4D97-AF65-F5344CB8AC3E}">
        <p14:creationId xmlns:p14="http://schemas.microsoft.com/office/powerpoint/2010/main" val="23872593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A plugin implements an interface with one or more functions. Guidewire application code may invoke the interface functions. The situation in which the plugin is called determine whether the plugin needs to explicitly manipulate a bundle. </a:t>
            </a:r>
          </a:p>
          <a:p>
            <a:endParaRPr lang="en-US" dirty="0"/>
          </a:p>
          <a:p>
            <a:r>
              <a:rPr lang="en-US" dirty="0"/>
              <a:t>For example, in ClaimCenter, at the end of the first step of the New Claim wizard , the claim number generator plugin is called.  There is an explicit commit before the application moves on to the second step. Thus, the claim number generator plugin code does not need to explicitly manipulate any bundle.</a:t>
            </a:r>
          </a:p>
          <a:p>
            <a:endParaRPr lang="en-US" dirty="0"/>
          </a:p>
        </p:txBody>
      </p:sp>
    </p:spTree>
    <p:extLst>
      <p:ext uri="{BB962C8B-B14F-4D97-AF65-F5344CB8AC3E}">
        <p14:creationId xmlns:p14="http://schemas.microsoft.com/office/powerpoint/2010/main" val="5123999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There are special bundle issues pertaining to web services, batch processes, and certain plugins. These issues are discussed later in the course.</a:t>
            </a:r>
          </a:p>
          <a:p>
            <a:endParaRPr lang="en-US" dirty="0"/>
          </a:p>
        </p:txBody>
      </p:sp>
    </p:spTree>
    <p:extLst>
      <p:ext uri="{BB962C8B-B14F-4D97-AF65-F5344CB8AC3E}">
        <p14:creationId xmlns:p14="http://schemas.microsoft.com/office/powerpoint/2010/main" val="10207497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Only database-backed entities (entities of type entity.KeyableBean) can be added to a bundle. Each entity can only be in one bundle. It is possible to have multiple entities that correspond to the same row in the database.</a:t>
            </a:r>
          </a:p>
          <a:p>
            <a:endParaRPr lang="en-US" dirty="0"/>
          </a:p>
          <a:p>
            <a:r>
              <a:rPr lang="en-US" dirty="0"/>
              <a:t>You cannot create a custom Gosu class (which is non-database-backed) and add instances of that class to a bundle.</a:t>
            </a:r>
          </a:p>
          <a:p>
            <a:endParaRPr lang="en-US" dirty="0"/>
          </a:p>
          <a:p>
            <a:r>
              <a:rPr lang="en-US" dirty="0"/>
              <a:t>"Evicting" an entity from a bundle means disassociating the entity entirely from the bundle before any commit is attempted. The term "remove" is not used here because "removing an entity" is typically used to mean flagging an entity as retired or deleted so that, when the bundle is committed, the database will logically or physically remove the corresponding row from the database table. You can "remove" an entity from a bundle using Gosu.</a:t>
            </a:r>
          </a:p>
          <a:p>
            <a:endParaRPr lang="en-US" dirty="0"/>
          </a:p>
          <a:p>
            <a:r>
              <a:rPr lang="en-US" dirty="0"/>
              <a:t>The entity’s bundle is available in the Bundle property of the given entity.</a:t>
            </a:r>
          </a:p>
          <a:p>
            <a:endParaRPr lang="en-US" dirty="0"/>
          </a:p>
          <a:p>
            <a:endParaRPr lang="en-US" dirty="0"/>
          </a:p>
        </p:txBody>
      </p:sp>
    </p:spTree>
    <p:extLst>
      <p:ext uri="{BB962C8B-B14F-4D97-AF65-F5344CB8AC3E}">
        <p14:creationId xmlns:p14="http://schemas.microsoft.com/office/powerpoint/2010/main" val="27362008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In TrainingApp, ABCompanies can have an inspection date. There are</a:t>
            </a:r>
            <a:r>
              <a:rPr lang="en-US" baseline="0" dirty="0"/>
              <a:t> several methods that are required to record when inspection dates are changed.</a:t>
            </a:r>
          </a:p>
          <a:p>
            <a:endParaRPr lang="en-US" baseline="0" dirty="0"/>
          </a:p>
          <a:p>
            <a:r>
              <a:rPr lang="en-US" baseline="0" dirty="0"/>
              <a:t>First,  you need a method to r</a:t>
            </a:r>
            <a:r>
              <a:rPr lang="en-US" dirty="0"/>
              <a:t>etrieve the company from the database.</a:t>
            </a:r>
            <a:r>
              <a:rPr lang="en-US" baseline="0" dirty="0"/>
              <a:t> Second, you need a method to set the inspection </a:t>
            </a:r>
            <a:r>
              <a:rPr lang="en-US" dirty="0"/>
              <a:t>date to a specified date. Lastly,</a:t>
            </a:r>
            <a:r>
              <a:rPr lang="en-US" baseline="0" dirty="0"/>
              <a:t> you need to create a note </a:t>
            </a:r>
            <a:r>
              <a:rPr lang="en-US" dirty="0"/>
              <a:t>that captures</a:t>
            </a:r>
            <a:r>
              <a:rPr lang="en-US" baseline="0" dirty="0"/>
              <a:t> the date change from the </a:t>
            </a:r>
            <a:r>
              <a:rPr lang="en-US" dirty="0"/>
              <a:t>previous value to the new value.</a:t>
            </a:r>
          </a:p>
          <a:p>
            <a:endParaRPr lang="en-US" dirty="0"/>
          </a:p>
        </p:txBody>
      </p:sp>
    </p:spTree>
    <p:extLst>
      <p:ext uri="{BB962C8B-B14F-4D97-AF65-F5344CB8AC3E}">
        <p14:creationId xmlns:p14="http://schemas.microsoft.com/office/powerpoint/2010/main" val="1972024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Often,</a:t>
            </a:r>
            <a:r>
              <a:rPr lang="en-US" baseline="0" dirty="0"/>
              <a:t> t</a:t>
            </a:r>
            <a:r>
              <a:rPr lang="en-US" dirty="0"/>
              <a:t>he current bundle </a:t>
            </a:r>
            <a:r>
              <a:rPr lang="en-US" baseline="0" dirty="0"/>
              <a:t>references that data that is in the User Interface or the object being used by a plugin. </a:t>
            </a:r>
            <a:r>
              <a:rPr lang="en-US" dirty="0"/>
              <a:t>Guidewire web services and batch processes do not have current bundles. If either of these mechanisms needs to create or modify data, then a new bundle must be created.</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The current bundle may be either readable or writable.  You can determine if the current bundle is read-only by using the </a:t>
            </a:r>
            <a:r>
              <a:rPr lang="en-US" baseline="0" dirty="0" err="1"/>
              <a:t>ReadOnly</a:t>
            </a:r>
            <a:r>
              <a:rPr lang="en-US" baseline="0" dirty="0"/>
              <a:t> property.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endParaRPr lang="en-US" dirty="0"/>
          </a:p>
        </p:txBody>
      </p:sp>
    </p:spTree>
    <p:extLst>
      <p:ext uri="{BB962C8B-B14F-4D97-AF65-F5344CB8AC3E}">
        <p14:creationId xmlns:p14="http://schemas.microsoft.com/office/powerpoint/2010/main" val="28323695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Every entity has a bundle property that you can use to access the bundle containing the entity (</a:t>
            </a:r>
            <a:r>
              <a:rPr lang="en-US" dirty="0" err="1"/>
              <a:t>entity.Bundle</a:t>
            </a:r>
            <a:r>
              <a:rPr lang="en-US" dirty="0"/>
              <a:t>). </a:t>
            </a:r>
          </a:p>
          <a:p>
            <a:endParaRPr lang="en-US" dirty="0"/>
          </a:p>
          <a:p>
            <a:r>
              <a:rPr lang="en-US" dirty="0"/>
              <a:t>Developers should be extremely cautious when committing a current bundle.  Committing the data in the code may conflict with further activity associated to the current bundle's context. For example, imagine that there is a UI button that executes code which accesses the current bundle, modifies entities in it, and then commits the bundle. If the user clicks the button and then makes additional changes to data in the UI, the additional changes cannot be saved. When the attempt is made to commit the additional changes, Guidewire will throw an exception. Therefore, one should commit the current bundle only when one can be certain that no further changes will be made to the data in that bundle.</a:t>
            </a:r>
          </a:p>
        </p:txBody>
      </p:sp>
    </p:spTree>
    <p:extLst>
      <p:ext uri="{BB962C8B-B14F-4D97-AF65-F5344CB8AC3E}">
        <p14:creationId xmlns:p14="http://schemas.microsoft.com/office/powerpoint/2010/main" val="28323695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New bundles are always writable. In some situations, there is an inherent user. For example:</a:t>
            </a:r>
          </a:p>
          <a:p>
            <a:pPr marL="171450" indent="-171450">
              <a:buFont typeface="Arial" pitchFamily="34" charset="0"/>
              <a:buChar char="•"/>
            </a:pPr>
            <a:r>
              <a:rPr lang="en-US" dirty="0"/>
              <a:t>If bundle code is executed from the UI, it is executed as the user who triggered the UI event that runs the code.</a:t>
            </a:r>
          </a:p>
          <a:p>
            <a:pPr marL="171450" indent="-171450">
              <a:buFont typeface="Arial" pitchFamily="34" charset="0"/>
              <a:buChar char="•"/>
            </a:pPr>
            <a:r>
              <a:rPr lang="en-US" dirty="0"/>
              <a:t>If bundle code is executed from a web service, it is executed as the user specified by the web service call.</a:t>
            </a:r>
          </a:p>
          <a:p>
            <a:pPr marL="171450" indent="-171450">
              <a:buFont typeface="Arial" pitchFamily="34" charset="0"/>
              <a:buChar char="•"/>
            </a:pPr>
            <a:endParaRPr lang="en-US" dirty="0"/>
          </a:p>
          <a:p>
            <a:r>
              <a:rPr lang="en-US" dirty="0"/>
              <a:t>In other situations, there is no inherent user, such as:</a:t>
            </a:r>
          </a:p>
          <a:p>
            <a:pPr marL="171450" indent="-171450">
              <a:buFont typeface="Arial" pitchFamily="34" charset="0"/>
              <a:buChar char="•"/>
            </a:pPr>
            <a:r>
              <a:rPr lang="en-US" dirty="0"/>
              <a:t>A web service that requires no authentication and where there may be no user specified in the web service call.</a:t>
            </a:r>
          </a:p>
          <a:p>
            <a:pPr marL="171450" indent="-171450">
              <a:buFont typeface="Arial" pitchFamily="34" charset="0"/>
              <a:buChar char="•"/>
            </a:pPr>
            <a:r>
              <a:rPr lang="en-US" dirty="0"/>
              <a:t>A batch process.</a:t>
            </a:r>
          </a:p>
          <a:p>
            <a:endParaRPr lang="en-US" dirty="0"/>
          </a:p>
          <a:p>
            <a:r>
              <a:rPr lang="en-US" dirty="0"/>
              <a:t>In these situations, you must use the second signature above and specify a user to associate the bundle to.</a:t>
            </a:r>
          </a:p>
          <a:p>
            <a:endParaRPr lang="en-US" dirty="0"/>
          </a:p>
          <a:p>
            <a:r>
              <a:rPr lang="en-US" dirty="0"/>
              <a:t>In either case, commits in the bundle are limited to what the associated user has permission to do. If the user lacks the needed permissions, then an InsufficientPermissionException is thrown. For example, if the bundle attempts to commit changes to admin data, but the associated user lacks permission to change admin data, then the commit will fail.</a:t>
            </a:r>
          </a:p>
          <a:p>
            <a:endParaRPr lang="en-US" dirty="0"/>
          </a:p>
          <a:p>
            <a:r>
              <a:rPr lang="en-US" dirty="0"/>
              <a:t>The </a:t>
            </a:r>
            <a:r>
              <a:rPr lang="en-US" dirty="0">
                <a:latin typeface="Courier New" pitchFamily="49" charset="0"/>
                <a:cs typeface="Courier New" pitchFamily="49" charset="0"/>
              </a:rPr>
              <a:t>runWithNewBundle() </a:t>
            </a:r>
            <a:r>
              <a:rPr lang="en-US" dirty="0"/>
              <a:t>method inherently commits the bundle at the end of the method. Do not need to explicitly commit data within the runWithNewBundle() block.</a:t>
            </a:r>
            <a:r>
              <a:rPr lang="en-US" baseline="0" dirty="0"/>
              <a:t> </a:t>
            </a:r>
            <a:r>
              <a:rPr lang="en-US" dirty="0"/>
              <a:t>If an entity exists in a modified form in more than one bundle and both bundles commit, the second one fails with a concurrent data modification exception.</a:t>
            </a:r>
          </a:p>
          <a:p>
            <a:endParaRPr lang="en-US" dirty="0"/>
          </a:p>
        </p:txBody>
      </p:sp>
    </p:spTree>
    <p:extLst>
      <p:ext uri="{BB962C8B-B14F-4D97-AF65-F5344CB8AC3E}">
        <p14:creationId xmlns:p14="http://schemas.microsoft.com/office/powerpoint/2010/main" val="1089595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For</a:t>
            </a:r>
            <a:r>
              <a:rPr lang="en-US" baseline="0" dirty="0"/>
              <a:t> some developers, the </a:t>
            </a:r>
            <a:r>
              <a:rPr lang="en-US" dirty="0"/>
              <a:t>block-based API and the implicit commit can be awkward to use. There</a:t>
            </a:r>
            <a:r>
              <a:rPr lang="en-US" baseline="0" dirty="0"/>
              <a:t> is a simple method to create </a:t>
            </a:r>
            <a:r>
              <a:rPr lang="en-US" dirty="0"/>
              <a:t>a new bundle:</a:t>
            </a:r>
          </a:p>
          <a:p>
            <a:r>
              <a:rPr lang="en-US" b="0" dirty="0">
                <a:latin typeface="Courier New" pitchFamily="49" charset="0"/>
                <a:cs typeface="Courier New" pitchFamily="49" charset="0"/>
              </a:rPr>
              <a:t>var bundle = </a:t>
            </a:r>
            <a:r>
              <a:rPr lang="en-US" b="0" dirty="0" err="1">
                <a:latin typeface="Courier New" pitchFamily="49" charset="0"/>
                <a:cs typeface="Courier New" pitchFamily="49" charset="0"/>
              </a:rPr>
              <a:t>gw.transaction.Transaction.newBundle</a:t>
            </a:r>
            <a:r>
              <a:rPr lang="en-US" b="0" dirty="0">
                <a:latin typeface="Courier New" pitchFamily="49" charset="0"/>
                <a:cs typeface="Courier New" pitchFamily="49" charset="0"/>
              </a:rPr>
              <a:t>()</a:t>
            </a:r>
          </a:p>
          <a:p>
            <a:endParaRPr lang="en-US" dirty="0"/>
          </a:p>
          <a:p>
            <a:r>
              <a:rPr lang="en-US" dirty="0"/>
              <a:t>With this usage, the caller is responsible for committing the bundle (or not), depending on need.  </a:t>
            </a:r>
            <a:r>
              <a:rPr lang="en-US" dirty="0">
                <a:latin typeface="Courier New" pitchFamily="49" charset="0"/>
                <a:cs typeface="Courier New" pitchFamily="49" charset="0"/>
              </a:rPr>
              <a:t>newBundle() </a:t>
            </a:r>
            <a:r>
              <a:rPr lang="en-US" dirty="0"/>
              <a:t>usage does not set up an implicit bundle the way </a:t>
            </a:r>
            <a:r>
              <a:rPr lang="en-US" dirty="0">
                <a:latin typeface="Courier New" pitchFamily="49" charset="0"/>
                <a:cs typeface="Courier New" pitchFamily="49" charset="0"/>
              </a:rPr>
              <a:t>runWithNewBundle() </a:t>
            </a:r>
            <a:r>
              <a:rPr lang="en-US" dirty="0"/>
              <a:t>does. You have to be sure to use the bundle explicitly when creating new entity instances.</a:t>
            </a:r>
          </a:p>
          <a:p>
            <a:endParaRPr lang="en-US" dirty="0"/>
          </a:p>
        </p:txBody>
      </p:sp>
    </p:spTree>
    <p:extLst>
      <p:ext uri="{BB962C8B-B14F-4D97-AF65-F5344CB8AC3E}">
        <p14:creationId xmlns:p14="http://schemas.microsoft.com/office/powerpoint/2010/main" val="1089595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The entity you copy using the add() method can be a read-only</a:t>
            </a:r>
            <a:r>
              <a:rPr lang="en-US" baseline="0" dirty="0"/>
              <a:t> or writable entity.   </a:t>
            </a:r>
            <a:r>
              <a:rPr lang="en-US" dirty="0"/>
              <a:t>The add() method is always used to copy an entity into a writable or new bundle. Because you must explicitly copy entity instances into the bundle, you have control over which instances get copied and,</a:t>
            </a:r>
            <a:r>
              <a:rPr lang="en-US" baseline="0" dirty="0"/>
              <a:t> in turn, </a:t>
            </a:r>
            <a:r>
              <a:rPr lang="en-US" dirty="0"/>
              <a:t>which instances get committed</a:t>
            </a:r>
            <a:r>
              <a:rPr lang="en-US" baseline="0" dirty="0"/>
              <a:t> to the database.</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fontAlgn="base"/>
            <a:r>
              <a:rPr lang="en-US" sz="1200" b="0" i="0" kern="1200" dirty="0">
                <a:solidFill>
                  <a:schemeClr val="tx1"/>
                </a:solidFill>
                <a:effectLst/>
                <a:latin typeface="Arial" pitchFamily="34" charset="0"/>
                <a:ea typeface="+mn-ea"/>
                <a:cs typeface="Arial" pitchFamily="34" charset="0"/>
              </a:rPr>
              <a:t>To add an entity instance to a bundle, pass the object reference to the </a:t>
            </a:r>
            <a:r>
              <a:rPr lang="en-US" sz="1200" b="0" kern="1200" dirty="0" err="1">
                <a:solidFill>
                  <a:schemeClr val="tx1"/>
                </a:solidFill>
                <a:effectLst/>
                <a:latin typeface="Arial" pitchFamily="34" charset="0"/>
                <a:ea typeface="+mn-ea"/>
                <a:cs typeface="Arial" pitchFamily="34" charset="0"/>
              </a:rPr>
              <a:t>bundle.add</a:t>
            </a:r>
            <a:r>
              <a:rPr lang="en-US" sz="1200" b="0" kern="1200" dirty="0">
                <a:solidFill>
                  <a:schemeClr val="tx1"/>
                </a:solidFill>
                <a:effectLst/>
                <a:latin typeface="Arial" pitchFamily="34" charset="0"/>
                <a:ea typeface="+mn-ea"/>
                <a:cs typeface="Arial" pitchFamily="34" charset="0"/>
              </a:rPr>
              <a:t>(</a:t>
            </a:r>
            <a:r>
              <a:rPr lang="en-US" sz="1200" b="0" kern="1200" dirty="0" err="1">
                <a:solidFill>
                  <a:schemeClr val="tx1"/>
                </a:solidFill>
                <a:effectLst/>
                <a:latin typeface="Arial" pitchFamily="34" charset="0"/>
                <a:ea typeface="+mn-ea"/>
                <a:cs typeface="Arial" pitchFamily="34" charset="0"/>
              </a:rPr>
              <a:t>obj</a:t>
            </a:r>
            <a:r>
              <a:rPr lang="en-US" sz="1200" b="0" kern="1200" dirty="0">
                <a:solidFill>
                  <a:schemeClr val="tx1"/>
                </a:solidFill>
                <a:effectLst/>
                <a:latin typeface="Arial" pitchFamily="34" charset="0"/>
                <a:ea typeface="+mn-ea"/>
                <a:cs typeface="Arial" pitchFamily="34" charset="0"/>
              </a:rPr>
              <a:t>) </a:t>
            </a:r>
            <a:r>
              <a:rPr lang="en-US" sz="1200" b="0" i="0" kern="1200" dirty="0">
                <a:solidFill>
                  <a:schemeClr val="tx1"/>
                </a:solidFill>
                <a:effectLst/>
                <a:latin typeface="Arial" pitchFamily="34" charset="0"/>
                <a:ea typeface="+mn-ea"/>
                <a:cs typeface="Arial" pitchFamily="34" charset="0"/>
              </a:rPr>
              <a:t>method and save the return result. It is extremely important to save the return value of this method. The return result of the add method is a copy of the object that exists inside the new bundle. Only use that return result, not what you passed to the add method. Never modify the original entity reference,</a:t>
            </a:r>
            <a:r>
              <a:rPr lang="en-US" sz="1200" b="0" i="0" kern="1200" baseline="0" dirty="0">
                <a:solidFill>
                  <a:schemeClr val="tx1"/>
                </a:solidFill>
                <a:effectLst/>
                <a:latin typeface="Arial" pitchFamily="34" charset="0"/>
                <a:ea typeface="+mn-ea"/>
                <a:cs typeface="Arial" pitchFamily="34" charset="0"/>
              </a:rPr>
              <a:t> meaning add it to bundle so as to make copy. </a:t>
            </a:r>
            <a:r>
              <a:rPr lang="en-US" sz="1200" b="0" i="0" kern="1200" dirty="0">
                <a:solidFill>
                  <a:schemeClr val="tx1"/>
                </a:solidFill>
                <a:effectLst/>
                <a:latin typeface="Arial" pitchFamily="34" charset="0"/>
                <a:ea typeface="+mn-ea"/>
                <a:cs typeface="Arial" pitchFamily="34" charset="0"/>
              </a:rPr>
              <a:t>Avoid keeping any references to the original entity instance.</a:t>
            </a:r>
          </a:p>
          <a:p>
            <a:pPr fontAlgn="base"/>
            <a:endParaRPr lang="en-US" sz="1200" b="0" i="0" kern="1200" dirty="0">
              <a:solidFill>
                <a:schemeClr val="tx1"/>
              </a:solidFill>
              <a:effectLst/>
              <a:latin typeface="Arial" pitchFamily="34" charset="0"/>
              <a:ea typeface="+mn-ea"/>
              <a:cs typeface="Arial" pitchFamily="34" charset="0"/>
            </a:endParaRPr>
          </a:p>
          <a:p>
            <a:pPr fontAlgn="base"/>
            <a:r>
              <a:rPr lang="en-US" sz="1200" b="0" i="0" kern="1200" dirty="0">
                <a:solidFill>
                  <a:schemeClr val="tx1"/>
                </a:solidFill>
                <a:effectLst/>
                <a:latin typeface="Arial" pitchFamily="34" charset="0"/>
                <a:ea typeface="+mn-ea"/>
                <a:cs typeface="Arial" pitchFamily="34" charset="0"/>
              </a:rPr>
              <a:t>The recommended pattern is to set a variable with the original entity reference then set its value with the result of the add method. For example:</a:t>
            </a:r>
            <a:r>
              <a:rPr lang="en-US" sz="1200" b="0" i="0" kern="1200" baseline="0" dirty="0">
                <a:solidFill>
                  <a:schemeClr val="tx1"/>
                </a:solidFill>
                <a:effectLst/>
                <a:latin typeface="Arial" pitchFamily="34" charset="0"/>
                <a:ea typeface="+mn-ea"/>
                <a:cs typeface="Arial" pitchFamily="34" charset="0"/>
              </a:rPr>
              <a:t> </a:t>
            </a:r>
            <a:r>
              <a:rPr lang="en-US" dirty="0" err="1"/>
              <a:t>obj</a:t>
            </a:r>
            <a:r>
              <a:rPr lang="en-US" dirty="0"/>
              <a:t> = </a:t>
            </a:r>
            <a:r>
              <a:rPr lang="en-US" dirty="0" err="1"/>
              <a:t>bundle.add</a:t>
            </a:r>
            <a:r>
              <a:rPr lang="en-US" dirty="0"/>
              <a:t>(</a:t>
            </a:r>
            <a:r>
              <a:rPr lang="en-US" dirty="0" err="1"/>
              <a:t>obj</a:t>
            </a:r>
            <a:r>
              <a:rPr lang="en-US" dirty="0"/>
              <a:t>).</a:t>
            </a:r>
          </a:p>
          <a:p>
            <a:endParaRPr lang="en-US" dirty="0"/>
          </a:p>
        </p:txBody>
      </p:sp>
    </p:spTree>
    <p:extLst>
      <p:ext uri="{BB962C8B-B14F-4D97-AF65-F5344CB8AC3E}">
        <p14:creationId xmlns:p14="http://schemas.microsoft.com/office/powerpoint/2010/main" val="42313101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You can copy an entity from one bundle to another only if the entity has not yet been modified. In other words, if you need to change and commit some but not all of the entities in a bundle, copy the relevant entities to a new bundle before you make any changes to them. If you need to create and commit new entities, always create them in the bundle from which they will be committed.</a:t>
            </a:r>
          </a:p>
          <a:p>
            <a:endParaRPr lang="en-US" dirty="0"/>
          </a:p>
          <a:p>
            <a:r>
              <a:rPr lang="en-US" dirty="0"/>
              <a:t>You cannot move an entity from one bundle to another. Move implies the entity is deleted from the original bundle, and you cannot delete an entity from a bundle.</a:t>
            </a:r>
          </a:p>
          <a:p>
            <a:endParaRPr lang="en-US" dirty="0"/>
          </a:p>
          <a:p>
            <a:r>
              <a:rPr lang="en-US" dirty="0"/>
              <a:t>You cannot copy an entity from one bundle to another if the entity has been marked as changed. This means:</a:t>
            </a:r>
          </a:p>
          <a:p>
            <a:pPr marL="171450" indent="-171450">
              <a:buFont typeface="Arial" pitchFamily="34" charset="0"/>
              <a:buChar char="•"/>
            </a:pPr>
            <a:r>
              <a:rPr lang="en-US" dirty="0"/>
              <a:t>Modified entities cannot be copied to a new bundle.</a:t>
            </a:r>
          </a:p>
          <a:p>
            <a:pPr marL="171450" indent="-171450">
              <a:buFont typeface="Arial" pitchFamily="34" charset="0"/>
              <a:buChar char="•"/>
            </a:pPr>
            <a:r>
              <a:rPr lang="en-US" dirty="0"/>
              <a:t>New entities which are inherently marked as changed upon creation cannot be copied to a new bundle.</a:t>
            </a:r>
          </a:p>
          <a:p>
            <a:endParaRPr lang="en-US" dirty="0"/>
          </a:p>
          <a:p>
            <a:endParaRPr lang="en-US" dirty="0"/>
          </a:p>
        </p:txBody>
      </p:sp>
    </p:spTree>
    <p:extLst>
      <p:ext uri="{BB962C8B-B14F-4D97-AF65-F5344CB8AC3E}">
        <p14:creationId xmlns:p14="http://schemas.microsoft.com/office/powerpoint/2010/main" val="971998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You can add an entity from the database to a bundle by:</a:t>
            </a:r>
            <a:r>
              <a:rPr lang="en-US" baseline="0" dirty="0"/>
              <a:t> </a:t>
            </a:r>
            <a:r>
              <a:rPr lang="en-US" dirty="0"/>
              <a:t>Query for a read-only bundle and copy it to a new bundle, retrieve it using </a:t>
            </a:r>
            <a:r>
              <a:rPr lang="en-US" dirty="0" err="1"/>
              <a:t>l</a:t>
            </a:r>
            <a:r>
              <a:rPr lang="en-US" dirty="0" err="1">
                <a:latin typeface="Courier New" pitchFamily="49" charset="0"/>
                <a:cs typeface="Courier New" pitchFamily="49" charset="0"/>
              </a:rPr>
              <a:t>oadBean</a:t>
            </a:r>
            <a:r>
              <a:rPr lang="en-US" dirty="0">
                <a:latin typeface="Courier New" pitchFamily="49" charset="0"/>
                <a:cs typeface="Courier New" pitchFamily="49" charset="0"/>
              </a:rPr>
              <a:t>() </a:t>
            </a:r>
            <a:r>
              <a:rPr lang="en-US" dirty="0"/>
              <a:t>and copy it to a new bundle, or reference it from an existing entity's foreign key</a:t>
            </a:r>
            <a:r>
              <a:rPr lang="en-US" baseline="0" dirty="0"/>
              <a:t> and add it to a new bundle.</a:t>
            </a:r>
          </a:p>
          <a:p>
            <a:endParaRPr lang="en-US" baseline="0" dirty="0"/>
          </a:p>
          <a:p>
            <a:endParaRPr lang="en-US" dirty="0"/>
          </a:p>
          <a:p>
            <a:endParaRPr lang="en-US" dirty="0"/>
          </a:p>
          <a:p>
            <a:endParaRPr lang="en-US" dirty="0"/>
          </a:p>
        </p:txBody>
      </p:sp>
    </p:spTree>
    <p:extLst>
      <p:ext uri="{BB962C8B-B14F-4D97-AF65-F5344CB8AC3E}">
        <p14:creationId xmlns:p14="http://schemas.microsoft.com/office/powerpoint/2010/main" val="29444976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sz="1200" b="0" i="0" kern="1200" dirty="0">
                <a:solidFill>
                  <a:schemeClr val="tx1"/>
                </a:solidFill>
                <a:effectLst/>
                <a:latin typeface="Arial" pitchFamily="34" charset="0"/>
                <a:ea typeface="+mn-ea"/>
                <a:cs typeface="Arial" pitchFamily="34" charset="0"/>
              </a:rPr>
              <a:t>The Bundle class methods </a:t>
            </a:r>
            <a:r>
              <a:rPr lang="en-US" sz="1200" b="0" i="0" kern="1200" dirty="0" err="1">
                <a:solidFill>
                  <a:schemeClr val="tx1"/>
                </a:solidFill>
                <a:effectLst/>
                <a:latin typeface="Arial" pitchFamily="34" charset="0"/>
                <a:ea typeface="+mn-ea"/>
                <a:cs typeface="Arial" pitchFamily="34" charset="0"/>
              </a:rPr>
              <a:t>loadbyKey</a:t>
            </a:r>
            <a:r>
              <a:rPr lang="en-US" sz="1200" b="0" i="0" kern="1200" dirty="0">
                <a:solidFill>
                  <a:schemeClr val="tx1"/>
                </a:solidFill>
                <a:effectLst/>
                <a:latin typeface="Arial" pitchFamily="34" charset="0"/>
                <a:ea typeface="+mn-ea"/>
                <a:cs typeface="Arial" pitchFamily="34" charset="0"/>
              </a:rPr>
              <a:t>() and </a:t>
            </a:r>
            <a:r>
              <a:rPr lang="en-US" sz="1200" b="0" i="0" kern="1200" dirty="0" err="1">
                <a:solidFill>
                  <a:schemeClr val="tx1"/>
                </a:solidFill>
                <a:effectLst/>
                <a:latin typeface="Arial" pitchFamily="34" charset="0"/>
                <a:ea typeface="+mn-ea"/>
                <a:cs typeface="Arial" pitchFamily="34" charset="0"/>
              </a:rPr>
              <a:t>loadByPublicID</a:t>
            </a:r>
            <a:r>
              <a:rPr lang="en-US" sz="1200" b="0" i="0" kern="1200" dirty="0">
                <a:solidFill>
                  <a:schemeClr val="tx1"/>
                </a:solidFill>
                <a:effectLst/>
                <a:latin typeface="Arial" pitchFamily="34" charset="0"/>
                <a:ea typeface="+mn-ea"/>
                <a:cs typeface="Arial" pitchFamily="34" charset="0"/>
              </a:rPr>
              <a:t>() are deprecated in Emerald.  Instead of using </a:t>
            </a:r>
            <a:r>
              <a:rPr lang="en-US" sz="1200" b="0" i="0" kern="1200" dirty="0" err="1">
                <a:solidFill>
                  <a:schemeClr val="tx1"/>
                </a:solidFill>
                <a:effectLst/>
                <a:latin typeface="Arial" pitchFamily="34" charset="0"/>
                <a:ea typeface="+mn-ea"/>
                <a:cs typeface="Arial" pitchFamily="34" charset="0"/>
              </a:rPr>
              <a:t>loadbyPublicID</a:t>
            </a:r>
            <a:r>
              <a:rPr lang="en-US" sz="1200" b="0" i="0" kern="1200" dirty="0">
                <a:solidFill>
                  <a:schemeClr val="tx1"/>
                </a:solidFill>
                <a:effectLst/>
                <a:latin typeface="Arial" pitchFamily="34" charset="0"/>
                <a:ea typeface="+mn-ea"/>
                <a:cs typeface="Arial" pitchFamily="34" charset="0"/>
              </a:rPr>
              <a:t>() , use the query builder APIs. </a:t>
            </a:r>
          </a:p>
          <a:p>
            <a:endParaRPr lang="en-US" dirty="0"/>
          </a:p>
          <a:p>
            <a:r>
              <a:rPr lang="en-US" dirty="0"/>
              <a:t>The results of an entity query are read-only.  In order to modify the entity, the entity must be added to a bundle.</a:t>
            </a:r>
          </a:p>
          <a:p>
            <a:endParaRPr lang="en-US" dirty="0"/>
          </a:p>
          <a:p>
            <a:r>
              <a:rPr lang="en-US" dirty="0"/>
              <a:t>It is possible to assign the return value to a new variable whose name differs from the originally variable. For example:</a:t>
            </a:r>
          </a:p>
          <a:p>
            <a:r>
              <a:rPr lang="en-US" dirty="0">
                <a:latin typeface="Courier New" pitchFamily="49" charset="0"/>
                <a:cs typeface="Courier New" pitchFamily="49" charset="0"/>
              </a:rPr>
              <a:t>var </a:t>
            </a:r>
            <a:r>
              <a:rPr lang="en-US" dirty="0" err="1">
                <a:latin typeface="Courier New" pitchFamily="49" charset="0"/>
                <a:cs typeface="Courier New" pitchFamily="49" charset="0"/>
              </a:rPr>
              <a:t>myCompany</a:t>
            </a:r>
            <a:r>
              <a:rPr lang="en-US" dirty="0">
                <a:latin typeface="Courier New" pitchFamily="49" charset="0"/>
                <a:cs typeface="Courier New" pitchFamily="49" charset="0"/>
              </a:rPr>
              <a:t> = </a:t>
            </a:r>
            <a:r>
              <a:rPr lang="en-US" dirty="0" err="1">
                <a:latin typeface="Courier New" pitchFamily="49" charset="0"/>
                <a:cs typeface="Courier New" pitchFamily="49" charset="0"/>
              </a:rPr>
              <a:t>currentBundle.add</a:t>
            </a:r>
            <a:r>
              <a:rPr lang="en-US" dirty="0">
                <a:latin typeface="Courier New" pitchFamily="49" charset="0"/>
                <a:cs typeface="Courier New" pitchFamily="49" charset="0"/>
              </a:rPr>
              <a:t>(company)</a:t>
            </a:r>
          </a:p>
          <a:p>
            <a:endParaRPr lang="en-US" dirty="0"/>
          </a:p>
          <a:p>
            <a:r>
              <a:rPr lang="en-US" dirty="0"/>
              <a:t>The general practice, however, is to reassign the value of the existing variable.  In other words, the standard convention is to assign the return value of the </a:t>
            </a:r>
            <a:r>
              <a:rPr lang="en-US" dirty="0" err="1"/>
              <a:t>bundle.add</a:t>
            </a:r>
            <a:r>
              <a:rPr lang="en-US" dirty="0"/>
              <a:t>() method to the existing variable that originally referenced the read-only entity. For example:</a:t>
            </a:r>
          </a:p>
          <a:p>
            <a:r>
              <a:rPr lang="en-US" dirty="0">
                <a:latin typeface="Courier New" pitchFamily="49" charset="0"/>
                <a:cs typeface="Courier New" pitchFamily="49" charset="0"/>
              </a:rPr>
              <a:t>company = </a:t>
            </a:r>
            <a:r>
              <a:rPr lang="en-US" dirty="0" err="1">
                <a:latin typeface="Courier New" pitchFamily="49" charset="0"/>
                <a:cs typeface="Courier New" pitchFamily="49" charset="0"/>
              </a:rPr>
              <a:t>currentBundle.add</a:t>
            </a:r>
            <a:r>
              <a:rPr lang="en-US" dirty="0">
                <a:latin typeface="Courier New" pitchFamily="49" charset="0"/>
                <a:cs typeface="Courier New" pitchFamily="49" charset="0"/>
              </a:rPr>
              <a:t>(company)</a:t>
            </a:r>
          </a:p>
          <a:p>
            <a:endParaRPr lang="en-US" dirty="0"/>
          </a:p>
          <a:p>
            <a:endParaRPr lang="en-US" dirty="0"/>
          </a:p>
        </p:txBody>
      </p:sp>
    </p:spTree>
    <p:extLst>
      <p:ext uri="{BB962C8B-B14F-4D97-AF65-F5344CB8AC3E}">
        <p14:creationId xmlns:p14="http://schemas.microsoft.com/office/powerpoint/2010/main" val="23184813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You can review the entire method in the BundleExamples.gs class.  The example</a:t>
            </a:r>
            <a:r>
              <a:rPr lang="en-US" baseline="0" dirty="0"/>
              <a:t> includes a reference to the fully qualified names of gw.api.database.Query,  gw.api.database.Relop, and gw.transaction.Transaction.</a:t>
            </a:r>
          </a:p>
          <a:p>
            <a:endParaRPr lang="en-US" dirty="0"/>
          </a:p>
          <a:p>
            <a:r>
              <a:rPr lang="en-US" dirty="0"/>
              <a:t>Line</a:t>
            </a:r>
            <a:r>
              <a:rPr lang="en-US" baseline="0" dirty="0"/>
              <a:t> 49: </a:t>
            </a:r>
            <a:r>
              <a:rPr lang="en-US" dirty="0"/>
              <a:t>Creates a new bundle called newBundle.</a:t>
            </a:r>
          </a:p>
          <a:p>
            <a:endParaRPr lang="en-US" dirty="0"/>
          </a:p>
          <a:p>
            <a:r>
              <a:rPr lang="en-US" dirty="0"/>
              <a:t>Lines 50-51: Selects</a:t>
            </a:r>
            <a:r>
              <a:rPr lang="en-US" baseline="0" dirty="0"/>
              <a:t> the query object. This entity instance is in a read-only bundle.</a:t>
            </a:r>
          </a:p>
          <a:p>
            <a:endParaRPr lang="en-US" baseline="0" dirty="0"/>
          </a:p>
          <a:p>
            <a:r>
              <a:rPr lang="en-US" baseline="0" dirty="0"/>
              <a:t>Line 59: Adds the read-only bundle entity to the new bundle,</a:t>
            </a:r>
            <a:r>
              <a:rPr lang="en-US" dirty="0"/>
              <a:t> allowing t</a:t>
            </a:r>
            <a:r>
              <a:rPr lang="en-US" baseline="0" dirty="0"/>
              <a:t>he object to be edited with scope of the transaction.</a:t>
            </a:r>
          </a:p>
          <a:p>
            <a:endParaRPr lang="en-US" dirty="0"/>
          </a:p>
          <a:p>
            <a:r>
              <a:rPr lang="en-US" dirty="0"/>
              <a:t>Line 72: Ends</a:t>
            </a:r>
            <a:r>
              <a:rPr lang="en-US" baseline="0" dirty="0"/>
              <a:t> the transaction block and in doing so, c</a:t>
            </a:r>
            <a:r>
              <a:rPr lang="en-US" dirty="0"/>
              <a:t>ommits the bundle.  The specified</a:t>
            </a:r>
            <a:r>
              <a:rPr lang="en-US" baseline="0" dirty="0"/>
              <a:t> user supplies the user context.</a:t>
            </a:r>
            <a:endParaRPr lang="en-US" dirty="0"/>
          </a:p>
        </p:txBody>
      </p:sp>
    </p:spTree>
    <p:extLst>
      <p:ext uri="{BB962C8B-B14F-4D97-AF65-F5344CB8AC3E}">
        <p14:creationId xmlns:p14="http://schemas.microsoft.com/office/powerpoint/2010/main" val="26465898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sz="1200" b="0" i="0" kern="1200" dirty="0">
                <a:solidFill>
                  <a:schemeClr val="tx1"/>
                </a:solidFill>
                <a:effectLst/>
                <a:latin typeface="Arial" pitchFamily="34" charset="0"/>
                <a:ea typeface="+mn-ea"/>
                <a:cs typeface="Arial" pitchFamily="34" charset="0"/>
              </a:rPr>
              <a:t>The Bundle class methods </a:t>
            </a:r>
            <a:r>
              <a:rPr lang="en-US" sz="1200" b="0" i="0" kern="1200" dirty="0" err="1">
                <a:solidFill>
                  <a:schemeClr val="tx1"/>
                </a:solidFill>
                <a:effectLst/>
                <a:latin typeface="Arial" pitchFamily="34" charset="0"/>
                <a:ea typeface="+mn-ea"/>
                <a:cs typeface="Arial" pitchFamily="34" charset="0"/>
              </a:rPr>
              <a:t>loadbyKey</a:t>
            </a:r>
            <a:r>
              <a:rPr lang="en-US" sz="1200" b="0" i="0" kern="1200" dirty="0">
                <a:solidFill>
                  <a:schemeClr val="tx1"/>
                </a:solidFill>
                <a:effectLst/>
                <a:latin typeface="Arial" pitchFamily="34" charset="0"/>
                <a:ea typeface="+mn-ea"/>
                <a:cs typeface="Arial" pitchFamily="34" charset="0"/>
              </a:rPr>
              <a:t>() and </a:t>
            </a:r>
            <a:r>
              <a:rPr lang="en-US" sz="1200" b="0" i="0" kern="1200" dirty="0" err="1">
                <a:solidFill>
                  <a:schemeClr val="tx1"/>
                </a:solidFill>
                <a:effectLst/>
                <a:latin typeface="Arial" pitchFamily="34" charset="0"/>
                <a:ea typeface="+mn-ea"/>
                <a:cs typeface="Arial" pitchFamily="34" charset="0"/>
              </a:rPr>
              <a:t>loadByPublicID</a:t>
            </a:r>
            <a:r>
              <a:rPr lang="en-US" sz="1200" b="0" i="0" kern="1200" dirty="0">
                <a:solidFill>
                  <a:schemeClr val="tx1"/>
                </a:solidFill>
                <a:effectLst/>
                <a:latin typeface="Arial" pitchFamily="34" charset="0"/>
                <a:ea typeface="+mn-ea"/>
                <a:cs typeface="Arial" pitchFamily="34" charset="0"/>
              </a:rPr>
              <a:t>() are deprecated in Emerald. Instead of using </a:t>
            </a:r>
            <a:r>
              <a:rPr lang="en-US" sz="1200" b="0" i="0" kern="1200" dirty="0" err="1">
                <a:solidFill>
                  <a:schemeClr val="tx1"/>
                </a:solidFill>
                <a:effectLst/>
                <a:latin typeface="Arial" pitchFamily="34" charset="0"/>
                <a:ea typeface="+mn-ea"/>
                <a:cs typeface="Arial" pitchFamily="34" charset="0"/>
              </a:rPr>
              <a:t>loadbyKey</a:t>
            </a:r>
            <a:r>
              <a:rPr lang="en-US" sz="1200" b="0" i="0" kern="1200" dirty="0">
                <a:solidFill>
                  <a:schemeClr val="tx1"/>
                </a:solidFill>
                <a:effectLst/>
                <a:latin typeface="Arial" pitchFamily="34" charset="0"/>
                <a:ea typeface="+mn-ea"/>
                <a:cs typeface="Arial" pitchFamily="34" charset="0"/>
              </a:rPr>
              <a:t>(), use the new method </a:t>
            </a:r>
            <a:r>
              <a:rPr lang="en-US" sz="1200" b="0" i="0" kern="1200" dirty="0" err="1">
                <a:solidFill>
                  <a:schemeClr val="tx1"/>
                </a:solidFill>
                <a:effectLst/>
                <a:latin typeface="Courier New" pitchFamily="49" charset="0"/>
                <a:cs typeface="Courier New" pitchFamily="49" charset="0"/>
              </a:rPr>
              <a:t>loadBean</a:t>
            </a:r>
            <a:r>
              <a:rPr lang="en-US" sz="1200" b="0" i="0" kern="1200" dirty="0">
                <a:solidFill>
                  <a:schemeClr val="tx1"/>
                </a:solidFill>
                <a:effectLst/>
                <a:latin typeface="Courier New" pitchFamily="49" charset="0"/>
                <a:cs typeface="Courier New" pitchFamily="49" charset="0"/>
              </a:rPr>
              <a:t>()</a:t>
            </a:r>
            <a:r>
              <a:rPr lang="en-US" sz="1200" b="0" i="0" kern="1200" dirty="0">
                <a:solidFill>
                  <a:schemeClr val="tx1"/>
                </a:solidFill>
                <a:effectLst/>
                <a:latin typeface="Arial" pitchFamily="34" charset="0"/>
                <a:ea typeface="+mn-ea"/>
                <a:cs typeface="Arial" pitchFamily="34" charset="0"/>
              </a:rPr>
              <a:t>, which takes a </a:t>
            </a:r>
            <a:r>
              <a:rPr lang="en-US" sz="1200" b="0" i="0" kern="1200" dirty="0" err="1">
                <a:solidFill>
                  <a:schemeClr val="tx1"/>
                </a:solidFill>
                <a:effectLst/>
                <a:latin typeface="Arial" pitchFamily="34" charset="0"/>
                <a:ea typeface="+mn-ea"/>
                <a:cs typeface="Arial" pitchFamily="34" charset="0"/>
              </a:rPr>
              <a:t>gw.pl.persistence.core.Key</a:t>
            </a:r>
            <a:r>
              <a:rPr lang="en-US" sz="1200" b="0" i="0" kern="1200" dirty="0">
                <a:solidFill>
                  <a:schemeClr val="tx1"/>
                </a:solidFill>
                <a:effectLst/>
                <a:latin typeface="Arial" pitchFamily="34" charset="0"/>
                <a:ea typeface="+mn-ea"/>
                <a:cs typeface="Arial" pitchFamily="34" charset="0"/>
              </a:rPr>
              <a:t> object. </a:t>
            </a:r>
          </a:p>
          <a:p>
            <a:endParaRPr lang="en-US" sz="1200" b="0" i="0" kern="1200" dirty="0">
              <a:solidFill>
                <a:schemeClr val="tx1"/>
              </a:solidFill>
              <a:effectLst/>
              <a:latin typeface="Arial" pitchFamily="34" charset="0"/>
              <a:ea typeface="+mn-ea"/>
              <a:cs typeface="Arial" pitchFamily="34" charset="0"/>
            </a:endParaRPr>
          </a:p>
          <a:p>
            <a:r>
              <a:rPr lang="en-US" dirty="0"/>
              <a:t>A key represents the entity instance’s internal Id property, which is unique for that entity type. Generally speaking, customer code does not manipulate objects by the key. The Id property is the underlying primary key for that object and the contents of a typical foreign key reference. In the underlying database row, this column is just a number. In Gosu, the key object contains both the entity type and the ID value.</a:t>
            </a:r>
          </a:p>
          <a:p>
            <a:endParaRPr lang="en-US" sz="1200" b="0" i="0" kern="1200" dirty="0">
              <a:solidFill>
                <a:schemeClr val="tx1"/>
              </a:solidFill>
              <a:effectLst/>
              <a:latin typeface="Arial" pitchFamily="34" charset="0"/>
              <a:ea typeface="+mn-ea"/>
              <a:cs typeface="Arial" pitchFamily="34" charset="0"/>
            </a:endParaRPr>
          </a:p>
          <a:p>
            <a:r>
              <a:rPr lang="en-US" sz="1200" b="0" i="0" kern="1200" dirty="0">
                <a:solidFill>
                  <a:schemeClr val="tx1"/>
                </a:solidFill>
                <a:effectLst/>
                <a:latin typeface="Arial" pitchFamily="34" charset="0"/>
                <a:ea typeface="+mn-ea"/>
                <a:cs typeface="Arial" pitchFamily="34" charset="0"/>
              </a:rPr>
              <a:t>Create a Key object with a constructor that takes the entity type and the numeric ID. For example:</a:t>
            </a:r>
          </a:p>
          <a:p>
            <a:r>
              <a:rPr lang="en-US" dirty="0">
                <a:latin typeface="Courier New" pitchFamily="49" charset="0"/>
                <a:cs typeface="Courier New" pitchFamily="49" charset="0"/>
              </a:rPr>
              <a:t>var anABContact</a:t>
            </a:r>
            <a:r>
              <a:rPr lang="en-US" baseline="0" dirty="0">
                <a:latin typeface="Courier New" pitchFamily="49" charset="0"/>
                <a:cs typeface="Courier New" pitchFamily="49" charset="0"/>
              </a:rPr>
              <a:t> = </a:t>
            </a:r>
            <a:r>
              <a:rPr lang="en-US" dirty="0" err="1">
                <a:latin typeface="Courier New" pitchFamily="49" charset="0"/>
                <a:cs typeface="Courier New" pitchFamily="49" charset="0"/>
              </a:rPr>
              <a:t>gw.transaction.Transaction.getCurrent</a:t>
            </a:r>
            <a:r>
              <a:rPr lang="en-US" dirty="0">
                <a:latin typeface="Courier New" pitchFamily="49" charset="0"/>
                <a:cs typeface="Courier New" pitchFamily="49" charset="0"/>
              </a:rPr>
              <a:t>().</a:t>
            </a:r>
            <a:br>
              <a:rPr lang="en-US" dirty="0">
                <a:latin typeface="Courier New" pitchFamily="49" charset="0"/>
                <a:cs typeface="Courier New" pitchFamily="49" charset="0"/>
              </a:rPr>
            </a:br>
            <a:r>
              <a:rPr lang="en-US" dirty="0">
                <a:latin typeface="Courier New" pitchFamily="49" charset="0"/>
                <a:cs typeface="Courier New" pitchFamily="49" charset="0"/>
              </a:rPr>
              <a:t>                  </a:t>
            </a:r>
            <a:r>
              <a:rPr lang="en-US" dirty="0" err="1">
                <a:latin typeface="Courier New" pitchFamily="49" charset="0"/>
                <a:cs typeface="Courier New" pitchFamily="49" charset="0"/>
              </a:rPr>
              <a:t>loadBean</a:t>
            </a:r>
            <a:r>
              <a:rPr lang="en-US" dirty="0">
                <a:latin typeface="Courier New" pitchFamily="49" charset="0"/>
                <a:cs typeface="Courier New" pitchFamily="49" charset="0"/>
              </a:rPr>
              <a:t>(new Key(ABContact, 123))</a:t>
            </a:r>
          </a:p>
          <a:p>
            <a:endParaRPr lang="en-US" dirty="0"/>
          </a:p>
          <a:p>
            <a:r>
              <a:rPr lang="en-US" dirty="0"/>
              <a:t>The current</a:t>
            </a:r>
            <a:r>
              <a:rPr lang="en-US" baseline="0" dirty="0"/>
              <a:t> bundle may be read-only or writable. </a:t>
            </a:r>
            <a:r>
              <a:rPr lang="en-US" dirty="0"/>
              <a:t>It is possible to determine if an entity is in a read-only bundle with </a:t>
            </a:r>
            <a:r>
              <a:rPr lang="en-US" dirty="0" err="1"/>
              <a:t>entity.Bundle.ReadOnly</a:t>
            </a:r>
            <a:r>
              <a:rPr lang="en-US" dirty="0"/>
              <a:t>.  The </a:t>
            </a:r>
            <a:r>
              <a:rPr lang="en-US" dirty="0" err="1"/>
              <a:t>ReadOnly</a:t>
            </a:r>
            <a:r>
              <a:rPr lang="en-US" dirty="0"/>
              <a:t> boolean property shows whether modifications can be made to beans in the bundle.</a:t>
            </a:r>
          </a:p>
          <a:p>
            <a:endParaRPr lang="en-US" baseline="0" dirty="0"/>
          </a:p>
          <a:p>
            <a:r>
              <a:rPr lang="en-US" baseline="0" dirty="0"/>
              <a:t>To avoid persistence issues, you</a:t>
            </a:r>
            <a:r>
              <a:rPr lang="en-US" dirty="0"/>
              <a:t> can create a new bundle and add the </a:t>
            </a:r>
            <a:r>
              <a:rPr lang="en-US" dirty="0" err="1"/>
              <a:t>loadBean</a:t>
            </a:r>
            <a:r>
              <a:rPr lang="en-US" dirty="0"/>
              <a:t>() entity to the new bundle. The general practice, however, is to reassign the value of the existing variable.  </a:t>
            </a:r>
          </a:p>
          <a:p>
            <a:endParaRPr lang="en-US" dirty="0"/>
          </a:p>
        </p:txBody>
      </p:sp>
    </p:spTree>
    <p:extLst>
      <p:ext uri="{BB962C8B-B14F-4D97-AF65-F5344CB8AC3E}">
        <p14:creationId xmlns:p14="http://schemas.microsoft.com/office/powerpoint/2010/main" val="23184813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You can review the entire method in the BundleExamples.gs class.  </a:t>
            </a:r>
          </a:p>
          <a:p>
            <a:r>
              <a:rPr lang="en-US" baseline="0" dirty="0"/>
              <a:t>The</a:t>
            </a:r>
            <a:r>
              <a:rPr lang="en-US" dirty="0"/>
              <a:t> </a:t>
            </a:r>
            <a:r>
              <a:rPr lang="en-US" baseline="0" dirty="0" err="1">
                <a:latin typeface="Courier New" pitchFamily="49" charset="0"/>
                <a:cs typeface="Courier New" pitchFamily="49" charset="0"/>
              </a:rPr>
              <a:t>loadBean</a:t>
            </a:r>
            <a:r>
              <a:rPr lang="en-US" baseline="0" dirty="0">
                <a:latin typeface="Courier New" pitchFamily="49" charset="0"/>
                <a:cs typeface="Courier New" pitchFamily="49" charset="0"/>
              </a:rPr>
              <a:t>()</a:t>
            </a:r>
            <a:r>
              <a:rPr lang="en-US" baseline="0" dirty="0"/>
              <a:t> method requires a key object of the type </a:t>
            </a:r>
            <a:r>
              <a:rPr lang="en-US" sz="1200" b="0" i="0" kern="1200" dirty="0">
                <a:solidFill>
                  <a:schemeClr val="tx1"/>
                </a:solidFill>
                <a:effectLst/>
                <a:latin typeface="Arial" pitchFamily="34" charset="0"/>
                <a:ea typeface="+mn-ea"/>
                <a:cs typeface="Arial" pitchFamily="34" charset="0"/>
              </a:rPr>
              <a:t> </a:t>
            </a:r>
            <a:r>
              <a:rPr lang="en-US" sz="1200" b="0" i="0" kern="1200" dirty="0" err="1">
                <a:solidFill>
                  <a:schemeClr val="tx1"/>
                </a:solidFill>
                <a:effectLst/>
                <a:latin typeface="Arial" pitchFamily="34" charset="0"/>
                <a:ea typeface="+mn-ea"/>
                <a:cs typeface="Arial" pitchFamily="34" charset="0"/>
              </a:rPr>
              <a:t>gw.pl.persistence.core.Key</a:t>
            </a:r>
            <a:r>
              <a:rPr lang="en-US" sz="1200" b="0" i="0" kern="1200" dirty="0">
                <a:solidFill>
                  <a:schemeClr val="tx1"/>
                </a:solidFill>
                <a:effectLst/>
                <a:latin typeface="Arial" pitchFamily="34" charset="0"/>
                <a:ea typeface="+mn-ea"/>
                <a:cs typeface="Arial" pitchFamily="34" charset="0"/>
              </a:rPr>
              <a:t> .</a:t>
            </a:r>
            <a:r>
              <a:rPr lang="en-US" baseline="0" dirty="0"/>
              <a:t> A key represents the entity instance's internal Id property which is unique for that entity type. The Id property is the underlying primary key for that object and the contents of a typical foreign key reference. In the underlying database row, this column is just a number. In Gosu, the key object contains both the entity type and the ID value.</a:t>
            </a:r>
          </a:p>
          <a:p>
            <a:endParaRPr lang="en-US" baseline="0" dirty="0"/>
          </a:p>
          <a:p>
            <a:r>
              <a:rPr lang="en-US" baseline="0" dirty="0"/>
              <a:t>In the slide example, the </a:t>
            </a:r>
            <a:r>
              <a:rPr lang="en-US" baseline="0" dirty="0" err="1"/>
              <a:t>currentBundle</a:t>
            </a:r>
            <a:r>
              <a:rPr lang="en-US" baseline="0" dirty="0"/>
              <a:t> may be a writable bundle. If this is the case, then the targetCompany would also be writable.  However, other processes may change the </a:t>
            </a:r>
            <a:r>
              <a:rPr lang="en-US" baseline="0" dirty="0" err="1"/>
              <a:t>currentBundle</a:t>
            </a:r>
            <a:r>
              <a:rPr lang="en-US" baseline="0" dirty="0"/>
              <a:t> from writable to readable. To avoid this concern, create a new writable bundle and copy the entity instance that you want to modify or delete into the new bundle.  You can only copy the entity if it has not yet been modified.</a:t>
            </a:r>
          </a:p>
        </p:txBody>
      </p:sp>
    </p:spTree>
    <p:extLst>
      <p:ext uri="{BB962C8B-B14F-4D97-AF65-F5344CB8AC3E}">
        <p14:creationId xmlns:p14="http://schemas.microsoft.com/office/powerpoint/2010/main" val="26465898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The current bundle may be read-only or writable. It is possible to determine if an entity is in a read-only bundle with </a:t>
            </a:r>
            <a:r>
              <a:rPr lang="en-US" dirty="0" err="1"/>
              <a:t>entity.Bundle.ReadOnly</a:t>
            </a:r>
            <a:r>
              <a:rPr lang="en-US" dirty="0"/>
              <a:t>.  The </a:t>
            </a:r>
            <a:r>
              <a:rPr lang="en-US" dirty="0" err="1"/>
              <a:t>ReadOnly</a:t>
            </a:r>
            <a:r>
              <a:rPr lang="en-US" dirty="0"/>
              <a:t> boolean property shows whether modifications can be made to beans in the bundle.</a:t>
            </a:r>
          </a:p>
          <a:p>
            <a:endParaRPr lang="en-US" dirty="0"/>
          </a:p>
          <a:p>
            <a:r>
              <a:rPr lang="en-US" baseline="0" dirty="0"/>
              <a:t>If already editing the current, writable bundle then you can also create, edit, or delete a foreign key entity. </a:t>
            </a:r>
            <a:r>
              <a:rPr lang="en-US" dirty="0"/>
              <a:t>If</a:t>
            </a:r>
            <a:r>
              <a:rPr lang="en-US" baseline="0" dirty="0"/>
              <a:t> the current bundle is read-only, then foreign key entities are also read-only. </a:t>
            </a:r>
            <a:endParaRPr lang="en-US" dirty="0"/>
          </a:p>
        </p:txBody>
      </p:sp>
    </p:spTree>
    <p:extLst>
      <p:ext uri="{BB962C8B-B14F-4D97-AF65-F5344CB8AC3E}">
        <p14:creationId xmlns:p14="http://schemas.microsoft.com/office/powerpoint/2010/main" val="23184813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You can review the entire method in the BundleExamples.gs class. The setInspectionDateByEmployee() function specifies that person is an input parameter.   As an input parameter, person can be either read-only or writable. Assuming that person is read-only, in order to make targetCompany writable, targetCompany must be added to the new bundle.  You can determine if an</a:t>
            </a:r>
            <a:r>
              <a:rPr lang="en-US" baseline="0" dirty="0"/>
              <a:t> entity is part of a read-only bundle.  Use the entity.Bundle.ReadOnly property.  </a:t>
            </a:r>
            <a:r>
              <a:rPr lang="en-US" dirty="0"/>
              <a:t>You can review the entire method in the BundleExamples.gs class.  The slide example</a:t>
            </a:r>
            <a:r>
              <a:rPr lang="en-US" baseline="0" dirty="0"/>
              <a:t> includes a reference to the fully qualified names of gw.api.database.Query,  gw.api.database.Relop, and gw.transaction.Transaction.</a:t>
            </a:r>
          </a:p>
          <a:p>
            <a:endParaRPr lang="en-US" dirty="0"/>
          </a:p>
          <a:p>
            <a:r>
              <a:rPr lang="en-US" dirty="0"/>
              <a:t>Line 83: Creates a new bundle called newBundle.</a:t>
            </a:r>
          </a:p>
          <a:p>
            <a:endParaRPr lang="en-US" dirty="0"/>
          </a:p>
          <a:p>
            <a:r>
              <a:rPr lang="en-US" dirty="0"/>
              <a:t>Line</a:t>
            </a:r>
            <a:r>
              <a:rPr lang="en-US" baseline="0" dirty="0"/>
              <a:t> </a:t>
            </a:r>
            <a:r>
              <a:rPr lang="en-US" dirty="0"/>
              <a:t>84: Gets</a:t>
            </a:r>
            <a:r>
              <a:rPr lang="en-US" baseline="0" dirty="0"/>
              <a:t> the ABCompany from the person input parameter foreign key reference. This entity instance is in a read-only bundle.</a:t>
            </a:r>
          </a:p>
          <a:p>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Line 90: </a:t>
            </a:r>
            <a:r>
              <a:rPr lang="en-US" dirty="0"/>
              <a:t>It is a good habit to add the foreign key entity to the bundle. There is no harm in re-copying an entity from the new bundle into the new bundle. In practice, it may be easier to copy all entities retrieved from foreign keys into the new bundle, as this removes the need to address whether the referencing entity is in a writable bundle. </a:t>
            </a:r>
            <a:r>
              <a:rPr lang="en-US" baseline="0" dirty="0"/>
              <a:t>Person may be already in a writable bundle. You can Use entity.Bundle.ReadOnly to determine if the bundle is writable or read-only. If editing person, you should add person to the new bundle either way.  </a:t>
            </a:r>
            <a:endParaRPr lang="en-US" dirty="0"/>
          </a:p>
          <a:p>
            <a:endParaRPr lang="en-US" baseline="0" dirty="0"/>
          </a:p>
          <a:p>
            <a:r>
              <a:rPr lang="en-US" dirty="0"/>
              <a:t>Line 105: Ends</a:t>
            </a:r>
            <a:r>
              <a:rPr lang="en-US" baseline="0" dirty="0"/>
              <a:t> the transaction block and in doing so, c</a:t>
            </a:r>
            <a:r>
              <a:rPr lang="en-US" dirty="0"/>
              <a:t>ommits the bundle.  The specified</a:t>
            </a:r>
            <a:r>
              <a:rPr lang="en-US" baseline="0" dirty="0"/>
              <a:t> user supplies the user context.</a:t>
            </a:r>
            <a:endParaRPr lang="en-US" dirty="0"/>
          </a:p>
          <a:p>
            <a:endParaRPr lang="en-US" dirty="0"/>
          </a:p>
        </p:txBody>
      </p:sp>
    </p:spTree>
    <p:extLst>
      <p:ext uri="{BB962C8B-B14F-4D97-AF65-F5344CB8AC3E}">
        <p14:creationId xmlns:p14="http://schemas.microsoft.com/office/powerpoint/2010/main" val="25971663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The calls</a:t>
            </a:r>
            <a:r>
              <a:rPr lang="en-US" baseline="0" dirty="0"/>
              <a:t> to </a:t>
            </a:r>
            <a:r>
              <a:rPr lang="en-US" dirty="0"/>
              <a:t>methods in the slide</a:t>
            </a:r>
            <a:r>
              <a:rPr lang="en-US" baseline="0" dirty="0"/>
              <a:t> example </a:t>
            </a:r>
            <a:r>
              <a:rPr lang="en-US" dirty="0"/>
              <a:t>all have a common block of code that creates a contact note to detail the inspection date assignment.</a:t>
            </a:r>
          </a:p>
          <a:p>
            <a:endParaRPr lang="en-US" dirty="0"/>
          </a:p>
          <a:p>
            <a:r>
              <a:rPr lang="en-US" dirty="0"/>
              <a:t>The </a:t>
            </a:r>
            <a:r>
              <a:rPr lang="en-US" sz="1200" b="0" dirty="0" err="1">
                <a:solidFill>
                  <a:srgbClr val="000000"/>
                </a:solidFill>
                <a:latin typeface="Courier New" pitchFamily="49" charset="0"/>
                <a:cs typeface="Courier New" pitchFamily="49" charset="0"/>
              </a:rPr>
              <a:t>setInspectionDateByLoadBean</a:t>
            </a:r>
            <a:r>
              <a:rPr lang="en-US" sz="1200" b="0" dirty="0">
                <a:solidFill>
                  <a:srgbClr val="000000"/>
                </a:solidFill>
                <a:latin typeface="Courier New" pitchFamily="49" charset="0"/>
                <a:cs typeface="Courier New" pitchFamily="49" charset="0"/>
              </a:rPr>
              <a:t>() </a:t>
            </a:r>
            <a:r>
              <a:rPr lang="en-US" dirty="0"/>
              <a:t>in</a:t>
            </a:r>
            <a:r>
              <a:rPr lang="en-US" baseline="0" dirty="0"/>
              <a:t> the slide example sets inspection details and creates a contact note only if there is current bundle. </a:t>
            </a:r>
          </a:p>
          <a:p>
            <a:endParaRPr lang="en-US" b="0" dirty="0"/>
          </a:p>
          <a:p>
            <a:r>
              <a:rPr lang="en-US" dirty="0"/>
              <a:t>The </a:t>
            </a:r>
            <a:r>
              <a:rPr lang="en-US" dirty="0" err="1">
                <a:latin typeface="Courier New" pitchFamily="49" charset="0"/>
                <a:cs typeface="Courier New" pitchFamily="49" charset="0"/>
              </a:rPr>
              <a:t>setInspectionDateByEmployee</a:t>
            </a:r>
            <a:r>
              <a:rPr lang="en-US" dirty="0">
                <a:latin typeface="Courier New" pitchFamily="49" charset="0"/>
                <a:cs typeface="Courier New" pitchFamily="49" charset="0"/>
              </a:rPr>
              <a:t>()</a:t>
            </a:r>
            <a:r>
              <a:rPr lang="en-US" baseline="0" dirty="0"/>
              <a:t> </a:t>
            </a:r>
            <a:r>
              <a:rPr lang="en-US" dirty="0"/>
              <a:t> method in</a:t>
            </a:r>
            <a:r>
              <a:rPr lang="en-US" baseline="0" dirty="0"/>
              <a:t> the slide example sets inspection details and creates a contact note </a:t>
            </a:r>
            <a:r>
              <a:rPr lang="en-US" dirty="0"/>
              <a:t>only if William Andy (whose public ID is ab:5) is an employee of a company</a:t>
            </a:r>
            <a:r>
              <a:rPr lang="en-US" baseline="0" dirty="0"/>
              <a:t> such as Albertson's.</a:t>
            </a:r>
            <a:endParaRPr lang="en-US" dirty="0"/>
          </a:p>
          <a:p>
            <a:endParaRPr lang="en-US" dirty="0"/>
          </a:p>
        </p:txBody>
      </p:sp>
    </p:spTree>
    <p:extLst>
      <p:ext uri="{BB962C8B-B14F-4D97-AF65-F5344CB8AC3E}">
        <p14:creationId xmlns:p14="http://schemas.microsoft.com/office/powerpoint/2010/main" val="300476108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When</a:t>
            </a:r>
            <a:r>
              <a:rPr lang="en-US" baseline="0" dirty="0"/>
              <a:t> creating an new entity in a writable bundle, it is a good practice to add the entity to the bundle.</a:t>
            </a:r>
            <a:endParaRPr lang="en-US" dirty="0"/>
          </a:p>
        </p:txBody>
      </p:sp>
    </p:spTree>
    <p:extLst>
      <p:ext uri="{BB962C8B-B14F-4D97-AF65-F5344CB8AC3E}">
        <p14:creationId xmlns:p14="http://schemas.microsoft.com/office/powerpoint/2010/main" val="11476203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In the slide example, lines 6 -12 use the new object initializer</a:t>
            </a:r>
            <a:r>
              <a:rPr lang="en-US" baseline="0" dirty="0"/>
              <a:t> syntax.</a:t>
            </a:r>
            <a:endParaRPr lang="en-US" dirty="0"/>
          </a:p>
        </p:txBody>
      </p:sp>
    </p:spTree>
    <p:extLst>
      <p:ext uri="{BB962C8B-B14F-4D97-AF65-F5344CB8AC3E}">
        <p14:creationId xmlns:p14="http://schemas.microsoft.com/office/powerpoint/2010/main" val="2632358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baseline="0" dirty="0"/>
              <a:t>In the slide example, </a:t>
            </a:r>
            <a:r>
              <a:rPr lang="en-US" baseline="0" dirty="0" err="1"/>
              <a:t>ABContact.etx</a:t>
            </a:r>
            <a:r>
              <a:rPr lang="en-US" baseline="0" dirty="0"/>
              <a:t> defines the array element as: </a:t>
            </a:r>
            <a:br>
              <a:rPr lang="en-US" baseline="0" dirty="0"/>
            </a:br>
            <a:r>
              <a:rPr lang="en-US" dirty="0"/>
              <a:t>   </a:t>
            </a:r>
            <a:r>
              <a:rPr lang="en-US" dirty="0">
                <a:latin typeface="Courier New" pitchFamily="49" charset="0"/>
                <a:cs typeface="Courier New" pitchFamily="49" charset="0"/>
              </a:rPr>
              <a:t>&lt;array </a:t>
            </a:r>
            <a:r>
              <a:rPr lang="en-US" dirty="0" err="1">
                <a:latin typeface="Courier New" pitchFamily="49" charset="0"/>
                <a:cs typeface="Courier New" pitchFamily="49" charset="0"/>
              </a:rPr>
              <a:t>arrayentity</a:t>
            </a:r>
            <a:r>
              <a:rPr lang="en-US" dirty="0">
                <a:latin typeface="Courier New" pitchFamily="49" charset="0"/>
                <a:cs typeface="Courier New" pitchFamily="49" charset="0"/>
              </a:rPr>
              <a:t>="</a:t>
            </a:r>
            <a:r>
              <a:rPr lang="en-US" dirty="0" err="1">
                <a:latin typeface="Courier New" pitchFamily="49" charset="0"/>
                <a:cs typeface="Courier New" pitchFamily="49" charset="0"/>
              </a:rPr>
              <a:t>ContactNote</a:t>
            </a:r>
            <a:r>
              <a:rPr lang="en-US" dirty="0">
                <a:latin typeface="Courier New" pitchFamily="49" charset="0"/>
                <a:cs typeface="Courier New" pitchFamily="49" charset="0"/>
              </a:rPr>
              <a:t>" </a:t>
            </a:r>
            <a:br>
              <a:rPr lang="en-US" dirty="0">
                <a:latin typeface="Courier New" pitchFamily="49" charset="0"/>
                <a:cs typeface="Courier New" pitchFamily="49" charset="0"/>
              </a:rPr>
            </a:br>
            <a:r>
              <a:rPr lang="en-US" dirty="0">
                <a:latin typeface="Courier New" pitchFamily="49" charset="0"/>
                <a:cs typeface="Courier New" pitchFamily="49" charset="0"/>
              </a:rPr>
              <a:t>  </a:t>
            </a:r>
            <a:r>
              <a:rPr lang="en-US" dirty="0" err="1">
                <a:latin typeface="Courier New" pitchFamily="49" charset="0"/>
                <a:cs typeface="Courier New" pitchFamily="49" charset="0"/>
              </a:rPr>
              <a:t>desc</a:t>
            </a:r>
            <a:r>
              <a:rPr lang="en-US" dirty="0">
                <a:latin typeface="Courier New" pitchFamily="49" charset="0"/>
                <a:cs typeface="Courier New" pitchFamily="49" charset="0"/>
              </a:rPr>
              <a:t>="Notes" </a:t>
            </a:r>
            <a:br>
              <a:rPr lang="en-US" dirty="0">
                <a:latin typeface="Courier New" pitchFamily="49" charset="0"/>
                <a:cs typeface="Courier New" pitchFamily="49" charset="0"/>
              </a:rPr>
            </a:br>
            <a:r>
              <a:rPr lang="en-US" dirty="0">
                <a:latin typeface="Courier New" pitchFamily="49" charset="0"/>
                <a:cs typeface="Courier New" pitchFamily="49" charset="0"/>
              </a:rPr>
              <a:t>  name="</a:t>
            </a:r>
            <a:r>
              <a:rPr lang="en-US" dirty="0" err="1">
                <a:latin typeface="Courier New" pitchFamily="49" charset="0"/>
                <a:cs typeface="Courier New" pitchFamily="49" charset="0"/>
              </a:rPr>
              <a:t>ContactNotes</a:t>
            </a:r>
            <a:r>
              <a:rPr lang="en-US" dirty="0">
                <a:latin typeface="Courier New" pitchFamily="49" charset="0"/>
                <a:cs typeface="Courier New" pitchFamily="49" charset="0"/>
              </a:rPr>
              <a:t>" /&gt;</a:t>
            </a:r>
          </a:p>
          <a:p>
            <a:br>
              <a:rPr lang="en-US" dirty="0">
                <a:latin typeface="Courier New" pitchFamily="49" charset="0"/>
                <a:cs typeface="Courier New" pitchFamily="49" charset="0"/>
              </a:rPr>
            </a:br>
            <a:r>
              <a:rPr lang="en-US" dirty="0" err="1"/>
              <a:t>ContactNote.eti</a:t>
            </a:r>
            <a:r>
              <a:rPr lang="en-US" dirty="0"/>
              <a:t> defines the backing foreign key reference to ABContact</a:t>
            </a:r>
            <a:r>
              <a:rPr lang="en-US" baseline="0" dirty="0"/>
              <a:t> as </a:t>
            </a:r>
            <a:endParaRPr lang="en-US" dirty="0"/>
          </a:p>
          <a:p>
            <a:r>
              <a:rPr lang="en-US" dirty="0">
                <a:latin typeface="Courier New" pitchFamily="49" charset="0"/>
                <a:cs typeface="Courier New" pitchFamily="49" charset="0"/>
              </a:rPr>
              <a:t>  &lt;foreignkey </a:t>
            </a:r>
            <a:r>
              <a:rPr lang="en-US" dirty="0" err="1">
                <a:latin typeface="Courier New" pitchFamily="49" charset="0"/>
                <a:cs typeface="Courier New" pitchFamily="49" charset="0"/>
              </a:rPr>
              <a:t>columnName</a:t>
            </a:r>
            <a:r>
              <a:rPr lang="en-US" dirty="0">
                <a:latin typeface="Courier New" pitchFamily="49" charset="0"/>
                <a:cs typeface="Courier New" pitchFamily="49" charset="0"/>
              </a:rPr>
              <a:t>="</a:t>
            </a:r>
            <a:r>
              <a:rPr lang="en-US" dirty="0" err="1">
                <a:latin typeface="Courier New" pitchFamily="49" charset="0"/>
                <a:cs typeface="Courier New" pitchFamily="49" charset="0"/>
              </a:rPr>
              <a:t>ABContactID</a:t>
            </a:r>
            <a:r>
              <a:rPr lang="en-US" dirty="0">
                <a:latin typeface="Courier New" pitchFamily="49" charset="0"/>
                <a:cs typeface="Courier New" pitchFamily="49" charset="0"/>
              </a:rPr>
              <a:t>" </a:t>
            </a:r>
            <a:br>
              <a:rPr lang="en-US" dirty="0">
                <a:latin typeface="Courier New" pitchFamily="49" charset="0"/>
                <a:cs typeface="Courier New" pitchFamily="49" charset="0"/>
              </a:rPr>
            </a:br>
            <a:r>
              <a:rPr lang="en-US" dirty="0">
                <a:latin typeface="Courier New" pitchFamily="49" charset="0"/>
                <a:cs typeface="Courier New" pitchFamily="49" charset="0"/>
              </a:rPr>
              <a:t>   </a:t>
            </a:r>
            <a:r>
              <a:rPr lang="en-US" dirty="0" err="1">
                <a:latin typeface="Courier New" pitchFamily="49" charset="0"/>
                <a:cs typeface="Courier New" pitchFamily="49" charset="0"/>
              </a:rPr>
              <a:t>desc</a:t>
            </a:r>
            <a:r>
              <a:rPr lang="en-US" dirty="0">
                <a:latin typeface="Courier New" pitchFamily="49" charset="0"/>
                <a:cs typeface="Courier New" pitchFamily="49" charset="0"/>
              </a:rPr>
              <a:t>="Associated contact" </a:t>
            </a:r>
            <a:br>
              <a:rPr lang="en-US" dirty="0">
                <a:latin typeface="Courier New" pitchFamily="49" charset="0"/>
                <a:cs typeface="Courier New" pitchFamily="49" charset="0"/>
              </a:rPr>
            </a:br>
            <a:r>
              <a:rPr lang="en-US" dirty="0">
                <a:latin typeface="Courier New" pitchFamily="49" charset="0"/>
                <a:cs typeface="Courier New" pitchFamily="49" charset="0"/>
              </a:rPr>
              <a:t>   </a:t>
            </a:r>
            <a:r>
              <a:rPr lang="en-US" dirty="0" err="1">
                <a:latin typeface="Courier New" pitchFamily="49" charset="0"/>
                <a:cs typeface="Courier New" pitchFamily="49" charset="0"/>
              </a:rPr>
              <a:t>fkentity</a:t>
            </a:r>
            <a:r>
              <a:rPr lang="en-US" dirty="0">
                <a:latin typeface="Courier New" pitchFamily="49" charset="0"/>
                <a:cs typeface="Courier New" pitchFamily="49" charset="0"/>
              </a:rPr>
              <a:t>="ABContact"  </a:t>
            </a:r>
            <a:br>
              <a:rPr lang="en-US" dirty="0">
                <a:latin typeface="Courier New" pitchFamily="49" charset="0"/>
                <a:cs typeface="Courier New" pitchFamily="49" charset="0"/>
              </a:rPr>
            </a:br>
            <a:r>
              <a:rPr lang="en-US" dirty="0">
                <a:latin typeface="Courier New" pitchFamily="49" charset="0"/>
                <a:cs typeface="Courier New" pitchFamily="49" charset="0"/>
              </a:rPr>
              <a:t>   name="ABContact" </a:t>
            </a:r>
            <a:br>
              <a:rPr lang="en-US" dirty="0">
                <a:latin typeface="Courier New" pitchFamily="49" charset="0"/>
                <a:cs typeface="Courier New" pitchFamily="49" charset="0"/>
              </a:rPr>
            </a:br>
            <a:r>
              <a:rPr lang="en-US" dirty="0">
                <a:latin typeface="Courier New" pitchFamily="49" charset="0"/>
                <a:cs typeface="Courier New" pitchFamily="49" charset="0"/>
              </a:rPr>
              <a:t>   nullok="true"/&gt;.</a:t>
            </a:r>
          </a:p>
          <a:p>
            <a:endParaRPr lang="en-US" dirty="0"/>
          </a:p>
          <a:p>
            <a:r>
              <a:rPr lang="en-US" dirty="0"/>
              <a:t>In the slide example, lines 6 -12 use the new object initializer syntax.</a:t>
            </a:r>
          </a:p>
          <a:p>
            <a:br>
              <a:rPr lang="en-US" dirty="0"/>
            </a:br>
            <a:r>
              <a:rPr lang="en-US" dirty="0"/>
              <a:t>Guidewire recommends using query builders for writing queries against the database. The results of an entity query are read-only.  In order to modify the entity, the entity must be added to a bundle.</a:t>
            </a:r>
          </a:p>
          <a:p>
            <a:endParaRPr lang="en-US" dirty="0"/>
          </a:p>
          <a:p>
            <a:r>
              <a:rPr lang="en-US" dirty="0"/>
              <a:t>When the read-only bundle is added to the new bundle</a:t>
            </a:r>
            <a:r>
              <a:rPr lang="en-US" baseline="0" dirty="0"/>
              <a:t> it becomes writable.  Now, you can create a new foreign key or array entity and add it to the once read-only entity.  The benefit of this approach is that you do not have to assign</a:t>
            </a:r>
            <a:r>
              <a:rPr lang="en-US" dirty="0"/>
              <a:t> the </a:t>
            </a:r>
            <a:r>
              <a:rPr lang="en-US" baseline="0" dirty="0"/>
              <a:t>foreign key.</a:t>
            </a:r>
            <a:endParaRPr lang="en-US" dirty="0"/>
          </a:p>
          <a:p>
            <a:endParaRPr lang="en-US" dirty="0"/>
          </a:p>
        </p:txBody>
      </p:sp>
    </p:spTree>
    <p:extLst>
      <p:ext uri="{BB962C8B-B14F-4D97-AF65-F5344CB8AC3E}">
        <p14:creationId xmlns:p14="http://schemas.microsoft.com/office/powerpoint/2010/main" val="101542530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Guidewire recommends using query builders for writing queries against the database. The results of an entity query are read-only.  In order to modify the entity, the entity must be added to a bundle.</a:t>
            </a:r>
          </a:p>
          <a:p>
            <a:endParaRPr lang="en-US" dirty="0"/>
          </a:p>
          <a:p>
            <a:r>
              <a:rPr lang="en-US" dirty="0"/>
              <a:t>When the read-only bundle is added to the new bundle</a:t>
            </a:r>
            <a:r>
              <a:rPr lang="en-US" baseline="0" dirty="0"/>
              <a:t> it becomes writable.  Now, you can create a new foreign key or array entity and add it to the once read-only entity.  The benefit of this approach is that you do not have to create a foreign key.</a:t>
            </a:r>
            <a:endParaRPr lang="en-US" dirty="0"/>
          </a:p>
        </p:txBody>
      </p:sp>
    </p:spTree>
    <p:extLst>
      <p:ext uri="{BB962C8B-B14F-4D97-AF65-F5344CB8AC3E}">
        <p14:creationId xmlns:p14="http://schemas.microsoft.com/office/powerpoint/2010/main" val="231848131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When using an </a:t>
            </a:r>
            <a:r>
              <a:rPr lang="en-US" dirty="0" err="1"/>
              <a:t>addTo</a:t>
            </a:r>
            <a:r>
              <a:rPr lang="en-US" dirty="0"/>
              <a:t>&lt;Array&gt;() method,</a:t>
            </a:r>
            <a:r>
              <a:rPr lang="en-US" baseline="0" dirty="0"/>
              <a:t> </a:t>
            </a:r>
            <a:r>
              <a:rPr lang="en-US" dirty="0"/>
              <a:t>you do not need to set the foreign key on the child element to the parent element.  Each </a:t>
            </a:r>
            <a:r>
              <a:rPr lang="en-US" dirty="0" err="1"/>
              <a:t>addTo</a:t>
            </a:r>
            <a:r>
              <a:rPr lang="en-US" dirty="0"/>
              <a:t>&lt;Array&gt; () method does this implicitly.</a:t>
            </a:r>
          </a:p>
        </p:txBody>
      </p:sp>
    </p:spTree>
    <p:extLst>
      <p:ext uri="{BB962C8B-B14F-4D97-AF65-F5344CB8AC3E}">
        <p14:creationId xmlns:p14="http://schemas.microsoft.com/office/powerpoint/2010/main" val="264658983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When using the </a:t>
            </a:r>
            <a:r>
              <a:rPr lang="en-US" dirty="0" err="1"/>
              <a:t>removeFrom</a:t>
            </a:r>
            <a:r>
              <a:rPr lang="en-US" dirty="0"/>
              <a:t>&lt;Array&gt;() method,</a:t>
            </a:r>
            <a:r>
              <a:rPr lang="en-US" baseline="0" dirty="0"/>
              <a:t> the parent or owning entity should be the entity in a writable bundle.  It is possible to put </a:t>
            </a:r>
            <a:r>
              <a:rPr lang="en-US" dirty="0"/>
              <a:t>the child entity instead in the bundle (and logically may make more sense to do so), but the convention is to always put the parent object in the writable bundle.</a:t>
            </a:r>
          </a:p>
        </p:txBody>
      </p:sp>
    </p:spTree>
    <p:extLst>
      <p:ext uri="{BB962C8B-B14F-4D97-AF65-F5344CB8AC3E}">
        <p14:creationId xmlns:p14="http://schemas.microsoft.com/office/powerpoint/2010/main" val="347443051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The </a:t>
            </a:r>
            <a:r>
              <a:rPr lang="en-US" dirty="0" err="1">
                <a:latin typeface="Courier New" pitchFamily="49" charset="0"/>
                <a:cs typeface="Courier New" pitchFamily="49" charset="0"/>
              </a:rPr>
              <a:t>getOriginalValue</a:t>
            </a:r>
            <a:r>
              <a:rPr lang="en-US" dirty="0">
                <a:latin typeface="Courier New" pitchFamily="49" charset="0"/>
                <a:cs typeface="Courier New" pitchFamily="49" charset="0"/>
              </a:rPr>
              <a:t>()</a:t>
            </a:r>
            <a:r>
              <a:rPr lang="en-US" dirty="0"/>
              <a:t> method takes in a string input parameter that names the property whose value must be retrieved or takes a reference</a:t>
            </a:r>
            <a:r>
              <a:rPr lang="en-US" baseline="0" dirty="0"/>
              <a:t> to an entity property</a:t>
            </a:r>
            <a:r>
              <a:rPr lang="en-US" dirty="0"/>
              <a:t>. It returns the value of that property. Keep in mind that the data type of the method depends on the named property. It could return an integer, string, Boolean, date, typekey (for typekey properties), or entity references (for foreign key properties).</a:t>
            </a:r>
          </a:p>
          <a:p>
            <a:endParaRPr lang="en-US" dirty="0"/>
          </a:p>
          <a:p>
            <a:r>
              <a:rPr lang="en-US" dirty="0"/>
              <a:t>For typekeys, getOriginalValue returns the original typekey. You may want to access the typekey's name. For example, you might want to write a history event that says "Status changed from Pending to Closed". "Pending" is the typekey's name. To do this, use the following syntax:</a:t>
            </a:r>
          </a:p>
          <a:p>
            <a:r>
              <a:rPr lang="en-US" dirty="0">
                <a:latin typeface="Courier New" pitchFamily="49" charset="0"/>
                <a:cs typeface="Courier New" pitchFamily="49" charset="0"/>
              </a:rPr>
              <a:t>(entity.getOriginalValue(entity#typekeyProperty) as typelistName). </a:t>
            </a:r>
            <a:r>
              <a:rPr lang="en-US" dirty="0"/>
              <a:t> </a:t>
            </a:r>
          </a:p>
          <a:p>
            <a:endParaRPr lang="en-US" dirty="0"/>
          </a:p>
          <a:p>
            <a:r>
              <a:rPr lang="en-US" dirty="0"/>
              <a:t>For foreign keys, getOriginalValue returns the ID of the original object. You may want to access data from that object, such as an object's display name. For example, you might want to write a history event that says "Assigned user changed from Alice Applegate to Ben Baker", where "Alice Applegate" is the display name of the original assigned user object. To do this, use the following syntax:</a:t>
            </a:r>
          </a:p>
          <a:p>
            <a:r>
              <a:rPr lang="en-US" dirty="0"/>
              <a:t>// This retrieves the object that the foreign key previously referenced.</a:t>
            </a:r>
          </a:p>
          <a:p>
            <a:r>
              <a:rPr lang="en-US" dirty="0">
                <a:latin typeface="Courier New" pitchFamily="49" charset="0"/>
                <a:cs typeface="Courier New" pitchFamily="49" charset="0"/>
              </a:rPr>
              <a:t>var previousForeignKey = changedObject.getOriginalValue(“foreignKeyField”)</a:t>
            </a:r>
          </a:p>
          <a:p>
            <a:endParaRPr lang="en-US" dirty="0"/>
          </a:p>
        </p:txBody>
      </p:sp>
    </p:spTree>
    <p:extLst>
      <p:ext uri="{BB962C8B-B14F-4D97-AF65-F5344CB8AC3E}">
        <p14:creationId xmlns:p14="http://schemas.microsoft.com/office/powerpoint/2010/main" val="344792931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You</a:t>
            </a:r>
            <a:r>
              <a:rPr lang="en-US" baseline="0" dirty="0"/>
              <a:t> can find the code in the slide example in the BundleExamples.gs class in TrainingApp.</a:t>
            </a:r>
          </a:p>
        </p:txBody>
      </p:sp>
    </p:spTree>
    <p:extLst>
      <p:ext uri="{BB962C8B-B14F-4D97-AF65-F5344CB8AC3E}">
        <p14:creationId xmlns:p14="http://schemas.microsoft.com/office/powerpoint/2010/main" val="264658983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Some things should be done in a single bundle.  For example, if you are debiting Smith’s account and crediting it to Jones’ account with two separate bundles, you risk getting the database into an inconsistent state if one bundle commit succeeds and the other fails.  If it is one transaction, consistency will be maintained.  That said, there are several situations and common scenarios where you need to create multiple bundles. </a:t>
            </a:r>
          </a:p>
          <a:p>
            <a:endParaRPr lang="en-US" dirty="0"/>
          </a:p>
          <a:p>
            <a:r>
              <a:rPr lang="en-US" dirty="0"/>
              <a:t>In some cases, you may have a bundle and you want to commit some but not all of the data. For example, a bundle might contain a policy submission and 8 quotes that were created while the policy holder was exploring options. You want to commit the policy submission itself and the one quote the policy holder accepted, but you don't want to commit the 7 quotes the policy holder has decided not to accept. For a given bundle, you cannot remove data or commit only some of the data. But, you can create a second bundle, copy the data to be committed to that bundle, and then commit the second bundle.</a:t>
            </a:r>
          </a:p>
          <a:p>
            <a:endParaRPr lang="en-US" dirty="0"/>
          </a:p>
          <a:p>
            <a:r>
              <a:rPr lang="en-US" dirty="0"/>
              <a:t>In some cases, you may have a bundle and you want to commit all of the data in it. But you don't want to commit all of the data at once either because (1) the commit of each data set should occur whether the commit of the other data set succeeds or fails, or (2) the commit of the second data set should occur only if the first data set is committed successfully. If you attempt to commit the original bundle, then either all commits will occur or all commits will fail. The only way to subdivide the bundle into separate groups of data is to create multiple additional bundles, copy the appropriate data into the appropriate bundle, and then commit each bundle separately.</a:t>
            </a:r>
          </a:p>
          <a:p>
            <a:endParaRPr lang="en-US" dirty="0"/>
          </a:p>
          <a:p>
            <a:endParaRPr lang="en-US" dirty="0"/>
          </a:p>
        </p:txBody>
      </p:sp>
    </p:spTree>
    <p:extLst>
      <p:ext uri="{BB962C8B-B14F-4D97-AF65-F5344CB8AC3E}">
        <p14:creationId xmlns:p14="http://schemas.microsoft.com/office/powerpoint/2010/main" val="363755513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3750669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70514651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45225019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67671077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Answers</a:t>
            </a:r>
          </a:p>
          <a:p>
            <a:r>
              <a:rPr lang="en-US" dirty="0"/>
              <a:t>1a) Automatic commits (possible answers): Business rules, workflows, certain plugins, code executed from the UI in edit mode</a:t>
            </a:r>
          </a:p>
          <a:p>
            <a:r>
              <a:rPr lang="en-US" dirty="0"/>
              <a:t>1b) </a:t>
            </a:r>
            <a:r>
              <a:rPr lang="en-US" baseline="0" dirty="0"/>
              <a:t> </a:t>
            </a:r>
            <a:r>
              <a:rPr lang="en-US" dirty="0"/>
              <a:t>Manual commits (possible answers): Web services, batch processes, queried entities that must be modified, certain plugins, code executed from the UI in read-only mode</a:t>
            </a:r>
          </a:p>
          <a:p>
            <a:r>
              <a:rPr lang="en-US" dirty="0"/>
              <a:t>2)   A Guidewire bundle is a set of in-memory entities that are saved to the database as a unit. Each bundle corresponds to one database transaction.</a:t>
            </a:r>
          </a:p>
          <a:p>
            <a:r>
              <a:rPr lang="en-US" dirty="0"/>
              <a:t>3)  Entities that are the result of a query are put into read-only bundles, entities</a:t>
            </a:r>
            <a:r>
              <a:rPr lang="en-US" baseline="0" dirty="0"/>
              <a:t> that a result of a load bean method are put into read-only bundles, </a:t>
            </a:r>
            <a:r>
              <a:rPr lang="en-US" dirty="0"/>
              <a:t>and entities referenced by foreign key are put into a read-only bundle if the referencing entity is also in a read-only bundle. You need to copy these entities to a writable bundle if you need to modify them, which is done via the bundle's add() method.</a:t>
            </a:r>
          </a:p>
          <a:p>
            <a:r>
              <a:rPr lang="en-US" dirty="0"/>
              <a:t>4)  By a query,</a:t>
            </a:r>
            <a:r>
              <a:rPr lang="en-US" baseline="0" dirty="0"/>
              <a:t> by a </a:t>
            </a:r>
            <a:r>
              <a:rPr lang="en-US" baseline="0" dirty="0" err="1"/>
              <a:t>loadBean</a:t>
            </a:r>
            <a:r>
              <a:rPr lang="en-US" baseline="0" dirty="0"/>
              <a:t>() method, </a:t>
            </a:r>
            <a:r>
              <a:rPr lang="en-US" dirty="0"/>
              <a:t>and by foreign key from an existing entity in a bundle.</a:t>
            </a:r>
          </a:p>
          <a:p>
            <a:r>
              <a:rPr lang="en-US" dirty="0"/>
              <a:t>5)  A new entity is not automatically associated to any other entity. If a new entity must be associated to an existing entity (such as a new contact note being associated to an ABContact), then you must manually create the association.</a:t>
            </a:r>
          </a:p>
          <a:p>
            <a:endParaRPr lang="en-US" dirty="0"/>
          </a:p>
          <a:p>
            <a:endParaRPr lang="en-US" dirty="0"/>
          </a:p>
        </p:txBody>
      </p:sp>
    </p:spTree>
    <p:extLst>
      <p:ext uri="{BB962C8B-B14F-4D97-AF65-F5344CB8AC3E}">
        <p14:creationId xmlns:p14="http://schemas.microsoft.com/office/powerpoint/2010/main" val="26070319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a:t>Click to edit Master title style</a:t>
            </a:r>
            <a:endParaRPr lang="en-US" dirty="0"/>
          </a:p>
        </p:txBody>
      </p:sp>
      <p:sp>
        <p:nvSpPr>
          <p:cNvPr id="3" name="txt Content"/>
          <p:cNvSpPr>
            <a:spLocks noGrp="1"/>
          </p:cNvSpPr>
          <p:nvPr>
            <p:ph idx="1"/>
          </p:nvPr>
        </p:nvSpPr>
        <p:spPr>
          <a:xfrm>
            <a:off x="694944" y="914400"/>
            <a:ext cx="1109472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148485534"/>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woObj" preserve="1">
  <p:cSld name="Two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692151" y="914399"/>
            <a:ext cx="5444067"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Right Col Content"/>
          <p:cNvSpPr>
            <a:spLocks noGrp="1"/>
          </p:cNvSpPr>
          <p:nvPr>
            <p:ph sz="half" idx="2"/>
          </p:nvPr>
        </p:nvSpPr>
        <p:spPr>
          <a:xfrm>
            <a:off x="6339417" y="914399"/>
            <a:ext cx="5444067"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470386826"/>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wo Column SubTitles">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a:t>Click to edit Master title style</a:t>
            </a:r>
            <a:endParaRPr lang="en-US" dirty="0"/>
          </a:p>
        </p:txBody>
      </p:sp>
      <p:sp>
        <p:nvSpPr>
          <p:cNvPr id="5" name="txt Left Col SubTitle"/>
          <p:cNvSpPr>
            <a:spLocks noGrp="1" noChangeArrowheads="1"/>
          </p:cNvSpPr>
          <p:nvPr>
            <p:ph type="subTitle" idx="10" hasCustomPrompt="1"/>
          </p:nvPr>
        </p:nvSpPr>
        <p:spPr>
          <a:xfrm>
            <a:off x="694944" y="914400"/>
            <a:ext cx="5449824" cy="838200"/>
          </a:xfrm>
          <a:ln algn="ctr"/>
        </p:spPr>
        <p:txBody>
          <a:bodyPr/>
          <a:lstStyle>
            <a:lvl1pPr marL="0" indent="0">
              <a:buClr>
                <a:srgbClr val="800000"/>
              </a:buClr>
              <a:buFont typeface="Wingdings 3" pitchFamily="18" charset="2"/>
              <a:buNone/>
              <a:defRPr sz="2400" baseline="0"/>
            </a:lvl1pPr>
          </a:lstStyle>
          <a:p>
            <a:r>
              <a:rPr lang="en-US" altLang="en-US" dirty="0"/>
              <a:t>Click to edit Left Column Subtitle</a:t>
            </a:r>
          </a:p>
        </p:txBody>
      </p:sp>
      <p:sp>
        <p:nvSpPr>
          <p:cNvPr id="8" name="txt Right Col SubTitle"/>
          <p:cNvSpPr>
            <a:spLocks noGrp="1"/>
          </p:cNvSpPr>
          <p:nvPr>
            <p:ph type="body" sz="quarter" idx="11" hasCustomPrompt="1"/>
          </p:nvPr>
        </p:nvSpPr>
        <p:spPr>
          <a:xfrm>
            <a:off x="6339840" y="914400"/>
            <a:ext cx="5449824" cy="838200"/>
          </a:xfrm>
        </p:spPr>
        <p:txBody>
          <a:bodyPr/>
          <a:lstStyle>
            <a:lvl1pPr marL="0" indent="0">
              <a:buFontTx/>
              <a:buNone/>
              <a:defRPr/>
            </a:lvl1pPr>
          </a:lstStyle>
          <a:p>
            <a:r>
              <a:rPr lang="en-US" altLang="en-US" dirty="0"/>
              <a:t>Click to edit Right Column Subtitle</a:t>
            </a:r>
          </a:p>
        </p:txBody>
      </p:sp>
      <p:sp>
        <p:nvSpPr>
          <p:cNvPr id="4" name="txt Left Col Content"/>
          <p:cNvSpPr>
            <a:spLocks noGrp="1"/>
          </p:cNvSpPr>
          <p:nvPr>
            <p:ph sz="half" idx="2"/>
          </p:nvPr>
        </p:nvSpPr>
        <p:spPr>
          <a:xfrm>
            <a:off x="6339417" y="1752600"/>
            <a:ext cx="5444067"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txt Right Col Content"/>
          <p:cNvSpPr>
            <a:spLocks noGrp="1"/>
          </p:cNvSpPr>
          <p:nvPr>
            <p:ph sz="half" idx="1"/>
          </p:nvPr>
        </p:nvSpPr>
        <p:spPr>
          <a:xfrm>
            <a:off x="692151" y="1752600"/>
            <a:ext cx="5444067" cy="4637088"/>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044806687"/>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hree Columns SubTitle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692149" y="1752602"/>
            <a:ext cx="353568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xt Center Col Content"/>
          <p:cNvSpPr>
            <a:spLocks noGrp="1"/>
          </p:cNvSpPr>
          <p:nvPr>
            <p:ph sz="half" idx="10"/>
          </p:nvPr>
        </p:nvSpPr>
        <p:spPr>
          <a:xfrm>
            <a:off x="4470400" y="1752602"/>
            <a:ext cx="353568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Right Col Content"/>
          <p:cNvSpPr>
            <a:spLocks noGrp="1"/>
          </p:cNvSpPr>
          <p:nvPr>
            <p:ph sz="half" idx="2"/>
          </p:nvPr>
        </p:nvSpPr>
        <p:spPr>
          <a:xfrm>
            <a:off x="8229600" y="1752602"/>
            <a:ext cx="353568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xt Left Col SubTitle"/>
          <p:cNvSpPr>
            <a:spLocks noGrp="1" noChangeArrowheads="1"/>
          </p:cNvSpPr>
          <p:nvPr>
            <p:ph type="subTitle" idx="11" hasCustomPrompt="1"/>
          </p:nvPr>
        </p:nvSpPr>
        <p:spPr>
          <a:xfrm>
            <a:off x="694944" y="914400"/>
            <a:ext cx="353568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a:t>Click to edit Left Column Subtitle</a:t>
            </a:r>
          </a:p>
        </p:txBody>
      </p:sp>
      <p:sp>
        <p:nvSpPr>
          <p:cNvPr id="13" name="txt Center Col SubTitle"/>
          <p:cNvSpPr>
            <a:spLocks noGrp="1"/>
          </p:cNvSpPr>
          <p:nvPr>
            <p:ph type="body" sz="quarter" idx="12" hasCustomPrompt="1"/>
          </p:nvPr>
        </p:nvSpPr>
        <p:spPr>
          <a:xfrm>
            <a:off x="4474464" y="914400"/>
            <a:ext cx="353568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a:t>Click to edit Center Column Subtitle</a:t>
            </a:r>
          </a:p>
        </p:txBody>
      </p:sp>
      <p:sp>
        <p:nvSpPr>
          <p:cNvPr id="15" name="txt Right Col SubTitle"/>
          <p:cNvSpPr>
            <a:spLocks noGrp="1"/>
          </p:cNvSpPr>
          <p:nvPr>
            <p:ph type="body" sz="quarter" idx="13" hasCustomPrompt="1"/>
          </p:nvPr>
        </p:nvSpPr>
        <p:spPr>
          <a:xfrm>
            <a:off x="8229600" y="914400"/>
            <a:ext cx="353568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a:t>Click to edit Right Column Subtitle</a:t>
            </a:r>
          </a:p>
        </p:txBody>
      </p:sp>
    </p:spTree>
    <p:extLst>
      <p:ext uri="{BB962C8B-B14F-4D97-AF65-F5344CB8AC3E}">
        <p14:creationId xmlns:p14="http://schemas.microsoft.com/office/powerpoint/2010/main" val="3581193381"/>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Title and Bottom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Arial" pitchFamily="34" charset="0"/>
              </a:defRPr>
            </a:lvl1pPr>
          </a:lstStyle>
          <a:p>
            <a:r>
              <a:rPr lang="en-US"/>
              <a:t>Click to edit Master title style</a:t>
            </a:r>
            <a:endParaRPr lang="en-US" dirty="0"/>
          </a:p>
        </p:txBody>
      </p:sp>
      <p:sp>
        <p:nvSpPr>
          <p:cNvPr id="3" name="txt Bottom Content"/>
          <p:cNvSpPr>
            <a:spLocks noGrp="1"/>
          </p:cNvSpPr>
          <p:nvPr>
            <p:ph idx="1"/>
          </p:nvPr>
        </p:nvSpPr>
        <p:spPr>
          <a:xfrm>
            <a:off x="692151" y="3657600"/>
            <a:ext cx="11091333"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55473354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Top And Bottom Content">
    <p:spTree>
      <p:nvGrpSpPr>
        <p:cNvPr id="1" name=""/>
        <p:cNvGrpSpPr/>
        <p:nvPr/>
      </p:nvGrpSpPr>
      <p:grpSpPr>
        <a:xfrm>
          <a:off x="0" y="0"/>
          <a:ext cx="0" cy="0"/>
          <a:chOff x="0" y="0"/>
          <a:chExt cx="0" cy="0"/>
        </a:xfrm>
      </p:grpSpPr>
      <p:sp>
        <p:nvSpPr>
          <p:cNvPr id="2" name="txt Title"/>
          <p:cNvSpPr>
            <a:spLocks noGrp="1"/>
          </p:cNvSpPr>
          <p:nvPr>
            <p:ph type="title"/>
          </p:nvPr>
        </p:nvSpPr>
        <p:spPr>
          <a:xfrm>
            <a:off x="658368" y="120651"/>
            <a:ext cx="11091333" cy="742951"/>
          </a:xfrm>
        </p:spPr>
        <p:txBody>
          <a:bodyPr/>
          <a:lstStyle>
            <a:lvl1pPr>
              <a:defRPr sz="3200">
                <a:solidFill>
                  <a:srgbClr val="04628C"/>
                </a:solidFill>
                <a:latin typeface="+mj-lt"/>
                <a:cs typeface="Arial" pitchFamily="34" charset="0"/>
              </a:defRPr>
            </a:lvl1pPr>
          </a:lstStyle>
          <a:p>
            <a:r>
              <a:rPr lang="en-US"/>
              <a:t>Click to edit Master title style</a:t>
            </a:r>
            <a:endParaRPr lang="en-US" dirty="0"/>
          </a:p>
        </p:txBody>
      </p:sp>
      <p:sp>
        <p:nvSpPr>
          <p:cNvPr id="3" name="txt Bottom Content"/>
          <p:cNvSpPr>
            <a:spLocks noGrp="1"/>
          </p:cNvSpPr>
          <p:nvPr>
            <p:ph idx="1"/>
          </p:nvPr>
        </p:nvSpPr>
        <p:spPr>
          <a:xfrm>
            <a:off x="692151" y="3657600"/>
            <a:ext cx="11091333"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xt Top Content"/>
          <p:cNvSpPr>
            <a:spLocks noGrp="1"/>
          </p:cNvSpPr>
          <p:nvPr>
            <p:ph type="body" sz="quarter" idx="10"/>
          </p:nvPr>
        </p:nvSpPr>
        <p:spPr>
          <a:xfrm>
            <a:off x="694944" y="914400"/>
            <a:ext cx="11094720" cy="2743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68248584"/>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 preserve="1">
  <p:cSld name="Title and Top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Calibri" pitchFamily="34" charset="0"/>
              </a:defRPr>
            </a:lvl1pPr>
          </a:lstStyle>
          <a:p>
            <a:r>
              <a:rPr lang="en-US"/>
              <a:t>Click to edit Master title style</a:t>
            </a:r>
            <a:endParaRPr lang="en-US" dirty="0"/>
          </a:p>
        </p:txBody>
      </p:sp>
      <p:sp>
        <p:nvSpPr>
          <p:cNvPr id="3" name="txt Top Content"/>
          <p:cNvSpPr>
            <a:spLocks noGrp="1"/>
          </p:cNvSpPr>
          <p:nvPr>
            <p:ph idx="1"/>
          </p:nvPr>
        </p:nvSpPr>
        <p:spPr>
          <a:xfrm>
            <a:off x="692151" y="914400"/>
            <a:ext cx="11091333"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36176163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 preserve="1">
  <p:cSld name="Title and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a:t>Click to edit Master title style</a:t>
            </a:r>
            <a:endParaRPr lang="en-US" dirty="0"/>
          </a:p>
        </p:txBody>
      </p:sp>
      <p:sp>
        <p:nvSpPr>
          <p:cNvPr id="3" name="txt Bottom Content"/>
          <p:cNvSpPr>
            <a:spLocks noGrp="1"/>
          </p:cNvSpPr>
          <p:nvPr>
            <p:ph idx="1"/>
          </p:nvPr>
        </p:nvSpPr>
        <p:spPr>
          <a:xfrm>
            <a:off x="692151" y="4572000"/>
            <a:ext cx="11091333"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704636995"/>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Lef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692149" y="914402"/>
            <a:ext cx="3535680" cy="54752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353529206"/>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Lef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692151" y="914402"/>
            <a:ext cx="5444067" cy="5475289"/>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132715863"/>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Lef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692148" y="914399"/>
            <a:ext cx="7376160" cy="54864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597061337"/>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Righ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4" name="txt Right Col Content"/>
          <p:cNvSpPr>
            <a:spLocks noGrp="1"/>
          </p:cNvSpPr>
          <p:nvPr>
            <p:ph sz="half" idx="2"/>
          </p:nvPr>
        </p:nvSpPr>
        <p:spPr>
          <a:xfrm>
            <a:off x="8229600" y="914402"/>
            <a:ext cx="353568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313684978"/>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otes Only">
    <p:spTree>
      <p:nvGrpSpPr>
        <p:cNvPr id="1" name=""/>
        <p:cNvGrpSpPr/>
        <p:nvPr/>
      </p:nvGrpSpPr>
      <p:grpSpPr>
        <a:xfrm>
          <a:off x="0" y="0"/>
          <a:ext cx="0" cy="0"/>
          <a:chOff x="0" y="0"/>
          <a:chExt cx="0" cy="0"/>
        </a:xfrm>
      </p:grpSpPr>
      <p:sp>
        <p:nvSpPr>
          <p:cNvPr id="4" name="txt Title Fixed NotesOnly"/>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solidFill>
                  <a:srgbClr val="CC0099"/>
                </a:solidFill>
                <a:latin typeface="+mj-lt"/>
                <a:cs typeface="Arial" pitchFamily="34" charset="0"/>
              </a:rPr>
              <a:t>(Notes only slide)</a:t>
            </a:r>
            <a:endParaRPr lang="en-US" sz="3200" dirty="0">
              <a:latin typeface="+mj-lt"/>
              <a:cs typeface="Arial" pitchFamily="34" charset="0"/>
            </a:endParaRPr>
          </a:p>
        </p:txBody>
      </p:sp>
      <p:sp>
        <p:nvSpPr>
          <p:cNvPr id="3" name="txt Title Fixed NotesOnly"/>
          <p:cNvSpPr txBox="1">
            <a:spLocks noChangeArrowheads="1"/>
          </p:cNvSpPr>
          <p:nvPr userDrawn="1"/>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solidFill>
                  <a:srgbClr val="CC0099"/>
                </a:solidFill>
                <a:latin typeface="+mj-lt"/>
                <a:cs typeface="Arial" pitchFamily="34" charset="0"/>
              </a:rPr>
              <a:t>(Notes only slide)</a:t>
            </a:r>
            <a:endParaRPr lang="en-US" sz="3200" dirty="0">
              <a:latin typeface="+mj-lt"/>
              <a:cs typeface="Arial" pitchFamily="34" charset="0"/>
            </a:endParaRPr>
          </a:p>
        </p:txBody>
      </p:sp>
    </p:spTree>
    <p:extLst>
      <p:ext uri="{BB962C8B-B14F-4D97-AF65-F5344CB8AC3E}">
        <p14:creationId xmlns:p14="http://schemas.microsoft.com/office/powerpoint/2010/main" val="3199647868"/>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Lef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692149" y="2743200"/>
            <a:ext cx="3535680" cy="36576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Top Content"/>
          <p:cNvSpPr>
            <a:spLocks noGrp="1"/>
          </p:cNvSpPr>
          <p:nvPr>
            <p:ph idx="10"/>
          </p:nvPr>
        </p:nvSpPr>
        <p:spPr>
          <a:xfrm>
            <a:off x="694944" y="914400"/>
            <a:ext cx="11094720" cy="18288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728369848"/>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1860621709"/>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Lesson Outline">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outline</a:t>
            </a:r>
          </a:p>
        </p:txBody>
      </p:sp>
      <p:sp>
        <p:nvSpPr>
          <p:cNvPr id="3" name="txt Topic Content"/>
          <p:cNvSpPr>
            <a:spLocks noGrp="1"/>
          </p:cNvSpPr>
          <p:nvPr>
            <p:ph idx="1" hasCustomPrompt="1"/>
          </p:nvPr>
        </p:nvSpPr>
        <p:spPr>
          <a:xfrm>
            <a:off x="692151" y="914400"/>
            <a:ext cx="11091333" cy="5486400"/>
          </a:xfrm>
        </p:spPr>
        <p:txBody>
          <a:bodyPr/>
          <a:lstStyle>
            <a:lvl1pPr marL="285750" indent="-285750" algn="l" rtl="0" eaLnBrk="0" fontAlgn="base" hangingPunct="0">
              <a:lnSpc>
                <a:spcPct val="150000"/>
              </a:lnSpc>
              <a:spcBef>
                <a:spcPct val="40000"/>
              </a:spcBef>
              <a:spcAft>
                <a:spcPct val="0"/>
              </a:spcAft>
              <a:buClr>
                <a:srgbClr val="04628C"/>
              </a:buClr>
              <a:buSzPct val="90000"/>
              <a:buFont typeface="Arial" charset="0"/>
              <a:buChar char="•"/>
              <a:defRPr lang="en-US" sz="2800" baseline="0" dirty="0" smtClean="0">
                <a:solidFill>
                  <a:srgbClr val="C0C0C0"/>
                </a:solidFill>
                <a:latin typeface="+mn-lt"/>
                <a:ea typeface="Calibri" pitchFamily="34" charset="0"/>
                <a:cs typeface="Calibri" pitchFamily="34" charset="0"/>
              </a:defRPr>
            </a:lvl1pPr>
            <a:lvl2pPr marL="400050" indent="0">
              <a:buClr>
                <a:srgbClr val="04628C"/>
              </a:buClr>
              <a:buFontTx/>
              <a:buNone/>
              <a:defRPr/>
            </a:lvl2pPr>
            <a:lvl3pPr marL="742950" indent="0">
              <a:buClr>
                <a:srgbClr val="04628C"/>
              </a:buClr>
              <a:buFontTx/>
              <a:buNone/>
              <a:defRPr/>
            </a:lvl3pPr>
            <a:lvl4pPr marL="1084263" indent="0">
              <a:buClr>
                <a:srgbClr val="04628C"/>
              </a:buClr>
              <a:buFontTx/>
              <a:buNone/>
              <a:defRPr/>
            </a:lvl4pPr>
            <a:lvl5pPr>
              <a:buClr>
                <a:srgbClr val="04628C"/>
              </a:buClr>
              <a:buFont typeface="Calibri" pitchFamily="34" charset="0"/>
              <a:buChar char="-"/>
              <a:defRPr/>
            </a:lvl5pPr>
          </a:lstStyle>
          <a:p>
            <a:pPr lvl="0"/>
            <a:r>
              <a:rPr lang="en-US" dirty="0"/>
              <a:t>Topic 01 (Current topic = black font color)</a:t>
            </a:r>
          </a:p>
          <a:p>
            <a:pPr lvl="0"/>
            <a:r>
              <a:rPr lang="en-US" dirty="0"/>
              <a:t>Topic 02</a:t>
            </a:r>
          </a:p>
          <a:p>
            <a:pPr lvl="0"/>
            <a:r>
              <a:rPr lang="en-US" dirty="0"/>
              <a:t>Topic 03</a:t>
            </a:r>
          </a:p>
          <a:p>
            <a:pPr lvl="0"/>
            <a:r>
              <a:rPr lang="en-US" dirty="0"/>
              <a:t>Topic 04</a:t>
            </a:r>
          </a:p>
          <a:p>
            <a:pPr lvl="0"/>
            <a:endParaRPr lang="en-US" dirty="0"/>
          </a:p>
        </p:txBody>
      </p:sp>
      <p:sp>
        <p:nvSpPr>
          <p:cNvPr id="5"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outline</a:t>
            </a:r>
          </a:p>
        </p:txBody>
      </p:sp>
      <p:sp>
        <p:nvSpPr>
          <p:cNvPr id="6" name="txt Title Fixed"/>
          <p:cNvSpPr txBox="1">
            <a:spLocks noChangeArrowheads="1"/>
          </p:cNvSpPr>
          <p:nvPr userDrawn="1"/>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outline</a:t>
            </a:r>
          </a:p>
        </p:txBody>
      </p:sp>
    </p:spTree>
    <p:extLst>
      <p:ext uri="{BB962C8B-B14F-4D97-AF65-F5344CB8AC3E}">
        <p14:creationId xmlns:p14="http://schemas.microsoft.com/office/powerpoint/2010/main" val="1370566639"/>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Righ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4" name="txt Right Col Content"/>
          <p:cNvSpPr>
            <a:spLocks noGrp="1"/>
          </p:cNvSpPr>
          <p:nvPr>
            <p:ph sz="half" idx="2"/>
          </p:nvPr>
        </p:nvSpPr>
        <p:spPr>
          <a:xfrm>
            <a:off x="8229600" y="914400"/>
            <a:ext cx="353568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xt Bottom Content"/>
          <p:cNvSpPr>
            <a:spLocks noGrp="1"/>
          </p:cNvSpPr>
          <p:nvPr>
            <p:ph idx="10"/>
          </p:nvPr>
        </p:nvSpPr>
        <p:spPr>
          <a:xfrm>
            <a:off x="694944" y="4572000"/>
            <a:ext cx="1109472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409623783"/>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Lesson Objectives">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objectives</a:t>
            </a:r>
          </a:p>
        </p:txBody>
      </p:sp>
      <p:sp>
        <p:nvSpPr>
          <p:cNvPr id="5" name="txt Print Instructions Fixed"/>
          <p:cNvSpPr>
            <a:spLocks noChangeArrowheads="1"/>
          </p:cNvSpPr>
          <p:nvPr/>
        </p:nvSpPr>
        <p:spPr bwMode="auto">
          <a:xfrm>
            <a:off x="711200" y="5791200"/>
            <a:ext cx="11074400" cy="99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p>
            <a:pPr marL="0" lvl="1" indent="0">
              <a:spcBef>
                <a:spcPct val="20000"/>
              </a:spcBef>
              <a:buSzPct val="90000"/>
              <a:buFont typeface="Wingdings 2" pitchFamily="18" charset="2"/>
              <a:buNone/>
            </a:pPr>
            <a:r>
              <a:rPr lang="en-US" sz="1600" b="0" dirty="0">
                <a:solidFill>
                  <a:schemeClr val="accent1"/>
                </a:solidFill>
              </a:rPr>
              <a:t>This lesson uses the notes section for additional explanation and information.</a:t>
            </a:r>
            <a:r>
              <a:rPr lang="en-US" sz="1600" dirty="0">
                <a:solidFill>
                  <a:schemeClr val="accent1"/>
                </a:solidFill>
              </a:rPr>
              <a:t> </a:t>
            </a:r>
            <a:br>
              <a:rPr lang="en-US" sz="1600" dirty="0">
                <a:solidFill>
                  <a:schemeClr val="accent1"/>
                </a:solidFill>
              </a:rPr>
            </a:br>
            <a:r>
              <a:rPr lang="en-US" sz="1600" b="0" dirty="0">
                <a:solidFill>
                  <a:schemeClr val="accent1"/>
                </a:solidFill>
              </a:rPr>
              <a:t>To view the notes in PowerPoint, select View </a:t>
            </a:r>
            <a:r>
              <a:rPr lang="en-US" sz="1600" b="0" dirty="0">
                <a:solidFill>
                  <a:schemeClr val="accent1"/>
                </a:solidFill>
                <a:sym typeface="Wingdings" pitchFamily="2" charset="2"/>
              </a:rPr>
              <a:t> Normal or </a:t>
            </a:r>
            <a:r>
              <a:rPr lang="en-US" sz="1600" b="0" dirty="0">
                <a:solidFill>
                  <a:schemeClr val="accent1"/>
                </a:solidFill>
              </a:rPr>
              <a:t>View </a:t>
            </a:r>
            <a:r>
              <a:rPr lang="en-US" sz="1600" b="0" dirty="0">
                <a:solidFill>
                  <a:schemeClr val="accent1"/>
                </a:solidFill>
                <a:sym typeface="Wingdings" pitchFamily="2" charset="2"/>
              </a:rPr>
              <a:t> </a:t>
            </a:r>
            <a:r>
              <a:rPr lang="en-US" sz="1600" b="0" dirty="0">
                <a:solidFill>
                  <a:schemeClr val="accent1"/>
                </a:solidFill>
              </a:rPr>
              <a:t>Notes Page. </a:t>
            </a:r>
            <a:br>
              <a:rPr lang="en-US" sz="1600" b="0" dirty="0">
                <a:solidFill>
                  <a:schemeClr val="accent1"/>
                </a:solidFill>
              </a:rPr>
            </a:br>
            <a:r>
              <a:rPr lang="en-US" sz="1600" b="0" dirty="0">
                <a:solidFill>
                  <a:schemeClr val="accent1"/>
                </a:solidFill>
              </a:rPr>
              <a:t>When printing </a:t>
            </a:r>
            <a:r>
              <a:rPr lang="en-US" sz="1600" dirty="0">
                <a:solidFill>
                  <a:schemeClr val="accent1"/>
                </a:solidFill>
              </a:rPr>
              <a:t>notes, select Note Pages and</a:t>
            </a:r>
            <a:r>
              <a:rPr lang="en-US" sz="1600" baseline="0" dirty="0">
                <a:solidFill>
                  <a:schemeClr val="accent1"/>
                </a:solidFill>
              </a:rPr>
              <a:t> </a:t>
            </a:r>
            <a:r>
              <a:rPr lang="en-US" sz="1600" b="0" dirty="0">
                <a:solidFill>
                  <a:schemeClr val="accent1"/>
                </a:solidFill>
              </a:rPr>
              <a:t>Print hidden slides.</a:t>
            </a:r>
          </a:p>
          <a:p>
            <a:pPr lvl="1" algn="l">
              <a:spcBef>
                <a:spcPct val="20000"/>
              </a:spcBef>
              <a:buSzPct val="90000"/>
              <a:buFont typeface="Wingdings 2" pitchFamily="18" charset="2"/>
              <a:buNone/>
            </a:pPr>
            <a:endParaRPr lang="en-US" sz="1400" b="0" dirty="0">
              <a:solidFill>
                <a:srgbClr val="AA3704"/>
              </a:solidFill>
            </a:endParaRPr>
          </a:p>
        </p:txBody>
      </p:sp>
      <p:sp>
        <p:nvSpPr>
          <p:cNvPr id="9" name="txt Content Fixed"/>
          <p:cNvSpPr/>
          <p:nvPr/>
        </p:nvSpPr>
        <p:spPr>
          <a:xfrm>
            <a:off x="694944" y="914400"/>
            <a:ext cx="1109472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a:solidFill>
                  <a:schemeClr val="bg1"/>
                </a:solidFill>
                <a:ea typeface="Calibri" pitchFamily="34" charset="0"/>
                <a:cs typeface="Calibri" pitchFamily="34" charset="0"/>
              </a:rPr>
              <a:t>By the end of this lesson, you should be able to:</a:t>
            </a:r>
          </a:p>
        </p:txBody>
      </p:sp>
      <p:sp>
        <p:nvSpPr>
          <p:cNvPr id="11" name="txt Content"/>
          <p:cNvSpPr>
            <a:spLocks noGrp="1"/>
          </p:cNvSpPr>
          <p:nvPr>
            <p:ph type="body" sz="quarter" idx="10" hasCustomPrompt="1"/>
          </p:nvPr>
        </p:nvSpPr>
        <p:spPr>
          <a:xfrm>
            <a:off x="694265" y="1344168"/>
            <a:ext cx="11094720" cy="4343400"/>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Identify…</a:t>
            </a:r>
          </a:p>
        </p:txBody>
      </p:sp>
    </p:spTree>
    <p:extLst>
      <p:ext uri="{BB962C8B-B14F-4D97-AF65-F5344CB8AC3E}">
        <p14:creationId xmlns:p14="http://schemas.microsoft.com/office/powerpoint/2010/main" val="795622096"/>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Lesson Objectives Review">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objectives review</a:t>
            </a:r>
          </a:p>
        </p:txBody>
      </p:sp>
      <p:sp>
        <p:nvSpPr>
          <p:cNvPr id="9" name="txt Content Fixed"/>
          <p:cNvSpPr/>
          <p:nvPr/>
        </p:nvSpPr>
        <p:spPr>
          <a:xfrm>
            <a:off x="694944" y="914400"/>
            <a:ext cx="1109472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a:solidFill>
                  <a:schemeClr val="bg1"/>
                </a:solidFill>
                <a:ea typeface="Calibri" pitchFamily="34" charset="0"/>
                <a:cs typeface="Calibri" pitchFamily="34" charset="0"/>
              </a:rPr>
              <a:t>You should now be able to:</a:t>
            </a:r>
          </a:p>
        </p:txBody>
      </p:sp>
      <p:sp>
        <p:nvSpPr>
          <p:cNvPr id="11" name="txt Content"/>
          <p:cNvSpPr>
            <a:spLocks noGrp="1"/>
          </p:cNvSpPr>
          <p:nvPr>
            <p:ph type="body" sz="quarter" idx="10" hasCustomPrompt="1"/>
          </p:nvPr>
        </p:nvSpPr>
        <p:spPr>
          <a:xfrm>
            <a:off x="694265" y="1344168"/>
            <a:ext cx="11094720" cy="5056632"/>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Identify…</a:t>
            </a:r>
          </a:p>
        </p:txBody>
      </p:sp>
    </p:spTree>
    <p:extLst>
      <p:ext uri="{BB962C8B-B14F-4D97-AF65-F5344CB8AC3E}">
        <p14:creationId xmlns:p14="http://schemas.microsoft.com/office/powerpoint/2010/main" val="1377342622"/>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Review Questions Standard">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Review</a:t>
            </a:r>
            <a:r>
              <a:rPr lang="en-US" sz="3200" dirty="0">
                <a:latin typeface="Arial" pitchFamily="34" charset="0"/>
                <a:cs typeface="Arial" pitchFamily="34" charset="0"/>
              </a:rPr>
              <a:t> questions</a:t>
            </a:r>
          </a:p>
        </p:txBody>
      </p:sp>
      <p:sp>
        <p:nvSpPr>
          <p:cNvPr id="3" name="txt Content"/>
          <p:cNvSpPr>
            <a:spLocks noGrp="1"/>
          </p:cNvSpPr>
          <p:nvPr>
            <p:ph idx="1" hasCustomPrompt="1"/>
          </p:nvPr>
        </p:nvSpPr>
        <p:spPr>
          <a:xfrm>
            <a:off x="692151" y="914400"/>
            <a:ext cx="11091333" cy="54864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sz="2400" baseline="0">
                <a:solidFill>
                  <a:schemeClr val="bg1"/>
                </a:solidFill>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a:t>Question…?</a:t>
            </a:r>
          </a:p>
          <a:p>
            <a:pPr lvl="0"/>
            <a:r>
              <a:rPr lang="en-US" dirty="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a:t>Question…?</a:t>
            </a:r>
          </a:p>
          <a:p>
            <a:pPr lvl="0"/>
            <a:endParaRPr lang="en-US" dirty="0"/>
          </a:p>
        </p:txBody>
      </p:sp>
      <p:sp>
        <p:nvSpPr>
          <p:cNvPr id="4" name="txt Title Fixed"/>
          <p:cNvSpPr txBox="1">
            <a:spLocks noChangeArrowheads="1"/>
          </p:cNvSpPr>
          <p:nvPr userDrawn="1"/>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Review</a:t>
            </a:r>
            <a:r>
              <a:rPr lang="en-US" sz="3200" dirty="0">
                <a:latin typeface="Arial" pitchFamily="34" charset="0"/>
                <a:cs typeface="Arial" pitchFamily="34" charset="0"/>
              </a:rPr>
              <a:t> questions</a:t>
            </a:r>
          </a:p>
        </p:txBody>
      </p:sp>
    </p:spTree>
    <p:extLst>
      <p:ext uri="{BB962C8B-B14F-4D97-AF65-F5344CB8AC3E}">
        <p14:creationId xmlns:p14="http://schemas.microsoft.com/office/powerpoint/2010/main" val="4292018842"/>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2_White Cover + Client Logo_Single">
    <p:spTree>
      <p:nvGrpSpPr>
        <p:cNvPr id="1" name=""/>
        <p:cNvGrpSpPr/>
        <p:nvPr/>
      </p:nvGrpSpPr>
      <p:grpSpPr>
        <a:xfrm>
          <a:off x="0" y="0"/>
          <a:ext cx="0" cy="0"/>
          <a:chOff x="0" y="0"/>
          <a:chExt cx="0" cy="0"/>
        </a:xfrm>
      </p:grpSpPr>
      <p:pic>
        <p:nvPicPr>
          <p:cNvPr id="19" name="Picture 18" descr="A close up of a sign&#10;&#10;Description automatically generated">
            <a:extLst>
              <a:ext uri="{FF2B5EF4-FFF2-40B4-BE49-F238E27FC236}">
                <a16:creationId xmlns:a16="http://schemas.microsoft.com/office/drawing/2014/main" id="{729CBCB3-DFC4-6A43-9125-F8D01C1DBC97}"/>
              </a:ext>
            </a:extLst>
          </p:cNvPr>
          <p:cNvPicPr>
            <a:picLocks noChangeAspect="1"/>
          </p:cNvPicPr>
          <p:nvPr/>
        </p:nvPicPr>
        <p:blipFill>
          <a:blip r:embed="rId2"/>
          <a:stretch>
            <a:fillRect/>
          </a:stretch>
        </p:blipFill>
        <p:spPr>
          <a:xfrm>
            <a:off x="175944" y="106136"/>
            <a:ext cx="4316545" cy="1562623"/>
          </a:xfrm>
          <a:prstGeom prst="rect">
            <a:avLst/>
          </a:prstGeom>
        </p:spPr>
      </p:pic>
      <p:sp>
        <p:nvSpPr>
          <p:cNvPr id="20" name="Picture Placeholder 3">
            <a:extLst>
              <a:ext uri="{FF2B5EF4-FFF2-40B4-BE49-F238E27FC236}">
                <a16:creationId xmlns:a16="http://schemas.microsoft.com/office/drawing/2014/main" id="{DF24104C-8FB7-894E-951E-C148D518F3FB}"/>
              </a:ext>
            </a:extLst>
          </p:cNvPr>
          <p:cNvSpPr>
            <a:spLocks noGrp="1"/>
          </p:cNvSpPr>
          <p:nvPr>
            <p:ph type="pic" sz="quarter" idx="14" hasCustomPrompt="1"/>
          </p:nvPr>
        </p:nvSpPr>
        <p:spPr>
          <a:xfrm>
            <a:off x="4685351" y="408955"/>
            <a:ext cx="3703276" cy="819151"/>
          </a:xfrm>
          <a:noFill/>
        </p:spPr>
        <p:txBody>
          <a:bodyPr anchor="ctr" anchorCtr="0"/>
          <a:lstStyle>
            <a:lvl1pPr algn="ctr">
              <a:defRPr>
                <a:solidFill>
                  <a:schemeClr val="tx2">
                    <a:lumMod val="75000"/>
                    <a:lumOff val="25000"/>
                  </a:schemeClr>
                </a:solidFill>
              </a:defRPr>
            </a:lvl1pPr>
          </a:lstStyle>
          <a:p>
            <a:r>
              <a:rPr lang="en-US" dirty="0"/>
              <a:t>Insert Client or Partner Logo Here</a:t>
            </a:r>
          </a:p>
        </p:txBody>
      </p:sp>
      <p:sp>
        <p:nvSpPr>
          <p:cNvPr id="13" name="Title 1">
            <a:extLst>
              <a:ext uri="{FF2B5EF4-FFF2-40B4-BE49-F238E27FC236}">
                <a16:creationId xmlns:a16="http://schemas.microsoft.com/office/drawing/2014/main" id="{05470BAA-EBF9-104C-B584-E602EA7C40D9}"/>
              </a:ext>
            </a:extLst>
          </p:cNvPr>
          <p:cNvSpPr>
            <a:spLocks noGrp="1"/>
          </p:cNvSpPr>
          <p:nvPr>
            <p:ph type="ctrTitle" hasCustomPrompt="1"/>
          </p:nvPr>
        </p:nvSpPr>
        <p:spPr bwMode="white">
          <a:xfrm>
            <a:off x="552219" y="2543354"/>
            <a:ext cx="11131783" cy="553998"/>
          </a:xfrm>
        </p:spPr>
        <p:txBody>
          <a:bodyPr wrap="square" anchor="ctr" anchorCtr="0">
            <a:spAutoFit/>
          </a:bodyPr>
          <a:lstStyle>
            <a:lvl1pPr algn="l">
              <a:defRPr sz="4000" b="1" i="0">
                <a:solidFill>
                  <a:schemeClr val="accent2"/>
                </a:solidFill>
                <a:latin typeface="Arial" panose="020B0604020202020204" pitchFamily="34" charset="0"/>
                <a:cs typeface="Arial" panose="020B0604020202020204" pitchFamily="34" charset="0"/>
              </a:defRPr>
            </a:lvl1pPr>
          </a:lstStyle>
          <a:p>
            <a:pPr lvl="0"/>
            <a:r>
              <a:rPr lang="en-US" dirty="0"/>
              <a:t>Single Line Title Here</a:t>
            </a:r>
          </a:p>
        </p:txBody>
      </p:sp>
      <p:sp>
        <p:nvSpPr>
          <p:cNvPr id="16" name="Text Placeholder 6">
            <a:extLst>
              <a:ext uri="{FF2B5EF4-FFF2-40B4-BE49-F238E27FC236}">
                <a16:creationId xmlns:a16="http://schemas.microsoft.com/office/drawing/2014/main" id="{8691E4B0-6503-2048-9FDD-2EABA64EA67C}"/>
              </a:ext>
            </a:extLst>
          </p:cNvPr>
          <p:cNvSpPr>
            <a:spLocks noGrp="1"/>
          </p:cNvSpPr>
          <p:nvPr>
            <p:ph type="body" sz="quarter" idx="12" hasCustomPrompt="1"/>
          </p:nvPr>
        </p:nvSpPr>
        <p:spPr>
          <a:xfrm>
            <a:off x="552218" y="3269358"/>
            <a:ext cx="11103597" cy="541969"/>
          </a:xfrm>
        </p:spPr>
        <p:txBody>
          <a:bodyPr anchor="ctr" anchorCtr="0">
            <a:noAutofit/>
          </a:bodyPr>
          <a:lstStyle>
            <a:lvl1pPr marL="0" indent="0">
              <a:buFont typeface="Arial" panose="020B0604020202020204" pitchFamily="34" charset="0"/>
              <a:buNone/>
              <a:defRPr sz="2000">
                <a:solidFill>
                  <a:schemeClr val="accent2"/>
                </a:solidFill>
              </a:defRPr>
            </a:lvl1pPr>
            <a:lvl2pPr marL="0" indent="0">
              <a:buNone/>
              <a:defRPr>
                <a:solidFill>
                  <a:schemeClr val="bg2"/>
                </a:solidFill>
              </a:defRPr>
            </a:lvl2pPr>
            <a:lvl3pPr marL="228600" indent="0">
              <a:buNone/>
              <a:defRPr/>
            </a:lvl3pPr>
          </a:lstStyle>
          <a:p>
            <a:pPr lvl="0"/>
            <a:r>
              <a:rPr lang="en-US" dirty="0"/>
              <a:t>Speaker’s Full Name or Subtitle</a:t>
            </a:r>
          </a:p>
        </p:txBody>
      </p:sp>
      <p:sp>
        <p:nvSpPr>
          <p:cNvPr id="18" name="Footer Placeholder 8">
            <a:extLst>
              <a:ext uri="{FF2B5EF4-FFF2-40B4-BE49-F238E27FC236}">
                <a16:creationId xmlns:a16="http://schemas.microsoft.com/office/drawing/2014/main" id="{ECF9ED1D-DD1B-3C44-B499-54A9BDCDF3C8}"/>
              </a:ext>
            </a:extLst>
          </p:cNvPr>
          <p:cNvSpPr>
            <a:spLocks noGrp="1"/>
          </p:cNvSpPr>
          <p:nvPr>
            <p:ph type="ftr" sz="quarter" idx="3"/>
          </p:nvPr>
        </p:nvSpPr>
        <p:spPr>
          <a:xfrm>
            <a:off x="508000" y="6260550"/>
            <a:ext cx="6096000" cy="249655"/>
          </a:xfrm>
          <a:prstGeom prst="rect">
            <a:avLst/>
          </a:prstGeom>
        </p:spPr>
        <p:txBody>
          <a:bodyPr vert="horz" lIns="0" tIns="0" rIns="0" bIns="0" rtlCol="0" anchor="b" anchorCtr="0"/>
          <a:lstStyle>
            <a:lvl1pPr algn="l">
              <a:defRPr sz="800">
                <a:solidFill>
                  <a:schemeClr val="accent2"/>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endParaRPr lang="en-US" dirty="0"/>
          </a:p>
        </p:txBody>
      </p:sp>
    </p:spTree>
    <p:extLst>
      <p:ext uri="{BB962C8B-B14F-4D97-AF65-F5344CB8AC3E}">
        <p14:creationId xmlns:p14="http://schemas.microsoft.com/office/powerpoint/2010/main" val="17819806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cSld name="Thank You Slide + Partner Log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499B342-4542-7F44-B4EF-9314EC77E720}"/>
              </a:ext>
            </a:extLst>
          </p:cNvPr>
          <p:cNvSpPr>
            <a:spLocks noGrp="1"/>
          </p:cNvSpPr>
          <p:nvPr>
            <p:ph type="pic" sz="quarter" idx="13" hasCustomPrompt="1"/>
          </p:nvPr>
        </p:nvSpPr>
        <p:spPr>
          <a:xfrm>
            <a:off x="9267837" y="5616679"/>
            <a:ext cx="2416164" cy="819563"/>
          </a:xfrm>
        </p:spPr>
        <p:txBody>
          <a:bodyPr anchor="ctr" anchorCtr="0">
            <a:normAutofit/>
          </a:bodyPr>
          <a:lstStyle>
            <a:lvl1pPr algn="ctr">
              <a:defRPr sz="1600"/>
            </a:lvl1pPr>
          </a:lstStyle>
          <a:p>
            <a:r>
              <a:rPr lang="en-US" dirty="0"/>
              <a:t>Client/Partner Logo Here</a:t>
            </a:r>
          </a:p>
        </p:txBody>
      </p:sp>
      <p:pic>
        <p:nvPicPr>
          <p:cNvPr id="12" name="Picture 11" descr="A close up of a sign&#10;&#10;Description automatically generated">
            <a:extLst>
              <a:ext uri="{FF2B5EF4-FFF2-40B4-BE49-F238E27FC236}">
                <a16:creationId xmlns:a16="http://schemas.microsoft.com/office/drawing/2014/main" id="{1E3CF8DA-271C-CB40-9A53-7C2CBDDD591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692316" y="5486401"/>
            <a:ext cx="3346032" cy="1211287"/>
          </a:xfrm>
          <a:prstGeom prst="rect">
            <a:avLst/>
          </a:prstGeom>
        </p:spPr>
      </p:pic>
      <p:sp>
        <p:nvSpPr>
          <p:cNvPr id="14" name="Text Placeholder 4">
            <a:extLst>
              <a:ext uri="{FF2B5EF4-FFF2-40B4-BE49-F238E27FC236}">
                <a16:creationId xmlns:a16="http://schemas.microsoft.com/office/drawing/2014/main" id="{8002238E-5B2E-B247-94DB-4A3ABA560FAF}"/>
              </a:ext>
            </a:extLst>
          </p:cNvPr>
          <p:cNvSpPr>
            <a:spLocks noGrp="1"/>
          </p:cNvSpPr>
          <p:nvPr>
            <p:ph type="body" sz="quarter" idx="11" hasCustomPrompt="1"/>
          </p:nvPr>
        </p:nvSpPr>
        <p:spPr>
          <a:xfrm>
            <a:off x="522177" y="3606065"/>
            <a:ext cx="10943344" cy="492443"/>
          </a:xfrm>
        </p:spPr>
        <p:txBody>
          <a:bodyPr wrap="square" anchor="ctr" anchorCtr="0">
            <a:spAutoFit/>
          </a:bodyPr>
          <a:lstStyle>
            <a:lvl1pPr algn="l">
              <a:defRPr sz="3200" b="0">
                <a:solidFill>
                  <a:schemeClr val="accent2"/>
                </a:solidFill>
              </a:defRPr>
            </a:lvl1pPr>
          </a:lstStyle>
          <a:p>
            <a:pPr lvl="0"/>
            <a:r>
              <a:rPr lang="en-US" dirty="0"/>
              <a:t>Name and Title</a:t>
            </a:r>
          </a:p>
        </p:txBody>
      </p:sp>
      <p:sp>
        <p:nvSpPr>
          <p:cNvPr id="15" name="Text Placeholder 4">
            <a:extLst>
              <a:ext uri="{FF2B5EF4-FFF2-40B4-BE49-F238E27FC236}">
                <a16:creationId xmlns:a16="http://schemas.microsoft.com/office/drawing/2014/main" id="{B3660F06-908D-324A-9D22-12DB921A123B}"/>
              </a:ext>
            </a:extLst>
          </p:cNvPr>
          <p:cNvSpPr>
            <a:spLocks noGrp="1"/>
          </p:cNvSpPr>
          <p:nvPr>
            <p:ph type="body" sz="quarter" idx="12" hasCustomPrompt="1"/>
          </p:nvPr>
        </p:nvSpPr>
        <p:spPr>
          <a:xfrm>
            <a:off x="522177" y="4196906"/>
            <a:ext cx="10943344" cy="369332"/>
          </a:xfrm>
        </p:spPr>
        <p:txBody>
          <a:bodyPr wrap="square" anchor="ctr" anchorCtr="0">
            <a:spAutoFit/>
          </a:bodyPr>
          <a:lstStyle>
            <a:lvl1pPr algn="l">
              <a:defRPr sz="2400" b="0">
                <a:solidFill>
                  <a:schemeClr val="accent4"/>
                </a:solidFill>
              </a:defRPr>
            </a:lvl1pPr>
          </a:lstStyle>
          <a:p>
            <a:pPr lvl="0"/>
            <a:r>
              <a:rPr lang="en-US" dirty="0"/>
              <a:t>Contact Information</a:t>
            </a:r>
          </a:p>
        </p:txBody>
      </p:sp>
      <p:sp>
        <p:nvSpPr>
          <p:cNvPr id="16" name="Title 1">
            <a:extLst>
              <a:ext uri="{FF2B5EF4-FFF2-40B4-BE49-F238E27FC236}">
                <a16:creationId xmlns:a16="http://schemas.microsoft.com/office/drawing/2014/main" id="{3E5196DC-63C2-DC4C-9AD0-F8EA668BF41B}"/>
              </a:ext>
            </a:extLst>
          </p:cNvPr>
          <p:cNvSpPr>
            <a:spLocks noGrp="1"/>
          </p:cNvSpPr>
          <p:nvPr>
            <p:ph type="ctrTitle" hasCustomPrompt="1"/>
          </p:nvPr>
        </p:nvSpPr>
        <p:spPr bwMode="white">
          <a:xfrm>
            <a:off x="522178" y="2221185"/>
            <a:ext cx="5426268" cy="1107996"/>
          </a:xfrm>
        </p:spPr>
        <p:txBody>
          <a:bodyPr wrap="square" anchor="t" anchorCtr="0">
            <a:spAutoFit/>
          </a:bodyPr>
          <a:lstStyle>
            <a:lvl1pPr algn="l">
              <a:defRPr sz="8000" b="0" i="0">
                <a:solidFill>
                  <a:schemeClr val="accent2"/>
                </a:solidFill>
                <a:latin typeface="Arial" panose="020B0604020202020204" pitchFamily="34" charset="0"/>
                <a:cs typeface="Arial" panose="020B0604020202020204" pitchFamily="34" charset="0"/>
              </a:defRPr>
            </a:lvl1pPr>
          </a:lstStyle>
          <a:p>
            <a:pPr lvl="0"/>
            <a:r>
              <a:rPr lang="en-US" dirty="0"/>
              <a:t>Thank You</a:t>
            </a:r>
          </a:p>
        </p:txBody>
      </p:sp>
      <p:cxnSp>
        <p:nvCxnSpPr>
          <p:cNvPr id="17" name="Straight Connector 16">
            <a:extLst>
              <a:ext uri="{FF2B5EF4-FFF2-40B4-BE49-F238E27FC236}">
                <a16:creationId xmlns:a16="http://schemas.microsoft.com/office/drawing/2014/main" id="{616FDEC5-70F3-8242-B371-DE69C53DE33E}"/>
              </a:ext>
            </a:extLst>
          </p:cNvPr>
          <p:cNvCxnSpPr>
            <a:cxnSpLocks/>
          </p:cNvCxnSpPr>
          <p:nvPr/>
        </p:nvCxnSpPr>
        <p:spPr>
          <a:xfrm>
            <a:off x="522177" y="3391088"/>
            <a:ext cx="8961120" cy="0"/>
          </a:xfrm>
          <a:prstGeom prst="line">
            <a:avLst/>
          </a:prstGeom>
          <a:ln>
            <a:solidFill>
              <a:srgbClr val="2D66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494230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cSld name="Blank Slide">
    <p:spTree>
      <p:nvGrpSpPr>
        <p:cNvPr id="1" name=""/>
        <p:cNvGrpSpPr/>
        <p:nvPr/>
      </p:nvGrpSpPr>
      <p:grpSpPr>
        <a:xfrm>
          <a:off x="0" y="0"/>
          <a:ext cx="0" cy="0"/>
          <a:chOff x="0" y="0"/>
          <a:chExt cx="0" cy="0"/>
        </a:xfrm>
      </p:grpSpPr>
      <p:sp>
        <p:nvSpPr>
          <p:cNvPr id="7" name="Title Placeholder 6"/>
          <p:cNvSpPr>
            <a:spLocks noGrp="1"/>
          </p:cNvSpPr>
          <p:nvPr>
            <p:ph type="body" sz="quarter" idx="10"/>
          </p:nvPr>
        </p:nvSpPr>
        <p:spPr>
          <a:xfrm>
            <a:off x="938784" y="1133856"/>
            <a:ext cx="10302240" cy="4425696"/>
          </a:xfrm>
          <a:ln>
            <a:noFill/>
          </a:ln>
        </p:spPr>
        <p:txBody>
          <a:bodyPr lIns="91440" tIns="45720" rIns="91440" bIns="45720" anchor="t" anchorCtr="0">
            <a:noAutofit/>
          </a:bodyPr>
          <a:lstStyle>
            <a:lvl1pPr>
              <a:defRPr sz="5867">
                <a:solidFill>
                  <a:srgbClr val="0032A1"/>
                </a:solidFill>
                <a:latin typeface="+mn-lt"/>
              </a:defRPr>
            </a:lvl1pPr>
          </a:lstStyle>
          <a:p>
            <a:pPr lvl="0"/>
            <a:r>
              <a:rPr lang="en-US"/>
              <a:t>Edit Master text styles</a:t>
            </a:r>
          </a:p>
        </p:txBody>
      </p:sp>
    </p:spTree>
    <p:extLst>
      <p:ext uri="{BB962C8B-B14F-4D97-AF65-F5344CB8AC3E}">
        <p14:creationId xmlns:p14="http://schemas.microsoft.com/office/powerpoint/2010/main" val="1240740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027" name="txt Title"/>
          <p:cNvSpPr>
            <a:spLocks noGrp="1" noChangeArrowheads="1"/>
          </p:cNvSpPr>
          <p:nvPr>
            <p:ph type="title"/>
          </p:nvPr>
        </p:nvSpPr>
        <p:spPr bwMode="auto">
          <a:xfrm>
            <a:off x="658368" y="118873"/>
            <a:ext cx="1109472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dirty="0"/>
              <a:t>Click to edit Master title style</a:t>
            </a:r>
          </a:p>
        </p:txBody>
      </p:sp>
      <p:sp>
        <p:nvSpPr>
          <p:cNvPr id="1028" name="txt Content"/>
          <p:cNvSpPr>
            <a:spLocks noGrp="1" noChangeArrowheads="1"/>
          </p:cNvSpPr>
          <p:nvPr>
            <p:ph type="body" idx="1"/>
          </p:nvPr>
        </p:nvSpPr>
        <p:spPr bwMode="auto">
          <a:xfrm>
            <a:off x="694944" y="914400"/>
            <a:ext cx="1109472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dirty="0"/>
              <a:t>Click to edit Master text styles </a:t>
            </a:r>
          </a:p>
          <a:p>
            <a:pPr lvl="1"/>
            <a:r>
              <a:rPr lang="en-US" altLang="en-US" dirty="0"/>
              <a:t>Second level</a:t>
            </a:r>
          </a:p>
          <a:p>
            <a:pPr lvl="2"/>
            <a:r>
              <a:rPr lang="en-US" altLang="en-US" dirty="0"/>
              <a:t>Third level</a:t>
            </a:r>
          </a:p>
          <a:p>
            <a:pPr lvl="3"/>
            <a:r>
              <a:rPr lang="en-US" altLang="en-US" dirty="0"/>
              <a:t>Fourth level</a:t>
            </a:r>
          </a:p>
        </p:txBody>
      </p:sp>
      <p:sp>
        <p:nvSpPr>
          <p:cNvPr id="1127" name="txt Centered PageNumberBox"/>
          <p:cNvSpPr txBox="1">
            <a:spLocks noChangeArrowheads="1"/>
          </p:cNvSpPr>
          <p:nvPr/>
        </p:nvSpPr>
        <p:spPr bwMode="auto">
          <a:xfrm>
            <a:off x="5743154" y="6475147"/>
            <a:ext cx="692151" cy="227013"/>
          </a:xfrm>
          <a:prstGeom prst="rect">
            <a:avLst/>
          </a:prstGeom>
          <a:noFill/>
          <a:ln w="6350" algn="ctr">
            <a:noFill/>
            <a:miter lim="800000"/>
            <a:headEnd/>
            <a:tailEnd/>
          </a:ln>
          <a:effectLst/>
        </p:spPr>
        <p:txBody>
          <a:bodyPr lIns="0" tIns="0" rIns="0" bIns="0"/>
          <a:lstStyle/>
          <a:p>
            <a:pPr algn="ctr">
              <a:lnSpc>
                <a:spcPts val="1800"/>
              </a:lnSpc>
              <a:spcBef>
                <a:spcPts val="600"/>
              </a:spcBef>
              <a:buFont typeface="Wingdings" pitchFamily="2" charset="2"/>
              <a:buNone/>
              <a:defRPr/>
            </a:pPr>
            <a:fld id="{FABFFE1B-5FD5-480D-9A32-98AB62D1BF82}" type="slidenum">
              <a:rPr lang="en-US" sz="1200">
                <a:solidFill>
                  <a:srgbClr val="B2B2B2"/>
                </a:solidFill>
                <a:latin typeface="Arial" pitchFamily="34" charset="0"/>
                <a:cs typeface="Arial" pitchFamily="34" charset="0"/>
              </a:rPr>
              <a:pPr algn="ctr">
                <a:lnSpc>
                  <a:spcPts val="1800"/>
                </a:lnSpc>
                <a:spcBef>
                  <a:spcPts val="600"/>
                </a:spcBef>
                <a:buFont typeface="Wingdings" pitchFamily="2" charset="2"/>
                <a:buNone/>
                <a:defRPr/>
              </a:pPr>
              <a:t>‹#›</a:t>
            </a:fld>
            <a:r>
              <a:rPr lang="en-US" sz="1800" i="1" dirty="0">
                <a:solidFill>
                  <a:srgbClr val="B2B2B2"/>
                </a:solidFill>
                <a:cs typeface="Times New Roman" pitchFamily="18" charset="0"/>
              </a:rPr>
              <a:t> </a:t>
            </a:r>
          </a:p>
        </p:txBody>
      </p:sp>
    </p:spTree>
    <p:extLst>
      <p:ext uri="{BB962C8B-B14F-4D97-AF65-F5344CB8AC3E}">
        <p14:creationId xmlns:p14="http://schemas.microsoft.com/office/powerpoint/2010/main" val="338705985"/>
      </p:ext>
    </p:extLst>
  </p:cSld>
  <p:clrMap bg1="dk2" tx1="lt1" bg2="dk1" tx2="lt2" accent1="accent1" accent2="accent2" accent3="accent3" accent4="accent4" accent5="accent5" accent6="accent6" hlink="hlink" folHlink="folHlink"/>
  <p:sldLayoutIdLst>
    <p:sldLayoutId id="2147483765" r:id="rId1"/>
    <p:sldLayoutId id="2147483767" r:id="rId2"/>
    <p:sldLayoutId id="2147483768" r:id="rId3"/>
    <p:sldLayoutId id="2147483770" r:id="rId4"/>
    <p:sldLayoutId id="2147483771" r:id="rId5"/>
    <p:sldLayoutId id="2147483772" r:id="rId6"/>
    <p:sldLayoutId id="2147483773" r:id="rId7"/>
    <p:sldLayoutId id="2147483774" r:id="rId8"/>
    <p:sldLayoutId id="2147483777" r:id="rId9"/>
    <p:sldLayoutId id="2147483779" r:id="rId10"/>
    <p:sldLayoutId id="2147483781" r:id="rId11"/>
    <p:sldLayoutId id="2147483783" r:id="rId12"/>
    <p:sldLayoutId id="2147483788" r:id="rId13"/>
    <p:sldLayoutId id="2147483792" r:id="rId14"/>
    <p:sldLayoutId id="2147483793" r:id="rId15"/>
    <p:sldLayoutId id="2147483794" r:id="rId16"/>
    <p:sldLayoutId id="2147483795" r:id="rId17"/>
    <p:sldLayoutId id="2147483799" r:id="rId18"/>
    <p:sldLayoutId id="2147483800" r:id="rId19"/>
    <p:sldLayoutId id="2147483801" r:id="rId20"/>
    <p:sldLayoutId id="2147483804" r:id="rId21"/>
    <p:sldLayoutId id="2147483805" r:id="rId22"/>
    <p:sldLayoutId id="2147483807" r:id="rId23"/>
  </p:sldLayoutIdLst>
  <p:transition/>
  <p:hf sldNum="0" hdr="0" ftr="0" dt="0"/>
  <p:txStyles>
    <p:title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p:titleStyle>
    <p:body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image" Target="../media/image4.emf"/><Relationship Id="rId7" Type="http://schemas.openxmlformats.org/officeDocument/2006/relationships/image" Target="../media/image8.emf"/><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7.emf"/><Relationship Id="rId5" Type="http://schemas.openxmlformats.org/officeDocument/2006/relationships/image" Target="../media/image6.emf"/><Relationship Id="rId4" Type="http://schemas.openxmlformats.org/officeDocument/2006/relationships/image" Target="../media/image5.emf"/></Relationships>
</file>

<file path=ppt/slides/_rels/slide7.xml.rels><?xml version="1.0" encoding="UTF-8" standalone="yes"?>
<Relationships xmlns="http://schemas.openxmlformats.org/package/2006/relationships"><Relationship Id="rId3" Type="http://schemas.openxmlformats.org/officeDocument/2006/relationships/image" Target="../media/image10.emf"/><Relationship Id="rId7" Type="http://schemas.openxmlformats.org/officeDocument/2006/relationships/image" Target="../media/image9.emf"/><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4.emf"/><Relationship Id="rId5" Type="http://schemas.openxmlformats.org/officeDocument/2006/relationships/image" Target="../media/image12.emf"/><Relationship Id="rId4" Type="http://schemas.openxmlformats.org/officeDocument/2006/relationships/image" Target="../media/image11.emf"/></Relationships>
</file>

<file path=ppt/slides/_rels/slide8.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image" Target="../media/image4.emf"/><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4.emf"/><Relationship Id="rId11" Type="http://schemas.openxmlformats.org/officeDocument/2006/relationships/image" Target="../media/image19.emf"/><Relationship Id="rId5" Type="http://schemas.openxmlformats.org/officeDocument/2006/relationships/image" Target="../media/image13.png"/><Relationship Id="rId10" Type="http://schemas.openxmlformats.org/officeDocument/2006/relationships/image" Target="../media/image18.emf"/><Relationship Id="rId4" Type="http://schemas.openxmlformats.org/officeDocument/2006/relationships/image" Target="../media/image12.emf"/><Relationship Id="rId9" Type="http://schemas.openxmlformats.org/officeDocument/2006/relationships/image" Target="../media/image17.emf"/></Relationships>
</file>

<file path=ppt/slides/_rels/slide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9.emf"/><Relationship Id="rId7" Type="http://schemas.openxmlformats.org/officeDocument/2006/relationships/image" Target="../media/image11.emf"/><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7.emf"/><Relationship Id="rId5" Type="http://schemas.openxmlformats.org/officeDocument/2006/relationships/image" Target="../media/image13.png"/><Relationship Id="rId4" Type="http://schemas.openxmlformats.org/officeDocument/2006/relationships/image" Target="../media/image10.emf"/><Relationship Id="rId9" Type="http://schemas.openxmlformats.org/officeDocument/2006/relationships/image" Target="../media/image16.emf"/></Relationships>
</file>

<file path=ppt/slides/_rels/slide10.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9.xml"/><Relationship Id="rId1" Type="http://schemas.openxmlformats.org/officeDocument/2006/relationships/slideLayout" Target="../slideLayouts/slideLayout10.xml"/><Relationship Id="rId5" Type="http://schemas.openxmlformats.org/officeDocument/2006/relationships/image" Target="../media/image22.emf"/><Relationship Id="rId4" Type="http://schemas.openxmlformats.org/officeDocument/2006/relationships/image" Target="../media/image21.emf"/></Relationships>
</file>

<file path=ppt/slides/_rels/slide11.xml.rels><?xml version="1.0" encoding="UTF-8" standalone="yes"?>
<Relationships xmlns="http://schemas.openxmlformats.org/package/2006/relationships"><Relationship Id="rId3" Type="http://schemas.openxmlformats.org/officeDocument/2006/relationships/image" Target="../media/image23.emf"/><Relationship Id="rId7" Type="http://schemas.openxmlformats.org/officeDocument/2006/relationships/image" Target="../media/image19.emf"/><Relationship Id="rId2" Type="http://schemas.openxmlformats.org/officeDocument/2006/relationships/notesSlide" Target="../notesSlides/notesSlide10.xml"/><Relationship Id="rId1" Type="http://schemas.openxmlformats.org/officeDocument/2006/relationships/slideLayout" Target="../slideLayouts/slideLayout10.xml"/><Relationship Id="rId6" Type="http://schemas.openxmlformats.org/officeDocument/2006/relationships/image" Target="../media/image24.emf"/><Relationship Id="rId5" Type="http://schemas.openxmlformats.org/officeDocument/2006/relationships/image" Target="../media/image22.emf"/><Relationship Id="rId4" Type="http://schemas.openxmlformats.org/officeDocument/2006/relationships/image" Target="../media/image21.e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9.emf"/><Relationship Id="rId7"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1.xml"/><Relationship Id="rId6" Type="http://schemas.openxmlformats.org/officeDocument/2006/relationships/image" Target="../media/image12.emf"/><Relationship Id="rId5" Type="http://schemas.openxmlformats.org/officeDocument/2006/relationships/image" Target="../media/image14.emf"/><Relationship Id="rId4" Type="http://schemas.openxmlformats.org/officeDocument/2006/relationships/image" Target="../media/image16.emf"/></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8.emf"/><Relationship Id="rId5" Type="http://schemas.openxmlformats.org/officeDocument/2006/relationships/image" Target="../media/image11.emf"/><Relationship Id="rId4" Type="http://schemas.openxmlformats.org/officeDocument/2006/relationships/image" Target="../media/image10.emf"/></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11.emf"/><Relationship Id="rId4" Type="http://schemas.openxmlformats.org/officeDocument/2006/relationships/image" Target="../media/image10.emf"/></Relationships>
</file>

<file path=ppt/slides/_rels/slide19.xml.rels><?xml version="1.0" encoding="UTF-8" standalone="yes"?>
<Relationships xmlns="http://schemas.openxmlformats.org/package/2006/relationships"><Relationship Id="rId3" Type="http://schemas.openxmlformats.org/officeDocument/2006/relationships/image" Target="../media/image29.emf"/><Relationship Id="rId7" Type="http://schemas.openxmlformats.org/officeDocument/2006/relationships/image" Target="../media/image32.emf"/><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image" Target="../media/image31.emf"/><Relationship Id="rId5" Type="http://schemas.openxmlformats.org/officeDocument/2006/relationships/image" Target="../media/image30.emf"/><Relationship Id="rId4" Type="http://schemas.openxmlformats.org/officeDocument/2006/relationships/image" Target="../media/image11.emf"/></Relationships>
</file>

<file path=ppt/slides/_rels/slide20.xml.rels><?xml version="1.0" encoding="UTF-8" standalone="yes"?>
<Relationships xmlns="http://schemas.openxmlformats.org/package/2006/relationships"><Relationship Id="rId3" Type="http://schemas.openxmlformats.org/officeDocument/2006/relationships/image" Target="../media/image10.emf"/><Relationship Id="rId7" Type="http://schemas.openxmlformats.org/officeDocument/2006/relationships/image" Target="../media/image9.emf"/><Relationship Id="rId2" Type="http://schemas.openxmlformats.org/officeDocument/2006/relationships/notesSlide" Target="../notesSlides/notesSlide19.xml"/><Relationship Id="rId1" Type="http://schemas.openxmlformats.org/officeDocument/2006/relationships/slideLayout" Target="../slideLayouts/slideLayout15.xml"/><Relationship Id="rId6" Type="http://schemas.openxmlformats.org/officeDocument/2006/relationships/image" Target="../media/image5.emf"/><Relationship Id="rId5" Type="http://schemas.openxmlformats.org/officeDocument/2006/relationships/image" Target="../media/image12.emf"/><Relationship Id="rId4" Type="http://schemas.openxmlformats.org/officeDocument/2006/relationships/image" Target="../media/image11.e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8" Type="http://schemas.openxmlformats.org/officeDocument/2006/relationships/image" Target="../media/image5.emf"/><Relationship Id="rId13" Type="http://schemas.openxmlformats.org/officeDocument/2006/relationships/image" Target="../media/image19.emf"/><Relationship Id="rId3" Type="http://schemas.openxmlformats.org/officeDocument/2006/relationships/notesSlide" Target="../notesSlides/notesSlide21.xml"/><Relationship Id="rId7" Type="http://schemas.openxmlformats.org/officeDocument/2006/relationships/image" Target="../media/image33.emf"/><Relationship Id="rId12" Type="http://schemas.openxmlformats.org/officeDocument/2006/relationships/image" Target="../media/image14.emf"/><Relationship Id="rId2" Type="http://schemas.openxmlformats.org/officeDocument/2006/relationships/slideLayout" Target="../slideLayouts/slideLayout4.xml"/><Relationship Id="rId1" Type="http://schemas.openxmlformats.org/officeDocument/2006/relationships/themeOverride" Target="../theme/themeOverride1.xml"/><Relationship Id="rId6" Type="http://schemas.openxmlformats.org/officeDocument/2006/relationships/image" Target="../media/image18.emf"/><Relationship Id="rId11" Type="http://schemas.openxmlformats.org/officeDocument/2006/relationships/image" Target="../media/image8.emf"/><Relationship Id="rId5" Type="http://schemas.openxmlformats.org/officeDocument/2006/relationships/image" Target="../media/image11.emf"/><Relationship Id="rId10" Type="http://schemas.openxmlformats.org/officeDocument/2006/relationships/image" Target="../media/image7.emf"/><Relationship Id="rId4" Type="http://schemas.openxmlformats.org/officeDocument/2006/relationships/image" Target="../media/image10.emf"/><Relationship Id="rId9" Type="http://schemas.openxmlformats.org/officeDocument/2006/relationships/image" Target="../media/image6.emf"/></Relationships>
</file>

<file path=ppt/slides/_rels/slide2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22.xml"/><Relationship Id="rId1" Type="http://schemas.openxmlformats.org/officeDocument/2006/relationships/slideLayout" Target="../slideLayouts/slideLayout17.xml"/><Relationship Id="rId6" Type="http://schemas.openxmlformats.org/officeDocument/2006/relationships/image" Target="../media/image19.emf"/><Relationship Id="rId5" Type="http://schemas.openxmlformats.org/officeDocument/2006/relationships/image" Target="../media/image14.emf"/><Relationship Id="rId4" Type="http://schemas.openxmlformats.org/officeDocument/2006/relationships/image" Target="../media/image11.em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24.xml"/><Relationship Id="rId1" Type="http://schemas.openxmlformats.org/officeDocument/2006/relationships/slideLayout" Target="../slideLayouts/slideLayout17.xml"/><Relationship Id="rId6" Type="http://schemas.openxmlformats.org/officeDocument/2006/relationships/image" Target="../media/image5.emf"/><Relationship Id="rId5" Type="http://schemas.openxmlformats.org/officeDocument/2006/relationships/image" Target="../media/image14.emf"/><Relationship Id="rId4" Type="http://schemas.openxmlformats.org/officeDocument/2006/relationships/image" Target="../media/image11.e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26.xml"/><Relationship Id="rId1" Type="http://schemas.openxmlformats.org/officeDocument/2006/relationships/slideLayout" Target="../slideLayouts/slideLayout17.xml"/><Relationship Id="rId6" Type="http://schemas.openxmlformats.org/officeDocument/2006/relationships/image" Target="../media/image14.emf"/><Relationship Id="rId5" Type="http://schemas.openxmlformats.org/officeDocument/2006/relationships/image" Target="../media/image18.emf"/><Relationship Id="rId4" Type="http://schemas.openxmlformats.org/officeDocument/2006/relationships/image" Target="../media/image11.emf"/></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28.emf"/><Relationship Id="rId5" Type="http://schemas.openxmlformats.org/officeDocument/2006/relationships/image" Target="../media/image10.emf"/><Relationship Id="rId4" Type="http://schemas.openxmlformats.org/officeDocument/2006/relationships/image" Target="../media/image11.e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8" Type="http://schemas.openxmlformats.org/officeDocument/2006/relationships/image" Target="../media/image34.emf"/><Relationship Id="rId3" Type="http://schemas.openxmlformats.org/officeDocument/2006/relationships/image" Target="../media/image10.emf"/><Relationship Id="rId7" Type="http://schemas.openxmlformats.org/officeDocument/2006/relationships/image" Target="../media/image12.emf"/><Relationship Id="rId2" Type="http://schemas.openxmlformats.org/officeDocument/2006/relationships/notesSlide" Target="../notesSlides/notesSlide33.xml"/><Relationship Id="rId1" Type="http://schemas.openxmlformats.org/officeDocument/2006/relationships/slideLayout" Target="../slideLayouts/slideLayout8.xml"/><Relationship Id="rId6" Type="http://schemas.openxmlformats.org/officeDocument/2006/relationships/image" Target="../media/image19.emf"/><Relationship Id="rId5" Type="http://schemas.openxmlformats.org/officeDocument/2006/relationships/image" Target="../media/image14.emf"/><Relationship Id="rId4" Type="http://schemas.openxmlformats.org/officeDocument/2006/relationships/image" Target="../media/image11.emf"/></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8" Type="http://schemas.openxmlformats.org/officeDocument/2006/relationships/image" Target="../media/image41.emf"/><Relationship Id="rId3" Type="http://schemas.openxmlformats.org/officeDocument/2006/relationships/image" Target="../media/image36.emf"/><Relationship Id="rId7" Type="http://schemas.openxmlformats.org/officeDocument/2006/relationships/image" Target="../media/image40.emf"/><Relationship Id="rId2" Type="http://schemas.openxmlformats.org/officeDocument/2006/relationships/notesSlide" Target="../notesSlides/notesSlide39.xml"/><Relationship Id="rId1" Type="http://schemas.openxmlformats.org/officeDocument/2006/relationships/slideLayout" Target="../slideLayouts/slideLayout14.xml"/><Relationship Id="rId6" Type="http://schemas.openxmlformats.org/officeDocument/2006/relationships/image" Target="../media/image39.emf"/><Relationship Id="rId5" Type="http://schemas.openxmlformats.org/officeDocument/2006/relationships/image" Target="../media/image38.emf"/><Relationship Id="rId4" Type="http://schemas.openxmlformats.org/officeDocument/2006/relationships/image" Target="../media/image37.emf"/><Relationship Id="rId9" Type="http://schemas.openxmlformats.org/officeDocument/2006/relationships/image" Target="../media/image17.emf"/></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0.xml"/></Relationships>
</file>

<file path=ppt/slides/_rels/slide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p:cNvPicPr>
            <a:picLocks noGrp="1" noChangeAspect="1"/>
          </p:cNvPicPr>
          <p:nvPr>
            <p:ph type="pic" sz="quarter" idx="14"/>
          </p:nvPr>
        </p:nvPicPr>
        <p:blipFill>
          <a:blip r:embed="rId2" cstate="print">
            <a:extLst>
              <a:ext uri="{28A0092B-C50C-407E-A947-70E740481C1C}">
                <a14:useLocalDpi xmlns:a14="http://schemas.microsoft.com/office/drawing/2010/main" val="0"/>
              </a:ext>
            </a:extLst>
          </a:blip>
          <a:srcRect t="30086" b="30086"/>
          <a:stretch>
            <a:fillRect/>
          </a:stretch>
        </p:blipFill>
        <p:spPr>
          <a:xfrm>
            <a:off x="5088272" y="370848"/>
            <a:ext cx="2777457" cy="819151"/>
          </a:xfrm>
        </p:spPr>
      </p:pic>
      <p:sp>
        <p:nvSpPr>
          <p:cNvPr id="3" name="Title 2"/>
          <p:cNvSpPr>
            <a:spLocks noGrp="1"/>
          </p:cNvSpPr>
          <p:nvPr>
            <p:ph type="ctrTitle"/>
          </p:nvPr>
        </p:nvSpPr>
        <p:spPr>
          <a:xfrm>
            <a:off x="762000" y="2667000"/>
            <a:ext cx="8348837" cy="553998"/>
          </a:xfrm>
        </p:spPr>
        <p:txBody>
          <a:bodyPr/>
          <a:lstStyle/>
          <a:p>
            <a:r>
              <a:rPr lang="en-US" dirty="0">
                <a:solidFill>
                  <a:srgbClr val="04628C"/>
                </a:solidFill>
              </a:rPr>
              <a:t>InsuranceSuite 10 Integration</a:t>
            </a:r>
          </a:p>
        </p:txBody>
      </p:sp>
      <p:sp>
        <p:nvSpPr>
          <p:cNvPr id="2" name="Rectangle 1"/>
          <p:cNvSpPr/>
          <p:nvPr/>
        </p:nvSpPr>
        <p:spPr>
          <a:xfrm>
            <a:off x="4310896" y="3244334"/>
            <a:ext cx="3570208" cy="369332"/>
          </a:xfrm>
          <a:prstGeom prst="rect">
            <a:avLst/>
          </a:prstGeom>
        </p:spPr>
        <p:txBody>
          <a:bodyPr wrap="none">
            <a:spAutoFit/>
          </a:bodyPr>
          <a:lstStyle/>
          <a:p>
            <a:r>
              <a:rPr lang="en-US" dirty="0"/>
              <a:t>InsuranceSuite 10 Fundamentals</a:t>
            </a:r>
          </a:p>
        </p:txBody>
      </p:sp>
      <p:sp>
        <p:nvSpPr>
          <p:cNvPr id="8" name="Title 2"/>
          <p:cNvSpPr txBox="1">
            <a:spLocks/>
          </p:cNvSpPr>
          <p:nvPr/>
        </p:nvSpPr>
        <p:spPr bwMode="white">
          <a:xfrm>
            <a:off x="1143000" y="5139999"/>
            <a:ext cx="8348837" cy="332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spAutoFit/>
          </a:bodyPr>
          <a:lstStyle>
            <a:lvl1pPr algn="l" rtl="0" eaLnBrk="1" fontAlgn="base" hangingPunct="1">
              <a:lnSpc>
                <a:spcPct val="90000"/>
              </a:lnSpc>
              <a:spcBef>
                <a:spcPct val="0"/>
              </a:spcBef>
              <a:spcAft>
                <a:spcPct val="0"/>
              </a:spcAft>
              <a:defRPr sz="4000" b="1" i="0">
                <a:solidFill>
                  <a:schemeClr val="accent2"/>
                </a:solidFill>
                <a:latin typeface="Arial" panose="020B0604020202020204" pitchFamily="34" charset="0"/>
                <a:ea typeface="Arial" pitchFamily="34" charset="0"/>
                <a:cs typeface="Arial" panose="020B0604020202020204"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2400" b="0" kern="0" dirty="0">
                <a:solidFill>
                  <a:srgbClr val="00B0F0"/>
                </a:solidFill>
              </a:rPr>
              <a:t>GOSU </a:t>
            </a:r>
            <a:r>
              <a:rPr lang="en-US" sz="2400" b="0" dirty="0">
                <a:solidFill>
                  <a:srgbClr val="00B0F0"/>
                </a:solidFill>
                <a:ea typeface="+mn-ea"/>
              </a:rPr>
              <a:t>BUNDLES</a:t>
            </a:r>
          </a:p>
        </p:txBody>
      </p:sp>
    </p:spTree>
    <p:extLst>
      <p:ext uri="{BB962C8B-B14F-4D97-AF65-F5344CB8AC3E}">
        <p14:creationId xmlns:p14="http://schemas.microsoft.com/office/powerpoint/2010/main" val="35155937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pPr lvl="1"/>
            <a:r>
              <a:rPr lang="en-US" dirty="0"/>
              <a:t>Describe bundle context</a:t>
            </a:r>
          </a:p>
          <a:p>
            <a:pPr lvl="1"/>
            <a:r>
              <a:rPr lang="en-US" dirty="0"/>
              <a:t>Differentiate between read-only and writable bundles</a:t>
            </a:r>
          </a:p>
          <a:p>
            <a:pPr lvl="1"/>
            <a:r>
              <a:rPr lang="en-US" dirty="0"/>
              <a:t>Recall the API methods for creating and committing bundles</a:t>
            </a:r>
          </a:p>
          <a:p>
            <a:pPr lvl="1"/>
            <a:r>
              <a:rPr lang="en-US" dirty="0"/>
              <a:t>Add a read-only entity to a writable bundle and edit the entity</a:t>
            </a:r>
          </a:p>
          <a:p>
            <a:pPr lvl="1"/>
            <a:r>
              <a:rPr lang="en-US" dirty="0"/>
              <a:t>Create and edit a new entity in a writable bundle</a:t>
            </a:r>
          </a:p>
          <a:p>
            <a:pPr lvl="1"/>
            <a:r>
              <a:rPr lang="en-US" dirty="0"/>
              <a:t>Edit entity foreign key values in a writable bundle</a:t>
            </a:r>
          </a:p>
          <a:p>
            <a:pPr lvl="1"/>
            <a:r>
              <a:rPr lang="en-US" dirty="0"/>
              <a:t>Reference original values for edited entity fields</a:t>
            </a:r>
          </a:p>
          <a:p>
            <a:endParaRPr lang="en-US" dirty="0"/>
          </a:p>
        </p:txBody>
      </p:sp>
    </p:spTree>
    <p:extLst>
      <p:ext uri="{BB962C8B-B14F-4D97-AF65-F5344CB8AC3E}">
        <p14:creationId xmlns:p14="http://schemas.microsoft.com/office/powerpoint/2010/main" val="428230578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solidFill>
                  <a:schemeClr val="bg1"/>
                </a:solidFill>
              </a:rPr>
              <a:t>Database transactions and bundles</a:t>
            </a:r>
          </a:p>
          <a:p>
            <a:r>
              <a:rPr lang="en-US" dirty="0"/>
              <a:t>Current and new bundles</a:t>
            </a:r>
          </a:p>
          <a:p>
            <a:r>
              <a:rPr lang="en-US" dirty="0"/>
              <a:t>Read-only entities and bundles</a:t>
            </a:r>
          </a:p>
          <a:p>
            <a:r>
              <a:rPr lang="en-US" dirty="0"/>
              <a:t>New entities and bundles</a:t>
            </a:r>
          </a:p>
          <a:p>
            <a:r>
              <a:rPr lang="en-US" dirty="0"/>
              <a:t>Additional bundle functionality</a:t>
            </a:r>
          </a:p>
          <a:p>
            <a:endParaRPr lang="en-US" dirty="0"/>
          </a:p>
        </p:txBody>
      </p:sp>
    </p:spTree>
    <p:extLst>
      <p:ext uri="{BB962C8B-B14F-4D97-AF65-F5344CB8AC3E}">
        <p14:creationId xmlns:p14="http://schemas.microsoft.com/office/powerpoint/2010/main" val="226996936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Database transactions</a:t>
            </a:r>
          </a:p>
        </p:txBody>
      </p:sp>
      <p:sp>
        <p:nvSpPr>
          <p:cNvPr id="5" name="Content Placeholder 4"/>
          <p:cNvSpPr>
            <a:spLocks noGrp="1"/>
          </p:cNvSpPr>
          <p:nvPr>
            <p:ph idx="1"/>
          </p:nvPr>
        </p:nvSpPr>
        <p:spPr>
          <a:xfrm>
            <a:off x="2043113" y="2775126"/>
            <a:ext cx="8318500" cy="3625674"/>
          </a:xfrm>
        </p:spPr>
        <p:txBody>
          <a:bodyPr/>
          <a:lstStyle/>
          <a:p>
            <a:r>
              <a:rPr lang="en-US" dirty="0"/>
              <a:t>A database transaction is a set of data manipulation statements that are acted upon as a unit</a:t>
            </a:r>
          </a:p>
          <a:p>
            <a:r>
              <a:rPr lang="en-US" dirty="0"/>
              <a:t>Either all statements succeed or none execute</a:t>
            </a:r>
          </a:p>
          <a:p>
            <a:pPr lvl="1"/>
            <a:r>
              <a:rPr lang="en-US" dirty="0"/>
              <a:t>If any statement in a transaction fails, then all statements are undone, or "rolled back"</a:t>
            </a:r>
          </a:p>
          <a:p>
            <a:r>
              <a:rPr lang="en-US" dirty="0"/>
              <a:t>A commit occurs when a transaction completes successfully</a:t>
            </a:r>
          </a:p>
          <a:p>
            <a:pPr lvl="1"/>
            <a:r>
              <a:rPr lang="en-US" dirty="0"/>
              <a:t>All changes to the data are now permanent</a:t>
            </a:r>
          </a:p>
          <a:p>
            <a:endParaRPr lang="en-US" dirty="0"/>
          </a:p>
        </p:txBody>
      </p:sp>
      <p:grpSp>
        <p:nvGrpSpPr>
          <p:cNvPr id="6" name="Group 4"/>
          <p:cNvGrpSpPr>
            <a:grpSpLocks/>
          </p:cNvGrpSpPr>
          <p:nvPr/>
        </p:nvGrpSpPr>
        <p:grpSpPr bwMode="auto">
          <a:xfrm>
            <a:off x="4343401" y="958617"/>
            <a:ext cx="3216275" cy="1538323"/>
            <a:chOff x="2550" y="975"/>
            <a:chExt cx="1799" cy="835"/>
          </a:xfrm>
          <a:solidFill>
            <a:schemeClr val="tx1"/>
          </a:solidFill>
          <a:effectLst>
            <a:outerShdw blurRad="50800" dist="38100" dir="2700000" algn="tl" rotWithShape="0">
              <a:prstClr val="black">
                <a:alpha val="40000"/>
              </a:prstClr>
            </a:outerShdw>
          </a:effectLst>
        </p:grpSpPr>
        <p:sp>
          <p:nvSpPr>
            <p:cNvPr id="8" name="AutoShape 6"/>
            <p:cNvSpPr>
              <a:spLocks noChangeArrowheads="1"/>
            </p:cNvSpPr>
            <p:nvPr/>
          </p:nvSpPr>
          <p:spPr bwMode="auto">
            <a:xfrm>
              <a:off x="2550" y="1307"/>
              <a:ext cx="1799" cy="171"/>
            </a:xfrm>
            <a:prstGeom prst="foldedCorner">
              <a:avLst>
                <a:gd name="adj" fmla="val 12500"/>
              </a:avLst>
            </a:prstGeom>
            <a:grpFill/>
            <a:ln w="19050">
              <a:solidFill>
                <a:schemeClr val="bg1"/>
              </a:solidFill>
              <a:round/>
              <a:headEnd/>
              <a:tailEnd/>
            </a:ln>
          </p:spPr>
          <p:txBody>
            <a:bodyPr lIns="0" tIns="0" rIns="0" bIns="0" anchor="ctr">
              <a:spAutoFit/>
            </a:bodyPr>
            <a:lstStyle/>
            <a:p>
              <a:endParaRPr lang="en-US" dirty="0"/>
            </a:p>
          </p:txBody>
        </p:sp>
        <p:sp>
          <p:nvSpPr>
            <p:cNvPr id="7" name="Text Box 5"/>
            <p:cNvSpPr txBox="1">
              <a:spLocks noChangeArrowheads="1"/>
            </p:cNvSpPr>
            <p:nvPr/>
          </p:nvSpPr>
          <p:spPr bwMode="auto">
            <a:xfrm>
              <a:off x="2643" y="975"/>
              <a:ext cx="1619" cy="835"/>
            </a:xfrm>
            <a:prstGeom prst="rect">
              <a:avLst/>
            </a:prstGeom>
            <a:noFill/>
            <a:ln>
              <a:noFill/>
            </a:ln>
            <a:extLs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2000" dirty="0">
                  <a:solidFill>
                    <a:srgbClr val="800080"/>
                  </a:solidFill>
                  <a:latin typeface="Courier New" pitchFamily="49" charset="0"/>
                </a:rPr>
                <a:t>begin transaction</a:t>
              </a:r>
              <a:br>
                <a:rPr lang="en-US" sz="2000" dirty="0">
                  <a:solidFill>
                    <a:srgbClr val="800080"/>
                  </a:solidFill>
                  <a:latin typeface="Courier New" pitchFamily="49" charset="0"/>
                </a:rPr>
              </a:br>
              <a:r>
                <a:rPr lang="en-US" sz="2000" dirty="0">
                  <a:solidFill>
                    <a:srgbClr val="800080"/>
                  </a:solidFill>
                  <a:latin typeface="Courier New" pitchFamily="49" charset="0"/>
                </a:rPr>
                <a:t>   insert…</a:t>
              </a:r>
              <a:br>
                <a:rPr lang="en-US" sz="2000" dirty="0">
                  <a:solidFill>
                    <a:srgbClr val="800080"/>
                  </a:solidFill>
                  <a:latin typeface="Courier New" pitchFamily="49" charset="0"/>
                </a:rPr>
              </a:br>
              <a:r>
                <a:rPr lang="en-US" sz="2000" dirty="0">
                  <a:solidFill>
                    <a:srgbClr val="800080"/>
                  </a:solidFill>
                  <a:latin typeface="Courier New" pitchFamily="49" charset="0"/>
                </a:rPr>
                <a:t>   update…</a:t>
              </a:r>
            </a:p>
            <a:p>
              <a:pPr algn="l"/>
              <a:r>
                <a:rPr lang="en-US" sz="2000" dirty="0">
                  <a:solidFill>
                    <a:srgbClr val="800080"/>
                  </a:solidFill>
                  <a:latin typeface="Courier New" pitchFamily="49" charset="0"/>
                </a:rPr>
                <a:t>   delete…</a:t>
              </a:r>
              <a:br>
                <a:rPr lang="en-US" sz="2000" dirty="0">
                  <a:solidFill>
                    <a:srgbClr val="800080"/>
                  </a:solidFill>
                  <a:latin typeface="Courier New" pitchFamily="49" charset="0"/>
                </a:rPr>
              </a:br>
              <a:r>
                <a:rPr lang="en-US" sz="2000" dirty="0">
                  <a:solidFill>
                    <a:srgbClr val="800080"/>
                  </a:solidFill>
                  <a:latin typeface="Courier New" pitchFamily="49" charset="0"/>
                </a:rPr>
                <a:t>commit</a:t>
              </a:r>
            </a:p>
          </p:txBody>
        </p:sp>
      </p:grpSp>
      <p:pic>
        <p:nvPicPr>
          <p:cNvPr id="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796902"/>
            <a:ext cx="1525162" cy="18617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9258129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8372456"/>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05988" y="1455684"/>
            <a:ext cx="1705975" cy="208246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ounded Rectangle 3"/>
          <p:cNvSpPr/>
          <p:nvPr/>
        </p:nvSpPr>
        <p:spPr bwMode="auto">
          <a:xfrm>
            <a:off x="2133600" y="1066800"/>
            <a:ext cx="3962400" cy="2667000"/>
          </a:xfrm>
          <a:prstGeom prst="roundRect">
            <a:avLst>
              <a:gd name="adj" fmla="val 5596"/>
            </a:avLst>
          </a:prstGeom>
          <a:solidFill>
            <a:schemeClr val="tx1"/>
          </a:solidFill>
          <a:ln w="28575" algn="ctr">
            <a:solidFill>
              <a:schemeClr val="accent6">
                <a:lumMod val="75000"/>
              </a:schemeClr>
            </a:solidFill>
            <a:prstDash val="sysDash"/>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dirty="0"/>
              <a:t>Bundles</a:t>
            </a:r>
          </a:p>
        </p:txBody>
      </p:sp>
      <p:sp>
        <p:nvSpPr>
          <p:cNvPr id="3" name="Content Placeholder 2"/>
          <p:cNvSpPr>
            <a:spLocks noGrp="1"/>
          </p:cNvSpPr>
          <p:nvPr>
            <p:ph idx="1"/>
          </p:nvPr>
        </p:nvSpPr>
        <p:spPr>
          <a:xfrm>
            <a:off x="2043113" y="4038600"/>
            <a:ext cx="8318500" cy="2362200"/>
          </a:xfrm>
        </p:spPr>
        <p:txBody>
          <a:bodyPr/>
          <a:lstStyle/>
          <a:p>
            <a:r>
              <a:rPr lang="en-US" dirty="0"/>
              <a:t>A </a:t>
            </a:r>
            <a:r>
              <a:rPr lang="en-US" b="1" dirty="0"/>
              <a:t>bundle</a:t>
            </a:r>
            <a:r>
              <a:rPr lang="en-US" dirty="0"/>
              <a:t> is a set of in-memory entity instances that represent rows in the database</a:t>
            </a:r>
          </a:p>
          <a:p>
            <a:pPr lvl="1"/>
            <a:r>
              <a:rPr lang="en-US" dirty="0"/>
              <a:t>Includes new entities, changed entities, and deleted entities</a:t>
            </a:r>
          </a:p>
          <a:p>
            <a:r>
              <a:rPr lang="en-US" dirty="0"/>
              <a:t>Guidewire applications transmit and save all entity instances in a bundle to the database in a </a:t>
            </a:r>
            <a:r>
              <a:rPr lang="en-US" i="1" dirty="0"/>
              <a:t>transaction</a:t>
            </a:r>
            <a:r>
              <a:rPr lang="en-US" b="1" i="1" dirty="0"/>
              <a:t> </a:t>
            </a:r>
            <a:endParaRPr lang="en-US" i="1" dirty="0"/>
          </a:p>
          <a:p>
            <a:endParaRPr lang="en-US" i="1" dirty="0"/>
          </a:p>
          <a:p>
            <a:endParaRPr lang="en-US" dirty="0"/>
          </a:p>
        </p:txBody>
      </p:sp>
      <p:pic>
        <p:nvPicPr>
          <p:cNvPr id="7"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574487" y="1295400"/>
            <a:ext cx="670032" cy="77282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TextBox 8"/>
          <p:cNvSpPr txBox="1"/>
          <p:nvPr/>
        </p:nvSpPr>
        <p:spPr>
          <a:xfrm>
            <a:off x="2057400" y="2016180"/>
            <a:ext cx="1704206" cy="414336"/>
          </a:xfrm>
          <a:prstGeom prst="rect">
            <a:avLst/>
          </a:prstGeom>
          <a:noFill/>
        </p:spPr>
        <p:txBody>
          <a:bodyPr wrap="square" rtlCol="0">
            <a:noAutofit/>
          </a:bodyPr>
          <a:lstStyle/>
          <a:p>
            <a:pPr algn="ctr"/>
            <a:r>
              <a:rPr lang="en-US" dirty="0">
                <a:solidFill>
                  <a:schemeClr val="bg1"/>
                </a:solidFill>
                <a:latin typeface="Arial" pitchFamily="32" charset="0"/>
                <a:cs typeface="Arial" pitchFamily="32" charset="0"/>
              </a:rPr>
              <a:t>anABContact</a:t>
            </a:r>
          </a:p>
        </p:txBody>
      </p:sp>
      <p:sp>
        <p:nvSpPr>
          <p:cNvPr id="14" name="TextBox 13"/>
          <p:cNvSpPr txBox="1"/>
          <p:nvPr/>
        </p:nvSpPr>
        <p:spPr>
          <a:xfrm>
            <a:off x="3477394" y="2176464"/>
            <a:ext cx="1704206" cy="414336"/>
          </a:xfrm>
          <a:prstGeom prst="rect">
            <a:avLst/>
          </a:prstGeom>
          <a:noFill/>
        </p:spPr>
        <p:txBody>
          <a:bodyPr wrap="square" rtlCol="0">
            <a:noAutofit/>
          </a:bodyPr>
          <a:lstStyle/>
          <a:p>
            <a:pPr algn="ctr"/>
            <a:r>
              <a:rPr lang="en-US" dirty="0" err="1">
                <a:solidFill>
                  <a:schemeClr val="bg1"/>
                </a:solidFill>
                <a:latin typeface="Arial" pitchFamily="32" charset="0"/>
                <a:cs typeface="Arial" pitchFamily="32" charset="0"/>
              </a:rPr>
              <a:t>aFlagEntry</a:t>
            </a:r>
            <a:endParaRPr lang="en-US" dirty="0">
              <a:solidFill>
                <a:schemeClr val="bg1"/>
              </a:solidFill>
              <a:latin typeface="Arial" pitchFamily="32" charset="0"/>
              <a:cs typeface="Arial" pitchFamily="32" charset="0"/>
            </a:endParaRPr>
          </a:p>
        </p:txBody>
      </p:sp>
      <p:sp>
        <p:nvSpPr>
          <p:cNvPr id="16" name="TextBox 15"/>
          <p:cNvSpPr txBox="1"/>
          <p:nvPr/>
        </p:nvSpPr>
        <p:spPr>
          <a:xfrm>
            <a:off x="2362200" y="3095135"/>
            <a:ext cx="1704206" cy="414336"/>
          </a:xfrm>
          <a:prstGeom prst="rect">
            <a:avLst/>
          </a:prstGeom>
          <a:noFill/>
        </p:spPr>
        <p:txBody>
          <a:bodyPr wrap="square" rtlCol="0">
            <a:noAutofit/>
          </a:bodyPr>
          <a:lstStyle/>
          <a:p>
            <a:pPr algn="ctr"/>
            <a:r>
              <a:rPr lang="en-US" dirty="0" err="1">
                <a:solidFill>
                  <a:schemeClr val="bg1"/>
                </a:solidFill>
                <a:latin typeface="Arial" pitchFamily="32" charset="0"/>
                <a:cs typeface="Arial" pitchFamily="32" charset="0"/>
              </a:rPr>
              <a:t>aBankAcount</a:t>
            </a:r>
            <a:endParaRPr lang="en-US" dirty="0">
              <a:solidFill>
                <a:schemeClr val="bg1"/>
              </a:solidFill>
              <a:latin typeface="Arial" pitchFamily="32" charset="0"/>
              <a:cs typeface="Arial" pitchFamily="32" charset="0"/>
            </a:endParaRPr>
          </a:p>
        </p:txBody>
      </p:sp>
      <p:pic>
        <p:nvPicPr>
          <p:cNvPr id="2053"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879287" y="2384716"/>
            <a:ext cx="670032" cy="77282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5" name="Picture 7"/>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994481" y="1455684"/>
            <a:ext cx="670032" cy="77282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6" name="Picture 8"/>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403287" y="2555538"/>
            <a:ext cx="670032" cy="77282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4" name="TextBox 23"/>
          <p:cNvSpPr txBox="1"/>
          <p:nvPr/>
        </p:nvSpPr>
        <p:spPr>
          <a:xfrm>
            <a:off x="3886200" y="3243264"/>
            <a:ext cx="1704206" cy="414336"/>
          </a:xfrm>
          <a:prstGeom prst="rect">
            <a:avLst/>
          </a:prstGeom>
          <a:noFill/>
        </p:spPr>
        <p:txBody>
          <a:bodyPr wrap="square" rtlCol="0">
            <a:noAutofit/>
          </a:bodyPr>
          <a:lstStyle/>
          <a:p>
            <a:pPr algn="ctr"/>
            <a:r>
              <a:rPr lang="en-US" dirty="0" err="1">
                <a:solidFill>
                  <a:schemeClr val="bg1"/>
                </a:solidFill>
                <a:latin typeface="Arial" pitchFamily="32" charset="0"/>
                <a:cs typeface="Arial" pitchFamily="32" charset="0"/>
              </a:rPr>
              <a:t>aLegalCase</a:t>
            </a:r>
            <a:endParaRPr lang="en-US" dirty="0">
              <a:solidFill>
                <a:schemeClr val="bg1"/>
              </a:solidFill>
              <a:latin typeface="Arial" pitchFamily="32" charset="0"/>
              <a:cs typeface="Arial" pitchFamily="32" charset="0"/>
            </a:endParaRPr>
          </a:p>
        </p:txBody>
      </p:sp>
      <p:sp>
        <p:nvSpPr>
          <p:cNvPr id="5" name="Rounded Rectangle 4"/>
          <p:cNvSpPr/>
          <p:nvPr/>
        </p:nvSpPr>
        <p:spPr bwMode="auto">
          <a:xfrm>
            <a:off x="4830816" y="916557"/>
            <a:ext cx="1219200" cy="379645"/>
          </a:xfrm>
          <a:prstGeom prst="roundRect">
            <a:avLst/>
          </a:prstGeom>
          <a:solidFill>
            <a:schemeClr val="tx1"/>
          </a:solidFill>
          <a:ln w="19050" algn="ctr">
            <a:solidFill>
              <a:schemeClr val="accent6">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a:solidFill>
                  <a:schemeClr val="bg1"/>
                </a:solidFill>
              </a:rPr>
              <a:t>Bundle</a:t>
            </a:r>
          </a:p>
        </p:txBody>
      </p:sp>
      <p:pic>
        <p:nvPicPr>
          <p:cNvPr id="2058" name="Picture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40417" y="949597"/>
            <a:ext cx="2040553" cy="229942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arw Left-Right"/>
          <p:cNvSpPr/>
          <p:nvPr/>
        </p:nvSpPr>
        <p:spPr bwMode="auto">
          <a:xfrm>
            <a:off x="7391400" y="2109158"/>
            <a:ext cx="1524000" cy="405442"/>
          </a:xfrm>
          <a:prstGeom prst="lef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1503572717"/>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ounded Rectangle 21"/>
          <p:cNvSpPr/>
          <p:nvPr/>
        </p:nvSpPr>
        <p:spPr bwMode="auto">
          <a:xfrm>
            <a:off x="2133600" y="1066800"/>
            <a:ext cx="3962400" cy="2667000"/>
          </a:xfrm>
          <a:prstGeom prst="roundRect">
            <a:avLst>
              <a:gd name="adj" fmla="val 5596"/>
            </a:avLst>
          </a:prstGeom>
          <a:solidFill>
            <a:schemeClr val="tx1"/>
          </a:solidFill>
          <a:ln w="28575" algn="ctr">
            <a:solidFill>
              <a:schemeClr val="accent6">
                <a:lumMod val="75000"/>
              </a:schemeClr>
            </a:solidFill>
            <a:prstDash val="sysDash"/>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dirty="0"/>
              <a:t>Committing a bundle</a:t>
            </a:r>
          </a:p>
        </p:txBody>
      </p:sp>
      <p:sp>
        <p:nvSpPr>
          <p:cNvPr id="9" name="Content Placeholder 8"/>
          <p:cNvSpPr>
            <a:spLocks noGrp="1"/>
          </p:cNvSpPr>
          <p:nvPr>
            <p:ph idx="1"/>
          </p:nvPr>
        </p:nvSpPr>
        <p:spPr>
          <a:xfrm>
            <a:off x="2043113" y="3810000"/>
            <a:ext cx="8318500" cy="2590800"/>
          </a:xfrm>
        </p:spPr>
        <p:txBody>
          <a:bodyPr/>
          <a:lstStyle/>
          <a:p>
            <a:r>
              <a:rPr lang="en-US" dirty="0"/>
              <a:t>Creating and saving a new entity</a:t>
            </a:r>
          </a:p>
          <a:p>
            <a:r>
              <a:rPr lang="en-US" dirty="0"/>
              <a:t>Updating an existing entity </a:t>
            </a:r>
          </a:p>
          <a:p>
            <a:r>
              <a:rPr lang="en-US" dirty="0"/>
              <a:t>Saving all entities in the bundle to the database</a:t>
            </a:r>
          </a:p>
          <a:p>
            <a:r>
              <a:rPr lang="en-US" dirty="0"/>
              <a:t>Commits are transactional in nature</a:t>
            </a:r>
          </a:p>
          <a:p>
            <a:pPr lvl="1"/>
            <a:r>
              <a:rPr lang="en-US" dirty="0"/>
              <a:t>Successfully attempt occurs in single transaction</a:t>
            </a:r>
          </a:p>
          <a:p>
            <a:pPr lvl="1"/>
            <a:r>
              <a:rPr lang="en-US" dirty="0"/>
              <a:t>A failure rolls back transaction</a:t>
            </a:r>
          </a:p>
        </p:txBody>
      </p:sp>
      <p:sp>
        <p:nvSpPr>
          <p:cNvPr id="12" name="Text Box 9"/>
          <p:cNvSpPr txBox="1">
            <a:spLocks noChangeArrowheads="1"/>
          </p:cNvSpPr>
          <p:nvPr/>
        </p:nvSpPr>
        <p:spPr bwMode="auto">
          <a:xfrm>
            <a:off x="2368494" y="2546787"/>
            <a:ext cx="13430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defPPr>
              <a:defRPr lang="en-US"/>
            </a:defPPr>
            <a:lvl1pPr algn="ctr">
              <a:defRPr b="1">
                <a:solidFill>
                  <a:schemeClr val="bg1"/>
                </a:solidFill>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a:t>Modified</a:t>
            </a:r>
          </a:p>
        </p:txBody>
      </p:sp>
      <p:sp>
        <p:nvSpPr>
          <p:cNvPr id="13" name="Text Box 10"/>
          <p:cNvSpPr txBox="1">
            <a:spLocks noChangeArrowheads="1"/>
          </p:cNvSpPr>
          <p:nvPr/>
        </p:nvSpPr>
        <p:spPr bwMode="auto">
          <a:xfrm>
            <a:off x="3810000" y="3239950"/>
            <a:ext cx="15240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a:solidFill>
                  <a:schemeClr val="bg1"/>
                </a:solidFill>
                <a:latin typeface="+mn-lt"/>
              </a:rPr>
              <a:t>New</a:t>
            </a:r>
          </a:p>
        </p:txBody>
      </p:sp>
      <p:grpSp>
        <p:nvGrpSpPr>
          <p:cNvPr id="14" name="Group 13"/>
          <p:cNvGrpSpPr/>
          <p:nvPr/>
        </p:nvGrpSpPr>
        <p:grpSpPr>
          <a:xfrm>
            <a:off x="4096269" y="2001280"/>
            <a:ext cx="1063857" cy="1114188"/>
            <a:chOff x="643455" y="4906583"/>
            <a:chExt cx="1063857" cy="1114188"/>
          </a:xfrm>
        </p:grpSpPr>
        <p:pic>
          <p:nvPicPr>
            <p:cNvPr id="1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3455" y="4906583"/>
              <a:ext cx="969368" cy="1113898"/>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1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19200" y="5550584"/>
              <a:ext cx="488112" cy="470187"/>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7"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57868" y="1391210"/>
            <a:ext cx="1153650" cy="110570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05988" y="1455684"/>
            <a:ext cx="1705975" cy="208246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3" name="Rounded Rectangle 22"/>
          <p:cNvSpPr/>
          <p:nvPr/>
        </p:nvSpPr>
        <p:spPr bwMode="auto">
          <a:xfrm>
            <a:off x="4830816" y="916557"/>
            <a:ext cx="1219200" cy="379645"/>
          </a:xfrm>
          <a:prstGeom prst="roundRect">
            <a:avLst/>
          </a:prstGeom>
          <a:solidFill>
            <a:schemeClr val="tx1"/>
          </a:solidFill>
          <a:ln w="19050" algn="ctr">
            <a:solidFill>
              <a:schemeClr val="accent6">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a:solidFill>
                  <a:schemeClr val="bg1"/>
                </a:solidFill>
              </a:rPr>
              <a:t>Bundle</a:t>
            </a:r>
          </a:p>
        </p:txBody>
      </p:sp>
      <p:pic>
        <p:nvPicPr>
          <p:cNvPr id="24"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40417" y="949597"/>
            <a:ext cx="2040553" cy="229942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5" name="arw Left-Right"/>
          <p:cNvSpPr/>
          <p:nvPr/>
        </p:nvSpPr>
        <p:spPr bwMode="auto">
          <a:xfrm>
            <a:off x="7391400" y="2109158"/>
            <a:ext cx="1524000" cy="405442"/>
          </a:xfrm>
          <a:prstGeom prst="lef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3063582397"/>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icn Database Transac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1600" y="4419600"/>
            <a:ext cx="1525162" cy="18617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Right Arrow 17"/>
          <p:cNvSpPr/>
          <p:nvPr/>
        </p:nvSpPr>
        <p:spPr bwMode="auto">
          <a:xfrm>
            <a:off x="7772401" y="5250070"/>
            <a:ext cx="1578281" cy="464931"/>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pic>
        <p:nvPicPr>
          <p:cNvPr id="1028" name="icn Bundle Writabl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14661" y="4748171"/>
            <a:ext cx="1532410" cy="146872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0" name="Right Arrow 29"/>
          <p:cNvSpPr/>
          <p:nvPr/>
        </p:nvSpPr>
        <p:spPr bwMode="auto">
          <a:xfrm rot="5400000">
            <a:off x="7251486" y="4555651"/>
            <a:ext cx="737026" cy="464931"/>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dirty="0"/>
              <a:t>Bundle types</a:t>
            </a:r>
          </a:p>
        </p:txBody>
      </p:sp>
      <p:sp>
        <p:nvSpPr>
          <p:cNvPr id="7" name="Subtitle 6"/>
          <p:cNvSpPr>
            <a:spLocks noGrp="1"/>
          </p:cNvSpPr>
          <p:nvPr>
            <p:ph type="subTitle" idx="10"/>
          </p:nvPr>
        </p:nvSpPr>
        <p:spPr/>
        <p:txBody>
          <a:bodyPr/>
          <a:lstStyle/>
          <a:p>
            <a:r>
              <a:rPr lang="en-US" dirty="0"/>
              <a:t>Read-only bundle</a:t>
            </a:r>
          </a:p>
        </p:txBody>
      </p:sp>
      <p:sp>
        <p:nvSpPr>
          <p:cNvPr id="8" name="Text Placeholder 7"/>
          <p:cNvSpPr>
            <a:spLocks noGrp="1"/>
          </p:cNvSpPr>
          <p:nvPr>
            <p:ph type="body" sz="quarter" idx="11"/>
          </p:nvPr>
        </p:nvSpPr>
        <p:spPr/>
        <p:txBody>
          <a:bodyPr/>
          <a:lstStyle/>
          <a:p>
            <a:r>
              <a:rPr lang="en-US" dirty="0"/>
              <a:t>Writable bundle</a:t>
            </a:r>
          </a:p>
        </p:txBody>
      </p:sp>
      <p:sp>
        <p:nvSpPr>
          <p:cNvPr id="4" name="Content Placeholder 3"/>
          <p:cNvSpPr>
            <a:spLocks noGrp="1"/>
          </p:cNvSpPr>
          <p:nvPr>
            <p:ph sz="half" idx="2"/>
          </p:nvPr>
        </p:nvSpPr>
        <p:spPr/>
        <p:txBody>
          <a:bodyPr/>
          <a:lstStyle/>
          <a:p>
            <a:r>
              <a:rPr lang="en-US" dirty="0"/>
              <a:t>Objects that are being edited or deleted in the user interface, an application process, or in code</a:t>
            </a:r>
          </a:p>
          <a:p>
            <a:endParaRPr lang="en-US" dirty="0"/>
          </a:p>
        </p:txBody>
      </p:sp>
      <p:sp>
        <p:nvSpPr>
          <p:cNvPr id="3" name="Content Placeholder 2"/>
          <p:cNvSpPr>
            <a:spLocks noGrp="1"/>
          </p:cNvSpPr>
          <p:nvPr>
            <p:ph sz="half" idx="1"/>
          </p:nvPr>
        </p:nvSpPr>
        <p:spPr/>
        <p:txBody>
          <a:bodyPr/>
          <a:lstStyle/>
          <a:p>
            <a:r>
              <a:rPr lang="en-US" dirty="0"/>
              <a:t>Objects retrieved from a database query</a:t>
            </a:r>
          </a:p>
          <a:p>
            <a:r>
              <a:rPr lang="en-US" dirty="0"/>
              <a:t>Foreign key entities of a related entity </a:t>
            </a:r>
            <a:r>
              <a:rPr lang="en-US" b="1" i="1" dirty="0"/>
              <a:t>already</a:t>
            </a:r>
            <a:r>
              <a:rPr lang="en-US" dirty="0"/>
              <a:t> in a read-only bundle</a:t>
            </a:r>
          </a:p>
        </p:txBody>
      </p:sp>
      <p:pic>
        <p:nvPicPr>
          <p:cNvPr id="2050" name="Picture 2"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67211" y="1143000"/>
            <a:ext cx="2957513" cy="5175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icn Bundle ReadOnly_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19600" y="4171026"/>
            <a:ext cx="1027230" cy="108830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 name="icn Guidewire Application Context" descr="icon_TrainingApp"/>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345049" y="3523935"/>
            <a:ext cx="769612" cy="76836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icn Guidewire UI Context"/>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89940" y="3523935"/>
            <a:ext cx="860118" cy="7373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9" name="icn Guidewire Code Context"/>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165782" y="3523935"/>
            <a:ext cx="825818" cy="94329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3" name="arw 1"/>
          <p:cNvSpPr/>
          <p:nvPr/>
        </p:nvSpPr>
        <p:spPr bwMode="auto">
          <a:xfrm>
            <a:off x="2743201" y="4371234"/>
            <a:ext cx="1741640" cy="464931"/>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pic>
        <p:nvPicPr>
          <p:cNvPr id="2055" name="icn Bundle ReadOnly_FK"/>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19600" y="5259335"/>
            <a:ext cx="1027230" cy="108760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7" name="arw 2"/>
          <p:cNvSpPr/>
          <p:nvPr/>
        </p:nvSpPr>
        <p:spPr bwMode="auto">
          <a:xfrm>
            <a:off x="2887511" y="5478670"/>
            <a:ext cx="1578281" cy="464931"/>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pic>
        <p:nvPicPr>
          <p:cNvPr id="26" name="icn Bundle ReadOnly_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33600" y="5221799"/>
            <a:ext cx="1027230" cy="108830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9" name="icn Database Query"/>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33600" y="4111330"/>
            <a:ext cx="838200" cy="107027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6677335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cn Curre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6029" y="4568134"/>
            <a:ext cx="1758151" cy="19812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icn Bew Bundl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18913" y="4794109"/>
            <a:ext cx="1287626" cy="1479607"/>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Right Arrow 13"/>
          <p:cNvSpPr/>
          <p:nvPr/>
        </p:nvSpPr>
        <p:spPr bwMode="auto">
          <a:xfrm>
            <a:off x="7500817" y="5309892"/>
            <a:ext cx="838200" cy="464931"/>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dirty="0"/>
              <a:t>Bundle context</a:t>
            </a:r>
          </a:p>
        </p:txBody>
      </p:sp>
      <p:sp>
        <p:nvSpPr>
          <p:cNvPr id="8" name="Subtitle 7"/>
          <p:cNvSpPr>
            <a:spLocks noGrp="1"/>
          </p:cNvSpPr>
          <p:nvPr>
            <p:ph type="subTitle" idx="10"/>
          </p:nvPr>
        </p:nvSpPr>
        <p:spPr/>
        <p:txBody>
          <a:bodyPr/>
          <a:lstStyle/>
          <a:p>
            <a:r>
              <a:rPr lang="en-US" dirty="0"/>
              <a:t>Current bundle</a:t>
            </a:r>
          </a:p>
        </p:txBody>
      </p:sp>
      <p:sp>
        <p:nvSpPr>
          <p:cNvPr id="9" name="Text Placeholder 8"/>
          <p:cNvSpPr>
            <a:spLocks noGrp="1"/>
          </p:cNvSpPr>
          <p:nvPr>
            <p:ph type="body" sz="quarter" idx="11"/>
          </p:nvPr>
        </p:nvSpPr>
        <p:spPr/>
        <p:txBody>
          <a:bodyPr/>
          <a:lstStyle/>
          <a:p>
            <a:r>
              <a:rPr lang="en-US" dirty="0"/>
              <a:t>New bundle</a:t>
            </a:r>
          </a:p>
        </p:txBody>
      </p:sp>
      <p:sp>
        <p:nvSpPr>
          <p:cNvPr id="7" name="Content Placeholder 6"/>
          <p:cNvSpPr>
            <a:spLocks noGrp="1"/>
          </p:cNvSpPr>
          <p:nvPr>
            <p:ph sz="half" idx="2"/>
          </p:nvPr>
        </p:nvSpPr>
        <p:spPr/>
        <p:txBody>
          <a:bodyPr/>
          <a:lstStyle/>
          <a:p>
            <a:r>
              <a:rPr lang="en-US" dirty="0"/>
              <a:t>Integration code creates bundle explicitly</a:t>
            </a:r>
            <a:br>
              <a:rPr lang="en-US" dirty="0"/>
            </a:br>
            <a:endParaRPr lang="en-US" dirty="0"/>
          </a:p>
          <a:p>
            <a:r>
              <a:rPr lang="en-US" dirty="0"/>
              <a:t>Code determines bundle contents</a:t>
            </a:r>
          </a:p>
          <a:p>
            <a:r>
              <a:rPr lang="en-US" dirty="0"/>
              <a:t>Writable</a:t>
            </a:r>
          </a:p>
          <a:p>
            <a:endParaRPr lang="en-US" dirty="0"/>
          </a:p>
          <a:p>
            <a:endParaRPr lang="en-US" dirty="0"/>
          </a:p>
        </p:txBody>
      </p:sp>
      <p:sp>
        <p:nvSpPr>
          <p:cNvPr id="3" name="Content Placeholder 2"/>
          <p:cNvSpPr>
            <a:spLocks noGrp="1"/>
          </p:cNvSpPr>
          <p:nvPr>
            <p:ph sz="half" idx="1"/>
          </p:nvPr>
        </p:nvSpPr>
        <p:spPr/>
        <p:txBody>
          <a:bodyPr/>
          <a:lstStyle/>
          <a:p>
            <a:r>
              <a:rPr lang="en-US" dirty="0"/>
              <a:t>Application creates current bundle to create, read, update, and/or delete data</a:t>
            </a:r>
          </a:p>
          <a:p>
            <a:r>
              <a:rPr lang="en-US" dirty="0"/>
              <a:t>Contains objects available to the current code context</a:t>
            </a:r>
          </a:p>
          <a:p>
            <a:r>
              <a:rPr lang="en-US" dirty="0"/>
              <a:t>Read-only or writable</a:t>
            </a:r>
          </a:p>
        </p:txBody>
      </p:sp>
      <p:pic>
        <p:nvPicPr>
          <p:cNvPr id="2050" name="Picture 2"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67211" y="1143000"/>
            <a:ext cx="2957513" cy="5175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53200" y="4849959"/>
            <a:ext cx="1447800" cy="165374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14861" y="5649450"/>
            <a:ext cx="648366" cy="624556"/>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2" name="Right Arrow 21"/>
          <p:cNvSpPr/>
          <p:nvPr/>
        </p:nvSpPr>
        <p:spPr bwMode="auto">
          <a:xfrm>
            <a:off x="3048000" y="5326270"/>
            <a:ext cx="838200" cy="464931"/>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pic>
        <p:nvPicPr>
          <p:cNvPr id="17" name="Picture 13" descr="icon_TrainingApp"/>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362200" y="4800601"/>
            <a:ext cx="877656" cy="87623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06923" y="5530745"/>
            <a:ext cx="860118" cy="7373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56361239"/>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Automatic bundle processing</a:t>
            </a:r>
          </a:p>
        </p:txBody>
      </p:sp>
      <p:sp>
        <p:nvSpPr>
          <p:cNvPr id="4" name="Content Placeholder 3"/>
          <p:cNvSpPr>
            <a:spLocks noGrp="1"/>
          </p:cNvSpPr>
          <p:nvPr>
            <p:ph sz="half" idx="1"/>
          </p:nvPr>
        </p:nvSpPr>
        <p:spPr/>
        <p:txBody>
          <a:bodyPr/>
          <a:lstStyle/>
          <a:p>
            <a:r>
              <a:rPr lang="en-US" dirty="0"/>
              <a:t>Possible to automatically commit new and changed data</a:t>
            </a:r>
          </a:p>
          <a:p>
            <a:r>
              <a:rPr lang="en-US" dirty="0"/>
              <a:t>Explicit bundle manipulation is not required</a:t>
            </a:r>
          </a:p>
          <a:p>
            <a:pPr lvl="1"/>
            <a:r>
              <a:rPr lang="en-US" dirty="0"/>
              <a:t>Business rules</a:t>
            </a:r>
          </a:p>
          <a:p>
            <a:pPr lvl="1"/>
            <a:r>
              <a:rPr lang="en-US" dirty="0"/>
              <a:t>Workflows</a:t>
            </a:r>
          </a:p>
          <a:p>
            <a:pPr lvl="1"/>
            <a:r>
              <a:rPr lang="en-US" dirty="0"/>
              <a:t>Certain plugins</a:t>
            </a:r>
          </a:p>
          <a:p>
            <a:pPr lvl="1"/>
            <a:r>
              <a:rPr lang="en-US" dirty="0"/>
              <a:t>Code executed from the UI in edit mode</a:t>
            </a:r>
          </a:p>
        </p:txBody>
      </p:sp>
      <p:grpSp>
        <p:nvGrpSpPr>
          <p:cNvPr id="14" name="Group 37"/>
          <p:cNvGrpSpPr>
            <a:grpSpLocks/>
          </p:cNvGrpSpPr>
          <p:nvPr/>
        </p:nvGrpSpPr>
        <p:grpSpPr bwMode="auto">
          <a:xfrm>
            <a:off x="7807325" y="2491459"/>
            <a:ext cx="941388" cy="822044"/>
            <a:chOff x="2748" y="585"/>
            <a:chExt cx="888" cy="774"/>
          </a:xfrm>
          <a:effectLst>
            <a:outerShdw blurRad="50800" dist="38100" dir="2700000" algn="tl" rotWithShape="0">
              <a:prstClr val="black">
                <a:alpha val="40000"/>
              </a:prstClr>
            </a:outerShdw>
          </a:effectLst>
        </p:grpSpPr>
        <p:sp>
          <p:nvSpPr>
            <p:cNvPr id="15" name="Line 38"/>
            <p:cNvSpPr>
              <a:spLocks noChangeShapeType="1"/>
            </p:cNvSpPr>
            <p:nvPr/>
          </p:nvSpPr>
          <p:spPr bwMode="auto">
            <a:xfrm flipV="1">
              <a:off x="2876" y="704"/>
              <a:ext cx="0" cy="366"/>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sp>
          <p:nvSpPr>
            <p:cNvPr id="16" name="Line 39"/>
            <p:cNvSpPr>
              <a:spLocks noChangeShapeType="1"/>
            </p:cNvSpPr>
            <p:nvPr/>
          </p:nvSpPr>
          <p:spPr bwMode="auto">
            <a:xfrm>
              <a:off x="3104" y="1219"/>
              <a:ext cx="176" cy="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sp>
          <p:nvSpPr>
            <p:cNvPr id="17" name="Line 40"/>
            <p:cNvSpPr>
              <a:spLocks noChangeShapeType="1"/>
            </p:cNvSpPr>
            <p:nvPr/>
          </p:nvSpPr>
          <p:spPr bwMode="auto">
            <a:xfrm>
              <a:off x="3401" y="872"/>
              <a:ext cx="0" cy="23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sp>
          <p:nvSpPr>
            <p:cNvPr id="18" name="Line 41"/>
            <p:cNvSpPr>
              <a:spLocks noChangeShapeType="1"/>
            </p:cNvSpPr>
            <p:nvPr/>
          </p:nvSpPr>
          <p:spPr bwMode="auto">
            <a:xfrm>
              <a:off x="2868" y="707"/>
              <a:ext cx="197" cy="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sp>
          <p:nvSpPr>
            <p:cNvPr id="19" name="Rectangle 42"/>
            <p:cNvSpPr>
              <a:spLocks noChangeArrowheads="1"/>
            </p:cNvSpPr>
            <p:nvPr/>
          </p:nvSpPr>
          <p:spPr bwMode="auto">
            <a:xfrm>
              <a:off x="3065" y="585"/>
              <a:ext cx="0" cy="261"/>
            </a:xfrm>
            <a:prstGeom prst="rect">
              <a:avLst/>
            </a:prstGeom>
            <a:solidFill>
              <a:srgbClr val="FFFFCC"/>
            </a:solidFill>
            <a:ln w="19050" algn="ctr">
              <a:solidFill>
                <a:schemeClr val="bg1"/>
              </a:solidFill>
              <a:miter lim="800000"/>
              <a:headEnd/>
              <a:tailEnd/>
            </a:ln>
          </p:spPr>
          <p:txBody>
            <a:bodyPr wrap="none" lIns="0" tIns="0" rIns="0" bIns="0" anchor="ctr">
              <a:spAutoFit/>
            </a:bodyPr>
            <a:lstStyle/>
            <a:p>
              <a:endParaRPr lang="en-US" dirty="0"/>
            </a:p>
          </p:txBody>
        </p:sp>
        <p:sp>
          <p:nvSpPr>
            <p:cNvPr id="20" name="Rectangle 43"/>
            <p:cNvSpPr>
              <a:spLocks noChangeArrowheads="1"/>
            </p:cNvSpPr>
            <p:nvPr/>
          </p:nvSpPr>
          <p:spPr bwMode="auto">
            <a:xfrm>
              <a:off x="2748" y="1098"/>
              <a:ext cx="356" cy="261"/>
            </a:xfrm>
            <a:prstGeom prst="rect">
              <a:avLst/>
            </a:prstGeom>
            <a:solidFill>
              <a:srgbClr val="FFFFCC"/>
            </a:solidFill>
            <a:ln w="19050" algn="ctr">
              <a:solidFill>
                <a:schemeClr val="bg1"/>
              </a:solidFill>
              <a:miter lim="800000"/>
              <a:headEnd/>
              <a:tailEnd/>
            </a:ln>
          </p:spPr>
          <p:txBody>
            <a:bodyPr lIns="0" tIns="0" rIns="0" bIns="0" anchor="ctr">
              <a:spAutoFit/>
            </a:bodyPr>
            <a:lstStyle/>
            <a:p>
              <a:endParaRPr lang="en-US" dirty="0"/>
            </a:p>
          </p:txBody>
        </p:sp>
        <p:sp>
          <p:nvSpPr>
            <p:cNvPr id="21" name="Rectangle 44"/>
            <p:cNvSpPr>
              <a:spLocks noChangeArrowheads="1"/>
            </p:cNvSpPr>
            <p:nvPr/>
          </p:nvSpPr>
          <p:spPr bwMode="auto">
            <a:xfrm>
              <a:off x="3280" y="1086"/>
              <a:ext cx="356" cy="261"/>
            </a:xfrm>
            <a:prstGeom prst="rect">
              <a:avLst/>
            </a:prstGeom>
            <a:solidFill>
              <a:srgbClr val="FFFFCC"/>
            </a:solidFill>
            <a:ln w="19050" algn="ctr">
              <a:solidFill>
                <a:schemeClr val="bg1"/>
              </a:solidFill>
              <a:miter lim="800000"/>
              <a:headEnd/>
              <a:tailEnd/>
            </a:ln>
          </p:spPr>
          <p:txBody>
            <a:bodyPr lIns="0" tIns="0" rIns="0" bIns="0" anchor="ctr">
              <a:spAutoFit/>
            </a:bodyPr>
            <a:lstStyle/>
            <a:p>
              <a:endParaRPr lang="en-US" dirty="0"/>
            </a:p>
          </p:txBody>
        </p:sp>
      </p:grpSp>
      <p:sp>
        <p:nvSpPr>
          <p:cNvPr id="46" name="Text Box 5"/>
          <p:cNvSpPr txBox="1">
            <a:spLocks noChangeArrowheads="1"/>
          </p:cNvSpPr>
          <p:nvPr/>
        </p:nvSpPr>
        <p:spPr bwMode="auto">
          <a:xfrm>
            <a:off x="9082088" y="1295400"/>
            <a:ext cx="692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non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eaLnBrk="1" hangingPunct="1">
              <a:spcAft>
                <a:spcPct val="30000"/>
              </a:spcAft>
              <a:buClr>
                <a:schemeClr val="tx1"/>
              </a:buClr>
              <a:buFontTx/>
              <a:buNone/>
            </a:pPr>
            <a:r>
              <a:rPr lang="en-US" sz="2000" dirty="0">
                <a:solidFill>
                  <a:schemeClr val="bg1"/>
                </a:solidFill>
              </a:rPr>
              <a:t>Rules</a:t>
            </a:r>
          </a:p>
        </p:txBody>
      </p:sp>
      <p:sp>
        <p:nvSpPr>
          <p:cNvPr id="47" name="Text Box 7"/>
          <p:cNvSpPr txBox="1">
            <a:spLocks noChangeArrowheads="1"/>
          </p:cNvSpPr>
          <p:nvPr/>
        </p:nvSpPr>
        <p:spPr bwMode="auto">
          <a:xfrm>
            <a:off x="9082088" y="2835275"/>
            <a:ext cx="12827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non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eaLnBrk="1" hangingPunct="1">
              <a:spcAft>
                <a:spcPct val="30000"/>
              </a:spcAft>
              <a:buClr>
                <a:schemeClr val="tx1"/>
              </a:buClr>
              <a:buFontTx/>
              <a:buNone/>
            </a:pPr>
            <a:r>
              <a:rPr lang="en-US" sz="2000" dirty="0">
                <a:solidFill>
                  <a:schemeClr val="bg1"/>
                </a:solidFill>
              </a:rPr>
              <a:t>Workflows</a:t>
            </a:r>
          </a:p>
        </p:txBody>
      </p:sp>
      <p:sp>
        <p:nvSpPr>
          <p:cNvPr id="48" name="Text Box 8"/>
          <p:cNvSpPr txBox="1">
            <a:spLocks noChangeArrowheads="1"/>
          </p:cNvSpPr>
          <p:nvPr/>
        </p:nvSpPr>
        <p:spPr bwMode="auto">
          <a:xfrm>
            <a:off x="9082088" y="5462589"/>
            <a:ext cx="1380186"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non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eaLnBrk="1" hangingPunct="1">
              <a:spcAft>
                <a:spcPct val="30000"/>
              </a:spcAft>
              <a:buClr>
                <a:schemeClr val="tx1"/>
              </a:buClr>
              <a:buFontTx/>
              <a:buNone/>
            </a:pPr>
            <a:r>
              <a:rPr lang="en-US" sz="2000" dirty="0">
                <a:solidFill>
                  <a:schemeClr val="bg1"/>
                </a:solidFill>
              </a:rPr>
              <a:t>PCF code</a:t>
            </a:r>
            <a:br>
              <a:rPr lang="en-US" sz="2000" dirty="0">
                <a:solidFill>
                  <a:schemeClr val="bg1"/>
                </a:solidFill>
              </a:rPr>
            </a:br>
            <a:r>
              <a:rPr lang="en-US" sz="2000" dirty="0">
                <a:solidFill>
                  <a:schemeClr val="bg1"/>
                </a:solidFill>
              </a:rPr>
              <a:t>(edit mode)</a:t>
            </a:r>
          </a:p>
        </p:txBody>
      </p:sp>
      <p:sp>
        <p:nvSpPr>
          <p:cNvPr id="49" name="Text Box 22"/>
          <p:cNvSpPr txBox="1">
            <a:spLocks noChangeArrowheads="1"/>
          </p:cNvSpPr>
          <p:nvPr/>
        </p:nvSpPr>
        <p:spPr bwMode="auto">
          <a:xfrm>
            <a:off x="9082089" y="4105275"/>
            <a:ext cx="9175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non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eaLnBrk="1" hangingPunct="1">
              <a:spcAft>
                <a:spcPct val="30000"/>
              </a:spcAft>
              <a:buClr>
                <a:schemeClr val="tx1"/>
              </a:buClr>
              <a:buFontTx/>
              <a:buNone/>
            </a:pPr>
            <a:r>
              <a:rPr lang="en-US" sz="2000" dirty="0">
                <a:solidFill>
                  <a:schemeClr val="bg1"/>
                </a:solidFill>
              </a:rPr>
              <a:t>Some</a:t>
            </a:r>
            <a:br>
              <a:rPr lang="en-US" sz="2000" dirty="0">
                <a:solidFill>
                  <a:schemeClr val="bg1"/>
                </a:solidFill>
              </a:rPr>
            </a:br>
            <a:r>
              <a:rPr lang="en-US" sz="2000" dirty="0">
                <a:solidFill>
                  <a:schemeClr val="bg1"/>
                </a:solidFill>
              </a:rPr>
              <a:t>Plugins</a:t>
            </a:r>
          </a:p>
        </p:txBody>
      </p:sp>
      <p:pic>
        <p:nvPicPr>
          <p:cNvPr id="5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2401" y="903552"/>
            <a:ext cx="976313" cy="11211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60" name="icn PreDefPlugins"/>
          <p:cNvGrpSpPr>
            <a:grpSpLocks noChangeAspect="1"/>
          </p:cNvGrpSpPr>
          <p:nvPr/>
        </p:nvGrpSpPr>
        <p:grpSpPr>
          <a:xfrm>
            <a:off x="7726682" y="3886201"/>
            <a:ext cx="810623" cy="1003509"/>
            <a:chOff x="8250577" y="1176727"/>
            <a:chExt cx="1115460" cy="1380882"/>
          </a:xfrm>
        </p:grpSpPr>
        <p:pic>
          <p:nvPicPr>
            <p:cNvPr id="61" name="icon Do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12263" y="1176727"/>
              <a:ext cx="1053774" cy="138088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62" name="icon Plugin"/>
            <p:cNvGrpSpPr>
              <a:grpSpLocks/>
            </p:cNvGrpSpPr>
            <p:nvPr/>
          </p:nvGrpSpPr>
          <p:grpSpPr bwMode="auto">
            <a:xfrm>
              <a:off x="8250577" y="1241438"/>
              <a:ext cx="408338" cy="770943"/>
              <a:chOff x="4500" y="2718"/>
              <a:chExt cx="186" cy="351"/>
            </a:xfrm>
            <a:effectLst>
              <a:outerShdw blurRad="50800" dist="38100" dir="2700000" algn="tl" rotWithShape="0">
                <a:prstClr val="black">
                  <a:alpha val="40000"/>
                </a:prstClr>
              </a:outerShdw>
            </a:effectLst>
          </p:grpSpPr>
          <p:sp>
            <p:nvSpPr>
              <p:cNvPr id="63" name="Rectangle 12"/>
              <p:cNvSpPr>
                <a:spLocks noChangeArrowheads="1"/>
              </p:cNvSpPr>
              <p:nvPr/>
            </p:nvSpPr>
            <p:spPr bwMode="auto">
              <a:xfrm>
                <a:off x="4620" y="2718"/>
                <a:ext cx="0" cy="174"/>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64" name="Rectangle 13"/>
              <p:cNvSpPr>
                <a:spLocks noChangeArrowheads="1"/>
              </p:cNvSpPr>
              <p:nvPr/>
            </p:nvSpPr>
            <p:spPr bwMode="auto">
              <a:xfrm>
                <a:off x="4686" y="2718"/>
                <a:ext cx="0" cy="174"/>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65" name="Freeform 14"/>
              <p:cNvSpPr>
                <a:spLocks/>
              </p:cNvSpPr>
              <p:nvPr/>
            </p:nvSpPr>
            <p:spPr bwMode="auto">
              <a:xfrm>
                <a:off x="4500" y="2895"/>
                <a:ext cx="0" cy="174"/>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66" name="Freeform 15"/>
              <p:cNvSpPr>
                <a:spLocks/>
              </p:cNvSpPr>
              <p:nvPr/>
            </p:nvSpPr>
            <p:spPr bwMode="auto">
              <a:xfrm>
                <a:off x="4590" y="2829"/>
                <a:ext cx="0" cy="174"/>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grpSp>
      <p:pic>
        <p:nvPicPr>
          <p:cNvPr id="67" name="Picture 3"/>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7734301" y="5334000"/>
            <a:ext cx="1103015" cy="117699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51555391"/>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Manual bundle processing</a:t>
            </a:r>
          </a:p>
        </p:txBody>
      </p:sp>
      <p:sp>
        <p:nvSpPr>
          <p:cNvPr id="5" name="Content Placeholder 4"/>
          <p:cNvSpPr>
            <a:spLocks noGrp="1"/>
          </p:cNvSpPr>
          <p:nvPr>
            <p:ph sz="half" idx="1"/>
          </p:nvPr>
        </p:nvSpPr>
        <p:spPr/>
        <p:txBody>
          <a:bodyPr/>
          <a:lstStyle/>
          <a:p>
            <a:r>
              <a:rPr lang="en-US" dirty="0"/>
              <a:t>No inherent commit for new and changed data</a:t>
            </a:r>
          </a:p>
          <a:p>
            <a:r>
              <a:rPr lang="en-US" dirty="0"/>
              <a:t>Explicit bundle manipulation is required for:</a:t>
            </a:r>
          </a:p>
          <a:p>
            <a:pPr lvl="1"/>
            <a:r>
              <a:rPr lang="en-US" dirty="0"/>
              <a:t>Web services</a:t>
            </a:r>
          </a:p>
          <a:p>
            <a:pPr lvl="1"/>
            <a:r>
              <a:rPr lang="en-US" dirty="0"/>
              <a:t>Batch processes</a:t>
            </a:r>
          </a:p>
          <a:p>
            <a:pPr lvl="1"/>
            <a:r>
              <a:rPr lang="en-US" dirty="0"/>
              <a:t>Modifications to entities returned from queries</a:t>
            </a:r>
          </a:p>
          <a:p>
            <a:pPr lvl="1"/>
            <a:r>
              <a:rPr lang="en-US" dirty="0"/>
              <a:t>Certain plugins</a:t>
            </a:r>
          </a:p>
          <a:p>
            <a:pPr lvl="1"/>
            <a:r>
              <a:rPr lang="en-US" dirty="0"/>
              <a:t>Code executed from the UI in read-only mode</a:t>
            </a:r>
          </a:p>
          <a:p>
            <a:pPr marL="0" indent="0">
              <a:buNone/>
            </a:pPr>
            <a:endParaRPr lang="en-US" dirty="0"/>
          </a:p>
          <a:p>
            <a:endParaRPr lang="en-US" dirty="0"/>
          </a:p>
        </p:txBody>
      </p:sp>
      <p:sp>
        <p:nvSpPr>
          <p:cNvPr id="40" name="Text Box 33"/>
          <p:cNvSpPr txBox="1">
            <a:spLocks noChangeArrowheads="1"/>
          </p:cNvSpPr>
          <p:nvPr/>
        </p:nvSpPr>
        <p:spPr bwMode="auto">
          <a:xfrm>
            <a:off x="9063038" y="5503863"/>
            <a:ext cx="123912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non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eaLnBrk="1" hangingPunct="1">
              <a:spcAft>
                <a:spcPct val="30000"/>
              </a:spcAft>
              <a:buClr>
                <a:schemeClr val="tx1"/>
              </a:buClr>
              <a:buFontTx/>
              <a:buNone/>
            </a:pPr>
            <a:r>
              <a:rPr lang="en-US" sz="2000" dirty="0">
                <a:solidFill>
                  <a:schemeClr val="bg1"/>
                </a:solidFill>
              </a:rPr>
              <a:t>PCF code</a:t>
            </a:r>
            <a:br>
              <a:rPr lang="en-US" sz="2000" dirty="0">
                <a:solidFill>
                  <a:schemeClr val="bg1"/>
                </a:solidFill>
              </a:rPr>
            </a:br>
            <a:r>
              <a:rPr lang="en-US" sz="2000" dirty="0">
                <a:solidFill>
                  <a:schemeClr val="bg1"/>
                </a:solidFill>
              </a:rPr>
              <a:t>(read-only</a:t>
            </a:r>
            <a:br>
              <a:rPr lang="en-US" sz="2000" dirty="0">
                <a:solidFill>
                  <a:schemeClr val="bg1"/>
                </a:solidFill>
              </a:rPr>
            </a:br>
            <a:r>
              <a:rPr lang="en-US" sz="2000" dirty="0">
                <a:solidFill>
                  <a:schemeClr val="bg1"/>
                </a:solidFill>
              </a:rPr>
              <a:t>mode)</a:t>
            </a:r>
          </a:p>
        </p:txBody>
      </p:sp>
      <p:sp>
        <p:nvSpPr>
          <p:cNvPr id="41" name="Text Box 37"/>
          <p:cNvSpPr txBox="1">
            <a:spLocks noChangeArrowheads="1"/>
          </p:cNvSpPr>
          <p:nvPr/>
        </p:nvSpPr>
        <p:spPr bwMode="auto">
          <a:xfrm>
            <a:off x="9063038" y="1239838"/>
            <a:ext cx="1016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non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eaLnBrk="1" hangingPunct="1">
              <a:spcAft>
                <a:spcPct val="30000"/>
              </a:spcAft>
              <a:buClr>
                <a:schemeClr val="tx1"/>
              </a:buClr>
              <a:buFontTx/>
              <a:buNone/>
            </a:pPr>
            <a:r>
              <a:rPr lang="en-US" sz="2000" dirty="0">
                <a:solidFill>
                  <a:schemeClr val="bg1"/>
                </a:solidFill>
              </a:rPr>
              <a:t>Web</a:t>
            </a:r>
            <a:br>
              <a:rPr lang="en-US" sz="2000" dirty="0">
                <a:solidFill>
                  <a:schemeClr val="bg1"/>
                </a:solidFill>
              </a:rPr>
            </a:br>
            <a:r>
              <a:rPr lang="en-US" sz="2000" dirty="0">
                <a:solidFill>
                  <a:schemeClr val="bg1"/>
                </a:solidFill>
              </a:rPr>
              <a:t>services</a:t>
            </a:r>
          </a:p>
        </p:txBody>
      </p:sp>
      <p:sp>
        <p:nvSpPr>
          <p:cNvPr id="51" name="Text Box 65"/>
          <p:cNvSpPr txBox="1">
            <a:spLocks noChangeArrowheads="1"/>
          </p:cNvSpPr>
          <p:nvPr/>
        </p:nvSpPr>
        <p:spPr bwMode="auto">
          <a:xfrm>
            <a:off x="9063039" y="3549651"/>
            <a:ext cx="95378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non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eaLnBrk="1" hangingPunct="1">
              <a:spcAft>
                <a:spcPct val="30000"/>
              </a:spcAft>
              <a:buClr>
                <a:schemeClr val="tx1"/>
              </a:buClr>
              <a:buFontTx/>
              <a:buNone/>
            </a:pPr>
            <a:r>
              <a:rPr lang="en-US" sz="2000" dirty="0">
                <a:solidFill>
                  <a:schemeClr val="bg1"/>
                </a:solidFill>
              </a:rPr>
              <a:t>Queries</a:t>
            </a:r>
          </a:p>
        </p:txBody>
      </p:sp>
      <p:sp>
        <p:nvSpPr>
          <p:cNvPr id="63" name="Text Box 108"/>
          <p:cNvSpPr txBox="1">
            <a:spLocks noChangeArrowheads="1"/>
          </p:cNvSpPr>
          <p:nvPr/>
        </p:nvSpPr>
        <p:spPr bwMode="auto">
          <a:xfrm>
            <a:off x="9063038" y="2347913"/>
            <a:ext cx="12573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non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eaLnBrk="1" hangingPunct="1">
              <a:spcAft>
                <a:spcPct val="30000"/>
              </a:spcAft>
              <a:buClr>
                <a:schemeClr val="tx1"/>
              </a:buClr>
              <a:buFontTx/>
              <a:buNone/>
            </a:pPr>
            <a:r>
              <a:rPr lang="en-US" sz="2000" dirty="0">
                <a:solidFill>
                  <a:schemeClr val="bg1"/>
                </a:solidFill>
              </a:rPr>
              <a:t>Batch</a:t>
            </a:r>
            <a:br>
              <a:rPr lang="en-US" sz="2000" dirty="0">
                <a:solidFill>
                  <a:schemeClr val="bg1"/>
                </a:solidFill>
              </a:rPr>
            </a:br>
            <a:r>
              <a:rPr lang="en-US" sz="2000" dirty="0">
                <a:solidFill>
                  <a:schemeClr val="bg1"/>
                </a:solidFill>
              </a:rPr>
              <a:t>processes</a:t>
            </a:r>
          </a:p>
        </p:txBody>
      </p:sp>
      <p:sp>
        <p:nvSpPr>
          <p:cNvPr id="64" name="Text Box 109"/>
          <p:cNvSpPr txBox="1">
            <a:spLocks noChangeArrowheads="1"/>
          </p:cNvSpPr>
          <p:nvPr/>
        </p:nvSpPr>
        <p:spPr bwMode="auto">
          <a:xfrm>
            <a:off x="9082089" y="4559300"/>
            <a:ext cx="9175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non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eaLnBrk="1" hangingPunct="1">
              <a:spcAft>
                <a:spcPct val="30000"/>
              </a:spcAft>
              <a:buClr>
                <a:schemeClr val="tx1"/>
              </a:buClr>
              <a:buFontTx/>
              <a:buNone/>
            </a:pPr>
            <a:r>
              <a:rPr lang="en-US" sz="2000" dirty="0">
                <a:solidFill>
                  <a:schemeClr val="bg1"/>
                </a:solidFill>
              </a:rPr>
              <a:t>Certain</a:t>
            </a:r>
            <a:br>
              <a:rPr lang="en-US" sz="2000" dirty="0">
                <a:solidFill>
                  <a:schemeClr val="bg1"/>
                </a:solidFill>
              </a:rPr>
            </a:br>
            <a:r>
              <a:rPr lang="en-US" sz="2000" dirty="0">
                <a:solidFill>
                  <a:schemeClr val="bg1"/>
                </a:solidFill>
              </a:rPr>
              <a:t>Plugins</a:t>
            </a:r>
          </a:p>
        </p:txBody>
      </p:sp>
      <p:pic>
        <p:nvPicPr>
          <p:cNvPr id="65" name="Picture 5"/>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758783" y="2057400"/>
            <a:ext cx="1025509" cy="107961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66" name="icn PreDefPlugins"/>
          <p:cNvGrpSpPr>
            <a:grpSpLocks noChangeAspect="1"/>
          </p:cNvGrpSpPr>
          <p:nvPr/>
        </p:nvGrpSpPr>
        <p:grpSpPr>
          <a:xfrm>
            <a:off x="7726682" y="4267201"/>
            <a:ext cx="810623" cy="1003509"/>
            <a:chOff x="8250577" y="1176727"/>
            <a:chExt cx="1115460" cy="1380882"/>
          </a:xfrm>
        </p:grpSpPr>
        <p:pic>
          <p:nvPicPr>
            <p:cNvPr id="67" name="icon Do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12263" y="1176727"/>
              <a:ext cx="1053774" cy="138088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68" name="icon Plugin"/>
            <p:cNvGrpSpPr>
              <a:grpSpLocks/>
            </p:cNvGrpSpPr>
            <p:nvPr/>
          </p:nvGrpSpPr>
          <p:grpSpPr bwMode="auto">
            <a:xfrm>
              <a:off x="8250577" y="1241438"/>
              <a:ext cx="408338" cy="770943"/>
              <a:chOff x="4500" y="2718"/>
              <a:chExt cx="186" cy="351"/>
            </a:xfrm>
            <a:effectLst>
              <a:outerShdw blurRad="50800" dist="38100" dir="2700000" algn="tl" rotWithShape="0">
                <a:prstClr val="black">
                  <a:alpha val="40000"/>
                </a:prstClr>
              </a:outerShdw>
            </a:effectLst>
          </p:grpSpPr>
          <p:sp>
            <p:nvSpPr>
              <p:cNvPr id="69" name="Rectangle 12"/>
              <p:cNvSpPr>
                <a:spLocks noChangeArrowheads="1"/>
              </p:cNvSpPr>
              <p:nvPr/>
            </p:nvSpPr>
            <p:spPr bwMode="auto">
              <a:xfrm>
                <a:off x="4620" y="2718"/>
                <a:ext cx="0" cy="174"/>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70" name="Rectangle 13"/>
              <p:cNvSpPr>
                <a:spLocks noChangeArrowheads="1"/>
              </p:cNvSpPr>
              <p:nvPr/>
            </p:nvSpPr>
            <p:spPr bwMode="auto">
              <a:xfrm>
                <a:off x="4686" y="2718"/>
                <a:ext cx="0" cy="174"/>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71" name="Freeform 14"/>
              <p:cNvSpPr>
                <a:spLocks/>
              </p:cNvSpPr>
              <p:nvPr/>
            </p:nvSpPr>
            <p:spPr bwMode="auto">
              <a:xfrm>
                <a:off x="4500" y="2895"/>
                <a:ext cx="0" cy="174"/>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72" name="Freeform 15"/>
              <p:cNvSpPr>
                <a:spLocks/>
              </p:cNvSpPr>
              <p:nvPr/>
            </p:nvSpPr>
            <p:spPr bwMode="auto">
              <a:xfrm>
                <a:off x="4590" y="2829"/>
                <a:ext cx="0" cy="174"/>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grpSp>
      <p:pic>
        <p:nvPicPr>
          <p:cNvPr id="73" name="Picture 3"/>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7734301" y="5334000"/>
            <a:ext cx="1103015" cy="117699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4" name="Picture 2"/>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7749865" y="914401"/>
            <a:ext cx="1035996" cy="110664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34300" y="3133726"/>
            <a:ext cx="767822" cy="98040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72546054"/>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Gosu capabilities with bundles</a:t>
            </a:r>
          </a:p>
        </p:txBody>
      </p:sp>
      <p:sp>
        <p:nvSpPr>
          <p:cNvPr id="4" name="Content Placeholder 3"/>
          <p:cNvSpPr>
            <a:spLocks noGrp="1"/>
          </p:cNvSpPr>
          <p:nvPr>
            <p:ph sz="half" idx="1"/>
          </p:nvPr>
        </p:nvSpPr>
        <p:spPr/>
        <p:txBody>
          <a:bodyPr/>
          <a:lstStyle/>
          <a:p>
            <a:r>
              <a:rPr lang="en-US" dirty="0"/>
              <a:t>You can:</a:t>
            </a:r>
          </a:p>
          <a:p>
            <a:pPr lvl="1"/>
            <a:r>
              <a:rPr lang="en-US" dirty="0"/>
              <a:t>Create new bundles</a:t>
            </a:r>
          </a:p>
          <a:p>
            <a:pPr lvl="1"/>
            <a:r>
              <a:rPr lang="en-US" dirty="0"/>
              <a:t>Add entities queried from the database to a bundle</a:t>
            </a:r>
          </a:p>
          <a:p>
            <a:pPr lvl="1"/>
            <a:r>
              <a:rPr lang="en-US" dirty="0"/>
              <a:t>Create new entities</a:t>
            </a:r>
          </a:p>
          <a:p>
            <a:pPr lvl="1"/>
            <a:r>
              <a:rPr lang="en-US" dirty="0"/>
              <a:t>Modify entities in writable bundles</a:t>
            </a:r>
          </a:p>
          <a:p>
            <a:pPr lvl="1"/>
            <a:r>
              <a:rPr lang="en-US" dirty="0"/>
              <a:t>Identify whether an entity in    a bundle has changed</a:t>
            </a:r>
          </a:p>
          <a:p>
            <a:pPr lvl="1"/>
            <a:r>
              <a:rPr lang="en-US" dirty="0"/>
              <a:t>Commit a bundle </a:t>
            </a:r>
          </a:p>
          <a:p>
            <a:pPr lvl="1"/>
            <a:r>
              <a:rPr lang="en-US" dirty="0"/>
              <a:t>Access the "current" bundle  (if one exists) </a:t>
            </a:r>
          </a:p>
          <a:p>
            <a:endParaRPr lang="en-US" dirty="0"/>
          </a:p>
        </p:txBody>
      </p:sp>
      <p:sp>
        <p:nvSpPr>
          <p:cNvPr id="5" name="Content Placeholder 4"/>
          <p:cNvSpPr>
            <a:spLocks noGrp="1"/>
          </p:cNvSpPr>
          <p:nvPr>
            <p:ph sz="half" idx="2"/>
          </p:nvPr>
        </p:nvSpPr>
        <p:spPr/>
        <p:txBody>
          <a:bodyPr/>
          <a:lstStyle/>
          <a:p>
            <a:r>
              <a:rPr lang="en-US" dirty="0"/>
              <a:t>You cannot:</a:t>
            </a:r>
          </a:p>
          <a:p>
            <a:pPr lvl="1"/>
            <a:r>
              <a:rPr lang="en-US" dirty="0"/>
              <a:t>Evict an entity from a bundle</a:t>
            </a:r>
          </a:p>
          <a:p>
            <a:pPr lvl="1"/>
            <a:r>
              <a:rPr lang="en-US" dirty="0"/>
              <a:t>Modify entities in a read-only bundle</a:t>
            </a:r>
          </a:p>
          <a:p>
            <a:pPr lvl="1"/>
            <a:r>
              <a:rPr lang="en-US" dirty="0"/>
              <a:t>Copy a changed entity instance from one bundle to another.</a:t>
            </a:r>
          </a:p>
          <a:p>
            <a:pPr lvl="1"/>
            <a:r>
              <a:rPr lang="en-US" dirty="0"/>
              <a:t>**from a bundle perspective a new entity is considered as “changed” entity</a:t>
            </a:r>
          </a:p>
          <a:p>
            <a:endParaRPr lang="en-US" dirty="0"/>
          </a:p>
        </p:txBody>
      </p:sp>
    </p:spTree>
    <p:extLst>
      <p:ext uri="{BB962C8B-B14F-4D97-AF65-F5344CB8AC3E}">
        <p14:creationId xmlns:p14="http://schemas.microsoft.com/office/powerpoint/2010/main" val="4106360424"/>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 Company inspection dates</a:t>
            </a:r>
          </a:p>
        </p:txBody>
      </p:sp>
      <p:sp>
        <p:nvSpPr>
          <p:cNvPr id="5" name="Content Placeholder 4"/>
          <p:cNvSpPr>
            <a:spLocks noGrp="1"/>
          </p:cNvSpPr>
          <p:nvPr>
            <p:ph sz="half" idx="1"/>
          </p:nvPr>
        </p:nvSpPr>
        <p:spPr>
          <a:xfrm>
            <a:off x="2043112" y="914402"/>
            <a:ext cx="3595688" cy="5475289"/>
          </a:xfrm>
        </p:spPr>
        <p:txBody>
          <a:bodyPr/>
          <a:lstStyle/>
          <a:p>
            <a:r>
              <a:rPr lang="en-US" dirty="0"/>
              <a:t>Inspection date field</a:t>
            </a:r>
          </a:p>
          <a:p>
            <a:pPr lvl="1"/>
            <a:r>
              <a:rPr lang="en-US" dirty="0"/>
              <a:t>In TrainingApp for ABCompany</a:t>
            </a:r>
          </a:p>
          <a:p>
            <a:r>
              <a:rPr lang="en-US" dirty="0"/>
              <a:t>Retrieve the company from the database</a:t>
            </a:r>
          </a:p>
          <a:p>
            <a:r>
              <a:rPr lang="en-US" dirty="0"/>
              <a:t>Set the inspection date to a specified date</a:t>
            </a:r>
          </a:p>
          <a:p>
            <a:r>
              <a:rPr lang="en-US" dirty="0"/>
              <a:t>Create a note that details the change </a:t>
            </a:r>
            <a:br>
              <a:rPr lang="en-US" dirty="0"/>
            </a:br>
            <a:r>
              <a:rPr lang="en-US" dirty="0"/>
              <a:t>in date values from previous to new</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9800" y="914400"/>
            <a:ext cx="4343400" cy="5450074"/>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3" name="Rounded Rectangle 2"/>
          <p:cNvSpPr/>
          <p:nvPr/>
        </p:nvSpPr>
        <p:spPr bwMode="auto">
          <a:xfrm>
            <a:off x="7934325" y="5573899"/>
            <a:ext cx="2362200" cy="722126"/>
          </a:xfrm>
          <a:prstGeom prst="roundRect">
            <a:avLst>
              <a:gd name="adj" fmla="val 8753"/>
            </a:avLst>
          </a:prstGeom>
          <a:noFill/>
          <a:ln w="28575"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solidFill>
                <a:schemeClr val="accent1"/>
              </a:solidFill>
            </a:endParaRPr>
          </a:p>
        </p:txBody>
      </p:sp>
      <p:sp>
        <p:nvSpPr>
          <p:cNvPr id="7" name="Rounded Rectangle 6"/>
          <p:cNvSpPr/>
          <p:nvPr/>
        </p:nvSpPr>
        <p:spPr bwMode="auto">
          <a:xfrm>
            <a:off x="6553200" y="2494663"/>
            <a:ext cx="3048000" cy="361063"/>
          </a:xfrm>
          <a:prstGeom prst="roundRect">
            <a:avLst>
              <a:gd name="adj" fmla="val 8753"/>
            </a:avLst>
          </a:prstGeom>
          <a:noFill/>
          <a:ln w="28575"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solidFill>
                <a:schemeClr val="accent1"/>
              </a:solidFill>
            </a:endParaRPr>
          </a:p>
        </p:txBody>
      </p:sp>
      <p:sp>
        <p:nvSpPr>
          <p:cNvPr id="8" name="Rounded Rectangle 7"/>
          <p:cNvSpPr/>
          <p:nvPr/>
        </p:nvSpPr>
        <p:spPr bwMode="auto">
          <a:xfrm>
            <a:off x="6553200" y="990601"/>
            <a:ext cx="1981200" cy="361063"/>
          </a:xfrm>
          <a:prstGeom prst="roundRect">
            <a:avLst>
              <a:gd name="adj" fmla="val 8753"/>
            </a:avLst>
          </a:prstGeom>
          <a:noFill/>
          <a:ln w="28575"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solidFill>
                <a:schemeClr val="accent1"/>
              </a:solidFill>
            </a:endParaRPr>
          </a:p>
        </p:txBody>
      </p:sp>
      <p:cxnSp>
        <p:nvCxnSpPr>
          <p:cNvPr id="6" name="Elbow Connector 5"/>
          <p:cNvCxnSpPr/>
          <p:nvPr/>
        </p:nvCxnSpPr>
        <p:spPr bwMode="auto">
          <a:xfrm>
            <a:off x="5029200" y="4516624"/>
            <a:ext cx="2819400" cy="1503176"/>
          </a:xfrm>
          <a:prstGeom prst="bentConnector3">
            <a:avLst>
              <a:gd name="adj1" fmla="val 28108"/>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14" name="Elbow Connector 13"/>
          <p:cNvCxnSpPr/>
          <p:nvPr/>
        </p:nvCxnSpPr>
        <p:spPr bwMode="auto">
          <a:xfrm flipV="1">
            <a:off x="5105400" y="2751394"/>
            <a:ext cx="1371600" cy="830006"/>
          </a:xfrm>
          <a:prstGeom prst="bentConnector3">
            <a:avLst>
              <a:gd name="adj1" fmla="val 50000"/>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16" name="Elbow Connector 15"/>
          <p:cNvCxnSpPr>
            <a:endCxn id="8" idx="1"/>
          </p:cNvCxnSpPr>
          <p:nvPr/>
        </p:nvCxnSpPr>
        <p:spPr bwMode="auto">
          <a:xfrm flipV="1">
            <a:off x="5029200" y="1171132"/>
            <a:ext cx="1524000" cy="1343468"/>
          </a:xfrm>
          <a:prstGeom prst="bentConnector3">
            <a:avLst>
              <a:gd name="adj1" fmla="val 50000"/>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1845999488"/>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Database transactions and bundles</a:t>
            </a:r>
          </a:p>
          <a:p>
            <a:r>
              <a:rPr lang="en-US" dirty="0">
                <a:solidFill>
                  <a:schemeClr val="bg1"/>
                </a:solidFill>
              </a:rPr>
              <a:t>Current and new bundles</a:t>
            </a:r>
          </a:p>
          <a:p>
            <a:r>
              <a:rPr lang="en-US" dirty="0"/>
              <a:t>Read-only entities and bundles</a:t>
            </a:r>
          </a:p>
          <a:p>
            <a:r>
              <a:rPr lang="en-US" dirty="0"/>
              <a:t>New entities and bundles</a:t>
            </a:r>
          </a:p>
          <a:p>
            <a:r>
              <a:rPr lang="en-US" dirty="0"/>
              <a:t>Additional bundle functionality</a:t>
            </a:r>
          </a:p>
          <a:p>
            <a:endParaRPr lang="en-US" dirty="0"/>
          </a:p>
        </p:txBody>
      </p:sp>
    </p:spTree>
    <p:extLst>
      <p:ext uri="{BB962C8B-B14F-4D97-AF65-F5344CB8AC3E}">
        <p14:creationId xmlns:p14="http://schemas.microsoft.com/office/powerpoint/2010/main" val="2647995096"/>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p:cNvGraphicFramePr>
            <a:graphicFrameLocks noGrp="1"/>
          </p:cNvGraphicFramePr>
          <p:nvPr>
            <p:extLst>
              <p:ext uri="{D42A27DB-BD31-4B8C-83A1-F6EECF244321}">
                <p14:modId xmlns:p14="http://schemas.microsoft.com/office/powerpoint/2010/main" val="1558447719"/>
              </p:ext>
            </p:extLst>
          </p:nvPr>
        </p:nvGraphicFramePr>
        <p:xfrm>
          <a:off x="2057400" y="4069080"/>
          <a:ext cx="8338361" cy="1798320"/>
        </p:xfrm>
        <a:graphic>
          <a:graphicData uri="http://schemas.openxmlformats.org/drawingml/2006/table">
            <a:tbl>
              <a:tblPr firstRow="1" bandRow="1">
                <a:tableStyleId>{93296810-A885-4BE3-A3E7-6D5BEEA58F35}</a:tableStyleId>
              </a:tblPr>
              <a:tblGrid>
                <a:gridCol w="2910559">
                  <a:extLst>
                    <a:ext uri="{9D8B030D-6E8A-4147-A177-3AD203B41FA5}">
                      <a16:colId xmlns:a16="http://schemas.microsoft.com/office/drawing/2014/main" val="20000"/>
                    </a:ext>
                  </a:extLst>
                </a:gridCol>
                <a:gridCol w="5427802">
                  <a:extLst>
                    <a:ext uri="{9D8B030D-6E8A-4147-A177-3AD203B41FA5}">
                      <a16:colId xmlns:a16="http://schemas.microsoft.com/office/drawing/2014/main" val="20001"/>
                    </a:ext>
                  </a:extLst>
                </a:gridCol>
              </a:tblGrid>
              <a:tr h="370840">
                <a:tc>
                  <a:txBody>
                    <a:bodyPr/>
                    <a:lstStyle/>
                    <a:p>
                      <a:r>
                        <a:rPr lang="en-US" sz="2000" dirty="0"/>
                        <a:t>For code called from…</a:t>
                      </a:r>
                    </a:p>
                  </a:txBody>
                  <a:tcPr/>
                </a:tc>
                <a:tc>
                  <a:txBody>
                    <a:bodyPr/>
                    <a:lstStyle/>
                    <a:p>
                      <a:r>
                        <a:rPr lang="en-US" sz="2000" dirty="0"/>
                        <a:t>… the current bundle contains:</a:t>
                      </a:r>
                    </a:p>
                  </a:txBody>
                  <a:tcPr/>
                </a:tc>
                <a:extLst>
                  <a:ext uri="{0D108BD9-81ED-4DB2-BD59-A6C34878D82A}">
                    <a16:rowId xmlns:a16="http://schemas.microsoft.com/office/drawing/2014/main" val="10000"/>
                  </a:ext>
                </a:extLst>
              </a:tr>
              <a:tr h="370840">
                <a:tc>
                  <a:txBody>
                    <a:bodyPr/>
                    <a:lstStyle/>
                    <a:p>
                      <a:r>
                        <a:rPr lang="en-US" sz="2000" dirty="0"/>
                        <a:t>the</a:t>
                      </a:r>
                      <a:r>
                        <a:rPr lang="en-US" sz="2000" baseline="0" dirty="0"/>
                        <a:t> User Interface</a:t>
                      </a:r>
                      <a:endParaRPr lang="en-US" sz="2000" dirty="0"/>
                    </a:p>
                  </a:txBody>
                  <a:tcPr/>
                </a:tc>
                <a:tc>
                  <a:txBody>
                    <a:bodyPr/>
                    <a:lstStyle/>
                    <a:p>
                      <a:r>
                        <a:rPr lang="en-US" sz="2000" dirty="0"/>
                        <a:t>data</a:t>
                      </a:r>
                      <a:r>
                        <a:rPr lang="en-US" sz="2000" baseline="0" dirty="0"/>
                        <a:t> retrieved and/or displayed in the User Interface</a:t>
                      </a:r>
                      <a:endParaRPr lang="en-US" sz="2000" dirty="0"/>
                    </a:p>
                  </a:txBody>
                  <a:tcPr/>
                </a:tc>
                <a:extLst>
                  <a:ext uri="{0D108BD9-81ED-4DB2-BD59-A6C34878D82A}">
                    <a16:rowId xmlns:a16="http://schemas.microsoft.com/office/drawing/2014/main" val="10001"/>
                  </a:ext>
                </a:extLst>
              </a:tr>
              <a:tr h="370840">
                <a:tc>
                  <a:txBody>
                    <a:bodyPr/>
                    <a:lstStyle/>
                    <a:p>
                      <a:r>
                        <a:rPr lang="en-US" sz="2000" dirty="0"/>
                        <a:t>a plugin</a:t>
                      </a:r>
                    </a:p>
                  </a:txBody>
                  <a:tcPr/>
                </a:tc>
                <a:tc>
                  <a:txBody>
                    <a:bodyPr/>
                    <a:lstStyle/>
                    <a:p>
                      <a:r>
                        <a:rPr lang="en-US" sz="2000" dirty="0"/>
                        <a:t>data passed to the plugin</a:t>
                      </a:r>
                    </a:p>
                  </a:txBody>
                  <a:tcPr/>
                </a:tc>
                <a:extLst>
                  <a:ext uri="{0D108BD9-81ED-4DB2-BD59-A6C34878D82A}">
                    <a16:rowId xmlns:a16="http://schemas.microsoft.com/office/drawing/2014/main" val="10002"/>
                  </a:ext>
                </a:extLst>
              </a:tr>
            </a:tbl>
          </a:graphicData>
        </a:graphic>
      </p:graphicFrame>
      <p:pic>
        <p:nvPicPr>
          <p:cNvPr id="9"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6450" y="2209800"/>
            <a:ext cx="1758151" cy="19812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Right Arrow 14"/>
          <p:cNvSpPr/>
          <p:nvPr/>
        </p:nvSpPr>
        <p:spPr bwMode="auto">
          <a:xfrm rot="5400000">
            <a:off x="8920840" y="1739432"/>
            <a:ext cx="895789" cy="464931"/>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dirty="0"/>
              <a:t>Current bundle</a:t>
            </a:r>
          </a:p>
        </p:txBody>
      </p:sp>
      <p:sp>
        <p:nvSpPr>
          <p:cNvPr id="5" name="Text Placeholder 4"/>
          <p:cNvSpPr>
            <a:spLocks noGrp="1"/>
          </p:cNvSpPr>
          <p:nvPr>
            <p:ph sz="half" idx="1"/>
          </p:nvPr>
        </p:nvSpPr>
        <p:spPr/>
        <p:txBody>
          <a:bodyPr/>
          <a:lstStyle/>
          <a:p>
            <a:r>
              <a:rPr lang="en-US" dirty="0"/>
              <a:t>Sometimes, code has access to a </a:t>
            </a:r>
            <a:br>
              <a:rPr lang="en-US" dirty="0"/>
            </a:br>
            <a:r>
              <a:rPr lang="en-US" dirty="0"/>
              <a:t>current bundle, which contains data known to the current context</a:t>
            </a:r>
          </a:p>
          <a:p>
            <a:r>
              <a:rPr lang="en-US" dirty="0"/>
              <a:t>Current bundle can be </a:t>
            </a:r>
            <a:br>
              <a:rPr lang="en-US" dirty="0"/>
            </a:br>
            <a:r>
              <a:rPr lang="en-US" dirty="0"/>
              <a:t>read-only or writable</a:t>
            </a:r>
          </a:p>
        </p:txBody>
      </p:sp>
      <p:sp>
        <p:nvSpPr>
          <p:cNvPr id="18" name="Rounded Rectangle 17"/>
          <p:cNvSpPr/>
          <p:nvPr/>
        </p:nvSpPr>
        <p:spPr bwMode="auto">
          <a:xfrm>
            <a:off x="5029200" y="5943600"/>
            <a:ext cx="234408" cy="152402"/>
          </a:xfrm>
          <a:prstGeom prst="roundRect">
            <a:avLst/>
          </a:prstGeom>
          <a:solidFill>
            <a:schemeClr val="tx1"/>
          </a:solidFill>
          <a:ln w="19050" algn="ctr">
            <a:solidFill>
              <a:schemeClr val="tx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pic>
        <p:nvPicPr>
          <p:cNvPr id="13" name="icn Guidewire UI Contex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20200" y="1167650"/>
            <a:ext cx="860118" cy="7373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icn Bundle ReadOnly_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38222" y="2226623"/>
            <a:ext cx="1035698" cy="109728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icn Bundle Writabl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00801" y="2792810"/>
            <a:ext cx="1108241" cy="106218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 name="icn Guidewire Application Context" descr="icon_TrainingApp"/>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610600" y="914400"/>
            <a:ext cx="769612" cy="76836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17343499"/>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Committing the current bundle</a:t>
            </a:r>
          </a:p>
        </p:txBody>
      </p:sp>
      <p:sp>
        <p:nvSpPr>
          <p:cNvPr id="3" name="Content Placeholder 2"/>
          <p:cNvSpPr>
            <a:spLocks noGrp="1"/>
          </p:cNvSpPr>
          <p:nvPr>
            <p:ph idx="1"/>
          </p:nvPr>
        </p:nvSpPr>
        <p:spPr/>
        <p:txBody>
          <a:bodyPr/>
          <a:lstStyle/>
          <a:p>
            <a:r>
              <a:rPr lang="en-US" b="1" dirty="0">
                <a:latin typeface="Courier New" pitchFamily="49" charset="0"/>
                <a:cs typeface="Courier New" pitchFamily="49" charset="0"/>
              </a:rPr>
              <a:t>gw.transaction.Transaction.getCurrent()</a:t>
            </a:r>
          </a:p>
          <a:p>
            <a:pPr lvl="1"/>
            <a:r>
              <a:rPr lang="en-US" dirty="0"/>
              <a:t>Gets current bundle</a:t>
            </a:r>
          </a:p>
          <a:p>
            <a:r>
              <a:rPr lang="en-US" b="1" dirty="0">
                <a:latin typeface="Courier New" pitchFamily="49" charset="0"/>
                <a:cs typeface="Courier New" pitchFamily="49" charset="0"/>
              </a:rPr>
              <a:t>bundle.Commit()</a:t>
            </a:r>
          </a:p>
          <a:p>
            <a:pPr lvl="1"/>
            <a:r>
              <a:rPr lang="en-US" dirty="0"/>
              <a:t>Commits every </a:t>
            </a:r>
            <a:br>
              <a:rPr lang="en-US" dirty="0"/>
            </a:br>
            <a:r>
              <a:rPr lang="en-US" dirty="0"/>
              <a:t>entity in the bundle</a:t>
            </a:r>
          </a:p>
          <a:p>
            <a:r>
              <a:rPr lang="en-US" dirty="0"/>
              <a:t>Developers should be </a:t>
            </a:r>
            <a:br>
              <a:rPr lang="en-US" dirty="0"/>
            </a:br>
            <a:r>
              <a:rPr lang="en-US" b="1" dirty="0"/>
              <a:t>EXTREMELY</a:t>
            </a:r>
            <a:r>
              <a:rPr lang="en-US" dirty="0"/>
              <a:t> cautious </a:t>
            </a:r>
            <a:br>
              <a:rPr lang="en-US" dirty="0"/>
            </a:br>
            <a:r>
              <a:rPr lang="en-US" dirty="0"/>
              <a:t>when committing </a:t>
            </a:r>
            <a:br>
              <a:rPr lang="en-US" dirty="0"/>
            </a:br>
            <a:r>
              <a:rPr lang="en-US" dirty="0"/>
              <a:t>the current bundle</a:t>
            </a:r>
          </a:p>
          <a:p>
            <a:endParaRPr 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905000"/>
            <a:ext cx="4247978" cy="2590800"/>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4" name="Rectangle 3"/>
          <p:cNvSpPr>
            <a:spLocks noChangeArrowheads="1"/>
          </p:cNvSpPr>
          <p:nvPr/>
        </p:nvSpPr>
        <p:spPr bwMode="auto">
          <a:xfrm>
            <a:off x="1905000" y="5228510"/>
            <a:ext cx="7220246" cy="1077218"/>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pPr>
            <a:r>
              <a:rPr lang="en-US" sz="1600" b="1" dirty="0">
                <a:solidFill>
                  <a:srgbClr val="000080"/>
                </a:solidFill>
                <a:latin typeface="Courier New" pitchFamily="49" charset="0"/>
                <a:cs typeface="Courier New" pitchFamily="49" charset="0"/>
              </a:rPr>
              <a:t>function</a:t>
            </a:r>
            <a:r>
              <a:rPr lang="en-US" sz="1600" b="1" dirty="0">
                <a:solidFill>
                  <a:srgbClr val="000000"/>
                </a:solidFill>
                <a:latin typeface="Courier New" pitchFamily="49" charset="0"/>
                <a:cs typeface="Courier New" pitchFamily="49" charset="0"/>
              </a:rPr>
              <a:t> sendABPersonMessage() : </a:t>
            </a:r>
            <a:r>
              <a:rPr lang="en-US" sz="1600" b="1" dirty="0">
                <a:solidFill>
                  <a:srgbClr val="000080"/>
                </a:solidFill>
                <a:latin typeface="Courier New" pitchFamily="49" charset="0"/>
                <a:cs typeface="Courier New" pitchFamily="49" charset="0"/>
              </a:rPr>
              <a:t>void</a:t>
            </a:r>
            <a:r>
              <a:rPr lang="en-US" sz="1600" b="1" dirty="0">
                <a:solidFill>
                  <a:srgbClr val="000000"/>
                </a:solidFill>
                <a:latin typeface="Courier New" pitchFamily="49" charset="0"/>
                <a:cs typeface="Courier New" pitchFamily="49" charset="0"/>
              </a:rPr>
              <a:t> {</a:t>
            </a:r>
            <a:br>
              <a:rPr lang="en-US" sz="1600" b="1" dirty="0">
                <a:solidFill>
                  <a:srgbClr val="000000"/>
                </a:solidFill>
                <a:latin typeface="Courier New" pitchFamily="49" charset="0"/>
                <a:cs typeface="Courier New" pitchFamily="49" charset="0"/>
              </a:rPr>
            </a:br>
            <a:r>
              <a:rPr lang="en-US" sz="1600" b="1" dirty="0">
                <a:solidFill>
                  <a:srgbClr val="800000"/>
                </a:solidFill>
                <a:latin typeface="Courier New" pitchFamily="49" charset="0"/>
                <a:cs typeface="Courier New" pitchFamily="49" charset="0"/>
              </a:rPr>
              <a:t>   </a:t>
            </a:r>
            <a:r>
              <a:rPr lang="en-US" sz="1600" b="1" dirty="0">
                <a:solidFill>
                  <a:srgbClr val="000000"/>
                </a:solidFill>
                <a:latin typeface="Courier New" pitchFamily="49" charset="0"/>
                <a:cs typeface="Courier New" pitchFamily="49" charset="0"/>
              </a:rPr>
              <a:t>selectedABPerson.Occupation = newABPersonOccupation  </a:t>
            </a:r>
            <a:br>
              <a:rPr lang="en-US" sz="1600" b="1" dirty="0">
                <a:solidFill>
                  <a:srgbClr val="000000"/>
                </a:solidFill>
                <a:latin typeface="Courier New" pitchFamily="49" charset="0"/>
                <a:cs typeface="Courier New" pitchFamily="49" charset="0"/>
              </a:rPr>
            </a:br>
            <a:r>
              <a:rPr lang="en-US" sz="1600" b="1" dirty="0">
                <a:solidFill>
                  <a:srgbClr val="000000"/>
                </a:solidFill>
                <a:latin typeface="Courier New" pitchFamily="49" charset="0"/>
                <a:cs typeface="Courier New" pitchFamily="49" charset="0"/>
              </a:rPr>
              <a:t>   gw.transaction.Transaction.getCurrent().commit() </a:t>
            </a:r>
            <a:br>
              <a:rPr lang="en-US" sz="1600" b="1" dirty="0">
                <a:solidFill>
                  <a:srgbClr val="000000"/>
                </a:solidFill>
                <a:latin typeface="Courier New" pitchFamily="49" charset="0"/>
                <a:cs typeface="Courier New" pitchFamily="49" charset="0"/>
              </a:rPr>
            </a:br>
            <a:r>
              <a:rPr lang="en-US" sz="1600" b="1" dirty="0">
                <a:solidFill>
                  <a:srgbClr val="000000"/>
                </a:solidFill>
                <a:latin typeface="Courier New" pitchFamily="49" charset="0"/>
                <a:cs typeface="Courier New" pitchFamily="49" charset="0"/>
              </a:rPr>
              <a:t>}</a:t>
            </a:r>
            <a:r>
              <a:rPr lang="en-US" sz="1600" b="1" dirty="0">
                <a:latin typeface="Arial" pitchFamily="34" charset="0"/>
                <a:cs typeface="Arial" pitchFamily="34" charset="0"/>
              </a:rPr>
              <a:t> </a:t>
            </a:r>
          </a:p>
        </p:txBody>
      </p:sp>
      <p:sp>
        <p:nvSpPr>
          <p:cNvPr id="5" name="Rounded Rectangle 4"/>
          <p:cNvSpPr/>
          <p:nvPr/>
        </p:nvSpPr>
        <p:spPr bwMode="auto">
          <a:xfrm>
            <a:off x="7969093" y="4107704"/>
            <a:ext cx="603564" cy="369795"/>
          </a:xfrm>
          <a:prstGeom prst="roundRect">
            <a:avLst/>
          </a:prstGeom>
          <a:no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cxnSp>
        <p:nvCxnSpPr>
          <p:cNvPr id="12" name="Elbow Connector 11"/>
          <p:cNvCxnSpPr>
            <a:stCxn id="5" idx="3"/>
            <a:endCxn id="4" idx="3"/>
          </p:cNvCxnSpPr>
          <p:nvPr/>
        </p:nvCxnSpPr>
        <p:spPr bwMode="auto">
          <a:xfrm>
            <a:off x="8572658" y="4292601"/>
            <a:ext cx="552589" cy="1474518"/>
          </a:xfrm>
          <a:prstGeom prst="bentConnector3">
            <a:avLst>
              <a:gd name="adj1" fmla="val 141369"/>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sp>
        <p:nvSpPr>
          <p:cNvPr id="18" name="Rounded Rectangle 17"/>
          <p:cNvSpPr/>
          <p:nvPr/>
        </p:nvSpPr>
        <p:spPr bwMode="auto">
          <a:xfrm>
            <a:off x="5029200" y="5943600"/>
            <a:ext cx="234408" cy="152402"/>
          </a:xfrm>
          <a:prstGeom prst="roundRect">
            <a:avLst/>
          </a:prstGeom>
          <a:solidFill>
            <a:schemeClr val="tx1"/>
          </a:solidFill>
          <a:ln w="19050" algn="ctr">
            <a:solidFill>
              <a:schemeClr val="tx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Tree>
    <p:extLst>
      <p:ext uri="{BB962C8B-B14F-4D97-AF65-F5344CB8AC3E}">
        <p14:creationId xmlns:p14="http://schemas.microsoft.com/office/powerpoint/2010/main" val="1007964692"/>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Create new bundle: runWithNewBundle()</a:t>
            </a:r>
          </a:p>
        </p:txBody>
      </p:sp>
      <p:sp>
        <p:nvSpPr>
          <p:cNvPr id="3" name="Content Placeholder 2"/>
          <p:cNvSpPr>
            <a:spLocks noGrp="1"/>
          </p:cNvSpPr>
          <p:nvPr>
            <p:ph idx="1"/>
          </p:nvPr>
        </p:nvSpPr>
        <p:spPr/>
        <p:txBody>
          <a:bodyPr/>
          <a:lstStyle/>
          <a:p>
            <a:r>
              <a:rPr lang="en-US" b="1" dirty="0" err="1">
                <a:latin typeface="Courier New" pitchFamily="49" charset="0"/>
                <a:cs typeface="Courier New" pitchFamily="49" charset="0"/>
              </a:rPr>
              <a:t>gw.transaction.Transaction</a:t>
            </a:r>
            <a:r>
              <a:rPr lang="en-US" b="1" dirty="0">
                <a:latin typeface="Courier New" pitchFamily="49" charset="0"/>
                <a:cs typeface="Courier New" pitchFamily="49" charset="0"/>
              </a:rPr>
              <a:t>.</a:t>
            </a:r>
            <a:br>
              <a:rPr lang="en-US" b="1" dirty="0">
                <a:latin typeface="Courier New" pitchFamily="49" charset="0"/>
                <a:cs typeface="Courier New" pitchFamily="49" charset="0"/>
              </a:rPr>
            </a:br>
            <a:r>
              <a:rPr lang="en-US" b="1" dirty="0">
                <a:latin typeface="Courier New" pitchFamily="49" charset="0"/>
                <a:cs typeface="Courier New" pitchFamily="49" charset="0"/>
              </a:rPr>
              <a:t>runWithNewBundle(\ </a:t>
            </a:r>
            <a:r>
              <a:rPr lang="en-US" b="1" i="1" dirty="0">
                <a:latin typeface="Courier New" pitchFamily="49" charset="0"/>
                <a:cs typeface="Courier New" pitchFamily="49" charset="0"/>
              </a:rPr>
              <a:t>newBundle</a:t>
            </a:r>
            <a:r>
              <a:rPr lang="en-US" b="1" dirty="0">
                <a:latin typeface="Courier New" pitchFamily="49" charset="0"/>
                <a:cs typeface="Courier New" pitchFamily="49" charset="0"/>
              </a:rPr>
              <a:t> -&gt; {</a:t>
            </a:r>
            <a:br>
              <a:rPr lang="en-US" b="1" dirty="0">
                <a:latin typeface="Courier New" pitchFamily="49" charset="0"/>
                <a:cs typeface="Courier New" pitchFamily="49" charset="0"/>
              </a:rPr>
            </a:br>
            <a:r>
              <a:rPr lang="en-US" b="1" dirty="0">
                <a:latin typeface="Courier New" pitchFamily="49" charset="0"/>
                <a:cs typeface="Courier New" pitchFamily="49" charset="0"/>
              </a:rPr>
              <a:t>	</a:t>
            </a:r>
            <a:r>
              <a:rPr lang="en-US" b="1" i="1" dirty="0">
                <a:latin typeface="Courier New" pitchFamily="49" charset="0"/>
                <a:cs typeface="Courier New" pitchFamily="49" charset="0"/>
              </a:rPr>
              <a:t>CodeBlock</a:t>
            </a:r>
            <a:r>
              <a:rPr lang="en-US" b="1" dirty="0">
                <a:latin typeface="Courier New" pitchFamily="49" charset="0"/>
                <a:cs typeface="Courier New" pitchFamily="49" charset="0"/>
              </a:rPr>
              <a:t> } )</a:t>
            </a:r>
          </a:p>
          <a:p>
            <a:pPr lvl="1"/>
            <a:r>
              <a:rPr lang="en-US" dirty="0"/>
              <a:t>Create a new bundle, no user specified</a:t>
            </a:r>
          </a:p>
          <a:p>
            <a:pPr lvl="1"/>
            <a:r>
              <a:rPr lang="en-US" dirty="0"/>
              <a:t>Requires permissive user credential context</a:t>
            </a:r>
          </a:p>
          <a:p>
            <a:r>
              <a:rPr lang="en-US" b="1" dirty="0" err="1">
                <a:latin typeface="Courier New" pitchFamily="49" charset="0"/>
                <a:cs typeface="Courier New" pitchFamily="49" charset="0"/>
              </a:rPr>
              <a:t>gw.transaction.Transaction</a:t>
            </a:r>
            <a:r>
              <a:rPr lang="en-US" b="1" dirty="0">
                <a:latin typeface="Courier New" pitchFamily="49" charset="0"/>
                <a:cs typeface="Courier New" pitchFamily="49" charset="0"/>
              </a:rPr>
              <a:t>.</a:t>
            </a:r>
            <a:br>
              <a:rPr lang="en-US" b="1" dirty="0">
                <a:latin typeface="Courier New" pitchFamily="49" charset="0"/>
                <a:cs typeface="Courier New" pitchFamily="49" charset="0"/>
              </a:rPr>
            </a:br>
            <a:r>
              <a:rPr lang="en-US" b="1" dirty="0">
                <a:latin typeface="Courier New" pitchFamily="49" charset="0"/>
                <a:cs typeface="Courier New" pitchFamily="49" charset="0"/>
              </a:rPr>
              <a:t>runWithNewBundle(\ </a:t>
            </a:r>
            <a:r>
              <a:rPr lang="en-US" b="1" i="1" dirty="0">
                <a:latin typeface="Courier New" pitchFamily="49" charset="0"/>
                <a:cs typeface="Courier New" pitchFamily="49" charset="0"/>
              </a:rPr>
              <a:t>newBundle</a:t>
            </a:r>
            <a:r>
              <a:rPr lang="en-US" b="1" dirty="0">
                <a:latin typeface="Courier New" pitchFamily="49" charset="0"/>
                <a:cs typeface="Courier New" pitchFamily="49" charset="0"/>
              </a:rPr>
              <a:t> -&gt; {</a:t>
            </a:r>
            <a:br>
              <a:rPr lang="en-US" b="1" dirty="0">
                <a:latin typeface="Courier New" pitchFamily="49" charset="0"/>
                <a:cs typeface="Courier New" pitchFamily="49" charset="0"/>
              </a:rPr>
            </a:br>
            <a:r>
              <a:rPr lang="en-US" b="1" dirty="0">
                <a:latin typeface="Courier New" pitchFamily="49" charset="0"/>
                <a:cs typeface="Courier New" pitchFamily="49" charset="0"/>
              </a:rPr>
              <a:t>	</a:t>
            </a:r>
            <a:r>
              <a:rPr lang="en-US" b="1" i="1" dirty="0">
                <a:latin typeface="Courier New" pitchFamily="49" charset="0"/>
                <a:cs typeface="Courier New" pitchFamily="49" charset="0"/>
              </a:rPr>
              <a:t>CodeBlock</a:t>
            </a:r>
            <a:r>
              <a:rPr lang="en-US" b="1" dirty="0">
                <a:latin typeface="Courier New" pitchFamily="49" charset="0"/>
                <a:cs typeface="Courier New" pitchFamily="49" charset="0"/>
              </a:rPr>
              <a:t> } </a:t>
            </a:r>
            <a:r>
              <a:rPr lang="en-US" b="1" i="1" dirty="0">
                <a:latin typeface="Courier New" pitchFamily="49" charset="0"/>
                <a:cs typeface="Courier New" pitchFamily="49" charset="0"/>
              </a:rPr>
              <a:t>, user </a:t>
            </a:r>
            <a:r>
              <a:rPr lang="en-US" b="1" dirty="0">
                <a:latin typeface="Courier New" pitchFamily="49" charset="0"/>
                <a:cs typeface="Courier New" pitchFamily="49" charset="0"/>
              </a:rPr>
              <a:t>)</a:t>
            </a:r>
          </a:p>
          <a:p>
            <a:pPr lvl="1"/>
            <a:r>
              <a:rPr lang="en-US" dirty="0"/>
              <a:t>Create a new bundle with specified user</a:t>
            </a:r>
          </a:p>
          <a:p>
            <a:pPr lvl="1"/>
            <a:endParaRPr lang="en-US" dirty="0">
              <a:solidFill>
                <a:srgbClr val="FF3300"/>
              </a:solidFill>
            </a:endParaRPr>
          </a:p>
          <a:p>
            <a:r>
              <a:rPr lang="en-US" dirty="0"/>
              <a:t>Do </a:t>
            </a:r>
            <a:r>
              <a:rPr lang="en-US" b="1" dirty="0"/>
              <a:t>NOT</a:t>
            </a:r>
            <a:r>
              <a:rPr lang="en-US" dirty="0"/>
              <a:t> commit the bundle</a:t>
            </a:r>
          </a:p>
          <a:p>
            <a:pPr lvl="1"/>
            <a:r>
              <a:rPr lang="en-US" b="1" dirty="0">
                <a:latin typeface="Courier New" pitchFamily="49" charset="0"/>
                <a:cs typeface="Courier New" pitchFamily="49" charset="0"/>
              </a:rPr>
              <a:t>runWithNewBundle() </a:t>
            </a:r>
            <a:r>
              <a:rPr lang="en-US" dirty="0"/>
              <a:t>commits the bundle at end of block by design</a:t>
            </a:r>
          </a:p>
          <a:p>
            <a:endParaRPr lang="en-US" dirty="0"/>
          </a:p>
        </p:txBody>
      </p:sp>
      <p:pic>
        <p:nvPicPr>
          <p:cNvPr id="4098" name="Picture 2"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58201" y="762001"/>
            <a:ext cx="1639887" cy="3603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 name="icn New Bundle"/>
          <p:cNvGrpSpPr/>
          <p:nvPr/>
        </p:nvGrpSpPr>
        <p:grpSpPr>
          <a:xfrm>
            <a:off x="9033050" y="838200"/>
            <a:ext cx="1344314" cy="1479898"/>
            <a:chOff x="7509050" y="838200"/>
            <a:chExt cx="1344314" cy="1479898"/>
          </a:xfrm>
        </p:grpSpPr>
        <p:pic>
          <p:nvPicPr>
            <p:cNvPr id="5"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09050" y="838200"/>
              <a:ext cx="1287626" cy="1479607"/>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04998" y="1693542"/>
              <a:ext cx="648366" cy="624556"/>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7" name="icn New Bunlde User"/>
          <p:cNvGrpSpPr/>
          <p:nvPr/>
        </p:nvGrpSpPr>
        <p:grpSpPr>
          <a:xfrm>
            <a:off x="8952835" y="2947181"/>
            <a:ext cx="1435883" cy="1505661"/>
            <a:chOff x="7428834" y="2947180"/>
            <a:chExt cx="1435883" cy="1505661"/>
          </a:xfrm>
        </p:grpSpPr>
        <p:pic>
          <p:nvPicPr>
            <p:cNvPr id="1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20403" y="2947180"/>
              <a:ext cx="1287626" cy="1479607"/>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28834" y="3733800"/>
              <a:ext cx="648366" cy="719041"/>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16351" y="3802522"/>
              <a:ext cx="648366" cy="624556"/>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Tree>
    <p:extLst>
      <p:ext uri="{BB962C8B-B14F-4D97-AF65-F5344CB8AC3E}">
        <p14:creationId xmlns:p14="http://schemas.microsoft.com/office/powerpoint/2010/main" val="2698717647"/>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Create new bundle: newBundle()</a:t>
            </a:r>
          </a:p>
        </p:txBody>
      </p:sp>
      <p:sp>
        <p:nvSpPr>
          <p:cNvPr id="3" name="Content Placeholder 2"/>
          <p:cNvSpPr>
            <a:spLocks noGrp="1"/>
          </p:cNvSpPr>
          <p:nvPr>
            <p:ph idx="1"/>
          </p:nvPr>
        </p:nvSpPr>
        <p:spPr/>
        <p:txBody>
          <a:bodyPr/>
          <a:lstStyle/>
          <a:p>
            <a:r>
              <a:rPr lang="en-US" b="1" dirty="0" err="1">
                <a:latin typeface="Courier New" pitchFamily="49" charset="0"/>
                <a:cs typeface="Courier New" pitchFamily="49" charset="0"/>
              </a:rPr>
              <a:t>gw.transaction.Transaction.newBundle</a:t>
            </a:r>
            <a:r>
              <a:rPr lang="en-US" b="1" dirty="0">
                <a:latin typeface="Courier New" pitchFamily="49" charset="0"/>
                <a:cs typeface="Courier New" pitchFamily="49" charset="0"/>
              </a:rPr>
              <a:t>()</a:t>
            </a:r>
          </a:p>
          <a:p>
            <a:pPr lvl="1"/>
            <a:r>
              <a:rPr lang="en-US" dirty="0"/>
              <a:t>Creates a new bundle</a:t>
            </a:r>
          </a:p>
          <a:p>
            <a:pPr lvl="1"/>
            <a:r>
              <a:rPr lang="en-US" dirty="0"/>
              <a:t>No code block</a:t>
            </a:r>
          </a:p>
          <a:p>
            <a:pPr lvl="1"/>
            <a:r>
              <a:rPr lang="en-US" dirty="0"/>
              <a:t>No user, so service context with credential required</a:t>
            </a:r>
          </a:p>
          <a:p>
            <a:pPr lvl="1"/>
            <a:r>
              <a:rPr lang="en-US" dirty="0"/>
              <a:t>Commit is not implicit</a:t>
            </a:r>
          </a:p>
          <a:p>
            <a:pPr lvl="1"/>
            <a:endParaRPr lang="en-US" dirty="0"/>
          </a:p>
          <a:p>
            <a:pPr marL="400050" lvl="1" indent="0">
              <a:buNone/>
            </a:pPr>
            <a:endParaRPr lang="en-US" b="1" dirty="0">
              <a:latin typeface="Courier New" pitchFamily="49" charset="0"/>
              <a:cs typeface="Courier New" pitchFamily="49" charset="0"/>
            </a:endParaRPr>
          </a:p>
          <a:p>
            <a:r>
              <a:rPr lang="en-US" b="1" dirty="0" err="1">
                <a:latin typeface="Courier New" pitchFamily="49" charset="0"/>
                <a:cs typeface="Courier New" pitchFamily="49" charset="0"/>
              </a:rPr>
              <a:t>bundle.Commit</a:t>
            </a:r>
            <a:r>
              <a:rPr lang="en-US" b="1" dirty="0">
                <a:latin typeface="Courier New" pitchFamily="49" charset="0"/>
                <a:cs typeface="Courier New" pitchFamily="49" charset="0"/>
              </a:rPr>
              <a:t>()</a:t>
            </a:r>
          </a:p>
          <a:p>
            <a:pPr lvl="1"/>
            <a:r>
              <a:rPr lang="en-US" dirty="0"/>
              <a:t>Depending on requirements, call </a:t>
            </a:r>
            <a:r>
              <a:rPr lang="en-US" dirty="0" err="1"/>
              <a:t>bundle.Commit</a:t>
            </a:r>
            <a:r>
              <a:rPr lang="en-US" dirty="0"/>
              <a:t>() </a:t>
            </a:r>
          </a:p>
          <a:p>
            <a:endParaRPr lang="en-US" dirty="0"/>
          </a:p>
        </p:txBody>
      </p:sp>
      <p:pic>
        <p:nvPicPr>
          <p:cNvPr id="4098" name="Picture 2"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58201" y="762001"/>
            <a:ext cx="1639887" cy="3603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2" name="icn New Bundle"/>
          <p:cNvGrpSpPr/>
          <p:nvPr/>
        </p:nvGrpSpPr>
        <p:grpSpPr>
          <a:xfrm>
            <a:off x="9033050" y="1187102"/>
            <a:ext cx="1344314" cy="1479898"/>
            <a:chOff x="7509050" y="838200"/>
            <a:chExt cx="1344314" cy="1479898"/>
          </a:xfrm>
        </p:grpSpPr>
        <p:pic>
          <p:nvPicPr>
            <p:cNvPr id="13"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09050" y="838200"/>
              <a:ext cx="1287626" cy="1479607"/>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04998" y="1693542"/>
              <a:ext cx="648366" cy="624556"/>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Tree>
    <p:extLst>
      <p:ext uri="{BB962C8B-B14F-4D97-AF65-F5344CB8AC3E}">
        <p14:creationId xmlns:p14="http://schemas.microsoft.com/office/powerpoint/2010/main" val="42028385"/>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p:cNvGrpSpPr/>
          <p:nvPr/>
        </p:nvGrpSpPr>
        <p:grpSpPr>
          <a:xfrm>
            <a:off x="7957851" y="4515042"/>
            <a:ext cx="1590548" cy="1755392"/>
            <a:chOff x="6411629" y="4876800"/>
            <a:chExt cx="1408503" cy="1554480"/>
          </a:xfrm>
        </p:grpSpPr>
        <p:pic>
          <p:nvPicPr>
            <p:cNvPr id="3079"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1629" y="4876800"/>
              <a:ext cx="1376604" cy="1554480"/>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71766" y="5776244"/>
              <a:ext cx="648366" cy="624556"/>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40" name="arw 1"/>
          <p:cNvSpPr/>
          <p:nvPr/>
        </p:nvSpPr>
        <p:spPr bwMode="auto">
          <a:xfrm>
            <a:off x="3276601" y="5097670"/>
            <a:ext cx="4740511" cy="464931"/>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pic>
        <p:nvPicPr>
          <p:cNvPr id="205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54542" y="1749808"/>
            <a:ext cx="1799058" cy="1755392"/>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9" name="arw 1"/>
          <p:cNvSpPr/>
          <p:nvPr/>
        </p:nvSpPr>
        <p:spPr bwMode="auto">
          <a:xfrm>
            <a:off x="3260489" y="2252371"/>
            <a:ext cx="4740511" cy="464931"/>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dirty="0"/>
              <a:t>Copying bundle</a:t>
            </a:r>
          </a:p>
        </p:txBody>
      </p:sp>
      <p:sp>
        <p:nvSpPr>
          <p:cNvPr id="12" name="Content Placeholder 11"/>
          <p:cNvSpPr>
            <a:spLocks noGrp="1"/>
          </p:cNvSpPr>
          <p:nvPr>
            <p:ph idx="1"/>
          </p:nvPr>
        </p:nvSpPr>
        <p:spPr/>
        <p:txBody>
          <a:bodyPr/>
          <a:lstStyle/>
          <a:p>
            <a:r>
              <a:rPr lang="en-US" dirty="0"/>
              <a:t>Copying entity into a new bundle:</a:t>
            </a:r>
          </a:p>
          <a:p>
            <a:pPr lvl="1"/>
            <a:r>
              <a:rPr lang="en-US" b="1" dirty="0" err="1">
                <a:latin typeface="Courier New" pitchFamily="49" charset="0"/>
                <a:cs typeface="Courier New" pitchFamily="49" charset="0"/>
              </a:rPr>
              <a:t>origEntity</a:t>
            </a:r>
            <a:r>
              <a:rPr lang="en-US" b="1" dirty="0">
                <a:latin typeface="Courier New" pitchFamily="49" charset="0"/>
                <a:cs typeface="Courier New" pitchFamily="49" charset="0"/>
              </a:rPr>
              <a:t> = </a:t>
            </a:r>
            <a:r>
              <a:rPr lang="en-US" b="1" dirty="0" err="1">
                <a:latin typeface="Courier New" pitchFamily="49" charset="0"/>
                <a:cs typeface="Courier New" pitchFamily="49" charset="0"/>
              </a:rPr>
              <a:t>newBundle.add</a:t>
            </a:r>
            <a:r>
              <a:rPr lang="en-US" b="1" dirty="0">
                <a:latin typeface="Courier New" pitchFamily="49" charset="0"/>
                <a:cs typeface="Courier New" pitchFamily="49" charset="0"/>
              </a:rPr>
              <a:t>(</a:t>
            </a:r>
            <a:r>
              <a:rPr lang="en-US" b="1" dirty="0" err="1">
                <a:latin typeface="Courier New" pitchFamily="49" charset="0"/>
                <a:cs typeface="Courier New" pitchFamily="49" charset="0"/>
              </a:rPr>
              <a:t>origEntity</a:t>
            </a:r>
            <a:r>
              <a:rPr lang="en-US" b="1" dirty="0">
                <a:latin typeface="Courier New" pitchFamily="49" charset="0"/>
                <a:cs typeface="Courier New" pitchFamily="49" charset="0"/>
              </a:rPr>
              <a:t>)</a:t>
            </a:r>
          </a:p>
          <a:p>
            <a:endParaRPr lang="en-US" dirty="0"/>
          </a:p>
          <a:p>
            <a:pPr lvl="1"/>
            <a:endParaRPr lang="en-US" b="1" dirty="0">
              <a:latin typeface="Courier New" pitchFamily="49" charset="0"/>
              <a:cs typeface="Courier New" pitchFamily="49" charset="0"/>
            </a:endParaRPr>
          </a:p>
          <a:p>
            <a:pPr lvl="1"/>
            <a:endParaRPr lang="en-US" b="1" dirty="0">
              <a:latin typeface="Courier New" pitchFamily="49" charset="0"/>
              <a:cs typeface="Courier New" pitchFamily="49" charset="0"/>
            </a:endParaRPr>
          </a:p>
          <a:p>
            <a:pPr lvl="1"/>
            <a:endParaRPr lang="en-US" b="1" dirty="0">
              <a:latin typeface="Courier New" pitchFamily="49" charset="0"/>
              <a:cs typeface="Courier New" pitchFamily="49" charset="0"/>
            </a:endParaRPr>
          </a:p>
          <a:p>
            <a:pPr lvl="1"/>
            <a:endParaRPr lang="en-US" b="1" dirty="0">
              <a:latin typeface="Courier New" pitchFamily="49" charset="0"/>
              <a:cs typeface="Courier New" pitchFamily="49" charset="0"/>
            </a:endParaRPr>
          </a:p>
          <a:p>
            <a:pPr lvl="1"/>
            <a:endParaRPr lang="en-US" b="1" dirty="0">
              <a:latin typeface="Courier New" pitchFamily="49" charset="0"/>
              <a:cs typeface="Courier New" pitchFamily="49" charset="0"/>
            </a:endParaRPr>
          </a:p>
          <a:p>
            <a:pPr marL="400050" lvl="1" indent="0">
              <a:buNone/>
            </a:pPr>
            <a:endParaRPr lang="en-US" b="1" dirty="0">
              <a:latin typeface="Courier New" pitchFamily="49" charset="0"/>
              <a:cs typeface="Courier New" pitchFamily="49" charset="0"/>
            </a:endParaRPr>
          </a:p>
        </p:txBody>
      </p:sp>
      <p:sp>
        <p:nvSpPr>
          <p:cNvPr id="15" name="Text Placeholder 14"/>
          <p:cNvSpPr>
            <a:spLocks noGrp="1"/>
          </p:cNvSpPr>
          <p:nvPr>
            <p:ph type="body" sz="quarter" idx="10"/>
          </p:nvPr>
        </p:nvSpPr>
        <p:spPr/>
        <p:txBody>
          <a:bodyPr/>
          <a:lstStyle/>
          <a:p>
            <a:r>
              <a:rPr lang="en-US" dirty="0"/>
              <a:t>Copying entity from read-only to writable bundle:</a:t>
            </a:r>
          </a:p>
          <a:p>
            <a:pPr lvl="1"/>
            <a:r>
              <a:rPr lang="en-US" b="1" dirty="0" err="1">
                <a:latin typeface="Courier New" pitchFamily="49" charset="0"/>
                <a:cs typeface="Courier New" pitchFamily="49" charset="0"/>
              </a:rPr>
              <a:t>origEntity</a:t>
            </a:r>
            <a:r>
              <a:rPr lang="en-US" b="1" dirty="0">
                <a:latin typeface="Courier New" pitchFamily="49" charset="0"/>
                <a:cs typeface="Courier New" pitchFamily="49" charset="0"/>
              </a:rPr>
              <a:t> = </a:t>
            </a:r>
            <a:r>
              <a:rPr lang="en-US" b="1" dirty="0" err="1">
                <a:latin typeface="Courier New" pitchFamily="49" charset="0"/>
                <a:cs typeface="Courier New" pitchFamily="49" charset="0"/>
              </a:rPr>
              <a:t>writableBundle.add</a:t>
            </a:r>
            <a:r>
              <a:rPr lang="en-US" b="1" dirty="0">
                <a:latin typeface="Courier New" pitchFamily="49" charset="0"/>
                <a:cs typeface="Courier New" pitchFamily="49" charset="0"/>
              </a:rPr>
              <a:t>(</a:t>
            </a:r>
            <a:r>
              <a:rPr lang="en-US" b="1" dirty="0" err="1">
                <a:latin typeface="Courier New" pitchFamily="49" charset="0"/>
                <a:cs typeface="Courier New" pitchFamily="49" charset="0"/>
              </a:rPr>
              <a:t>origEntity</a:t>
            </a:r>
            <a:r>
              <a:rPr lang="en-US" b="1" dirty="0">
                <a:latin typeface="Courier New" pitchFamily="49" charset="0"/>
                <a:cs typeface="Courier New" pitchFamily="49" charset="0"/>
              </a:rPr>
              <a:t>) </a:t>
            </a:r>
          </a:p>
        </p:txBody>
      </p:sp>
      <p:pic>
        <p:nvPicPr>
          <p:cNvPr id="31"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81391" y="4495800"/>
            <a:ext cx="838200" cy="887462"/>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00400" y="5288996"/>
            <a:ext cx="921500" cy="883204"/>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7"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90800" y="1691640"/>
            <a:ext cx="838200" cy="887462"/>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8"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09809" y="2484836"/>
            <a:ext cx="921500" cy="883204"/>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26891970"/>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bwMode="auto">
          <a:xfrm>
            <a:off x="2514600" y="1365250"/>
            <a:ext cx="2667000" cy="4959350"/>
          </a:xfrm>
          <a:prstGeom prst="roundRect">
            <a:avLst>
              <a:gd name="adj" fmla="val 6065"/>
            </a:avLst>
          </a:prstGeom>
          <a:solidFill>
            <a:schemeClr val="tx1"/>
          </a:solidFill>
          <a:ln w="28575" algn="ctr">
            <a:solidFill>
              <a:schemeClr val="accent6">
                <a:lumMod val="75000"/>
              </a:schemeClr>
            </a:solidFill>
            <a:prstDash val="sysDash"/>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dirty="0"/>
              <a:t>Copying entities to bundle restrictions</a:t>
            </a:r>
          </a:p>
        </p:txBody>
      </p:sp>
      <p:sp>
        <p:nvSpPr>
          <p:cNvPr id="7" name="Text Box 5"/>
          <p:cNvSpPr txBox="1">
            <a:spLocks noChangeArrowheads="1"/>
          </p:cNvSpPr>
          <p:nvPr/>
        </p:nvSpPr>
        <p:spPr bwMode="auto">
          <a:xfrm>
            <a:off x="3114186" y="2735039"/>
            <a:ext cx="136308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a:solidFill>
                  <a:schemeClr val="bg1"/>
                </a:solidFill>
                <a:latin typeface="+mn-lt"/>
              </a:rPr>
              <a:t>Unmodified</a:t>
            </a:r>
          </a:p>
        </p:txBody>
      </p:sp>
      <p:sp>
        <p:nvSpPr>
          <p:cNvPr id="11" name="Text Box 9"/>
          <p:cNvSpPr txBox="1">
            <a:spLocks noChangeArrowheads="1"/>
          </p:cNvSpPr>
          <p:nvPr/>
        </p:nvSpPr>
        <p:spPr bwMode="auto">
          <a:xfrm>
            <a:off x="3152776" y="4171124"/>
            <a:ext cx="13430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defPPr>
              <a:defRPr lang="en-US"/>
            </a:defPPr>
            <a:lvl1pPr algn="ctr">
              <a:defRPr b="1">
                <a:solidFill>
                  <a:schemeClr val="bg1"/>
                </a:solidFill>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a:t>Modified</a:t>
            </a:r>
          </a:p>
        </p:txBody>
      </p:sp>
      <p:sp>
        <p:nvSpPr>
          <p:cNvPr id="12" name="Text Box 10"/>
          <p:cNvSpPr txBox="1">
            <a:spLocks noChangeArrowheads="1"/>
          </p:cNvSpPr>
          <p:nvPr/>
        </p:nvSpPr>
        <p:spPr bwMode="auto">
          <a:xfrm>
            <a:off x="2971800" y="5809254"/>
            <a:ext cx="15240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a:solidFill>
                  <a:schemeClr val="bg1"/>
                </a:solidFill>
                <a:latin typeface="+mn-lt"/>
              </a:rPr>
              <a:t>New in First</a:t>
            </a:r>
          </a:p>
        </p:txBody>
      </p:sp>
      <p:sp>
        <p:nvSpPr>
          <p:cNvPr id="35" name="Line 33"/>
          <p:cNvSpPr>
            <a:spLocks noChangeShapeType="1"/>
          </p:cNvSpPr>
          <p:nvPr/>
        </p:nvSpPr>
        <p:spPr bwMode="auto">
          <a:xfrm>
            <a:off x="4627564" y="3611562"/>
            <a:ext cx="1849437"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39" name="Line 37"/>
          <p:cNvSpPr>
            <a:spLocks noChangeShapeType="1"/>
          </p:cNvSpPr>
          <p:nvPr/>
        </p:nvSpPr>
        <p:spPr bwMode="auto">
          <a:xfrm>
            <a:off x="4614864" y="5254625"/>
            <a:ext cx="1862137"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grpSp>
        <p:nvGrpSpPr>
          <p:cNvPr id="3" name="Group 2"/>
          <p:cNvGrpSpPr/>
          <p:nvPr/>
        </p:nvGrpSpPr>
        <p:grpSpPr>
          <a:xfrm>
            <a:off x="3258069" y="4570584"/>
            <a:ext cx="1063857" cy="1114188"/>
            <a:chOff x="643455" y="4906583"/>
            <a:chExt cx="1063857" cy="1114188"/>
          </a:xfrm>
        </p:grpSpPr>
        <p:pic>
          <p:nvPicPr>
            <p:cNvPr id="4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3455" y="4906583"/>
              <a:ext cx="969368" cy="1113898"/>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6" name="Picture 1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19200" y="5550584"/>
              <a:ext cx="488112" cy="470187"/>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47"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91923" y="3001222"/>
            <a:ext cx="1153650" cy="110570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9"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91924" y="1600201"/>
            <a:ext cx="958403" cy="110543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46430" y="929640"/>
            <a:ext cx="1136036" cy="128016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ounded Rectangle 4"/>
          <p:cNvSpPr/>
          <p:nvPr/>
        </p:nvSpPr>
        <p:spPr bwMode="auto">
          <a:xfrm>
            <a:off x="3925905" y="1182688"/>
            <a:ext cx="1410476" cy="334470"/>
          </a:xfrm>
          <a:prstGeom prst="roundRect">
            <a:avLst/>
          </a:prstGeom>
          <a:solidFill>
            <a:schemeClr val="tx1"/>
          </a:solidFill>
          <a:ln w="28575" algn="ctr">
            <a:solidFill>
              <a:schemeClr val="accent3">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a:solidFill>
                  <a:sysClr val="windowText" lastClr="000000"/>
                </a:solidFill>
              </a:rPr>
              <a:t>First Bundle</a:t>
            </a:r>
          </a:p>
        </p:txBody>
      </p:sp>
      <p:sp>
        <p:nvSpPr>
          <p:cNvPr id="29" name="Rounded Rectangle 28"/>
          <p:cNvSpPr/>
          <p:nvPr/>
        </p:nvSpPr>
        <p:spPr bwMode="auto">
          <a:xfrm>
            <a:off x="7331075" y="1365250"/>
            <a:ext cx="2667000" cy="4959350"/>
          </a:xfrm>
          <a:prstGeom prst="roundRect">
            <a:avLst>
              <a:gd name="adj" fmla="val 6065"/>
            </a:avLst>
          </a:prstGeom>
          <a:solidFill>
            <a:schemeClr val="tx1"/>
          </a:solidFill>
          <a:ln w="28575" algn="ctr">
            <a:solidFill>
              <a:schemeClr val="accent6">
                <a:lumMod val="75000"/>
              </a:schemeClr>
            </a:solidFill>
            <a:prstDash val="sysDash"/>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30" name="Rounded Rectangle 29"/>
          <p:cNvSpPr/>
          <p:nvPr/>
        </p:nvSpPr>
        <p:spPr bwMode="auto">
          <a:xfrm>
            <a:off x="8397876" y="1182688"/>
            <a:ext cx="1754981" cy="334470"/>
          </a:xfrm>
          <a:prstGeom prst="roundRect">
            <a:avLst/>
          </a:prstGeom>
          <a:solidFill>
            <a:schemeClr val="tx1"/>
          </a:solidFill>
          <a:ln w="28575" algn="ctr">
            <a:solidFill>
              <a:schemeClr val="accent3">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a:solidFill>
                  <a:sysClr val="windowText" lastClr="000000"/>
                </a:solidFill>
              </a:rPr>
              <a:t>Second Bundle</a:t>
            </a:r>
          </a:p>
        </p:txBody>
      </p:sp>
      <p:sp>
        <p:nvSpPr>
          <p:cNvPr id="31" name="Text Box 10"/>
          <p:cNvSpPr txBox="1">
            <a:spLocks noChangeArrowheads="1"/>
          </p:cNvSpPr>
          <p:nvPr/>
        </p:nvSpPr>
        <p:spPr bwMode="auto">
          <a:xfrm>
            <a:off x="7794435" y="5809253"/>
            <a:ext cx="182879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a:solidFill>
                  <a:schemeClr val="bg1"/>
                </a:solidFill>
                <a:latin typeface="+mn-lt"/>
              </a:rPr>
              <a:t>New in Second</a:t>
            </a:r>
          </a:p>
        </p:txBody>
      </p:sp>
      <p:grpSp>
        <p:nvGrpSpPr>
          <p:cNvPr id="43" name="Group 42"/>
          <p:cNvGrpSpPr/>
          <p:nvPr/>
        </p:nvGrpSpPr>
        <p:grpSpPr>
          <a:xfrm>
            <a:off x="8232544" y="4570583"/>
            <a:ext cx="1063857" cy="1114188"/>
            <a:chOff x="643455" y="4906583"/>
            <a:chExt cx="1063857" cy="1114188"/>
          </a:xfrm>
        </p:grpSpPr>
        <p:pic>
          <p:nvPicPr>
            <p:cNvPr id="4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3455" y="4906583"/>
              <a:ext cx="969368" cy="1113898"/>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0" name="Picture 1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19200" y="5550584"/>
              <a:ext cx="488112" cy="470187"/>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51" name="Text Box 5"/>
          <p:cNvSpPr txBox="1">
            <a:spLocks noChangeArrowheads="1"/>
          </p:cNvSpPr>
          <p:nvPr/>
        </p:nvSpPr>
        <p:spPr bwMode="auto">
          <a:xfrm>
            <a:off x="8007636" y="2735038"/>
            <a:ext cx="136308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a:solidFill>
                  <a:schemeClr val="bg1"/>
                </a:solidFill>
                <a:latin typeface="+mn-lt"/>
              </a:rPr>
              <a:t>Unmodified</a:t>
            </a:r>
          </a:p>
        </p:txBody>
      </p:sp>
      <p:pic>
        <p:nvPicPr>
          <p:cNvPr id="52"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85374" y="1600200"/>
            <a:ext cx="958403" cy="110543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3"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64718" y="928722"/>
            <a:ext cx="1136036" cy="128016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4" name="Line 32"/>
          <p:cNvSpPr>
            <a:spLocks noChangeShapeType="1"/>
          </p:cNvSpPr>
          <p:nvPr/>
        </p:nvSpPr>
        <p:spPr bwMode="auto">
          <a:xfrm>
            <a:off x="4631144" y="2286000"/>
            <a:ext cx="2992437"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6" name="Multiply 5"/>
          <p:cNvSpPr/>
          <p:nvPr/>
        </p:nvSpPr>
        <p:spPr bwMode="auto">
          <a:xfrm>
            <a:off x="6324600" y="3123867"/>
            <a:ext cx="975390" cy="975390"/>
          </a:xfrm>
          <a:prstGeom prst="mathMultiply">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54" name="Multiply 53"/>
          <p:cNvSpPr/>
          <p:nvPr/>
        </p:nvSpPr>
        <p:spPr bwMode="auto">
          <a:xfrm>
            <a:off x="6324600" y="4766930"/>
            <a:ext cx="975390" cy="975390"/>
          </a:xfrm>
          <a:prstGeom prst="mathMultiply">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3689483801"/>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Database transactions and bundles</a:t>
            </a:r>
          </a:p>
          <a:p>
            <a:r>
              <a:rPr lang="en-US" dirty="0"/>
              <a:t>Current and new bundles</a:t>
            </a:r>
          </a:p>
          <a:p>
            <a:r>
              <a:rPr lang="en-US" dirty="0">
                <a:solidFill>
                  <a:schemeClr val="bg1"/>
                </a:solidFill>
              </a:rPr>
              <a:t>Read-only entities and bundles</a:t>
            </a:r>
          </a:p>
          <a:p>
            <a:r>
              <a:rPr lang="en-US" dirty="0"/>
              <a:t>New entities and bundles</a:t>
            </a:r>
          </a:p>
          <a:p>
            <a:r>
              <a:rPr lang="en-US" dirty="0"/>
              <a:t>Additional bundle functionality</a:t>
            </a:r>
          </a:p>
          <a:p>
            <a:endParaRPr lang="en-US" dirty="0"/>
          </a:p>
        </p:txBody>
      </p:sp>
    </p:spTree>
    <p:extLst>
      <p:ext uri="{BB962C8B-B14F-4D97-AF65-F5344CB8AC3E}">
        <p14:creationId xmlns:p14="http://schemas.microsoft.com/office/powerpoint/2010/main" val="3651022286"/>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67" name="icn New Bundle 2"/>
          <p:cNvGrpSpPr>
            <a:grpSpLocks noChangeAspect="1"/>
          </p:cNvGrpSpPr>
          <p:nvPr/>
        </p:nvGrpSpPr>
        <p:grpSpPr>
          <a:xfrm>
            <a:off x="9295074" y="5318760"/>
            <a:ext cx="913689" cy="1005840"/>
            <a:chOff x="7509050" y="838200"/>
            <a:chExt cx="1344314" cy="1479898"/>
          </a:xfrm>
        </p:grpSpPr>
        <p:pic>
          <p:nvPicPr>
            <p:cNvPr id="6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09050" y="838200"/>
              <a:ext cx="1287626" cy="1479607"/>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9" name="Picture 1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204998" y="1693542"/>
              <a:ext cx="648366" cy="624556"/>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70" name="Right Arrow 69"/>
          <p:cNvSpPr/>
          <p:nvPr/>
        </p:nvSpPr>
        <p:spPr bwMode="auto">
          <a:xfrm rot="5400000">
            <a:off x="9465711" y="4995271"/>
            <a:ext cx="618072" cy="274320"/>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pic>
        <p:nvPicPr>
          <p:cNvPr id="63" name="icn Readonly FK"/>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86194" y="3982393"/>
            <a:ext cx="950007" cy="100584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2" name="icn New Bundle"/>
          <p:cNvGrpSpPr>
            <a:grpSpLocks noChangeAspect="1"/>
          </p:cNvGrpSpPr>
          <p:nvPr/>
        </p:nvGrpSpPr>
        <p:grpSpPr>
          <a:xfrm>
            <a:off x="3546411" y="5305775"/>
            <a:ext cx="913689" cy="1005840"/>
            <a:chOff x="7509050" y="838200"/>
            <a:chExt cx="1344314" cy="1479898"/>
          </a:xfrm>
        </p:grpSpPr>
        <p:pic>
          <p:nvPicPr>
            <p:cNvPr id="23"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09050" y="838200"/>
              <a:ext cx="1287626" cy="1479607"/>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 name="Picture 1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204998" y="1693542"/>
              <a:ext cx="648366" cy="624556"/>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42" name="Right Arrow 41"/>
          <p:cNvSpPr/>
          <p:nvPr/>
        </p:nvSpPr>
        <p:spPr bwMode="auto">
          <a:xfrm rot="5400000">
            <a:off x="3717048" y="4981172"/>
            <a:ext cx="618072" cy="274320"/>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5" name="Title 4"/>
          <p:cNvSpPr>
            <a:spLocks noGrp="1"/>
          </p:cNvSpPr>
          <p:nvPr>
            <p:ph type="title"/>
          </p:nvPr>
        </p:nvSpPr>
        <p:spPr/>
        <p:txBody>
          <a:bodyPr/>
          <a:lstStyle/>
          <a:p>
            <a:r>
              <a:rPr lang="en-US" dirty="0"/>
              <a:t>Add existing entities to new bundle</a:t>
            </a:r>
          </a:p>
        </p:txBody>
      </p:sp>
      <p:sp>
        <p:nvSpPr>
          <p:cNvPr id="6" name="Content Placeholder 5"/>
          <p:cNvSpPr>
            <a:spLocks noGrp="1"/>
          </p:cNvSpPr>
          <p:nvPr>
            <p:ph sz="half" idx="1"/>
          </p:nvPr>
        </p:nvSpPr>
        <p:spPr/>
        <p:txBody>
          <a:bodyPr/>
          <a:lstStyle/>
          <a:p>
            <a:r>
              <a:rPr lang="en-US" dirty="0"/>
              <a:t>Query returns read-only bundle</a:t>
            </a:r>
          </a:p>
          <a:p>
            <a:r>
              <a:rPr lang="en-US" dirty="0"/>
              <a:t>Copy to new bundle</a:t>
            </a:r>
          </a:p>
          <a:p>
            <a:endParaRPr lang="en-US" dirty="0"/>
          </a:p>
        </p:txBody>
      </p:sp>
      <p:sp>
        <p:nvSpPr>
          <p:cNvPr id="7" name="Content Placeholder 6"/>
          <p:cNvSpPr>
            <a:spLocks noGrp="1"/>
          </p:cNvSpPr>
          <p:nvPr>
            <p:ph sz="half" idx="10"/>
          </p:nvPr>
        </p:nvSpPr>
        <p:spPr/>
        <p:txBody>
          <a:bodyPr/>
          <a:lstStyle/>
          <a:p>
            <a:r>
              <a:rPr lang="en-US" dirty="0"/>
              <a:t>Retrieve it using </a:t>
            </a:r>
            <a:r>
              <a:rPr lang="en-US" b="1" dirty="0" err="1">
                <a:latin typeface="Courier New" pitchFamily="49" charset="0"/>
                <a:cs typeface="Courier New" pitchFamily="49" charset="0"/>
              </a:rPr>
              <a:t>loadBean</a:t>
            </a:r>
            <a:r>
              <a:rPr lang="en-US" b="1" dirty="0">
                <a:latin typeface="Courier New" pitchFamily="49" charset="0"/>
                <a:cs typeface="Courier New" pitchFamily="49" charset="0"/>
              </a:rPr>
              <a:t>()</a:t>
            </a:r>
          </a:p>
          <a:p>
            <a:r>
              <a:rPr lang="en-US" dirty="0"/>
              <a:t>Copy to new  bundle</a:t>
            </a:r>
          </a:p>
          <a:p>
            <a:endParaRPr lang="en-US" dirty="0"/>
          </a:p>
        </p:txBody>
      </p:sp>
      <p:sp>
        <p:nvSpPr>
          <p:cNvPr id="4" name="Content Placeholder 3"/>
          <p:cNvSpPr>
            <a:spLocks noGrp="1"/>
          </p:cNvSpPr>
          <p:nvPr>
            <p:ph sz="half" idx="2"/>
          </p:nvPr>
        </p:nvSpPr>
        <p:spPr>
          <a:xfrm>
            <a:off x="7696200" y="1752602"/>
            <a:ext cx="2743200" cy="4637089"/>
          </a:xfrm>
        </p:spPr>
        <p:txBody>
          <a:bodyPr/>
          <a:lstStyle/>
          <a:p>
            <a:r>
              <a:rPr lang="en-US" dirty="0"/>
              <a:t>From existing bundle, reference foreign key</a:t>
            </a:r>
          </a:p>
          <a:p>
            <a:r>
              <a:rPr lang="en-US" dirty="0"/>
              <a:t>Copy to new bundle</a:t>
            </a:r>
          </a:p>
        </p:txBody>
      </p:sp>
      <p:sp>
        <p:nvSpPr>
          <p:cNvPr id="8" name="Subtitle 7"/>
          <p:cNvSpPr>
            <a:spLocks noGrp="1"/>
          </p:cNvSpPr>
          <p:nvPr>
            <p:ph type="subTitle" idx="11"/>
          </p:nvPr>
        </p:nvSpPr>
        <p:spPr/>
        <p:txBody>
          <a:bodyPr/>
          <a:lstStyle/>
          <a:p>
            <a:r>
              <a:rPr lang="en-US" dirty="0"/>
              <a:t>Database query</a:t>
            </a:r>
          </a:p>
        </p:txBody>
      </p:sp>
      <p:sp>
        <p:nvSpPr>
          <p:cNvPr id="9" name="Text Placeholder 8"/>
          <p:cNvSpPr>
            <a:spLocks noGrp="1"/>
          </p:cNvSpPr>
          <p:nvPr>
            <p:ph type="body" sz="quarter" idx="12"/>
          </p:nvPr>
        </p:nvSpPr>
        <p:spPr/>
        <p:txBody>
          <a:bodyPr/>
          <a:lstStyle/>
          <a:p>
            <a:r>
              <a:rPr lang="en-US" dirty="0" err="1"/>
              <a:t>LoadBean</a:t>
            </a:r>
            <a:endParaRPr lang="en-US" dirty="0"/>
          </a:p>
        </p:txBody>
      </p:sp>
      <p:sp>
        <p:nvSpPr>
          <p:cNvPr id="10" name="Text Placeholder 9"/>
          <p:cNvSpPr>
            <a:spLocks noGrp="1"/>
          </p:cNvSpPr>
          <p:nvPr>
            <p:ph type="body" sz="quarter" idx="13"/>
          </p:nvPr>
        </p:nvSpPr>
        <p:spPr/>
        <p:txBody>
          <a:bodyPr/>
          <a:lstStyle/>
          <a:p>
            <a:r>
              <a:rPr lang="en-US" dirty="0"/>
              <a:t>Foreign Key</a:t>
            </a:r>
          </a:p>
        </p:txBody>
      </p:sp>
      <p:pic>
        <p:nvPicPr>
          <p:cNvPr id="1029" name="Picture 5"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7916" y="3001325"/>
            <a:ext cx="1861916" cy="21025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icn Bundle Blue" hidden="1"/>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244519" y="1243360"/>
            <a:ext cx="670032" cy="77282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6" name="txt ABContact" hidden="1"/>
          <p:cNvSpPr txBox="1"/>
          <p:nvPr/>
        </p:nvSpPr>
        <p:spPr>
          <a:xfrm>
            <a:off x="2727432" y="1964140"/>
            <a:ext cx="1704206" cy="414336"/>
          </a:xfrm>
          <a:prstGeom prst="rect">
            <a:avLst/>
          </a:prstGeom>
          <a:noFill/>
        </p:spPr>
        <p:txBody>
          <a:bodyPr wrap="square" rtlCol="0">
            <a:noAutofit/>
          </a:bodyPr>
          <a:lstStyle/>
          <a:p>
            <a:pPr algn="ctr"/>
            <a:r>
              <a:rPr lang="en-US" dirty="0">
                <a:solidFill>
                  <a:schemeClr val="bg1"/>
                </a:solidFill>
                <a:latin typeface="Arial" pitchFamily="32" charset="0"/>
                <a:cs typeface="Arial" pitchFamily="32" charset="0"/>
              </a:rPr>
              <a:t>anABContact</a:t>
            </a:r>
          </a:p>
        </p:txBody>
      </p:sp>
      <p:sp>
        <p:nvSpPr>
          <p:cNvPr id="27" name="txt Flag Entry" hidden="1"/>
          <p:cNvSpPr txBox="1"/>
          <p:nvPr/>
        </p:nvSpPr>
        <p:spPr>
          <a:xfrm>
            <a:off x="4221216" y="2131000"/>
            <a:ext cx="1704206" cy="414336"/>
          </a:xfrm>
          <a:prstGeom prst="rect">
            <a:avLst/>
          </a:prstGeom>
          <a:noFill/>
        </p:spPr>
        <p:txBody>
          <a:bodyPr wrap="square" rtlCol="0">
            <a:noAutofit/>
          </a:bodyPr>
          <a:lstStyle/>
          <a:p>
            <a:pPr algn="ctr"/>
            <a:r>
              <a:rPr lang="en-US" dirty="0" err="1">
                <a:solidFill>
                  <a:schemeClr val="bg1"/>
                </a:solidFill>
                <a:latin typeface="Arial" pitchFamily="32" charset="0"/>
                <a:cs typeface="Arial" pitchFamily="32" charset="0"/>
              </a:rPr>
              <a:t>aFlagEntry</a:t>
            </a:r>
            <a:endParaRPr lang="en-US" dirty="0">
              <a:solidFill>
                <a:schemeClr val="bg1"/>
              </a:solidFill>
              <a:latin typeface="Arial" pitchFamily="32" charset="0"/>
              <a:cs typeface="Arial" pitchFamily="32" charset="0"/>
            </a:endParaRPr>
          </a:p>
        </p:txBody>
      </p:sp>
      <p:sp>
        <p:nvSpPr>
          <p:cNvPr id="28" name="txtBank" hidden="1"/>
          <p:cNvSpPr txBox="1"/>
          <p:nvPr/>
        </p:nvSpPr>
        <p:spPr>
          <a:xfrm>
            <a:off x="2362200" y="3095135"/>
            <a:ext cx="1704206" cy="414336"/>
          </a:xfrm>
          <a:prstGeom prst="rect">
            <a:avLst/>
          </a:prstGeom>
          <a:noFill/>
        </p:spPr>
        <p:txBody>
          <a:bodyPr wrap="square" rtlCol="0">
            <a:noAutofit/>
          </a:bodyPr>
          <a:lstStyle/>
          <a:p>
            <a:pPr algn="ctr"/>
            <a:r>
              <a:rPr lang="en-US" dirty="0" err="1">
                <a:solidFill>
                  <a:schemeClr val="bg1"/>
                </a:solidFill>
                <a:latin typeface="Arial" pitchFamily="32" charset="0"/>
                <a:cs typeface="Arial" pitchFamily="32" charset="0"/>
              </a:rPr>
              <a:t>aBankAccount</a:t>
            </a:r>
            <a:endParaRPr lang="en-US" dirty="0">
              <a:solidFill>
                <a:schemeClr val="bg1"/>
              </a:solidFill>
              <a:latin typeface="Arial" pitchFamily="32" charset="0"/>
              <a:cs typeface="Arial" pitchFamily="32" charset="0"/>
            </a:endParaRPr>
          </a:p>
        </p:txBody>
      </p:sp>
      <p:pic>
        <p:nvPicPr>
          <p:cNvPr id="29" name="icn Bundle Grn" hidden="1"/>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909503" y="2217476"/>
            <a:ext cx="670032" cy="77282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 name="icn Bundle Gld" hidden="1"/>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882274" y="1410220"/>
            <a:ext cx="670032" cy="77282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1" name="icn Bundle Org" hidden="1"/>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4403287" y="2555538"/>
            <a:ext cx="670032" cy="77282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2" name="txt LglCase" hidden="1"/>
          <p:cNvSpPr txBox="1"/>
          <p:nvPr/>
        </p:nvSpPr>
        <p:spPr>
          <a:xfrm>
            <a:off x="3886200" y="3243264"/>
            <a:ext cx="1704206" cy="414336"/>
          </a:xfrm>
          <a:prstGeom prst="rect">
            <a:avLst/>
          </a:prstGeom>
          <a:noFill/>
        </p:spPr>
        <p:txBody>
          <a:bodyPr wrap="square" rtlCol="0">
            <a:noAutofit/>
          </a:bodyPr>
          <a:lstStyle/>
          <a:p>
            <a:pPr algn="ctr"/>
            <a:r>
              <a:rPr lang="en-US" dirty="0" err="1">
                <a:solidFill>
                  <a:schemeClr val="bg1"/>
                </a:solidFill>
                <a:latin typeface="Arial" pitchFamily="32" charset="0"/>
                <a:cs typeface="Arial" pitchFamily="32" charset="0"/>
              </a:rPr>
              <a:t>aLegalCase</a:t>
            </a:r>
            <a:endParaRPr lang="en-US" dirty="0">
              <a:solidFill>
                <a:schemeClr val="bg1"/>
              </a:solidFill>
              <a:latin typeface="Arial" pitchFamily="32" charset="0"/>
              <a:cs typeface="Arial" pitchFamily="32" charset="0"/>
            </a:endParaRPr>
          </a:p>
        </p:txBody>
      </p:sp>
      <p:sp>
        <p:nvSpPr>
          <p:cNvPr id="33" name="lbl Bundle" hidden="1"/>
          <p:cNvSpPr/>
          <p:nvPr/>
        </p:nvSpPr>
        <p:spPr bwMode="auto">
          <a:xfrm>
            <a:off x="4648200" y="916557"/>
            <a:ext cx="1219200" cy="379645"/>
          </a:xfrm>
          <a:prstGeom prst="roundRect">
            <a:avLst/>
          </a:prstGeom>
          <a:solidFill>
            <a:schemeClr val="tx1"/>
          </a:solidFill>
          <a:ln w="19050" algn="ctr">
            <a:solidFill>
              <a:schemeClr val="accent6">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a:solidFill>
                  <a:schemeClr val="bg1"/>
                </a:solidFill>
              </a:rPr>
              <a:t>Bundle</a:t>
            </a:r>
          </a:p>
        </p:txBody>
      </p:sp>
      <p:pic>
        <p:nvPicPr>
          <p:cNvPr id="39" name="icn ReadOnly"/>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46410" y="3932005"/>
            <a:ext cx="949390" cy="100584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1" name="Right Arrow 40"/>
          <p:cNvSpPr/>
          <p:nvPr/>
        </p:nvSpPr>
        <p:spPr bwMode="auto">
          <a:xfrm>
            <a:off x="2895600" y="4243693"/>
            <a:ext cx="720012" cy="274320"/>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grpSp>
        <p:nvGrpSpPr>
          <p:cNvPr id="43" name="icn New Bundle 2"/>
          <p:cNvGrpSpPr>
            <a:grpSpLocks noChangeAspect="1"/>
          </p:cNvGrpSpPr>
          <p:nvPr/>
        </p:nvGrpSpPr>
        <p:grpSpPr>
          <a:xfrm>
            <a:off x="6365811" y="5318760"/>
            <a:ext cx="913689" cy="1005840"/>
            <a:chOff x="7509050" y="838200"/>
            <a:chExt cx="1344314" cy="1479898"/>
          </a:xfrm>
        </p:grpSpPr>
        <p:pic>
          <p:nvPicPr>
            <p:cNvPr id="4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09050" y="838200"/>
              <a:ext cx="1287626" cy="1479607"/>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5" name="Picture 1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204998" y="1693542"/>
              <a:ext cx="648366" cy="624556"/>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46" name="Right Arrow 45"/>
          <p:cNvSpPr/>
          <p:nvPr/>
        </p:nvSpPr>
        <p:spPr bwMode="auto">
          <a:xfrm rot="5400000">
            <a:off x="6536448" y="4994157"/>
            <a:ext cx="618072" cy="274320"/>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pic>
        <p:nvPicPr>
          <p:cNvPr id="47" name="icn Readonly"/>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365810" y="3944990"/>
            <a:ext cx="949390" cy="100584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8" name="Right Arrow 47"/>
          <p:cNvSpPr/>
          <p:nvPr/>
        </p:nvSpPr>
        <p:spPr bwMode="auto">
          <a:xfrm>
            <a:off x="5800798" y="4258817"/>
            <a:ext cx="618072" cy="274320"/>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pic>
        <p:nvPicPr>
          <p:cNvPr id="40" name="icn QueryDB"/>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209800" y="3907224"/>
            <a:ext cx="787740" cy="100584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9" name="icn Entity"/>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068469" y="3910468"/>
            <a:ext cx="872058" cy="100584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6" name="Right Arrow 65"/>
          <p:cNvSpPr/>
          <p:nvPr/>
        </p:nvSpPr>
        <p:spPr bwMode="auto">
          <a:xfrm>
            <a:off x="8693521" y="4310750"/>
            <a:ext cx="618072" cy="274320"/>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pic>
        <p:nvPicPr>
          <p:cNvPr id="65" name="icn Readonly"/>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914211" y="3944858"/>
            <a:ext cx="949390" cy="100584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32461604"/>
      </p:ext>
    </p:extLst>
  </p:cSld>
  <p:clrMapOvr>
    <a:overrideClrMapping bg1="dk2" tx1="lt1" bg2="dk1" tx2="lt2" accent1="accent1" accent2="accent2" accent3="accent3" accent4="accent4" accent5="accent5" accent6="accent6" hlink="hlink" folHlink="folHlink"/>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Querying</a:t>
            </a:r>
          </a:p>
        </p:txBody>
      </p:sp>
      <p:sp>
        <p:nvSpPr>
          <p:cNvPr id="18" name="Content Placeholder 17"/>
          <p:cNvSpPr>
            <a:spLocks noGrp="1"/>
          </p:cNvSpPr>
          <p:nvPr>
            <p:ph sz="half" idx="2"/>
          </p:nvPr>
        </p:nvSpPr>
        <p:spPr>
          <a:xfrm>
            <a:off x="6315076" y="914400"/>
            <a:ext cx="4032885" cy="3657600"/>
          </a:xfrm>
        </p:spPr>
        <p:txBody>
          <a:bodyPr/>
          <a:lstStyle/>
          <a:p>
            <a:r>
              <a:rPr lang="en-US" dirty="0"/>
              <a:t>Use a Gosu query builder to query for entities</a:t>
            </a:r>
          </a:p>
          <a:p>
            <a:r>
              <a:rPr lang="en-US" dirty="0"/>
              <a:t>Queried entities are returned in a read-only bundle</a:t>
            </a:r>
          </a:p>
          <a:p>
            <a:pPr lvl="1"/>
            <a:r>
              <a:rPr lang="en-US" b="1" dirty="0" err="1">
                <a:latin typeface="Courier New" pitchFamily="49" charset="0"/>
                <a:cs typeface="Courier New" pitchFamily="49" charset="0"/>
              </a:rPr>
              <a:t>entity.Bundle.ReadOnly</a:t>
            </a:r>
            <a:endParaRPr lang="en-US" b="1" dirty="0">
              <a:latin typeface="Courier New" pitchFamily="49" charset="0"/>
              <a:cs typeface="Courier New" pitchFamily="49" charset="0"/>
            </a:endParaRPr>
          </a:p>
          <a:p>
            <a:endParaRPr lang="en-US" dirty="0"/>
          </a:p>
        </p:txBody>
      </p:sp>
      <p:sp>
        <p:nvSpPr>
          <p:cNvPr id="19" name="Content Placeholder 18"/>
          <p:cNvSpPr>
            <a:spLocks noGrp="1"/>
          </p:cNvSpPr>
          <p:nvPr>
            <p:ph idx="10"/>
          </p:nvPr>
        </p:nvSpPr>
        <p:spPr>
          <a:xfrm>
            <a:off x="2045208" y="4495800"/>
            <a:ext cx="8321040" cy="1905000"/>
          </a:xfrm>
        </p:spPr>
        <p:txBody>
          <a:bodyPr/>
          <a:lstStyle/>
          <a:p>
            <a:r>
              <a:rPr lang="en-US" dirty="0"/>
              <a:t>To modify, copy into a new bundle</a:t>
            </a:r>
          </a:p>
          <a:p>
            <a:pPr lvl="1"/>
            <a:r>
              <a:rPr lang="en-US" dirty="0"/>
              <a:t>Syntax: </a:t>
            </a:r>
            <a:r>
              <a:rPr lang="en-US" b="1" dirty="0" err="1">
                <a:latin typeface="Courier New" pitchFamily="49" charset="0"/>
                <a:cs typeface="Courier New" pitchFamily="49" charset="0"/>
              </a:rPr>
              <a:t>origEntity</a:t>
            </a:r>
            <a:r>
              <a:rPr lang="en-US" b="1" dirty="0">
                <a:latin typeface="Courier New" pitchFamily="49" charset="0"/>
                <a:cs typeface="Courier New" pitchFamily="49" charset="0"/>
              </a:rPr>
              <a:t> = </a:t>
            </a:r>
            <a:r>
              <a:rPr lang="en-US" b="1" dirty="0" err="1">
                <a:latin typeface="Courier New" pitchFamily="49" charset="0"/>
                <a:cs typeface="Courier New" pitchFamily="49" charset="0"/>
              </a:rPr>
              <a:t>newBundle.add</a:t>
            </a:r>
            <a:r>
              <a:rPr lang="en-US" b="1" dirty="0">
                <a:latin typeface="Courier New" pitchFamily="49" charset="0"/>
                <a:cs typeface="Courier New" pitchFamily="49" charset="0"/>
              </a:rPr>
              <a:t>(</a:t>
            </a:r>
            <a:r>
              <a:rPr lang="en-US" b="1" dirty="0" err="1">
                <a:latin typeface="Courier New" pitchFamily="49" charset="0"/>
                <a:cs typeface="Courier New" pitchFamily="49" charset="0"/>
              </a:rPr>
              <a:t>origEntity</a:t>
            </a:r>
            <a:r>
              <a:rPr lang="en-US" b="1" dirty="0">
                <a:latin typeface="Courier New" pitchFamily="49" charset="0"/>
                <a:cs typeface="Courier New" pitchFamily="49" charset="0"/>
              </a:rPr>
              <a:t>)</a:t>
            </a:r>
          </a:p>
          <a:p>
            <a:pPr lvl="1"/>
            <a:r>
              <a:rPr lang="en-US" dirty="0"/>
              <a:t>Reassign the value of the existing variable</a:t>
            </a:r>
          </a:p>
          <a:p>
            <a:pPr lvl="1"/>
            <a:r>
              <a:rPr lang="en-US" dirty="0"/>
              <a:t>It is possible to assign to new variable object</a:t>
            </a:r>
          </a:p>
          <a:p>
            <a:endParaRPr lang="en-US" dirty="0"/>
          </a:p>
        </p:txBody>
      </p:sp>
      <p:grpSp>
        <p:nvGrpSpPr>
          <p:cNvPr id="22" name="icn New Bundle"/>
          <p:cNvGrpSpPr>
            <a:grpSpLocks noChangeAspect="1"/>
          </p:cNvGrpSpPr>
          <p:nvPr/>
        </p:nvGrpSpPr>
        <p:grpSpPr>
          <a:xfrm>
            <a:off x="3971926" y="3154680"/>
            <a:ext cx="1079815" cy="1188720"/>
            <a:chOff x="7509050" y="838200"/>
            <a:chExt cx="1344314" cy="1479898"/>
          </a:xfrm>
        </p:grpSpPr>
        <p:pic>
          <p:nvPicPr>
            <p:cNvPr id="2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9050" y="838200"/>
              <a:ext cx="1287626" cy="1479607"/>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 name="Picture 2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998" y="1693542"/>
              <a:ext cx="648366" cy="624556"/>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25" name="Right Arrow 24"/>
          <p:cNvSpPr/>
          <p:nvPr/>
        </p:nvSpPr>
        <p:spPr bwMode="auto">
          <a:xfrm rot="5400000">
            <a:off x="3917044" y="2433579"/>
            <a:ext cx="1287304" cy="365760"/>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pic>
        <p:nvPicPr>
          <p:cNvPr id="26" name="inc Bundle ReadOnl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02570" y="1202711"/>
            <a:ext cx="1122006"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 name="Right Arrow 15"/>
          <p:cNvSpPr/>
          <p:nvPr/>
        </p:nvSpPr>
        <p:spPr bwMode="auto">
          <a:xfrm>
            <a:off x="2861388" y="1546144"/>
            <a:ext cx="1253412" cy="365760"/>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pic>
        <p:nvPicPr>
          <p:cNvPr id="17"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1200" y="1209675"/>
            <a:ext cx="930966"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9" name="txtCode2"/>
          <p:cNvSpPr txBox="1">
            <a:spLocks noChangeArrowheads="1"/>
          </p:cNvSpPr>
          <p:nvPr/>
        </p:nvSpPr>
        <p:spPr bwMode="auto">
          <a:xfrm>
            <a:off x="2060263" y="3578902"/>
            <a:ext cx="198193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pitchFamily="34"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pPr eaLnBrk="0" fontAlgn="base" hangingPunct="0">
              <a:spcBef>
                <a:spcPct val="50000"/>
              </a:spcBef>
              <a:spcAft>
                <a:spcPct val="0"/>
              </a:spcAft>
              <a:buClr>
                <a:srgbClr val="0146AD"/>
              </a:buClr>
              <a:defRPr/>
            </a:pPr>
            <a:r>
              <a:rPr lang="en-US" sz="1600" kern="0" dirty="0" err="1">
                <a:solidFill>
                  <a:schemeClr val="bg1"/>
                </a:solidFill>
                <a:latin typeface="Courier New" pitchFamily="49" charset="0"/>
                <a:cs typeface="Courier New" pitchFamily="49" charset="0"/>
              </a:rPr>
              <a:t>newBundle.add</a:t>
            </a:r>
            <a:r>
              <a:rPr lang="en-US" sz="1600" kern="0" dirty="0">
                <a:solidFill>
                  <a:schemeClr val="bg1"/>
                </a:solidFill>
                <a:latin typeface="Courier New" pitchFamily="49" charset="0"/>
                <a:cs typeface="Courier New" pitchFamily="49" charset="0"/>
              </a:rPr>
              <a:t>(</a:t>
            </a:r>
            <a:br>
              <a:rPr lang="en-US" sz="1600" kern="0" dirty="0">
                <a:solidFill>
                  <a:schemeClr val="bg1"/>
                </a:solidFill>
                <a:latin typeface="Courier New" pitchFamily="49" charset="0"/>
                <a:cs typeface="Courier New" pitchFamily="49" charset="0"/>
              </a:rPr>
            </a:br>
            <a:r>
              <a:rPr lang="en-US" sz="1600" kern="0" dirty="0" err="1">
                <a:solidFill>
                  <a:schemeClr val="bg1"/>
                </a:solidFill>
                <a:latin typeface="Courier New" pitchFamily="49" charset="0"/>
                <a:cs typeface="Courier New" pitchFamily="49" charset="0"/>
              </a:rPr>
              <a:t>readOnlyBundle</a:t>
            </a:r>
            <a:r>
              <a:rPr lang="en-US" sz="1600" kern="0" dirty="0">
                <a:solidFill>
                  <a:schemeClr val="bg1"/>
                </a:solidFill>
                <a:latin typeface="Courier New" pitchFamily="49" charset="0"/>
                <a:cs typeface="Courier New" pitchFamily="49" charset="0"/>
              </a:rPr>
              <a:t>)</a:t>
            </a:r>
          </a:p>
        </p:txBody>
      </p:sp>
      <p:sp>
        <p:nvSpPr>
          <p:cNvPr id="30" name="txt Code1"/>
          <p:cNvSpPr txBox="1">
            <a:spLocks noChangeArrowheads="1"/>
          </p:cNvSpPr>
          <p:nvPr/>
        </p:nvSpPr>
        <p:spPr bwMode="auto">
          <a:xfrm>
            <a:off x="2070928" y="914401"/>
            <a:ext cx="372027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pitchFamily="34"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pPr eaLnBrk="0" fontAlgn="base" hangingPunct="0">
              <a:spcBef>
                <a:spcPct val="50000"/>
              </a:spcBef>
              <a:spcAft>
                <a:spcPct val="0"/>
              </a:spcAft>
              <a:buClr>
                <a:srgbClr val="0146AD"/>
              </a:buClr>
              <a:defRPr/>
            </a:pPr>
            <a:r>
              <a:rPr lang="en-US" sz="1600" kern="0" dirty="0" err="1">
                <a:solidFill>
                  <a:schemeClr val="bg1"/>
                </a:solidFill>
                <a:latin typeface="Courier New" pitchFamily="49" charset="0"/>
                <a:cs typeface="Courier New" pitchFamily="49" charset="0"/>
              </a:rPr>
              <a:t>Query.Make</a:t>
            </a:r>
            <a:r>
              <a:rPr lang="en-US" sz="1600" kern="0" dirty="0">
                <a:solidFill>
                  <a:schemeClr val="bg1"/>
                </a:solidFill>
                <a:latin typeface="Courier New" pitchFamily="49" charset="0"/>
                <a:cs typeface="Courier New" pitchFamily="49" charset="0"/>
              </a:rPr>
              <a:t>(entity)…</a:t>
            </a:r>
          </a:p>
        </p:txBody>
      </p:sp>
      <p:sp>
        <p:nvSpPr>
          <p:cNvPr id="31" name="txtCurrentBundle"/>
          <p:cNvSpPr txBox="1">
            <a:spLocks noChangeArrowheads="1"/>
          </p:cNvSpPr>
          <p:nvPr/>
        </p:nvSpPr>
        <p:spPr bwMode="auto">
          <a:xfrm>
            <a:off x="2063024" y="2403158"/>
            <a:ext cx="95924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pitchFamily="34"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pPr algn="ctr" eaLnBrk="0" fontAlgn="base" hangingPunct="0">
              <a:spcBef>
                <a:spcPct val="50000"/>
              </a:spcBef>
              <a:spcAft>
                <a:spcPct val="0"/>
              </a:spcAft>
              <a:buClr>
                <a:srgbClr val="0146AD"/>
              </a:buClr>
              <a:defRPr/>
            </a:pPr>
            <a:r>
              <a:rPr lang="en-US" sz="1600" kern="0" dirty="0">
                <a:solidFill>
                  <a:schemeClr val="bg1"/>
                </a:solidFill>
                <a:latin typeface="+mj-lt"/>
                <a:cs typeface="Courier New" pitchFamily="49" charset="0"/>
              </a:rPr>
              <a:t>database</a:t>
            </a:r>
            <a:endParaRPr lang="en-US" sz="1600" kern="0" dirty="0">
              <a:solidFill>
                <a:schemeClr val="bg1"/>
              </a:solidFill>
              <a:latin typeface="+mj-lt"/>
            </a:endParaRPr>
          </a:p>
        </p:txBody>
      </p:sp>
      <p:sp>
        <p:nvSpPr>
          <p:cNvPr id="32" name="txt ReadOnlyBundle"/>
          <p:cNvSpPr txBox="1">
            <a:spLocks noChangeArrowheads="1"/>
          </p:cNvSpPr>
          <p:nvPr/>
        </p:nvSpPr>
        <p:spPr bwMode="auto">
          <a:xfrm>
            <a:off x="5116870" y="1480365"/>
            <a:ext cx="105533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pitchFamily="34"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pPr algn="ctr" eaLnBrk="0" fontAlgn="base" hangingPunct="0">
              <a:spcBef>
                <a:spcPct val="50000"/>
              </a:spcBef>
              <a:spcAft>
                <a:spcPct val="0"/>
              </a:spcAft>
              <a:buClr>
                <a:srgbClr val="0146AD"/>
              </a:buClr>
              <a:defRPr/>
            </a:pPr>
            <a:r>
              <a:rPr lang="en-US" sz="1600" kern="0" dirty="0">
                <a:solidFill>
                  <a:schemeClr val="bg1"/>
                </a:solidFill>
                <a:latin typeface="+mj-lt"/>
                <a:cs typeface="Courier New" pitchFamily="49" charset="0"/>
              </a:rPr>
              <a:t>Read-only</a:t>
            </a:r>
            <a:br>
              <a:rPr lang="en-US" sz="1600" kern="0" dirty="0">
                <a:solidFill>
                  <a:schemeClr val="bg1"/>
                </a:solidFill>
                <a:latin typeface="+mj-lt"/>
                <a:cs typeface="Courier New" pitchFamily="49" charset="0"/>
              </a:rPr>
            </a:br>
            <a:r>
              <a:rPr lang="en-US" sz="1600" kern="0" dirty="0">
                <a:solidFill>
                  <a:schemeClr val="bg1"/>
                </a:solidFill>
                <a:latin typeface="+mj-lt"/>
                <a:cs typeface="Courier New" pitchFamily="49" charset="0"/>
              </a:rPr>
              <a:t>Bundle</a:t>
            </a:r>
          </a:p>
        </p:txBody>
      </p:sp>
      <p:sp>
        <p:nvSpPr>
          <p:cNvPr id="33" name="txt NewBundle"/>
          <p:cNvSpPr txBox="1">
            <a:spLocks noChangeArrowheads="1"/>
          </p:cNvSpPr>
          <p:nvPr/>
        </p:nvSpPr>
        <p:spPr bwMode="auto">
          <a:xfrm>
            <a:off x="5116870" y="3502702"/>
            <a:ext cx="105533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defPPr>
              <a:defRPr lang="en-US"/>
            </a:defPPr>
            <a:lvl1pPr marR="0" lvl="0" indent="0" algn="ctr" eaLnBrk="0" fontAlgn="base" hangingPunct="0">
              <a:lnSpc>
                <a:spcPct val="100000"/>
              </a:lnSpc>
              <a:spcBef>
                <a:spcPct val="50000"/>
              </a:spcBef>
              <a:spcAft>
                <a:spcPct val="0"/>
              </a:spcAft>
              <a:buClr>
                <a:srgbClr val="0146AD"/>
              </a:buClr>
              <a:buSzTx/>
              <a:buFont typeface="Wingdings 3" pitchFamily="18" charset="2"/>
              <a:buNone/>
              <a:tabLst/>
              <a:defRPr kumimoji="0" sz="1600" b="1" i="0" u="none" strike="noStrike" kern="0" cap="none" spc="0" normalizeH="0" baseline="0">
                <a:ln>
                  <a:noFill/>
                </a:ln>
                <a:solidFill>
                  <a:schemeClr val="bg1"/>
                </a:solidFill>
                <a:effectLst/>
                <a:uLnTx/>
                <a:uFillTx/>
                <a:latin typeface="+mj-lt"/>
                <a:cs typeface="Courier New" pitchFamily="49"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r>
              <a:rPr lang="en-US" dirty="0"/>
              <a:t>New</a:t>
            </a:r>
            <a:br>
              <a:rPr lang="en-US" dirty="0"/>
            </a:br>
            <a:r>
              <a:rPr lang="en-US" dirty="0"/>
              <a:t>Bundle</a:t>
            </a:r>
          </a:p>
        </p:txBody>
      </p:sp>
    </p:spTree>
    <p:extLst>
      <p:ext uri="{BB962C8B-B14F-4D97-AF65-F5344CB8AC3E}">
        <p14:creationId xmlns:p14="http://schemas.microsoft.com/office/powerpoint/2010/main" val="3386667623"/>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 Line Numbers"/>
          <p:cNvSpPr/>
          <p:nvPr/>
        </p:nvSpPr>
        <p:spPr bwMode="auto">
          <a:xfrm>
            <a:off x="1828801" y="914401"/>
            <a:ext cx="581025" cy="2640723"/>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2" name="Title 1"/>
          <p:cNvSpPr>
            <a:spLocks noGrp="1"/>
          </p:cNvSpPr>
          <p:nvPr>
            <p:ph type="title"/>
          </p:nvPr>
        </p:nvSpPr>
        <p:spPr/>
        <p:txBody>
          <a:bodyPr/>
          <a:lstStyle/>
          <a:p>
            <a:r>
              <a:rPr lang="en-US" dirty="0"/>
              <a:t>Example: Querying</a:t>
            </a:r>
          </a:p>
        </p:txBody>
      </p:sp>
      <p:sp>
        <p:nvSpPr>
          <p:cNvPr id="3" name="Content Placeholder 2"/>
          <p:cNvSpPr>
            <a:spLocks noGrp="1"/>
          </p:cNvSpPr>
          <p:nvPr>
            <p:ph idx="1"/>
          </p:nvPr>
        </p:nvSpPr>
        <p:spPr>
          <a:xfrm>
            <a:off x="2043113" y="3838278"/>
            <a:ext cx="8318500" cy="2562523"/>
          </a:xfrm>
        </p:spPr>
        <p:txBody>
          <a:bodyPr/>
          <a:lstStyle/>
          <a:p>
            <a:r>
              <a:rPr lang="en-US" dirty="0"/>
              <a:t>References include:</a:t>
            </a:r>
          </a:p>
          <a:p>
            <a:pPr lvl="1"/>
            <a:r>
              <a:rPr lang="en-US" b="1" dirty="0">
                <a:latin typeface="Courier New" pitchFamily="49" charset="0"/>
                <a:cs typeface="Courier New" pitchFamily="49" charset="0"/>
              </a:rPr>
              <a:t>gw.api.database.Query</a:t>
            </a:r>
          </a:p>
          <a:p>
            <a:pPr lvl="1"/>
            <a:r>
              <a:rPr lang="en-US" b="1" dirty="0">
                <a:latin typeface="Courier New" pitchFamily="49" charset="0"/>
                <a:cs typeface="Courier New" pitchFamily="49" charset="0"/>
              </a:rPr>
              <a:t>gw.api.database.Relop</a:t>
            </a:r>
          </a:p>
          <a:p>
            <a:pPr lvl="1"/>
            <a:r>
              <a:rPr lang="en-US" b="1" dirty="0">
                <a:latin typeface="Courier New" pitchFamily="49" charset="0"/>
                <a:cs typeface="Courier New" pitchFamily="49" charset="0"/>
              </a:rPr>
              <a:t>gw.transaction.Transaction</a:t>
            </a:r>
          </a:p>
          <a:p>
            <a:r>
              <a:rPr lang="en-US" dirty="0"/>
              <a:t>Line 57: query for entity</a:t>
            </a:r>
          </a:p>
          <a:p>
            <a:r>
              <a:rPr lang="en-US" dirty="0"/>
              <a:t>Line 59: copy to new bundle</a:t>
            </a:r>
          </a:p>
          <a:p>
            <a:pPr lvl="1"/>
            <a:endParaRPr lang="en-US" b="1" dirty="0">
              <a:latin typeface="Courier New" pitchFamily="49" charset="0"/>
              <a:cs typeface="Courier New" pitchFamily="49" charset="0"/>
            </a:endParaRPr>
          </a:p>
        </p:txBody>
      </p:sp>
      <p:sp>
        <p:nvSpPr>
          <p:cNvPr id="5" name="rec Code"/>
          <p:cNvSpPr/>
          <p:nvPr/>
        </p:nvSpPr>
        <p:spPr>
          <a:xfrm>
            <a:off x="1935480" y="914401"/>
            <a:ext cx="8739554" cy="2640723"/>
          </a:xfrm>
          <a:prstGeom prst="rect">
            <a:avLst/>
          </a:prstGeom>
        </p:spPr>
        <p:txBody>
          <a:bodyPr wrap="none">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 47  </a:t>
            </a:r>
            <a:r>
              <a:rPr lang="en-US" sz="1600" b="1" dirty="0">
                <a:solidFill>
                  <a:srgbClr val="000080"/>
                </a:solidFill>
                <a:latin typeface="Courier New" pitchFamily="49" charset="0"/>
                <a:ea typeface="Times New Roman"/>
                <a:cs typeface="Courier New" pitchFamily="49" charset="0"/>
              </a:rPr>
              <a:t>public static function </a:t>
            </a:r>
            <a:r>
              <a:rPr lang="en-US" sz="1600" b="1" dirty="0">
                <a:solidFill>
                  <a:srgbClr val="000000"/>
                </a:solidFill>
                <a:latin typeface="Courier New" pitchFamily="49" charset="0"/>
                <a:ea typeface="Times New Roman"/>
                <a:cs typeface="Courier New" pitchFamily="49" charset="0"/>
              </a:rPr>
              <a:t>setInspectionDateByName(name: String,</a:t>
            </a:r>
            <a:br>
              <a:rPr lang="en-US" sz="1600" b="1" dirty="0">
                <a:solidFill>
                  <a:srgbClr val="000000"/>
                </a:solidFill>
                <a:latin typeface="Courier New" pitchFamily="49" charset="0"/>
                <a:ea typeface="Times New Roman"/>
                <a:cs typeface="Courier New" pitchFamily="49" charset="0"/>
              </a:rPr>
            </a:br>
            <a:r>
              <a:rPr lang="en-US" sz="1600" b="1" dirty="0">
                <a:solidFill>
                  <a:srgbClr val="000000"/>
                </a:solidFill>
                <a:latin typeface="Courier New" pitchFamily="49" charset="0"/>
                <a:ea typeface="Times New Roman"/>
                <a:cs typeface="Courier New" pitchFamily="49" charset="0"/>
              </a:rPr>
              <a:t>                                inspectionDate: DateTime) : String { </a:t>
            </a:r>
            <a:endParaRPr lang="en-US" sz="1600" b="1" dirty="0">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…49    Transaction.runWithNewBundle(\ newBundle -&gt; { </a:t>
            </a:r>
            <a:endParaRPr lang="en-US" sz="1600" b="1" dirty="0">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i="1" dirty="0">
                <a:solidFill>
                  <a:srgbClr val="969696"/>
                </a:solidFill>
                <a:latin typeface="Courier New" pitchFamily="49" charset="0"/>
                <a:ea typeface="Times New Roman"/>
                <a:cs typeface="Courier New" pitchFamily="49" charset="0"/>
              </a:rPr>
              <a:t> </a:t>
            </a:r>
            <a:r>
              <a:rPr lang="en-US" sz="1600" b="1" dirty="0">
                <a:solidFill>
                  <a:srgbClr val="000000"/>
                </a:solidFill>
                <a:latin typeface="Courier New" pitchFamily="49" charset="0"/>
                <a:ea typeface="Times New Roman"/>
                <a:cs typeface="Courier New" pitchFamily="49" charset="0"/>
              </a:rPr>
              <a:t>50</a:t>
            </a:r>
            <a:r>
              <a:rPr lang="en-US" sz="1600" b="1" i="1" dirty="0">
                <a:solidFill>
                  <a:srgbClr val="969696"/>
                </a:solidFill>
                <a:latin typeface="Courier New" pitchFamily="49" charset="0"/>
                <a:ea typeface="Times New Roman"/>
                <a:cs typeface="Courier New" pitchFamily="49" charset="0"/>
              </a:rPr>
              <a:t>      </a:t>
            </a:r>
            <a:r>
              <a:rPr lang="en-US" sz="1600" b="1" dirty="0">
                <a:solidFill>
                  <a:srgbClr val="000080"/>
                </a:solidFill>
                <a:latin typeface="Courier New" pitchFamily="49" charset="0"/>
                <a:ea typeface="Times New Roman"/>
                <a:cs typeface="Courier New" pitchFamily="49" charset="0"/>
              </a:rPr>
              <a:t>var</a:t>
            </a:r>
            <a:r>
              <a:rPr lang="en-US" sz="1600" b="1" dirty="0">
                <a:solidFill>
                  <a:srgbClr val="000000"/>
                </a:solidFill>
                <a:latin typeface="Courier New" pitchFamily="49" charset="0"/>
                <a:ea typeface="Times New Roman"/>
                <a:cs typeface="Courier New" pitchFamily="49" charset="0"/>
              </a:rPr>
              <a:t> queryObj = </a:t>
            </a:r>
            <a:r>
              <a:rPr lang="en-US" sz="1600" b="1" dirty="0" err="1">
                <a:solidFill>
                  <a:srgbClr val="000000"/>
                </a:solidFill>
                <a:latin typeface="Courier New" pitchFamily="49" charset="0"/>
                <a:ea typeface="Times New Roman"/>
                <a:cs typeface="Courier New" pitchFamily="49" charset="0"/>
              </a:rPr>
              <a:t>Query.make</a:t>
            </a:r>
            <a:r>
              <a:rPr lang="en-US" sz="1600" b="1" dirty="0">
                <a:solidFill>
                  <a:srgbClr val="000000"/>
                </a:solidFill>
                <a:latin typeface="Courier New" pitchFamily="49" charset="0"/>
                <a:ea typeface="Times New Roman"/>
                <a:cs typeface="Courier New" pitchFamily="49" charset="0"/>
              </a:rPr>
              <a:t>(ABCompany)</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 51      queryObj.compare(</a:t>
            </a:r>
            <a:r>
              <a:rPr lang="en-US" sz="1600" b="1" dirty="0" err="1">
                <a:solidFill>
                  <a:srgbClr val="000000"/>
                </a:solidFill>
                <a:latin typeface="Courier New" pitchFamily="49" charset="0"/>
                <a:ea typeface="Times New Roman"/>
                <a:cs typeface="Courier New" pitchFamily="49" charset="0"/>
              </a:rPr>
              <a:t>ABCompany#Name</a:t>
            </a:r>
            <a:r>
              <a:rPr lang="en-US" sz="1600" b="1" dirty="0">
                <a:solidFill>
                  <a:srgbClr val="000000"/>
                </a:solidFill>
                <a:latin typeface="Courier New" pitchFamily="49" charset="0"/>
                <a:ea typeface="Times New Roman"/>
                <a:cs typeface="Courier New" pitchFamily="49" charset="0"/>
              </a:rPr>
              <a:t>, Relop.</a:t>
            </a:r>
            <a:r>
              <a:rPr lang="en-US" sz="1600" b="1" i="1" dirty="0">
                <a:solidFill>
                  <a:srgbClr val="7030A0"/>
                </a:solidFill>
                <a:latin typeface="Courier New" pitchFamily="49" charset="0"/>
                <a:ea typeface="Times New Roman"/>
                <a:cs typeface="Courier New" pitchFamily="49" charset="0"/>
              </a:rPr>
              <a:t>Equals</a:t>
            </a:r>
            <a:r>
              <a:rPr lang="en-US" sz="1600" b="1" dirty="0">
                <a:solidFill>
                  <a:srgbClr val="000000"/>
                </a:solidFill>
                <a:latin typeface="Courier New" pitchFamily="49" charset="0"/>
                <a:ea typeface="Times New Roman"/>
                <a:cs typeface="Courier New" pitchFamily="49" charset="0"/>
              </a:rPr>
              <a:t>, name)</a:t>
            </a:r>
            <a:br>
              <a:rPr lang="en-US" sz="1600" b="1" dirty="0">
                <a:solidFill>
                  <a:srgbClr val="000000"/>
                </a:solidFill>
                <a:latin typeface="Courier New" pitchFamily="49" charset="0"/>
                <a:ea typeface="Times New Roman"/>
                <a:cs typeface="Courier New" pitchFamily="49" charset="0"/>
              </a:rPr>
            </a:br>
            <a:r>
              <a:rPr lang="en-US" sz="1600" b="1" dirty="0">
                <a:solidFill>
                  <a:srgbClr val="000000"/>
                </a:solidFill>
                <a:latin typeface="Courier New" pitchFamily="49" charset="0"/>
                <a:ea typeface="Times New Roman"/>
                <a:cs typeface="Courier New" pitchFamily="49" charset="0"/>
              </a:rPr>
              <a:t>…57        </a:t>
            </a:r>
            <a:r>
              <a:rPr lang="en-US" sz="1600" b="1" dirty="0">
                <a:solidFill>
                  <a:srgbClr val="000080"/>
                </a:solidFill>
                <a:latin typeface="Courier New" pitchFamily="49" charset="0"/>
                <a:ea typeface="Times New Roman"/>
                <a:cs typeface="Courier New" pitchFamily="49" charset="0"/>
              </a:rPr>
              <a:t>var</a:t>
            </a:r>
            <a:r>
              <a:rPr lang="en-US" sz="1600" b="1" dirty="0">
                <a:solidFill>
                  <a:srgbClr val="000000"/>
                </a:solidFill>
                <a:latin typeface="Courier New" pitchFamily="49" charset="0"/>
                <a:ea typeface="Times New Roman"/>
                <a:cs typeface="Courier New" pitchFamily="49" charset="0"/>
              </a:rPr>
              <a:t> targetCompany = queryObj.select().AtMostOneRow</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…59        </a:t>
            </a:r>
            <a:r>
              <a:rPr lang="en-US" sz="1600" b="1" dirty="0" err="1">
                <a:solidFill>
                  <a:srgbClr val="000000"/>
                </a:solidFill>
                <a:latin typeface="Courier New" pitchFamily="49" charset="0"/>
                <a:ea typeface="Times New Roman"/>
                <a:cs typeface="Courier New" pitchFamily="49" charset="0"/>
              </a:rPr>
              <a:t>targetCompany</a:t>
            </a:r>
            <a:r>
              <a:rPr lang="en-US" sz="1600" b="1" dirty="0">
                <a:solidFill>
                  <a:srgbClr val="000000"/>
                </a:solidFill>
                <a:latin typeface="Courier New" pitchFamily="49" charset="0"/>
                <a:ea typeface="Times New Roman"/>
                <a:cs typeface="Courier New" pitchFamily="49" charset="0"/>
              </a:rPr>
              <a:t> = newBundle.add(targetCompany)</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…72     }, </a:t>
            </a:r>
            <a:r>
              <a:rPr lang="en-US" sz="1600" b="1" dirty="0">
                <a:solidFill>
                  <a:schemeClr val="accent5"/>
                </a:solidFill>
                <a:latin typeface="Courier New" pitchFamily="49" charset="0"/>
                <a:ea typeface="Times New Roman"/>
                <a:cs typeface="Courier New" pitchFamily="49" charset="0"/>
              </a:rPr>
              <a:t>"su"</a:t>
            </a:r>
            <a:r>
              <a:rPr lang="en-US" sz="1600" b="1" dirty="0">
                <a:solidFill>
                  <a:srgbClr val="000000"/>
                </a:solidFill>
                <a:latin typeface="Courier New" pitchFamily="49" charset="0"/>
                <a:ea typeface="Times New Roman"/>
                <a:cs typeface="Courier New" pitchFamily="49" charset="0"/>
              </a:rPr>
              <a:t>) </a:t>
            </a:r>
            <a:endParaRPr lang="en-US" sz="1600" b="1" dirty="0">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…74	}</a:t>
            </a:r>
            <a:endParaRPr lang="en-US" sz="1600" b="1" dirty="0">
              <a:latin typeface="Courier New" pitchFamily="49" charset="0"/>
              <a:ea typeface="Calibri"/>
              <a:cs typeface="Courier New" pitchFamily="49" charset="0"/>
            </a:endParaRPr>
          </a:p>
        </p:txBody>
      </p:sp>
    </p:spTree>
    <p:extLst>
      <p:ext uri="{BB962C8B-B14F-4D97-AF65-F5344CB8AC3E}">
        <p14:creationId xmlns:p14="http://schemas.microsoft.com/office/powerpoint/2010/main" val="1798956225"/>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err="1"/>
              <a:t>LoadBean</a:t>
            </a:r>
            <a:r>
              <a:rPr lang="en-US" dirty="0"/>
              <a:t>()</a:t>
            </a:r>
          </a:p>
        </p:txBody>
      </p:sp>
      <p:sp>
        <p:nvSpPr>
          <p:cNvPr id="18" name="Content Placeholder 17"/>
          <p:cNvSpPr>
            <a:spLocks noGrp="1"/>
          </p:cNvSpPr>
          <p:nvPr>
            <p:ph sz="half" idx="2"/>
          </p:nvPr>
        </p:nvSpPr>
        <p:spPr>
          <a:xfrm>
            <a:off x="6315076" y="914400"/>
            <a:ext cx="4032885" cy="3657600"/>
          </a:xfrm>
        </p:spPr>
        <p:txBody>
          <a:bodyPr/>
          <a:lstStyle/>
          <a:p>
            <a:r>
              <a:rPr lang="en-US" dirty="0"/>
              <a:t>Get an entity using </a:t>
            </a:r>
            <a:r>
              <a:rPr lang="en-US" dirty="0" err="1"/>
              <a:t>loadBean</a:t>
            </a:r>
            <a:r>
              <a:rPr lang="en-US" dirty="0"/>
              <a:t>()</a:t>
            </a:r>
          </a:p>
          <a:p>
            <a:r>
              <a:rPr lang="en-US" dirty="0"/>
              <a:t>Requires key</a:t>
            </a:r>
          </a:p>
          <a:p>
            <a:pPr lvl="1"/>
            <a:r>
              <a:rPr lang="en-US" b="1" dirty="0" err="1">
                <a:latin typeface="Courier New" pitchFamily="49" charset="0"/>
                <a:cs typeface="Courier New" pitchFamily="49" charset="0"/>
              </a:rPr>
              <a:t>gw.pl.persistence</a:t>
            </a:r>
            <a:r>
              <a:rPr lang="en-US" b="1" dirty="0">
                <a:latin typeface="Courier New" pitchFamily="49" charset="0"/>
                <a:cs typeface="Courier New" pitchFamily="49" charset="0"/>
              </a:rPr>
              <a:t>.</a:t>
            </a:r>
            <a:br>
              <a:rPr lang="en-US" b="1" dirty="0">
                <a:latin typeface="Courier New" pitchFamily="49" charset="0"/>
                <a:cs typeface="Courier New" pitchFamily="49" charset="0"/>
              </a:rPr>
            </a:br>
            <a:r>
              <a:rPr lang="en-US" b="1" dirty="0" err="1">
                <a:latin typeface="Courier New" pitchFamily="49" charset="0"/>
                <a:cs typeface="Courier New" pitchFamily="49" charset="0"/>
              </a:rPr>
              <a:t>core.Key</a:t>
            </a:r>
            <a:endParaRPr lang="en-US" dirty="0"/>
          </a:p>
          <a:p>
            <a:r>
              <a:rPr lang="en-US" dirty="0" err="1"/>
              <a:t>entity.loadBean</a:t>
            </a:r>
            <a:r>
              <a:rPr lang="en-US" dirty="0"/>
              <a:t>(Key)</a:t>
            </a:r>
          </a:p>
        </p:txBody>
      </p:sp>
      <p:sp>
        <p:nvSpPr>
          <p:cNvPr id="19" name="Content Placeholder 18"/>
          <p:cNvSpPr>
            <a:spLocks noGrp="1"/>
          </p:cNvSpPr>
          <p:nvPr>
            <p:ph idx="10"/>
          </p:nvPr>
        </p:nvSpPr>
        <p:spPr>
          <a:xfrm>
            <a:off x="2045208" y="4495800"/>
            <a:ext cx="8321040" cy="1905000"/>
          </a:xfrm>
        </p:spPr>
        <p:txBody>
          <a:bodyPr/>
          <a:lstStyle/>
          <a:p>
            <a:r>
              <a:rPr lang="en-US" dirty="0"/>
              <a:t>To modify, copy to a new bundle</a:t>
            </a:r>
          </a:p>
          <a:p>
            <a:pPr lvl="1"/>
            <a:r>
              <a:rPr lang="en-US" dirty="0"/>
              <a:t>Syntax: </a:t>
            </a:r>
            <a:r>
              <a:rPr lang="en-US" b="1" dirty="0" err="1">
                <a:latin typeface="Courier New" pitchFamily="49" charset="0"/>
                <a:cs typeface="Courier New" pitchFamily="49" charset="0"/>
              </a:rPr>
              <a:t>origEntity</a:t>
            </a:r>
            <a:r>
              <a:rPr lang="en-US" b="1" dirty="0">
                <a:latin typeface="Courier New" pitchFamily="49" charset="0"/>
                <a:cs typeface="Courier New" pitchFamily="49" charset="0"/>
              </a:rPr>
              <a:t> = </a:t>
            </a:r>
            <a:r>
              <a:rPr lang="en-US" b="1" dirty="0" err="1">
                <a:latin typeface="Courier New" pitchFamily="49" charset="0"/>
                <a:cs typeface="Courier New" pitchFamily="49" charset="0"/>
              </a:rPr>
              <a:t>newBundle.add</a:t>
            </a:r>
            <a:r>
              <a:rPr lang="en-US" b="1" dirty="0">
                <a:latin typeface="Courier New" pitchFamily="49" charset="0"/>
                <a:cs typeface="Courier New" pitchFamily="49" charset="0"/>
              </a:rPr>
              <a:t>(</a:t>
            </a:r>
            <a:r>
              <a:rPr lang="en-US" b="1" dirty="0" err="1">
                <a:latin typeface="Courier New" pitchFamily="49" charset="0"/>
                <a:cs typeface="Courier New" pitchFamily="49" charset="0"/>
              </a:rPr>
              <a:t>origEntity</a:t>
            </a:r>
            <a:r>
              <a:rPr lang="en-US" b="1" dirty="0">
                <a:latin typeface="Courier New" pitchFamily="49" charset="0"/>
                <a:cs typeface="Courier New" pitchFamily="49" charset="0"/>
              </a:rPr>
              <a:t>)</a:t>
            </a:r>
          </a:p>
          <a:p>
            <a:pPr lvl="1"/>
            <a:r>
              <a:rPr lang="en-US" dirty="0"/>
              <a:t>Reassign the value of the existing variable</a:t>
            </a:r>
          </a:p>
          <a:p>
            <a:pPr lvl="1"/>
            <a:r>
              <a:rPr lang="en-US" dirty="0"/>
              <a:t>It is possible to assign to new variable object</a:t>
            </a:r>
          </a:p>
          <a:p>
            <a:endParaRPr lang="en-US" dirty="0"/>
          </a:p>
        </p:txBody>
      </p:sp>
      <p:grpSp>
        <p:nvGrpSpPr>
          <p:cNvPr id="11" name="icn New Bundle"/>
          <p:cNvGrpSpPr>
            <a:grpSpLocks noChangeAspect="1"/>
          </p:cNvGrpSpPr>
          <p:nvPr/>
        </p:nvGrpSpPr>
        <p:grpSpPr>
          <a:xfrm>
            <a:off x="3971926" y="3154680"/>
            <a:ext cx="1079815" cy="1188720"/>
            <a:chOff x="7509050" y="838200"/>
            <a:chExt cx="1344314" cy="1479898"/>
          </a:xfrm>
        </p:grpSpPr>
        <p:pic>
          <p:nvPicPr>
            <p:cNvPr id="1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9050" y="838200"/>
              <a:ext cx="1287626" cy="1479607"/>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Picture 1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998" y="1693542"/>
              <a:ext cx="648366" cy="624556"/>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14" name="Right Arrow 13"/>
          <p:cNvSpPr/>
          <p:nvPr/>
        </p:nvSpPr>
        <p:spPr bwMode="auto">
          <a:xfrm rot="5400000">
            <a:off x="4035541" y="2552076"/>
            <a:ext cx="1050311" cy="365760"/>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pic>
        <p:nvPicPr>
          <p:cNvPr id="15" name="inc Bundle ReadOnl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02570" y="1255600"/>
            <a:ext cx="1122006"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4" name="txtCode2"/>
          <p:cNvSpPr txBox="1">
            <a:spLocks noChangeArrowheads="1"/>
          </p:cNvSpPr>
          <p:nvPr/>
        </p:nvSpPr>
        <p:spPr bwMode="auto">
          <a:xfrm>
            <a:off x="2060263" y="3578902"/>
            <a:ext cx="198193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pitchFamily="34"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pPr eaLnBrk="0" fontAlgn="base" hangingPunct="0">
              <a:spcBef>
                <a:spcPct val="50000"/>
              </a:spcBef>
              <a:spcAft>
                <a:spcPct val="0"/>
              </a:spcAft>
              <a:buClr>
                <a:srgbClr val="0146AD"/>
              </a:buClr>
              <a:defRPr/>
            </a:pPr>
            <a:r>
              <a:rPr lang="en-US" sz="1600" kern="0" dirty="0" err="1">
                <a:solidFill>
                  <a:schemeClr val="bg1"/>
                </a:solidFill>
                <a:latin typeface="Courier New" pitchFamily="49" charset="0"/>
                <a:cs typeface="Courier New" pitchFamily="49" charset="0"/>
              </a:rPr>
              <a:t>newBundle.add</a:t>
            </a:r>
            <a:r>
              <a:rPr lang="en-US" sz="1600" kern="0" dirty="0">
                <a:solidFill>
                  <a:schemeClr val="bg1"/>
                </a:solidFill>
                <a:latin typeface="Courier New" pitchFamily="49" charset="0"/>
                <a:cs typeface="Courier New" pitchFamily="49" charset="0"/>
              </a:rPr>
              <a:t>(</a:t>
            </a:r>
            <a:br>
              <a:rPr lang="en-US" sz="1600" kern="0" dirty="0">
                <a:solidFill>
                  <a:schemeClr val="bg1"/>
                </a:solidFill>
                <a:latin typeface="Courier New" pitchFamily="49" charset="0"/>
                <a:cs typeface="Courier New" pitchFamily="49" charset="0"/>
              </a:rPr>
            </a:br>
            <a:r>
              <a:rPr lang="en-US" sz="1600" kern="0" dirty="0" err="1">
                <a:solidFill>
                  <a:schemeClr val="bg1"/>
                </a:solidFill>
                <a:latin typeface="Courier New" pitchFamily="49" charset="0"/>
                <a:cs typeface="Courier New" pitchFamily="49" charset="0"/>
              </a:rPr>
              <a:t>readOnlyBundle</a:t>
            </a:r>
            <a:r>
              <a:rPr lang="en-US" sz="1600" kern="0" dirty="0">
                <a:solidFill>
                  <a:schemeClr val="bg1"/>
                </a:solidFill>
                <a:latin typeface="Courier New" pitchFamily="49" charset="0"/>
                <a:cs typeface="Courier New" pitchFamily="49" charset="0"/>
              </a:rPr>
              <a:t>)</a:t>
            </a:r>
          </a:p>
        </p:txBody>
      </p:sp>
      <p:sp>
        <p:nvSpPr>
          <p:cNvPr id="25" name="txtCurrentBundle"/>
          <p:cNvSpPr txBox="1">
            <a:spLocks noChangeArrowheads="1"/>
          </p:cNvSpPr>
          <p:nvPr/>
        </p:nvSpPr>
        <p:spPr bwMode="auto">
          <a:xfrm>
            <a:off x="2063024" y="2403158"/>
            <a:ext cx="95924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pitchFamily="34"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pPr algn="ctr" eaLnBrk="0" fontAlgn="base" hangingPunct="0">
              <a:spcBef>
                <a:spcPct val="50000"/>
              </a:spcBef>
              <a:spcAft>
                <a:spcPct val="0"/>
              </a:spcAft>
              <a:buClr>
                <a:srgbClr val="0146AD"/>
              </a:buClr>
              <a:defRPr/>
            </a:pPr>
            <a:r>
              <a:rPr lang="en-US" sz="1600" kern="0" dirty="0">
                <a:solidFill>
                  <a:schemeClr val="bg1"/>
                </a:solidFill>
                <a:latin typeface="+mj-lt"/>
                <a:cs typeface="Courier New" pitchFamily="49" charset="0"/>
              </a:rPr>
              <a:t>Current</a:t>
            </a:r>
            <a:br>
              <a:rPr lang="en-US" sz="1600" kern="0" dirty="0">
                <a:solidFill>
                  <a:schemeClr val="bg1"/>
                </a:solidFill>
                <a:latin typeface="+mj-lt"/>
                <a:cs typeface="Courier New" pitchFamily="49" charset="0"/>
              </a:rPr>
            </a:br>
            <a:r>
              <a:rPr lang="en-US" sz="1600" kern="0" dirty="0">
                <a:solidFill>
                  <a:schemeClr val="bg1"/>
                </a:solidFill>
                <a:latin typeface="+mj-lt"/>
                <a:cs typeface="Courier New" pitchFamily="49" charset="0"/>
              </a:rPr>
              <a:t>Bundle</a:t>
            </a:r>
            <a:endParaRPr lang="en-US" sz="1600" kern="0" dirty="0">
              <a:solidFill>
                <a:schemeClr val="bg1"/>
              </a:solidFill>
              <a:latin typeface="+mj-lt"/>
            </a:endParaRPr>
          </a:p>
        </p:txBody>
      </p:sp>
      <p:sp>
        <p:nvSpPr>
          <p:cNvPr id="26" name="txt ReadOnlyBundle"/>
          <p:cNvSpPr txBox="1">
            <a:spLocks noChangeArrowheads="1"/>
          </p:cNvSpPr>
          <p:nvPr/>
        </p:nvSpPr>
        <p:spPr bwMode="auto">
          <a:xfrm>
            <a:off x="5116870" y="1480365"/>
            <a:ext cx="105533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pitchFamily="34"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pPr algn="ctr" eaLnBrk="0" fontAlgn="base" hangingPunct="0">
              <a:spcBef>
                <a:spcPct val="50000"/>
              </a:spcBef>
              <a:spcAft>
                <a:spcPct val="0"/>
              </a:spcAft>
              <a:buClr>
                <a:srgbClr val="0146AD"/>
              </a:buClr>
              <a:defRPr/>
            </a:pPr>
            <a:r>
              <a:rPr lang="en-US" sz="1600" kern="0" dirty="0">
                <a:solidFill>
                  <a:schemeClr val="bg1"/>
                </a:solidFill>
                <a:latin typeface="+mj-lt"/>
                <a:cs typeface="Courier New" pitchFamily="49" charset="0"/>
              </a:rPr>
              <a:t>Read-only</a:t>
            </a:r>
            <a:br>
              <a:rPr lang="en-US" sz="1600" kern="0" dirty="0">
                <a:solidFill>
                  <a:schemeClr val="bg1"/>
                </a:solidFill>
                <a:latin typeface="+mj-lt"/>
                <a:cs typeface="Courier New" pitchFamily="49" charset="0"/>
              </a:rPr>
            </a:br>
            <a:r>
              <a:rPr lang="en-US" sz="1600" kern="0" dirty="0">
                <a:solidFill>
                  <a:schemeClr val="bg1"/>
                </a:solidFill>
                <a:latin typeface="+mj-lt"/>
                <a:cs typeface="Courier New" pitchFamily="49" charset="0"/>
              </a:rPr>
              <a:t>Bundle</a:t>
            </a:r>
          </a:p>
        </p:txBody>
      </p:sp>
      <p:sp>
        <p:nvSpPr>
          <p:cNvPr id="27" name="txt NewBundle"/>
          <p:cNvSpPr txBox="1">
            <a:spLocks noChangeArrowheads="1"/>
          </p:cNvSpPr>
          <p:nvPr/>
        </p:nvSpPr>
        <p:spPr bwMode="auto">
          <a:xfrm>
            <a:off x="5116870" y="3502702"/>
            <a:ext cx="105533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defPPr>
              <a:defRPr lang="en-US"/>
            </a:defPPr>
            <a:lvl1pPr marR="0" lvl="0" indent="0" algn="ctr" eaLnBrk="0" fontAlgn="base" hangingPunct="0">
              <a:lnSpc>
                <a:spcPct val="100000"/>
              </a:lnSpc>
              <a:spcBef>
                <a:spcPct val="50000"/>
              </a:spcBef>
              <a:spcAft>
                <a:spcPct val="0"/>
              </a:spcAft>
              <a:buClr>
                <a:srgbClr val="0146AD"/>
              </a:buClr>
              <a:buSzTx/>
              <a:buFont typeface="Wingdings 3" pitchFamily="18" charset="2"/>
              <a:buNone/>
              <a:tabLst/>
              <a:defRPr kumimoji="0" sz="1600" b="1" i="0" u="none" strike="noStrike" kern="0" cap="none" spc="0" normalizeH="0" baseline="0">
                <a:ln>
                  <a:noFill/>
                </a:ln>
                <a:solidFill>
                  <a:schemeClr val="bg1"/>
                </a:solidFill>
                <a:effectLst/>
                <a:uLnTx/>
                <a:uFillTx/>
                <a:latin typeface="+mj-lt"/>
                <a:cs typeface="Courier New" pitchFamily="49"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r>
              <a:rPr lang="en-US" dirty="0"/>
              <a:t>New</a:t>
            </a:r>
            <a:br>
              <a:rPr lang="en-US" dirty="0"/>
            </a:br>
            <a:r>
              <a:rPr lang="en-US" dirty="0"/>
              <a:t>Bundle</a:t>
            </a:r>
          </a:p>
        </p:txBody>
      </p:sp>
      <p:sp>
        <p:nvSpPr>
          <p:cNvPr id="29" name="txt Code1"/>
          <p:cNvSpPr txBox="1">
            <a:spLocks noChangeArrowheads="1"/>
          </p:cNvSpPr>
          <p:nvPr/>
        </p:nvSpPr>
        <p:spPr bwMode="auto">
          <a:xfrm>
            <a:off x="2070928" y="914401"/>
            <a:ext cx="372027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pitchFamily="34"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pPr eaLnBrk="0" fontAlgn="base" hangingPunct="0">
              <a:spcBef>
                <a:spcPct val="50000"/>
              </a:spcBef>
              <a:spcAft>
                <a:spcPct val="0"/>
              </a:spcAft>
              <a:buClr>
                <a:srgbClr val="0146AD"/>
              </a:buClr>
              <a:defRPr/>
            </a:pPr>
            <a:r>
              <a:rPr lang="en-US" sz="1600" kern="0" dirty="0" err="1">
                <a:solidFill>
                  <a:schemeClr val="bg1"/>
                </a:solidFill>
                <a:latin typeface="Courier New" pitchFamily="49" charset="0"/>
                <a:cs typeface="Courier New" pitchFamily="49" charset="0"/>
              </a:rPr>
              <a:t>currentBundle.loadBean</a:t>
            </a:r>
            <a:r>
              <a:rPr lang="en-US" sz="1600" kern="0" dirty="0">
                <a:solidFill>
                  <a:schemeClr val="bg1"/>
                </a:solidFill>
                <a:latin typeface="Courier New" pitchFamily="49" charset="0"/>
                <a:cs typeface="Courier New" pitchFamily="49" charset="0"/>
              </a:rPr>
              <a:t>(Key)</a:t>
            </a:r>
          </a:p>
        </p:txBody>
      </p:sp>
      <p:sp>
        <p:nvSpPr>
          <p:cNvPr id="30" name="Right Arrow 29"/>
          <p:cNvSpPr/>
          <p:nvPr/>
        </p:nvSpPr>
        <p:spPr bwMode="auto">
          <a:xfrm>
            <a:off x="2861388" y="1708069"/>
            <a:ext cx="1253412" cy="365760"/>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pic>
        <p:nvPicPr>
          <p:cNvPr id="23" name="icn Bundle"/>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070928" y="1209615"/>
            <a:ext cx="1030614"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39907500"/>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 Line Numbers Wide"/>
          <p:cNvSpPr/>
          <p:nvPr/>
        </p:nvSpPr>
        <p:spPr bwMode="auto">
          <a:xfrm>
            <a:off x="1828800" y="914401"/>
            <a:ext cx="586740" cy="2362199"/>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2" name="Title 1"/>
          <p:cNvSpPr>
            <a:spLocks noGrp="1"/>
          </p:cNvSpPr>
          <p:nvPr>
            <p:ph type="title"/>
          </p:nvPr>
        </p:nvSpPr>
        <p:spPr/>
        <p:txBody>
          <a:bodyPr/>
          <a:lstStyle/>
          <a:p>
            <a:r>
              <a:rPr lang="en-US" dirty="0"/>
              <a:t>Example: </a:t>
            </a:r>
            <a:r>
              <a:rPr lang="en-US" dirty="0" err="1"/>
              <a:t>loadBean</a:t>
            </a:r>
            <a:endParaRPr lang="en-US" dirty="0"/>
          </a:p>
        </p:txBody>
      </p:sp>
      <p:sp>
        <p:nvSpPr>
          <p:cNvPr id="3" name="Content Placeholder 2"/>
          <p:cNvSpPr>
            <a:spLocks noGrp="1"/>
          </p:cNvSpPr>
          <p:nvPr>
            <p:ph idx="1"/>
          </p:nvPr>
        </p:nvSpPr>
        <p:spPr>
          <a:xfrm>
            <a:off x="2043113" y="4191000"/>
            <a:ext cx="8318500" cy="2209800"/>
          </a:xfrm>
        </p:spPr>
        <p:txBody>
          <a:bodyPr/>
          <a:lstStyle/>
          <a:p>
            <a:r>
              <a:rPr lang="en-US" dirty="0"/>
              <a:t>References include:</a:t>
            </a:r>
          </a:p>
          <a:p>
            <a:pPr lvl="1"/>
            <a:r>
              <a:rPr lang="en-US" b="1" dirty="0" err="1">
                <a:latin typeface="Courier New" pitchFamily="49" charset="0"/>
                <a:cs typeface="Courier New" pitchFamily="49" charset="0"/>
              </a:rPr>
              <a:t>gw.pl.persistence.core.Key</a:t>
            </a:r>
            <a:endParaRPr lang="en-US" b="1" dirty="0">
              <a:latin typeface="Courier New" pitchFamily="49" charset="0"/>
              <a:cs typeface="Courier New" pitchFamily="49" charset="0"/>
            </a:endParaRPr>
          </a:p>
          <a:p>
            <a:pPr lvl="1"/>
            <a:r>
              <a:rPr lang="en-US" b="1" dirty="0" err="1">
                <a:latin typeface="Courier New" pitchFamily="49" charset="0"/>
                <a:cs typeface="Courier New" pitchFamily="49" charset="0"/>
              </a:rPr>
              <a:t>gw.transaction.Transaction</a:t>
            </a:r>
            <a:endParaRPr lang="en-US" b="1" dirty="0">
              <a:latin typeface="Courier New" pitchFamily="49" charset="0"/>
              <a:cs typeface="Courier New" pitchFamily="49" charset="0"/>
            </a:endParaRPr>
          </a:p>
          <a:p>
            <a:r>
              <a:rPr lang="en-US" dirty="0"/>
              <a:t>Line 114: gets the current bundle</a:t>
            </a:r>
          </a:p>
          <a:p>
            <a:r>
              <a:rPr lang="en-US" dirty="0"/>
              <a:t>Line 116: gets the entity by </a:t>
            </a:r>
            <a:r>
              <a:rPr lang="en-US" dirty="0" err="1"/>
              <a:t>loadBean</a:t>
            </a:r>
            <a:r>
              <a:rPr lang="en-US" dirty="0"/>
              <a:t>(key)</a:t>
            </a:r>
          </a:p>
          <a:p>
            <a:pPr lvl="1"/>
            <a:endParaRPr lang="en-US" b="1" dirty="0">
              <a:latin typeface="Courier New" pitchFamily="49" charset="0"/>
              <a:cs typeface="Courier New" pitchFamily="49" charset="0"/>
            </a:endParaRPr>
          </a:p>
        </p:txBody>
      </p:sp>
      <p:sp>
        <p:nvSpPr>
          <p:cNvPr id="5" name="Rectangle 4"/>
          <p:cNvSpPr/>
          <p:nvPr/>
        </p:nvSpPr>
        <p:spPr>
          <a:xfrm>
            <a:off x="1828800" y="914400"/>
            <a:ext cx="8945880" cy="2357568"/>
          </a:xfrm>
          <a:prstGeom prst="rect">
            <a:avLst/>
          </a:prstGeom>
        </p:spPr>
        <p:txBody>
          <a:bodyPr wrap="square">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 111  </a:t>
            </a:r>
            <a:r>
              <a:rPr lang="en-US" sz="1600" b="1" dirty="0">
                <a:solidFill>
                  <a:srgbClr val="000080"/>
                </a:solidFill>
                <a:latin typeface="Courier New" pitchFamily="49" charset="0"/>
                <a:ea typeface="Times New Roman"/>
                <a:cs typeface="Courier New" pitchFamily="49" charset="0"/>
              </a:rPr>
              <a:t>public static function </a:t>
            </a:r>
            <a:r>
              <a:rPr lang="en-US" sz="1600" b="1" dirty="0" err="1">
                <a:solidFill>
                  <a:srgbClr val="000000"/>
                </a:solidFill>
                <a:latin typeface="Courier New" pitchFamily="49" charset="0"/>
                <a:ea typeface="Times New Roman"/>
                <a:cs typeface="Courier New" pitchFamily="49" charset="0"/>
              </a:rPr>
              <a:t>setInspectionDateByLoadBean</a:t>
            </a:r>
            <a:r>
              <a:rPr lang="en-US" sz="1600" b="1" dirty="0">
                <a:solidFill>
                  <a:srgbClr val="000000"/>
                </a:solidFill>
                <a:latin typeface="Courier New" pitchFamily="49" charset="0"/>
                <a:ea typeface="Times New Roman"/>
                <a:cs typeface="Courier New" pitchFamily="49" charset="0"/>
              </a:rPr>
              <a:t>(key: Key,</a:t>
            </a:r>
            <a:br>
              <a:rPr lang="en-US" sz="1600" b="1" dirty="0">
                <a:solidFill>
                  <a:srgbClr val="000000"/>
                </a:solidFill>
                <a:latin typeface="Courier New" pitchFamily="49" charset="0"/>
                <a:ea typeface="Times New Roman"/>
                <a:cs typeface="Courier New" pitchFamily="49" charset="0"/>
              </a:rPr>
            </a:br>
            <a:r>
              <a:rPr lang="en-US" sz="1600" b="1" dirty="0">
                <a:solidFill>
                  <a:srgbClr val="000000"/>
                </a:solidFill>
                <a:latin typeface="Courier New" pitchFamily="49" charset="0"/>
                <a:ea typeface="Times New Roman"/>
                <a:cs typeface="Courier New" pitchFamily="49" charset="0"/>
              </a:rPr>
              <a:t>                                inspectionDate: DateTime) : String {</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…114    </a:t>
            </a:r>
            <a:r>
              <a:rPr lang="en-US" sz="1600" b="1" dirty="0">
                <a:solidFill>
                  <a:srgbClr val="000080"/>
                </a:solidFill>
                <a:latin typeface="Courier New" pitchFamily="49" charset="0"/>
                <a:ea typeface="Times New Roman"/>
                <a:cs typeface="Courier New" pitchFamily="49" charset="0"/>
              </a:rPr>
              <a:t>var</a:t>
            </a:r>
            <a:r>
              <a:rPr lang="en-US" sz="1600" b="1" dirty="0">
                <a:solidFill>
                  <a:srgbClr val="000000"/>
                </a:solidFill>
                <a:latin typeface="Courier New" pitchFamily="49" charset="0"/>
                <a:ea typeface="Times New Roman"/>
                <a:cs typeface="Courier New" pitchFamily="49" charset="0"/>
              </a:rPr>
              <a:t> </a:t>
            </a:r>
            <a:r>
              <a:rPr lang="en-US" sz="1600" b="1" dirty="0" err="1">
                <a:solidFill>
                  <a:srgbClr val="000000"/>
                </a:solidFill>
                <a:latin typeface="Courier New" pitchFamily="49" charset="0"/>
                <a:ea typeface="Times New Roman"/>
                <a:cs typeface="Courier New" pitchFamily="49" charset="0"/>
              </a:rPr>
              <a:t>currentBundle</a:t>
            </a:r>
            <a:r>
              <a:rPr lang="en-US" sz="1600" b="1" dirty="0">
                <a:solidFill>
                  <a:srgbClr val="000000"/>
                </a:solidFill>
                <a:latin typeface="Courier New" pitchFamily="49" charset="0"/>
                <a:ea typeface="Times New Roman"/>
                <a:cs typeface="Courier New" pitchFamily="49" charset="0"/>
              </a:rPr>
              <a:t> = </a:t>
            </a:r>
            <a:r>
              <a:rPr lang="en-US" sz="1600" b="1" dirty="0" err="1">
                <a:solidFill>
                  <a:srgbClr val="000000"/>
                </a:solidFill>
                <a:latin typeface="Courier New" pitchFamily="49" charset="0"/>
                <a:ea typeface="Times New Roman"/>
                <a:cs typeface="Courier New" pitchFamily="49" charset="0"/>
              </a:rPr>
              <a:t>Transaction.getCurrent</a:t>
            </a:r>
            <a:r>
              <a:rPr lang="en-US" sz="1600" b="1" dirty="0">
                <a:solidFill>
                  <a:srgbClr val="000000"/>
                </a:solidFill>
                <a:latin typeface="Courier New" pitchFamily="49" charset="0"/>
                <a:ea typeface="Times New Roman"/>
                <a:cs typeface="Courier New" pitchFamily="49" charset="0"/>
              </a:rPr>
              <a:t>()</a:t>
            </a:r>
            <a:br>
              <a:rPr lang="en-US" sz="1600" b="1" dirty="0">
                <a:solidFill>
                  <a:srgbClr val="000000"/>
                </a:solidFill>
                <a:latin typeface="Courier New" pitchFamily="49" charset="0"/>
                <a:ea typeface="Times New Roman"/>
                <a:cs typeface="Courier New" pitchFamily="49" charset="0"/>
              </a:rPr>
            </a:br>
            <a:r>
              <a:rPr lang="en-US" sz="1600" b="1" dirty="0">
                <a:solidFill>
                  <a:srgbClr val="000000"/>
                </a:solidFill>
                <a:latin typeface="Courier New" pitchFamily="49" charset="0"/>
                <a:ea typeface="Times New Roman"/>
                <a:cs typeface="Courier New" pitchFamily="49" charset="0"/>
              </a:rPr>
              <a:t>…</a:t>
            </a:r>
            <a:r>
              <a:rPr lang="en-US" sz="1600" b="1" dirty="0">
                <a:solidFill>
                  <a:srgbClr val="000000"/>
                </a:solidFill>
                <a:latin typeface="Courier New" pitchFamily="49" charset="0"/>
                <a:ea typeface="Calibri"/>
                <a:cs typeface="Courier New" pitchFamily="49" charset="0"/>
              </a:rPr>
              <a:t>116    </a:t>
            </a:r>
            <a:r>
              <a:rPr lang="en-US" sz="1600" b="1" dirty="0">
                <a:solidFill>
                  <a:srgbClr val="000080"/>
                </a:solidFill>
                <a:latin typeface="Courier New" pitchFamily="49" charset="0"/>
                <a:ea typeface="Times New Roman"/>
                <a:cs typeface="Courier New" pitchFamily="49" charset="0"/>
              </a:rPr>
              <a:t>var</a:t>
            </a:r>
            <a:r>
              <a:rPr lang="en-US" sz="1600" b="1" dirty="0">
                <a:solidFill>
                  <a:srgbClr val="000000"/>
                </a:solidFill>
                <a:latin typeface="Courier New" pitchFamily="49" charset="0"/>
                <a:ea typeface="Times New Roman"/>
                <a:cs typeface="Courier New" pitchFamily="49" charset="0"/>
              </a:rPr>
              <a:t> targetCompany = </a:t>
            </a:r>
            <a:r>
              <a:rPr lang="en-US" sz="1600" b="1" dirty="0" err="1">
                <a:solidFill>
                  <a:srgbClr val="000000"/>
                </a:solidFill>
                <a:latin typeface="Courier New" pitchFamily="49" charset="0"/>
                <a:ea typeface="Times New Roman"/>
                <a:cs typeface="Courier New" pitchFamily="49" charset="0"/>
              </a:rPr>
              <a:t>currentBundle.loadBean</a:t>
            </a:r>
            <a:r>
              <a:rPr lang="en-US" sz="1600" b="1" dirty="0">
                <a:solidFill>
                  <a:srgbClr val="000000"/>
                </a:solidFill>
                <a:latin typeface="Courier New" pitchFamily="49" charset="0"/>
                <a:ea typeface="Times New Roman"/>
                <a:cs typeface="Courier New" pitchFamily="49" charset="0"/>
              </a:rPr>
              <a:t>(key)</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Calibri"/>
                <a:cs typeface="Courier New" pitchFamily="49" charset="0"/>
              </a:rPr>
              <a:t>…</a:t>
            </a:r>
            <a:r>
              <a:rPr lang="en-US" sz="1600" b="1" dirty="0">
                <a:solidFill>
                  <a:srgbClr val="000000"/>
                </a:solidFill>
                <a:latin typeface="Courier New" pitchFamily="49" charset="0"/>
                <a:ea typeface="Times New Roman"/>
                <a:cs typeface="Courier New" pitchFamily="49" charset="0"/>
              </a:rPr>
              <a:t>117    Transaction.runWithNewBundle(\ newBundle -&gt; { </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 118</a:t>
            </a:r>
            <a:r>
              <a:rPr lang="en-US" sz="1600" b="1" i="1" dirty="0">
                <a:solidFill>
                  <a:srgbClr val="969696"/>
                </a:solidFill>
                <a:latin typeface="Courier New" pitchFamily="49" charset="0"/>
                <a:ea typeface="Times New Roman"/>
                <a:cs typeface="Courier New" pitchFamily="49" charset="0"/>
              </a:rPr>
              <a:t>      </a:t>
            </a:r>
            <a:r>
              <a:rPr lang="en-US" sz="1600" b="1" dirty="0">
                <a:solidFill>
                  <a:srgbClr val="000000"/>
                </a:solidFill>
                <a:latin typeface="Courier New" pitchFamily="49" charset="0"/>
                <a:ea typeface="Times New Roman"/>
                <a:cs typeface="Courier New" pitchFamily="49" charset="0"/>
              </a:rPr>
              <a:t>targetCompany = </a:t>
            </a:r>
            <a:r>
              <a:rPr lang="en-US" sz="1600" b="1" dirty="0" err="1">
                <a:solidFill>
                  <a:srgbClr val="000000"/>
                </a:solidFill>
                <a:latin typeface="Courier New" pitchFamily="49" charset="0"/>
                <a:ea typeface="Times New Roman"/>
                <a:cs typeface="Courier New" pitchFamily="49" charset="0"/>
              </a:rPr>
              <a:t>newBundle.add</a:t>
            </a:r>
            <a:r>
              <a:rPr lang="en-US" sz="1600" b="1" dirty="0">
                <a:solidFill>
                  <a:srgbClr val="000000"/>
                </a:solidFill>
                <a:latin typeface="Courier New" pitchFamily="49" charset="0"/>
                <a:ea typeface="Times New Roman"/>
                <a:cs typeface="Courier New" pitchFamily="49" charset="0"/>
              </a:rPr>
              <a:t>(targetCompany)</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…130    }, </a:t>
            </a:r>
            <a:r>
              <a:rPr lang="en-US" sz="1600" b="1" dirty="0">
                <a:solidFill>
                  <a:schemeClr val="accent5"/>
                </a:solidFill>
                <a:latin typeface="Courier New" pitchFamily="49" charset="0"/>
                <a:ea typeface="Times New Roman"/>
                <a:cs typeface="Courier New" pitchFamily="49" charset="0"/>
              </a:rPr>
              <a:t>"su"</a:t>
            </a:r>
            <a:r>
              <a:rPr lang="en-US" sz="1600" b="1" dirty="0">
                <a:solidFill>
                  <a:srgbClr val="000000"/>
                </a:solidFill>
                <a:latin typeface="Courier New" pitchFamily="49" charset="0"/>
                <a:ea typeface="Times New Roman"/>
                <a:cs typeface="Courier New" pitchFamily="49" charset="0"/>
              </a:rPr>
              <a:t>)</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…138  } </a:t>
            </a:r>
            <a:endParaRPr lang="en-US" sz="1600" b="1" dirty="0">
              <a:latin typeface="Courier New" pitchFamily="49" charset="0"/>
              <a:ea typeface="Calibri"/>
              <a:cs typeface="Courier New" pitchFamily="49" charset="0"/>
            </a:endParaRPr>
          </a:p>
        </p:txBody>
      </p:sp>
    </p:spTree>
    <p:extLst>
      <p:ext uri="{BB962C8B-B14F-4D97-AF65-F5344CB8AC3E}">
        <p14:creationId xmlns:p14="http://schemas.microsoft.com/office/powerpoint/2010/main" val="1756604730"/>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Foreign Key</a:t>
            </a:r>
          </a:p>
        </p:txBody>
      </p:sp>
      <p:sp>
        <p:nvSpPr>
          <p:cNvPr id="18" name="Content Placeholder 17"/>
          <p:cNvSpPr>
            <a:spLocks noGrp="1"/>
          </p:cNvSpPr>
          <p:nvPr>
            <p:ph sz="half" idx="2"/>
          </p:nvPr>
        </p:nvSpPr>
        <p:spPr>
          <a:xfrm>
            <a:off x="6315076" y="914400"/>
            <a:ext cx="4276725" cy="3657600"/>
          </a:xfrm>
        </p:spPr>
        <p:txBody>
          <a:bodyPr/>
          <a:lstStyle/>
          <a:p>
            <a:r>
              <a:rPr lang="en-US" dirty="0"/>
              <a:t>Add an entity to a bundle by referencing it through the foreign key of existing entity</a:t>
            </a:r>
          </a:p>
          <a:p>
            <a:r>
              <a:rPr lang="en-US" dirty="0"/>
              <a:t>Requires foreign key entity</a:t>
            </a:r>
          </a:p>
          <a:p>
            <a:pPr lvl="1"/>
            <a:r>
              <a:rPr lang="en-US" b="1" dirty="0" err="1">
                <a:latin typeface="Courier New" pitchFamily="49" charset="0"/>
                <a:cs typeface="Courier New" pitchFamily="49" charset="0"/>
              </a:rPr>
              <a:t>entity.foreignKeyEntity</a:t>
            </a:r>
            <a:endParaRPr lang="en-US" b="1" dirty="0">
              <a:latin typeface="Courier New" pitchFamily="49" charset="0"/>
              <a:cs typeface="Courier New" pitchFamily="49" charset="0"/>
            </a:endParaRPr>
          </a:p>
          <a:p>
            <a:endParaRPr lang="en-US" dirty="0"/>
          </a:p>
        </p:txBody>
      </p:sp>
      <p:sp>
        <p:nvSpPr>
          <p:cNvPr id="19" name="Content Placeholder 18"/>
          <p:cNvSpPr>
            <a:spLocks noGrp="1"/>
          </p:cNvSpPr>
          <p:nvPr>
            <p:ph idx="10"/>
          </p:nvPr>
        </p:nvSpPr>
        <p:spPr>
          <a:xfrm>
            <a:off x="2045208" y="4495800"/>
            <a:ext cx="8321040" cy="1905000"/>
          </a:xfrm>
        </p:spPr>
        <p:txBody>
          <a:bodyPr/>
          <a:lstStyle/>
          <a:p>
            <a:r>
              <a:rPr lang="en-US" dirty="0"/>
              <a:t>To modify, copy to a new bundle</a:t>
            </a:r>
          </a:p>
          <a:p>
            <a:pPr lvl="1"/>
            <a:r>
              <a:rPr lang="en-US" dirty="0"/>
              <a:t>Syntax: </a:t>
            </a:r>
            <a:r>
              <a:rPr lang="en-US" b="1" dirty="0" err="1">
                <a:latin typeface="Courier New" pitchFamily="49" charset="0"/>
                <a:cs typeface="Courier New" pitchFamily="49" charset="0"/>
              </a:rPr>
              <a:t>origEntity</a:t>
            </a:r>
            <a:r>
              <a:rPr lang="en-US" b="1" dirty="0">
                <a:latin typeface="Courier New" pitchFamily="49" charset="0"/>
                <a:cs typeface="Courier New" pitchFamily="49" charset="0"/>
              </a:rPr>
              <a:t> = </a:t>
            </a:r>
            <a:r>
              <a:rPr lang="en-US" b="1" dirty="0" err="1">
                <a:latin typeface="Courier New" pitchFamily="49" charset="0"/>
                <a:cs typeface="Courier New" pitchFamily="49" charset="0"/>
              </a:rPr>
              <a:t>newBundle.add</a:t>
            </a:r>
            <a:r>
              <a:rPr lang="en-US" b="1" dirty="0">
                <a:latin typeface="Courier New" pitchFamily="49" charset="0"/>
                <a:cs typeface="Courier New" pitchFamily="49" charset="0"/>
              </a:rPr>
              <a:t>(</a:t>
            </a:r>
            <a:r>
              <a:rPr lang="en-US" b="1" dirty="0" err="1">
                <a:latin typeface="Courier New" pitchFamily="49" charset="0"/>
                <a:cs typeface="Courier New" pitchFamily="49" charset="0"/>
              </a:rPr>
              <a:t>origEntity</a:t>
            </a:r>
            <a:r>
              <a:rPr lang="en-US" b="1" dirty="0">
                <a:latin typeface="Courier New" pitchFamily="49" charset="0"/>
                <a:cs typeface="Courier New" pitchFamily="49" charset="0"/>
              </a:rPr>
              <a:t>)</a:t>
            </a:r>
          </a:p>
          <a:p>
            <a:pPr lvl="1"/>
            <a:r>
              <a:rPr lang="en-US" dirty="0"/>
              <a:t>If already a writable bundle, then foreign key entity is also writable</a:t>
            </a:r>
          </a:p>
          <a:p>
            <a:pPr lvl="1"/>
            <a:r>
              <a:rPr lang="en-US" dirty="0"/>
              <a:t>If read-only and you want to edit the foreign key entity, copy to a new bundle</a:t>
            </a:r>
          </a:p>
          <a:p>
            <a:pPr lvl="1"/>
            <a:endParaRPr lang="en-US" dirty="0"/>
          </a:p>
          <a:p>
            <a:endParaRPr lang="en-US" dirty="0"/>
          </a:p>
          <a:p>
            <a:endParaRPr lang="en-US" dirty="0"/>
          </a:p>
        </p:txBody>
      </p:sp>
      <p:grpSp>
        <p:nvGrpSpPr>
          <p:cNvPr id="11" name="icn New Bundle"/>
          <p:cNvGrpSpPr>
            <a:grpSpLocks noChangeAspect="1"/>
          </p:cNvGrpSpPr>
          <p:nvPr/>
        </p:nvGrpSpPr>
        <p:grpSpPr>
          <a:xfrm>
            <a:off x="3971926" y="3154680"/>
            <a:ext cx="1079815" cy="1188720"/>
            <a:chOff x="7509050" y="838200"/>
            <a:chExt cx="1344314" cy="1479898"/>
          </a:xfrm>
        </p:grpSpPr>
        <p:pic>
          <p:nvPicPr>
            <p:cNvPr id="1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9050" y="838200"/>
              <a:ext cx="1287626" cy="1479607"/>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Picture 1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998" y="1693542"/>
              <a:ext cx="648366" cy="624556"/>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14" name="Right Arrow 13"/>
          <p:cNvSpPr/>
          <p:nvPr/>
        </p:nvSpPr>
        <p:spPr bwMode="auto">
          <a:xfrm rot="5400000">
            <a:off x="3967555" y="2484090"/>
            <a:ext cx="1186282" cy="365760"/>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24" name="txtCode2"/>
          <p:cNvSpPr txBox="1">
            <a:spLocks noChangeArrowheads="1"/>
          </p:cNvSpPr>
          <p:nvPr/>
        </p:nvSpPr>
        <p:spPr bwMode="auto">
          <a:xfrm>
            <a:off x="2060263" y="3578902"/>
            <a:ext cx="198193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pitchFamily="34"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pPr eaLnBrk="0" fontAlgn="base" hangingPunct="0">
              <a:spcBef>
                <a:spcPct val="50000"/>
              </a:spcBef>
              <a:spcAft>
                <a:spcPct val="0"/>
              </a:spcAft>
              <a:buClr>
                <a:srgbClr val="0146AD"/>
              </a:buClr>
              <a:defRPr/>
            </a:pPr>
            <a:r>
              <a:rPr lang="en-US" sz="1600" kern="0" dirty="0" err="1">
                <a:solidFill>
                  <a:schemeClr val="bg1"/>
                </a:solidFill>
                <a:latin typeface="Courier New" pitchFamily="49" charset="0"/>
                <a:cs typeface="Courier New" pitchFamily="49" charset="0"/>
              </a:rPr>
              <a:t>newBundle.add</a:t>
            </a:r>
            <a:r>
              <a:rPr lang="en-US" sz="1600" kern="0" dirty="0">
                <a:solidFill>
                  <a:schemeClr val="bg1"/>
                </a:solidFill>
                <a:latin typeface="Courier New" pitchFamily="49" charset="0"/>
                <a:cs typeface="Courier New" pitchFamily="49" charset="0"/>
              </a:rPr>
              <a:t>(</a:t>
            </a:r>
            <a:br>
              <a:rPr lang="en-US" sz="1600" kern="0" dirty="0">
                <a:solidFill>
                  <a:schemeClr val="bg1"/>
                </a:solidFill>
                <a:latin typeface="Courier New" pitchFamily="49" charset="0"/>
                <a:cs typeface="Courier New" pitchFamily="49" charset="0"/>
              </a:rPr>
            </a:br>
            <a:r>
              <a:rPr lang="en-US" sz="1600" kern="0" dirty="0" err="1">
                <a:solidFill>
                  <a:schemeClr val="bg1"/>
                </a:solidFill>
                <a:latin typeface="Courier New" pitchFamily="49" charset="0"/>
                <a:cs typeface="Courier New" pitchFamily="49" charset="0"/>
              </a:rPr>
              <a:t>readOnlyBundle</a:t>
            </a:r>
            <a:r>
              <a:rPr lang="en-US" sz="1600" kern="0" dirty="0">
                <a:solidFill>
                  <a:schemeClr val="bg1"/>
                </a:solidFill>
                <a:latin typeface="Courier New" pitchFamily="49" charset="0"/>
                <a:cs typeface="Courier New" pitchFamily="49" charset="0"/>
              </a:rPr>
              <a:t>)</a:t>
            </a:r>
          </a:p>
        </p:txBody>
      </p:sp>
      <p:sp>
        <p:nvSpPr>
          <p:cNvPr id="29" name="txt Code1"/>
          <p:cNvSpPr txBox="1">
            <a:spLocks noChangeArrowheads="1"/>
          </p:cNvSpPr>
          <p:nvPr/>
        </p:nvSpPr>
        <p:spPr bwMode="auto">
          <a:xfrm>
            <a:off x="2070928" y="914401"/>
            <a:ext cx="372027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pitchFamily="34"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pPr eaLnBrk="0" fontAlgn="base" hangingPunct="0">
              <a:spcBef>
                <a:spcPct val="50000"/>
              </a:spcBef>
              <a:spcAft>
                <a:spcPct val="0"/>
              </a:spcAft>
              <a:buClr>
                <a:srgbClr val="0146AD"/>
              </a:buClr>
              <a:defRPr/>
            </a:pPr>
            <a:r>
              <a:rPr lang="en-US" sz="1600" kern="0" dirty="0" err="1">
                <a:solidFill>
                  <a:schemeClr val="bg1"/>
                </a:solidFill>
                <a:latin typeface="Courier New" pitchFamily="49" charset="0"/>
                <a:cs typeface="Courier New" pitchFamily="49" charset="0"/>
              </a:rPr>
              <a:t>currentBundle.ForeignKeyEntity</a:t>
            </a:r>
            <a:endParaRPr lang="en-US" sz="1600" kern="0" dirty="0">
              <a:solidFill>
                <a:schemeClr val="bg1"/>
              </a:solidFill>
              <a:latin typeface="Courier New" pitchFamily="49" charset="0"/>
              <a:cs typeface="Courier New" pitchFamily="49" charset="0"/>
            </a:endParaRPr>
          </a:p>
        </p:txBody>
      </p:sp>
      <p:pic>
        <p:nvPicPr>
          <p:cNvPr id="21" name="icn Readonly FK"/>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01716" y="1195624"/>
            <a:ext cx="1122735"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0" name="Right Arrow 29"/>
          <p:cNvSpPr/>
          <p:nvPr/>
        </p:nvSpPr>
        <p:spPr bwMode="auto">
          <a:xfrm>
            <a:off x="2861388" y="1708069"/>
            <a:ext cx="1253412" cy="365760"/>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pic>
        <p:nvPicPr>
          <p:cNvPr id="17" name="inc Bundle ReadOnly"/>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9344" y="1202055"/>
            <a:ext cx="1122006"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2" name="txt ReadOnlyBundle"/>
          <p:cNvSpPr txBox="1">
            <a:spLocks noChangeArrowheads="1"/>
          </p:cNvSpPr>
          <p:nvPr/>
        </p:nvSpPr>
        <p:spPr bwMode="auto">
          <a:xfrm>
            <a:off x="5116870" y="1480365"/>
            <a:ext cx="1055331"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pitchFamily="34"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pPr algn="ctr" eaLnBrk="0" fontAlgn="base" hangingPunct="0">
              <a:spcBef>
                <a:spcPct val="50000"/>
              </a:spcBef>
              <a:spcAft>
                <a:spcPct val="0"/>
              </a:spcAft>
              <a:buClr>
                <a:srgbClr val="0146AD"/>
              </a:buClr>
              <a:defRPr/>
            </a:pPr>
            <a:r>
              <a:rPr lang="en-US" sz="1600" kern="0" dirty="0">
                <a:solidFill>
                  <a:schemeClr val="bg1"/>
                </a:solidFill>
                <a:latin typeface="+mj-lt"/>
                <a:cs typeface="Courier New" pitchFamily="49" charset="0"/>
              </a:rPr>
              <a:t>Read-only</a:t>
            </a:r>
            <a:br>
              <a:rPr lang="en-US" sz="1600" kern="0" dirty="0">
                <a:solidFill>
                  <a:schemeClr val="bg1"/>
                </a:solidFill>
                <a:latin typeface="+mj-lt"/>
                <a:cs typeface="Courier New" pitchFamily="49" charset="0"/>
              </a:rPr>
            </a:br>
            <a:r>
              <a:rPr lang="en-US" sz="1600" kern="0" dirty="0">
                <a:solidFill>
                  <a:schemeClr val="bg1"/>
                </a:solidFill>
                <a:latin typeface="+mj-lt"/>
                <a:cs typeface="Courier New" pitchFamily="49" charset="0"/>
              </a:rPr>
              <a:t>Foreign Key Bundle</a:t>
            </a:r>
          </a:p>
        </p:txBody>
      </p:sp>
      <p:sp>
        <p:nvSpPr>
          <p:cNvPr id="28" name="txt NewBundle"/>
          <p:cNvSpPr txBox="1">
            <a:spLocks noChangeArrowheads="1"/>
          </p:cNvSpPr>
          <p:nvPr/>
        </p:nvSpPr>
        <p:spPr bwMode="auto">
          <a:xfrm>
            <a:off x="5116870" y="3502702"/>
            <a:ext cx="105533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defPPr>
              <a:defRPr lang="en-US"/>
            </a:defPPr>
            <a:lvl1pPr marR="0" lvl="0" indent="0" algn="ctr" eaLnBrk="0" fontAlgn="base" hangingPunct="0">
              <a:lnSpc>
                <a:spcPct val="100000"/>
              </a:lnSpc>
              <a:spcBef>
                <a:spcPct val="50000"/>
              </a:spcBef>
              <a:spcAft>
                <a:spcPct val="0"/>
              </a:spcAft>
              <a:buClr>
                <a:srgbClr val="0146AD"/>
              </a:buClr>
              <a:buSzTx/>
              <a:buFont typeface="Wingdings 3" pitchFamily="18" charset="2"/>
              <a:buNone/>
              <a:tabLst/>
              <a:defRPr kumimoji="0" sz="1600" b="1" i="0" u="none" strike="noStrike" kern="0" cap="none" spc="0" normalizeH="0" baseline="0">
                <a:ln>
                  <a:noFill/>
                </a:ln>
                <a:solidFill>
                  <a:schemeClr val="bg1"/>
                </a:solidFill>
                <a:effectLst/>
                <a:uLnTx/>
                <a:uFillTx/>
                <a:latin typeface="+mj-lt"/>
                <a:cs typeface="Courier New" pitchFamily="49"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r>
              <a:rPr lang="en-US" dirty="0"/>
              <a:t>New</a:t>
            </a:r>
            <a:br>
              <a:rPr lang="en-US" dirty="0"/>
            </a:br>
            <a:r>
              <a:rPr lang="en-US" dirty="0"/>
              <a:t>Bundle</a:t>
            </a:r>
          </a:p>
        </p:txBody>
      </p:sp>
      <p:sp>
        <p:nvSpPr>
          <p:cNvPr id="31" name="txtCurrentBundle"/>
          <p:cNvSpPr txBox="1">
            <a:spLocks noChangeArrowheads="1"/>
          </p:cNvSpPr>
          <p:nvPr/>
        </p:nvSpPr>
        <p:spPr bwMode="auto">
          <a:xfrm>
            <a:off x="2063024" y="2403157"/>
            <a:ext cx="95924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pitchFamily="34"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pPr algn="ctr" eaLnBrk="0" fontAlgn="base" hangingPunct="0">
              <a:spcBef>
                <a:spcPct val="50000"/>
              </a:spcBef>
              <a:spcAft>
                <a:spcPct val="0"/>
              </a:spcAft>
              <a:buClr>
                <a:srgbClr val="0146AD"/>
              </a:buClr>
              <a:defRPr/>
            </a:pPr>
            <a:r>
              <a:rPr lang="en-US" sz="1600" kern="0" dirty="0">
                <a:solidFill>
                  <a:schemeClr val="bg1"/>
                </a:solidFill>
                <a:latin typeface="+mj-lt"/>
                <a:cs typeface="Courier New" pitchFamily="49" charset="0"/>
              </a:rPr>
              <a:t>Read Only Bundle</a:t>
            </a:r>
            <a:endParaRPr lang="en-US" sz="1600" kern="0" dirty="0">
              <a:solidFill>
                <a:schemeClr val="bg1"/>
              </a:solidFill>
              <a:latin typeface="+mj-lt"/>
            </a:endParaRPr>
          </a:p>
        </p:txBody>
      </p:sp>
    </p:spTree>
    <p:extLst>
      <p:ext uri="{BB962C8B-B14F-4D97-AF65-F5344CB8AC3E}">
        <p14:creationId xmlns:p14="http://schemas.microsoft.com/office/powerpoint/2010/main" val="238174238"/>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 Line Numbers Wide"/>
          <p:cNvSpPr/>
          <p:nvPr/>
        </p:nvSpPr>
        <p:spPr bwMode="auto">
          <a:xfrm>
            <a:off x="1828800" y="914401"/>
            <a:ext cx="586740" cy="1844457"/>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2" name="Title 1"/>
          <p:cNvSpPr>
            <a:spLocks noGrp="1"/>
          </p:cNvSpPr>
          <p:nvPr>
            <p:ph type="title"/>
          </p:nvPr>
        </p:nvSpPr>
        <p:spPr/>
        <p:txBody>
          <a:bodyPr/>
          <a:lstStyle/>
          <a:p>
            <a:r>
              <a:rPr lang="en-US" dirty="0"/>
              <a:t>Example: Foreign Key</a:t>
            </a:r>
          </a:p>
        </p:txBody>
      </p:sp>
      <p:sp>
        <p:nvSpPr>
          <p:cNvPr id="9" name="Content Placeholder 2"/>
          <p:cNvSpPr>
            <a:spLocks noGrp="1"/>
          </p:cNvSpPr>
          <p:nvPr>
            <p:ph idx="1"/>
          </p:nvPr>
        </p:nvSpPr>
        <p:spPr>
          <a:xfrm>
            <a:off x="2043113" y="3810000"/>
            <a:ext cx="8318500" cy="2590800"/>
          </a:xfrm>
        </p:spPr>
        <p:txBody>
          <a:bodyPr/>
          <a:lstStyle/>
          <a:p>
            <a:r>
              <a:rPr lang="en-US" dirty="0"/>
              <a:t>Example uses:</a:t>
            </a:r>
          </a:p>
          <a:p>
            <a:pPr lvl="1"/>
            <a:r>
              <a:rPr lang="en-US" b="1" dirty="0">
                <a:latin typeface="Courier New" pitchFamily="49" charset="0"/>
                <a:cs typeface="Courier New" pitchFamily="49" charset="0"/>
              </a:rPr>
              <a:t>gw.api.database.Query</a:t>
            </a:r>
          </a:p>
          <a:p>
            <a:pPr lvl="1"/>
            <a:r>
              <a:rPr lang="en-US" b="1" dirty="0">
                <a:latin typeface="Courier New" pitchFamily="49" charset="0"/>
                <a:cs typeface="Courier New" pitchFamily="49" charset="0"/>
              </a:rPr>
              <a:t>gw.api.database.Relop</a:t>
            </a:r>
          </a:p>
          <a:p>
            <a:pPr lvl="1"/>
            <a:r>
              <a:rPr lang="en-US" b="1" dirty="0">
                <a:latin typeface="Courier New" pitchFamily="49" charset="0"/>
                <a:cs typeface="Courier New" pitchFamily="49" charset="0"/>
              </a:rPr>
              <a:t>gw.transaction.Transaction</a:t>
            </a:r>
          </a:p>
          <a:p>
            <a:r>
              <a:rPr lang="en-US" dirty="0"/>
              <a:t>Line 84: foreign key reference</a:t>
            </a:r>
          </a:p>
          <a:p>
            <a:r>
              <a:rPr lang="en-US" dirty="0"/>
              <a:t>Line 90: copy to new bundle</a:t>
            </a:r>
          </a:p>
          <a:p>
            <a:pPr lvl="1"/>
            <a:endParaRPr lang="en-US" b="1" dirty="0">
              <a:latin typeface="Courier New" pitchFamily="49" charset="0"/>
              <a:cs typeface="Courier New" pitchFamily="49" charset="0"/>
            </a:endParaRPr>
          </a:p>
        </p:txBody>
      </p:sp>
      <p:sp>
        <p:nvSpPr>
          <p:cNvPr id="3" name="Rectangle 2"/>
          <p:cNvSpPr/>
          <p:nvPr/>
        </p:nvSpPr>
        <p:spPr>
          <a:xfrm>
            <a:off x="1825753" y="914400"/>
            <a:ext cx="8715375" cy="1815882"/>
          </a:xfrm>
          <a:prstGeom prst="rect">
            <a:avLst/>
          </a:prstGeom>
        </p:spPr>
        <p:txBody>
          <a:bodyPr wrap="square">
            <a:spAutoFit/>
          </a:bodyPr>
          <a:lstStyle/>
          <a:p>
            <a:r>
              <a:rPr lang="en-US" sz="1600" b="1" dirty="0">
                <a:solidFill>
                  <a:srgbClr val="000000"/>
                </a:solidFill>
                <a:latin typeface="Courier New" pitchFamily="49" charset="0"/>
                <a:cs typeface="Courier New" pitchFamily="49" charset="0"/>
              </a:rPr>
              <a:t>  80  </a:t>
            </a:r>
            <a:r>
              <a:rPr lang="en-US" sz="1600" b="1" dirty="0">
                <a:solidFill>
                  <a:srgbClr val="000080"/>
                </a:solidFill>
                <a:latin typeface="Courier New" pitchFamily="49" charset="0"/>
                <a:cs typeface="Courier New" pitchFamily="49" charset="0"/>
              </a:rPr>
              <a:t>public static function </a:t>
            </a:r>
            <a:r>
              <a:rPr lang="en-US" sz="1600" b="1" dirty="0">
                <a:solidFill>
                  <a:srgbClr val="000000"/>
                </a:solidFill>
                <a:latin typeface="Courier New" pitchFamily="49" charset="0"/>
                <a:cs typeface="Courier New" pitchFamily="49" charset="0"/>
              </a:rPr>
              <a:t>setInspectionDateByEmployee(</a:t>
            </a:r>
            <a:br>
              <a:rPr lang="en-US" sz="1600" b="1" dirty="0">
                <a:solidFill>
                  <a:srgbClr val="000000"/>
                </a:solidFill>
                <a:latin typeface="Courier New" pitchFamily="49" charset="0"/>
                <a:cs typeface="Courier New" pitchFamily="49" charset="0"/>
              </a:rPr>
            </a:br>
            <a:r>
              <a:rPr lang="en-US" sz="1600" b="1" dirty="0">
                <a:solidFill>
                  <a:srgbClr val="000000"/>
                </a:solidFill>
                <a:latin typeface="Courier New" pitchFamily="49" charset="0"/>
                <a:cs typeface="Courier New" pitchFamily="49" charset="0"/>
              </a:rPr>
              <a:t>	       person: ABPerson, inspectionDate: DateTime): String { </a:t>
            </a:r>
          </a:p>
          <a:p>
            <a:r>
              <a:rPr lang="en-US" sz="1600" b="1" dirty="0">
                <a:solidFill>
                  <a:srgbClr val="000000"/>
                </a:solidFill>
                <a:latin typeface="Courier New" pitchFamily="49" charset="0"/>
                <a:cs typeface="Courier New" pitchFamily="49" charset="0"/>
              </a:rPr>
              <a:t> …83    </a:t>
            </a:r>
            <a:r>
              <a:rPr lang="en-US" sz="1600" b="1" dirty="0">
                <a:solidFill>
                  <a:srgbClr val="000000"/>
                </a:solidFill>
                <a:latin typeface="Courier New" pitchFamily="49" charset="0"/>
                <a:ea typeface="Times New Roman"/>
                <a:cs typeface="Courier New" pitchFamily="49" charset="0"/>
              </a:rPr>
              <a:t>Trans</a:t>
            </a:r>
            <a:r>
              <a:rPr lang="en-US" sz="1600" b="1" dirty="0">
                <a:solidFill>
                  <a:srgbClr val="000000"/>
                </a:solidFill>
                <a:latin typeface="Courier New" pitchFamily="49" charset="0"/>
                <a:cs typeface="Courier New" pitchFamily="49" charset="0"/>
              </a:rPr>
              <a:t>action.runWithNewBundle(\newBundle -&gt; { </a:t>
            </a:r>
          </a:p>
          <a:p>
            <a:r>
              <a:rPr lang="en-US" sz="1600" b="1" dirty="0">
                <a:solidFill>
                  <a:srgbClr val="000000"/>
                </a:solidFill>
                <a:latin typeface="Courier New" pitchFamily="49" charset="0"/>
                <a:cs typeface="Courier New" pitchFamily="49" charset="0"/>
              </a:rPr>
              <a:t>  84     </a:t>
            </a:r>
            <a:r>
              <a:rPr lang="en-US" sz="1600" b="1" dirty="0">
                <a:solidFill>
                  <a:srgbClr val="000080"/>
                </a:solidFill>
                <a:latin typeface="Courier New" pitchFamily="49" charset="0"/>
                <a:cs typeface="Courier New" pitchFamily="49" charset="0"/>
              </a:rPr>
              <a:t>var </a:t>
            </a:r>
            <a:r>
              <a:rPr lang="en-US" sz="1600" b="1" dirty="0">
                <a:solidFill>
                  <a:srgbClr val="000000"/>
                </a:solidFill>
                <a:latin typeface="Courier New" pitchFamily="49" charset="0"/>
                <a:cs typeface="Courier New" pitchFamily="49" charset="0"/>
              </a:rPr>
              <a:t>targetCompany = person.Employer </a:t>
            </a:r>
          </a:p>
          <a:p>
            <a:r>
              <a:rPr lang="en-US" sz="1600" b="1" dirty="0">
                <a:solidFill>
                  <a:srgbClr val="000000"/>
                </a:solidFill>
                <a:latin typeface="Courier New" pitchFamily="49" charset="0"/>
                <a:cs typeface="Courier New" pitchFamily="49" charset="0"/>
              </a:rPr>
              <a:t> …90     targetCompany = newBundle.add(targetCompany)</a:t>
            </a:r>
          </a:p>
          <a:p>
            <a:r>
              <a:rPr lang="en-US" sz="1600" b="1" dirty="0">
                <a:solidFill>
                  <a:srgbClr val="000000"/>
                </a:solidFill>
                <a:latin typeface="Courier New" pitchFamily="49" charset="0"/>
                <a:cs typeface="Courier New" pitchFamily="49" charset="0"/>
              </a:rPr>
              <a:t>…103 	 }, </a:t>
            </a:r>
            <a:r>
              <a:rPr lang="en-US" sz="1600" b="1" dirty="0">
                <a:solidFill>
                  <a:srgbClr val="008000"/>
                </a:solidFill>
                <a:latin typeface="Courier New" pitchFamily="49" charset="0"/>
                <a:cs typeface="Courier New" pitchFamily="49" charset="0"/>
              </a:rPr>
              <a:t>"su"</a:t>
            </a:r>
            <a:r>
              <a:rPr lang="en-US" sz="1600" b="1" dirty="0">
                <a:solidFill>
                  <a:srgbClr val="000000"/>
                </a:solidFill>
                <a:latin typeface="Courier New" pitchFamily="49" charset="0"/>
                <a:cs typeface="Courier New" pitchFamily="49" charset="0"/>
              </a:rPr>
              <a:t>)</a:t>
            </a:r>
          </a:p>
          <a:p>
            <a:r>
              <a:rPr lang="en-US" sz="1600" b="1" dirty="0">
                <a:solidFill>
                  <a:srgbClr val="000000"/>
                </a:solidFill>
                <a:latin typeface="Courier New" pitchFamily="49" charset="0"/>
                <a:cs typeface="Courier New" pitchFamily="49" charset="0"/>
              </a:rPr>
              <a:t>…105  }</a:t>
            </a:r>
            <a:endParaRPr lang="en-US" sz="1600" b="1" dirty="0">
              <a:latin typeface="Courier New" pitchFamily="49" charset="0"/>
              <a:cs typeface="Courier New" pitchFamily="49" charset="0"/>
            </a:endParaRPr>
          </a:p>
        </p:txBody>
      </p:sp>
    </p:spTree>
    <p:extLst>
      <p:ext uri="{BB962C8B-B14F-4D97-AF65-F5344CB8AC3E}">
        <p14:creationId xmlns:p14="http://schemas.microsoft.com/office/powerpoint/2010/main" val="468092397"/>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 LinNumbers"/>
          <p:cNvSpPr/>
          <p:nvPr/>
        </p:nvSpPr>
        <p:spPr bwMode="auto">
          <a:xfrm>
            <a:off x="1828801" y="914400"/>
            <a:ext cx="581025" cy="37733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2" name="Title 1"/>
          <p:cNvSpPr>
            <a:spLocks noGrp="1"/>
          </p:cNvSpPr>
          <p:nvPr>
            <p:ph type="title"/>
          </p:nvPr>
        </p:nvSpPr>
        <p:spPr/>
        <p:txBody>
          <a:bodyPr/>
          <a:lstStyle/>
          <a:p>
            <a:r>
              <a:rPr lang="en-US" dirty="0"/>
              <a:t>Examples in action</a:t>
            </a:r>
          </a:p>
        </p:txBody>
      </p:sp>
      <p:sp>
        <p:nvSpPr>
          <p:cNvPr id="13" name="rec Code"/>
          <p:cNvSpPr/>
          <p:nvPr/>
        </p:nvSpPr>
        <p:spPr>
          <a:xfrm>
            <a:off x="1935480" y="914400"/>
            <a:ext cx="8666162" cy="3785652"/>
          </a:xfrm>
          <a:prstGeom prst="rect">
            <a:avLst/>
          </a:prstGeom>
        </p:spPr>
        <p:txBody>
          <a:bodyPr wrap="square">
            <a:spAutoFit/>
          </a:bodyPr>
          <a:lstStyle/>
          <a:p>
            <a:r>
              <a:rPr lang="en-US" sz="1600" b="1" dirty="0">
                <a:solidFill>
                  <a:srgbClr val="000000"/>
                </a:solidFill>
                <a:latin typeface="Courier New" pitchFamily="49" charset="0"/>
                <a:cs typeface="Courier New" pitchFamily="49" charset="0"/>
              </a:rPr>
              <a:t>  1  </a:t>
            </a:r>
            <a:r>
              <a:rPr lang="en-US" sz="1600" b="1" dirty="0">
                <a:solidFill>
                  <a:srgbClr val="000080"/>
                </a:solidFill>
                <a:latin typeface="Courier New" pitchFamily="49" charset="0"/>
                <a:cs typeface="Courier New" pitchFamily="49" charset="0"/>
              </a:rPr>
              <a:t>uses </a:t>
            </a:r>
            <a:r>
              <a:rPr lang="en-US" sz="1600" b="1" dirty="0">
                <a:solidFill>
                  <a:srgbClr val="000000"/>
                </a:solidFill>
                <a:latin typeface="Courier New" pitchFamily="49" charset="0"/>
                <a:cs typeface="Courier New" pitchFamily="49" charset="0"/>
              </a:rPr>
              <a:t>trainingapp.demo.gosu.BundleExamples </a:t>
            </a:r>
            <a:br>
              <a:rPr lang="en-US" sz="1600" b="1" dirty="0">
                <a:solidFill>
                  <a:srgbClr val="000000"/>
                </a:solidFill>
                <a:latin typeface="Courier New" pitchFamily="49" charset="0"/>
                <a:cs typeface="Courier New" pitchFamily="49" charset="0"/>
              </a:rPr>
            </a:br>
            <a:r>
              <a:rPr lang="en-US" sz="1600" b="1" dirty="0">
                <a:solidFill>
                  <a:srgbClr val="000000"/>
                </a:solidFill>
                <a:latin typeface="Courier New" pitchFamily="49" charset="0"/>
                <a:cs typeface="Courier New" pitchFamily="49" charset="0"/>
              </a:rPr>
              <a:t>  2  </a:t>
            </a:r>
            <a:r>
              <a:rPr lang="en-US" sz="1600" b="1" dirty="0">
                <a:solidFill>
                  <a:srgbClr val="000080"/>
                </a:solidFill>
                <a:latin typeface="Courier New" pitchFamily="49" charset="0"/>
                <a:cs typeface="Courier New" pitchFamily="49" charset="0"/>
              </a:rPr>
              <a:t>uses</a:t>
            </a:r>
            <a:r>
              <a:rPr lang="en-US" sz="1600" b="1" dirty="0">
                <a:solidFill>
                  <a:srgbClr val="000000"/>
                </a:solidFill>
                <a:latin typeface="Courier New" pitchFamily="49" charset="0"/>
                <a:cs typeface="Courier New" pitchFamily="49" charset="0"/>
              </a:rPr>
              <a:t> </a:t>
            </a:r>
            <a:r>
              <a:rPr lang="en-US" sz="1600" b="1" dirty="0" err="1">
                <a:solidFill>
                  <a:srgbClr val="000000"/>
                </a:solidFill>
                <a:latin typeface="Courier New" pitchFamily="49" charset="0"/>
                <a:cs typeface="Courier New" pitchFamily="49" charset="0"/>
              </a:rPr>
              <a:t>gw.transaction.Transaction</a:t>
            </a:r>
            <a:endParaRPr lang="en-US" sz="1600" b="1" dirty="0">
              <a:solidFill>
                <a:srgbClr val="000000"/>
              </a:solidFill>
              <a:latin typeface="Courier New" pitchFamily="49" charset="0"/>
              <a:cs typeface="Courier New" pitchFamily="49" charset="0"/>
            </a:endParaRPr>
          </a:p>
          <a:p>
            <a:r>
              <a:rPr lang="en-US" sz="1600" b="1" dirty="0">
                <a:solidFill>
                  <a:srgbClr val="000000"/>
                </a:solidFill>
                <a:latin typeface="Courier New" pitchFamily="49" charset="0"/>
                <a:cs typeface="Courier New" pitchFamily="49" charset="0"/>
              </a:rPr>
              <a:t>  3</a:t>
            </a:r>
            <a:br>
              <a:rPr lang="en-US" sz="1600" b="1" dirty="0">
                <a:solidFill>
                  <a:srgbClr val="000000"/>
                </a:solidFill>
                <a:latin typeface="Courier New" pitchFamily="49" charset="0"/>
                <a:cs typeface="Courier New" pitchFamily="49" charset="0"/>
              </a:rPr>
            </a:br>
            <a:r>
              <a:rPr lang="en-US" sz="1600" b="1" dirty="0">
                <a:solidFill>
                  <a:srgbClr val="000000"/>
                </a:solidFill>
                <a:latin typeface="Courier New" pitchFamily="49" charset="0"/>
                <a:cs typeface="Courier New" pitchFamily="49" charset="0"/>
              </a:rPr>
              <a:t>  4  print(</a:t>
            </a:r>
            <a:r>
              <a:rPr lang="en-US" sz="1600" b="1" dirty="0" err="1">
                <a:solidFill>
                  <a:srgbClr val="000000"/>
                </a:solidFill>
                <a:latin typeface="Courier New" pitchFamily="49" charset="0"/>
                <a:cs typeface="Courier New" pitchFamily="49" charset="0"/>
              </a:rPr>
              <a:t>BundleExamples.setInspectionDateByName</a:t>
            </a:r>
            <a:r>
              <a:rPr lang="en-US" sz="1600" b="1" dirty="0">
                <a:solidFill>
                  <a:srgbClr val="000000"/>
                </a:solidFill>
                <a:latin typeface="Courier New" pitchFamily="49" charset="0"/>
                <a:cs typeface="Courier New" pitchFamily="49" charset="0"/>
              </a:rPr>
              <a:t>(</a:t>
            </a:r>
            <a:r>
              <a:rPr lang="en-US" sz="1600" b="1" dirty="0">
                <a:solidFill>
                  <a:srgbClr val="008000"/>
                </a:solidFill>
                <a:latin typeface="Courier New" pitchFamily="49" charset="0"/>
                <a:cs typeface="Courier New" pitchFamily="49" charset="0"/>
              </a:rPr>
              <a:t>"Albertson's"</a:t>
            </a:r>
            <a:r>
              <a:rPr lang="en-US" sz="1600" b="1" dirty="0">
                <a:solidFill>
                  <a:srgbClr val="000000"/>
                </a:solidFill>
                <a:latin typeface="Courier New" pitchFamily="49" charset="0"/>
                <a:cs typeface="Courier New" pitchFamily="49" charset="0"/>
              </a:rPr>
              <a:t>,</a:t>
            </a:r>
            <a:br>
              <a:rPr lang="en-US" sz="1600" b="1" dirty="0">
                <a:solidFill>
                  <a:srgbClr val="000000"/>
                </a:solidFill>
                <a:latin typeface="Courier New" pitchFamily="49" charset="0"/>
                <a:cs typeface="Courier New" pitchFamily="49" charset="0"/>
              </a:rPr>
            </a:br>
            <a:r>
              <a:rPr lang="en-US" sz="1600" b="1" dirty="0">
                <a:solidFill>
                  <a:srgbClr val="000000"/>
                </a:solidFill>
                <a:latin typeface="Courier New" pitchFamily="49" charset="0"/>
                <a:cs typeface="Courier New" pitchFamily="49" charset="0"/>
              </a:rPr>
              <a:t>         </a:t>
            </a:r>
            <a:r>
              <a:rPr lang="en-US" sz="1600" b="1" dirty="0">
                <a:solidFill>
                  <a:srgbClr val="008000"/>
                </a:solidFill>
                <a:latin typeface="Courier New" pitchFamily="49" charset="0"/>
                <a:cs typeface="Courier New" pitchFamily="49" charset="0"/>
              </a:rPr>
              <a:t>"2014-01-01" </a:t>
            </a:r>
            <a:r>
              <a:rPr lang="en-US" sz="1600" b="1" dirty="0">
                <a:solidFill>
                  <a:srgbClr val="000080"/>
                </a:solidFill>
                <a:latin typeface="Courier New" pitchFamily="49" charset="0"/>
                <a:cs typeface="Courier New" pitchFamily="49" charset="0"/>
              </a:rPr>
              <a:t>as </a:t>
            </a:r>
            <a:r>
              <a:rPr lang="en-US" sz="1600" b="1" dirty="0" err="1">
                <a:solidFill>
                  <a:srgbClr val="000000"/>
                </a:solidFill>
                <a:latin typeface="Courier New" pitchFamily="49" charset="0"/>
                <a:cs typeface="Courier New" pitchFamily="49" charset="0"/>
              </a:rPr>
              <a:t>java.util.Date</a:t>
            </a:r>
            <a:r>
              <a:rPr lang="en-US" sz="1600" b="1" dirty="0">
                <a:solidFill>
                  <a:srgbClr val="000000"/>
                </a:solidFill>
                <a:latin typeface="Courier New" pitchFamily="49" charset="0"/>
                <a:cs typeface="Courier New" pitchFamily="49" charset="0"/>
              </a:rPr>
              <a:t>)) </a:t>
            </a:r>
            <a:br>
              <a:rPr lang="en-US" sz="1600" b="1" dirty="0">
                <a:solidFill>
                  <a:srgbClr val="000000"/>
                </a:solidFill>
                <a:latin typeface="Courier New" pitchFamily="49" charset="0"/>
                <a:cs typeface="Courier New" pitchFamily="49" charset="0"/>
              </a:rPr>
            </a:br>
            <a:r>
              <a:rPr lang="en-US" sz="1600" b="1" dirty="0">
                <a:solidFill>
                  <a:srgbClr val="000000"/>
                </a:solidFill>
                <a:latin typeface="Courier New" pitchFamily="49" charset="0"/>
                <a:cs typeface="Courier New" pitchFamily="49" charset="0"/>
              </a:rPr>
              <a:t>  5</a:t>
            </a:r>
          </a:p>
          <a:p>
            <a:r>
              <a:rPr lang="en-US" sz="1600" b="1" dirty="0">
                <a:solidFill>
                  <a:srgbClr val="000000"/>
                </a:solidFill>
                <a:latin typeface="Courier New" pitchFamily="49" charset="0"/>
                <a:cs typeface="Courier New" pitchFamily="49" charset="0"/>
              </a:rPr>
              <a:t>  6  Transaction.runWithNewBundle(\bundle -&gt; {</a:t>
            </a:r>
            <a:br>
              <a:rPr lang="en-US" sz="1600" b="1" dirty="0">
                <a:solidFill>
                  <a:srgbClr val="000000"/>
                </a:solidFill>
                <a:latin typeface="Courier New" pitchFamily="49" charset="0"/>
                <a:cs typeface="Courier New" pitchFamily="49" charset="0"/>
              </a:rPr>
            </a:br>
            <a:r>
              <a:rPr lang="en-US" sz="1600" b="1" dirty="0">
                <a:solidFill>
                  <a:srgbClr val="000000"/>
                </a:solidFill>
                <a:latin typeface="Courier New" pitchFamily="49" charset="0"/>
                <a:cs typeface="Courier New" pitchFamily="49" charset="0"/>
              </a:rPr>
              <a:t>  7    </a:t>
            </a:r>
            <a:r>
              <a:rPr lang="en-US" sz="1600" b="1" dirty="0">
                <a:solidFill>
                  <a:srgbClr val="000080"/>
                </a:solidFill>
                <a:latin typeface="Courier New" pitchFamily="49" charset="0"/>
                <a:cs typeface="Courier New" pitchFamily="49" charset="0"/>
              </a:rPr>
              <a:t>var</a:t>
            </a:r>
            <a:r>
              <a:rPr lang="en-US" sz="1600" b="1" dirty="0">
                <a:solidFill>
                  <a:srgbClr val="000000"/>
                </a:solidFill>
                <a:latin typeface="Courier New" pitchFamily="49" charset="0"/>
                <a:cs typeface="Courier New" pitchFamily="49" charset="0"/>
              </a:rPr>
              <a:t> key = </a:t>
            </a:r>
            <a:r>
              <a:rPr lang="en-US" sz="1600" b="1" dirty="0">
                <a:solidFill>
                  <a:srgbClr val="000080"/>
                </a:solidFill>
                <a:latin typeface="Courier New" pitchFamily="49" charset="0"/>
                <a:cs typeface="Courier New" pitchFamily="49" charset="0"/>
              </a:rPr>
              <a:t>new</a:t>
            </a:r>
            <a:r>
              <a:rPr lang="en-US" sz="1600" b="1" dirty="0">
                <a:solidFill>
                  <a:srgbClr val="000000"/>
                </a:solidFill>
                <a:latin typeface="Courier New" pitchFamily="49" charset="0"/>
                <a:cs typeface="Courier New" pitchFamily="49" charset="0"/>
              </a:rPr>
              <a:t> Key(ABCompany, </a:t>
            </a:r>
            <a:r>
              <a:rPr lang="en-US" sz="1600" b="1" dirty="0">
                <a:solidFill>
                  <a:srgbClr val="0070C0"/>
                </a:solidFill>
                <a:latin typeface="Courier New" pitchFamily="49" charset="0"/>
                <a:cs typeface="Courier New" pitchFamily="49" charset="0"/>
              </a:rPr>
              <a:t>61</a:t>
            </a:r>
            <a:r>
              <a:rPr lang="en-US" sz="1600" b="1" dirty="0">
                <a:solidFill>
                  <a:srgbClr val="000000"/>
                </a:solidFill>
                <a:latin typeface="Courier New" pitchFamily="49" charset="0"/>
                <a:cs typeface="Courier New" pitchFamily="49" charset="0"/>
              </a:rPr>
              <a:t> as long)</a:t>
            </a:r>
            <a:br>
              <a:rPr lang="en-US" sz="1600" b="1" dirty="0">
                <a:solidFill>
                  <a:srgbClr val="000000"/>
                </a:solidFill>
                <a:latin typeface="Courier New" pitchFamily="49" charset="0"/>
                <a:cs typeface="Courier New" pitchFamily="49" charset="0"/>
              </a:rPr>
            </a:br>
            <a:r>
              <a:rPr lang="en-US" sz="1600" b="1" dirty="0">
                <a:solidFill>
                  <a:srgbClr val="000000"/>
                </a:solidFill>
                <a:latin typeface="Courier New" pitchFamily="49" charset="0"/>
                <a:cs typeface="Courier New" pitchFamily="49" charset="0"/>
              </a:rPr>
              <a:t>  8    print(</a:t>
            </a:r>
            <a:r>
              <a:rPr lang="en-US" sz="1600" b="1" dirty="0" err="1">
                <a:solidFill>
                  <a:srgbClr val="000000"/>
                </a:solidFill>
                <a:latin typeface="Courier New" pitchFamily="49" charset="0"/>
                <a:cs typeface="Courier New" pitchFamily="49" charset="0"/>
              </a:rPr>
              <a:t>BundleExamples.setInspectionDateByLoadBean</a:t>
            </a:r>
            <a:r>
              <a:rPr lang="en-US" sz="1600" b="1" dirty="0">
                <a:solidFill>
                  <a:srgbClr val="000000"/>
                </a:solidFill>
                <a:latin typeface="Courier New" pitchFamily="49" charset="0"/>
                <a:cs typeface="Courier New" pitchFamily="49" charset="0"/>
              </a:rPr>
              <a:t>(key,</a:t>
            </a:r>
            <a:br>
              <a:rPr lang="en-US" sz="1600" b="1" dirty="0">
                <a:solidFill>
                  <a:srgbClr val="000000"/>
                </a:solidFill>
                <a:latin typeface="Courier New" pitchFamily="49" charset="0"/>
                <a:cs typeface="Courier New" pitchFamily="49" charset="0"/>
              </a:rPr>
            </a:br>
            <a:r>
              <a:rPr lang="en-US" sz="1600" b="1" dirty="0">
                <a:solidFill>
                  <a:srgbClr val="000000"/>
                </a:solidFill>
                <a:latin typeface="Courier New" pitchFamily="49" charset="0"/>
                <a:cs typeface="Courier New" pitchFamily="49" charset="0"/>
              </a:rPr>
              <a:t>         </a:t>
            </a:r>
            <a:r>
              <a:rPr lang="en-US" sz="1600" b="1" dirty="0">
                <a:solidFill>
                  <a:srgbClr val="008000"/>
                </a:solidFill>
                <a:latin typeface="Courier New" pitchFamily="49" charset="0"/>
                <a:cs typeface="Courier New" pitchFamily="49" charset="0"/>
              </a:rPr>
              <a:t>"2014-03-03" </a:t>
            </a:r>
            <a:r>
              <a:rPr lang="en-US" sz="1600" b="1" dirty="0">
                <a:solidFill>
                  <a:srgbClr val="000080"/>
                </a:solidFill>
                <a:latin typeface="Courier New" pitchFamily="49" charset="0"/>
                <a:cs typeface="Courier New" pitchFamily="49" charset="0"/>
              </a:rPr>
              <a:t>as </a:t>
            </a:r>
            <a:r>
              <a:rPr lang="en-US" sz="1600" b="1" dirty="0" err="1">
                <a:solidFill>
                  <a:srgbClr val="000000"/>
                </a:solidFill>
                <a:latin typeface="Courier New" pitchFamily="49" charset="0"/>
                <a:cs typeface="Courier New" pitchFamily="49" charset="0"/>
              </a:rPr>
              <a:t>java.util.Date</a:t>
            </a:r>
            <a:r>
              <a:rPr lang="en-US" sz="1600" b="1" dirty="0">
                <a:solidFill>
                  <a:srgbClr val="000000"/>
                </a:solidFill>
                <a:latin typeface="Courier New" pitchFamily="49" charset="0"/>
                <a:cs typeface="Courier New" pitchFamily="49" charset="0"/>
              </a:rPr>
              <a:t>))</a:t>
            </a:r>
          </a:p>
          <a:p>
            <a:r>
              <a:rPr lang="en-US" sz="1600" b="1" dirty="0">
                <a:solidFill>
                  <a:srgbClr val="000000"/>
                </a:solidFill>
                <a:latin typeface="Courier New" pitchFamily="49" charset="0"/>
                <a:cs typeface="Courier New" pitchFamily="49" charset="0"/>
              </a:rPr>
              <a:t>  9    },</a:t>
            </a:r>
            <a:r>
              <a:rPr lang="en-US" sz="1600" b="1" dirty="0">
                <a:solidFill>
                  <a:srgbClr val="008000"/>
                </a:solidFill>
                <a:latin typeface="Courier New" pitchFamily="49" charset="0"/>
                <a:cs typeface="Courier New" pitchFamily="49" charset="0"/>
              </a:rPr>
              <a:t> "su"</a:t>
            </a:r>
            <a:r>
              <a:rPr lang="en-US" sz="1600" b="1" dirty="0">
                <a:solidFill>
                  <a:srgbClr val="000000"/>
                </a:solidFill>
                <a:latin typeface="Courier New" pitchFamily="49" charset="0"/>
                <a:cs typeface="Courier New" pitchFamily="49" charset="0"/>
              </a:rPr>
              <a:t>)</a:t>
            </a:r>
          </a:p>
          <a:p>
            <a:r>
              <a:rPr lang="en-US" sz="1600" b="1" dirty="0">
                <a:solidFill>
                  <a:srgbClr val="000000"/>
                </a:solidFill>
                <a:latin typeface="Courier New" pitchFamily="49" charset="0"/>
                <a:cs typeface="Courier New" pitchFamily="49" charset="0"/>
              </a:rPr>
              <a:t> 10</a:t>
            </a:r>
          </a:p>
          <a:p>
            <a:r>
              <a:rPr lang="en-US" sz="1600" b="1" dirty="0">
                <a:solidFill>
                  <a:srgbClr val="000000"/>
                </a:solidFill>
                <a:latin typeface="Courier New" pitchFamily="49" charset="0"/>
                <a:cs typeface="Courier New" pitchFamily="49" charset="0"/>
              </a:rPr>
              <a:t> 11  </a:t>
            </a:r>
            <a:r>
              <a:rPr lang="en-US" sz="1600" b="1" dirty="0">
                <a:solidFill>
                  <a:srgbClr val="000080"/>
                </a:solidFill>
                <a:latin typeface="Courier New" pitchFamily="49" charset="0"/>
                <a:cs typeface="Courier New" pitchFamily="49" charset="0"/>
              </a:rPr>
              <a:t>var</a:t>
            </a:r>
            <a:r>
              <a:rPr lang="en-US" sz="1600" b="1" dirty="0">
                <a:solidFill>
                  <a:srgbClr val="000000"/>
                </a:solidFill>
                <a:latin typeface="Courier New" pitchFamily="49" charset="0"/>
                <a:cs typeface="Courier New" pitchFamily="49" charset="0"/>
              </a:rPr>
              <a:t> employee = </a:t>
            </a:r>
            <a:r>
              <a:rPr lang="en-US" sz="1600" b="1" dirty="0" err="1">
                <a:solidFill>
                  <a:srgbClr val="000000"/>
                </a:solidFill>
                <a:latin typeface="Courier New" pitchFamily="49" charset="0"/>
                <a:cs typeface="Courier New" pitchFamily="49" charset="0"/>
              </a:rPr>
              <a:t>ta.QueryUtil.findPerson</a:t>
            </a:r>
            <a:r>
              <a:rPr lang="en-US" sz="1600" b="1" dirty="0">
                <a:solidFill>
                  <a:schemeClr val="bg1"/>
                </a:solidFill>
                <a:latin typeface="Courier New" pitchFamily="49" charset="0"/>
                <a:cs typeface="Courier New" pitchFamily="49" charset="0"/>
              </a:rPr>
              <a:t>(</a:t>
            </a:r>
            <a:r>
              <a:rPr lang="en-US" sz="1600" b="1" dirty="0">
                <a:solidFill>
                  <a:srgbClr val="008000"/>
                </a:solidFill>
                <a:latin typeface="Courier New" pitchFamily="49" charset="0"/>
                <a:cs typeface="Courier New" pitchFamily="49" charset="0"/>
              </a:rPr>
              <a:t>"ab:5"</a:t>
            </a:r>
            <a:r>
              <a:rPr lang="en-US" sz="1600" b="1" dirty="0">
                <a:solidFill>
                  <a:schemeClr val="bg1"/>
                </a:solidFill>
                <a:latin typeface="Courier New" pitchFamily="49" charset="0"/>
                <a:cs typeface="Courier New" pitchFamily="49" charset="0"/>
              </a:rPr>
              <a:t>)</a:t>
            </a:r>
            <a:br>
              <a:rPr lang="en-US" sz="1600" b="1" dirty="0">
                <a:solidFill>
                  <a:schemeClr val="bg1"/>
                </a:solidFill>
                <a:latin typeface="Courier New" pitchFamily="49" charset="0"/>
                <a:cs typeface="Courier New" pitchFamily="49" charset="0"/>
              </a:rPr>
            </a:br>
            <a:r>
              <a:rPr lang="en-US" sz="1600" b="1" dirty="0">
                <a:solidFill>
                  <a:schemeClr val="bg1"/>
                </a:solidFill>
                <a:latin typeface="Courier New" pitchFamily="49" charset="0"/>
                <a:cs typeface="Courier New" pitchFamily="49" charset="0"/>
              </a:rPr>
              <a:t> 12  </a:t>
            </a:r>
            <a:r>
              <a:rPr lang="en-US" sz="1600" b="1" dirty="0">
                <a:solidFill>
                  <a:srgbClr val="000000"/>
                </a:solidFill>
                <a:latin typeface="Courier New" pitchFamily="49" charset="0"/>
                <a:cs typeface="Courier New" pitchFamily="49" charset="0"/>
              </a:rPr>
              <a:t>print(</a:t>
            </a:r>
            <a:r>
              <a:rPr lang="en-US" sz="1600" b="1" dirty="0" err="1">
                <a:solidFill>
                  <a:srgbClr val="000000"/>
                </a:solidFill>
                <a:latin typeface="Courier New" pitchFamily="49" charset="0"/>
                <a:cs typeface="Courier New" pitchFamily="49" charset="0"/>
              </a:rPr>
              <a:t>BundleExamples.setInspectionDateByEmployee</a:t>
            </a:r>
            <a:r>
              <a:rPr lang="en-US" sz="1600" b="1" dirty="0">
                <a:solidFill>
                  <a:srgbClr val="000000"/>
                </a:solidFill>
                <a:latin typeface="Courier New" pitchFamily="49" charset="0"/>
                <a:cs typeface="Courier New" pitchFamily="49" charset="0"/>
              </a:rPr>
              <a:t>(employee,</a:t>
            </a:r>
            <a:br>
              <a:rPr lang="en-US" sz="1600" b="1" dirty="0">
                <a:solidFill>
                  <a:srgbClr val="000000"/>
                </a:solidFill>
                <a:latin typeface="Courier New" pitchFamily="49" charset="0"/>
                <a:cs typeface="Courier New" pitchFamily="49" charset="0"/>
              </a:rPr>
            </a:br>
            <a:r>
              <a:rPr lang="en-US" sz="1600" b="1" dirty="0">
                <a:solidFill>
                  <a:srgbClr val="000000"/>
                </a:solidFill>
                <a:latin typeface="Courier New" pitchFamily="49" charset="0"/>
                <a:cs typeface="Courier New" pitchFamily="49" charset="0"/>
              </a:rPr>
              <a:t>         </a:t>
            </a:r>
            <a:r>
              <a:rPr lang="en-US" sz="1600" b="1" dirty="0">
                <a:solidFill>
                  <a:srgbClr val="008000"/>
                </a:solidFill>
                <a:latin typeface="Courier New" pitchFamily="49" charset="0"/>
                <a:cs typeface="Courier New" pitchFamily="49" charset="0"/>
              </a:rPr>
              <a:t>"2014-05-05" </a:t>
            </a:r>
            <a:r>
              <a:rPr lang="en-US" sz="1600" b="1" dirty="0">
                <a:solidFill>
                  <a:srgbClr val="000080"/>
                </a:solidFill>
                <a:latin typeface="Courier New" pitchFamily="49" charset="0"/>
                <a:cs typeface="Courier New" pitchFamily="49" charset="0"/>
              </a:rPr>
              <a:t>as </a:t>
            </a:r>
            <a:r>
              <a:rPr lang="en-US" sz="1600" b="1" dirty="0" err="1">
                <a:solidFill>
                  <a:srgbClr val="000000"/>
                </a:solidFill>
                <a:latin typeface="Courier New" pitchFamily="49" charset="0"/>
                <a:cs typeface="Courier New" pitchFamily="49" charset="0"/>
              </a:rPr>
              <a:t>java.util.Date</a:t>
            </a:r>
            <a:r>
              <a:rPr lang="en-US" sz="1600" b="1" dirty="0">
                <a:solidFill>
                  <a:srgbClr val="000000"/>
                </a:solidFill>
                <a:latin typeface="Courier New" pitchFamily="49" charset="0"/>
                <a:cs typeface="Courier New" pitchFamily="49" charset="0"/>
              </a:rPr>
              <a:t>))</a:t>
            </a:r>
          </a:p>
        </p:txBody>
      </p:sp>
    </p:spTree>
    <p:extLst>
      <p:ext uri="{BB962C8B-B14F-4D97-AF65-F5344CB8AC3E}">
        <p14:creationId xmlns:p14="http://schemas.microsoft.com/office/powerpoint/2010/main" val="977511927"/>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Database transactions and bundles</a:t>
            </a:r>
          </a:p>
          <a:p>
            <a:r>
              <a:rPr lang="en-US" dirty="0"/>
              <a:t>Current and new bundles</a:t>
            </a:r>
          </a:p>
          <a:p>
            <a:r>
              <a:rPr lang="en-US" dirty="0"/>
              <a:t>Read-only entities and bundles</a:t>
            </a:r>
          </a:p>
          <a:p>
            <a:r>
              <a:rPr lang="en-US" dirty="0">
                <a:solidFill>
                  <a:schemeClr val="bg1"/>
                </a:solidFill>
              </a:rPr>
              <a:t>New entities and bundles</a:t>
            </a:r>
          </a:p>
          <a:p>
            <a:r>
              <a:rPr lang="en-US" dirty="0"/>
              <a:t>Additional bundle functionality</a:t>
            </a:r>
          </a:p>
          <a:p>
            <a:endParaRPr lang="en-US" dirty="0"/>
          </a:p>
        </p:txBody>
      </p:sp>
    </p:spTree>
    <p:extLst>
      <p:ext uri="{BB962C8B-B14F-4D97-AF65-F5344CB8AC3E}">
        <p14:creationId xmlns:p14="http://schemas.microsoft.com/office/powerpoint/2010/main" val="795398447"/>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 Line Numbers Wide"/>
          <p:cNvSpPr/>
          <p:nvPr/>
        </p:nvSpPr>
        <p:spPr bwMode="auto">
          <a:xfrm>
            <a:off x="1828800" y="4391562"/>
            <a:ext cx="586740" cy="1323439"/>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grpSp>
        <p:nvGrpSpPr>
          <p:cNvPr id="21" name="Group 20"/>
          <p:cNvGrpSpPr>
            <a:grpSpLocks noChangeAspect="1"/>
          </p:cNvGrpSpPr>
          <p:nvPr/>
        </p:nvGrpSpPr>
        <p:grpSpPr>
          <a:xfrm>
            <a:off x="4023724" y="1195624"/>
            <a:ext cx="1098977" cy="1188720"/>
            <a:chOff x="7804719" y="1234614"/>
            <a:chExt cx="1104983" cy="1195216"/>
          </a:xfrm>
        </p:grpSpPr>
        <p:pic>
          <p:nvPicPr>
            <p:cNvPr id="22" name="icn New Entity AddT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04719" y="1234614"/>
              <a:ext cx="1034481"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 name="icn Sta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88905" y="1928159"/>
              <a:ext cx="520797" cy="501671"/>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29" name="Title 28"/>
          <p:cNvSpPr>
            <a:spLocks noGrp="1"/>
          </p:cNvSpPr>
          <p:nvPr>
            <p:ph type="title"/>
          </p:nvPr>
        </p:nvSpPr>
        <p:spPr/>
        <p:txBody>
          <a:bodyPr/>
          <a:lstStyle/>
          <a:p>
            <a:r>
              <a:rPr lang="en-US" dirty="0"/>
              <a:t>runWithNewBundle() and new entity</a:t>
            </a:r>
          </a:p>
        </p:txBody>
      </p:sp>
      <p:sp>
        <p:nvSpPr>
          <p:cNvPr id="30" name="Content Placeholder 29"/>
          <p:cNvSpPr>
            <a:spLocks noGrp="1"/>
          </p:cNvSpPr>
          <p:nvPr>
            <p:ph sz="half" idx="2"/>
          </p:nvPr>
        </p:nvSpPr>
        <p:spPr>
          <a:xfrm>
            <a:off x="6324600" y="914402"/>
            <a:ext cx="4023360" cy="5475289"/>
          </a:xfrm>
        </p:spPr>
        <p:txBody>
          <a:bodyPr/>
          <a:lstStyle/>
          <a:p>
            <a:r>
              <a:rPr lang="en-US" dirty="0"/>
              <a:t>When using a </a:t>
            </a:r>
            <a:r>
              <a:rPr lang="en-US" b="1" dirty="0">
                <a:latin typeface="Courier New" pitchFamily="49" charset="0"/>
                <a:cs typeface="Courier New" pitchFamily="49" charset="0"/>
              </a:rPr>
              <a:t>runWithNewBundle() </a:t>
            </a:r>
            <a:r>
              <a:rPr lang="en-US" dirty="0"/>
              <a:t>block, you can also create new entities</a:t>
            </a:r>
          </a:p>
          <a:p>
            <a:pPr lvl="1"/>
            <a:r>
              <a:rPr lang="en-US" dirty="0"/>
              <a:t>New entity is automatically writable</a:t>
            </a:r>
          </a:p>
          <a:p>
            <a:pPr lvl="1"/>
            <a:r>
              <a:rPr lang="en-US" dirty="0"/>
              <a:t>Not necessary to add entity </a:t>
            </a:r>
            <a:br>
              <a:rPr lang="en-US" dirty="0"/>
            </a:br>
            <a:r>
              <a:rPr lang="en-US" dirty="0"/>
              <a:t>to new bundle, but it is a good coding  practice</a:t>
            </a:r>
          </a:p>
          <a:p>
            <a:endParaRPr lang="en-US" dirty="0"/>
          </a:p>
        </p:txBody>
      </p:sp>
      <p:sp>
        <p:nvSpPr>
          <p:cNvPr id="14" name="Right Arrow 13"/>
          <p:cNvSpPr/>
          <p:nvPr/>
        </p:nvSpPr>
        <p:spPr bwMode="auto">
          <a:xfrm>
            <a:off x="2861388" y="1708069"/>
            <a:ext cx="1253412" cy="365760"/>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grpSp>
        <p:nvGrpSpPr>
          <p:cNvPr id="16" name="icn New Bunlde User"/>
          <p:cNvGrpSpPr>
            <a:grpSpLocks noChangeAspect="1"/>
          </p:cNvGrpSpPr>
          <p:nvPr/>
        </p:nvGrpSpPr>
        <p:grpSpPr>
          <a:xfrm>
            <a:off x="2031905" y="1195624"/>
            <a:ext cx="1133626" cy="1188720"/>
            <a:chOff x="7428834" y="2947180"/>
            <a:chExt cx="1435883" cy="1505661"/>
          </a:xfrm>
        </p:grpSpPr>
        <p:pic>
          <p:nvPicPr>
            <p:cNvPr id="17"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20403" y="2947180"/>
              <a:ext cx="1287626" cy="1479607"/>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28834" y="3733800"/>
              <a:ext cx="648366" cy="719041"/>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16351" y="3802522"/>
              <a:ext cx="648366" cy="624556"/>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20" name="txt NewBundle"/>
          <p:cNvSpPr txBox="1">
            <a:spLocks noChangeArrowheads="1"/>
          </p:cNvSpPr>
          <p:nvPr/>
        </p:nvSpPr>
        <p:spPr bwMode="auto">
          <a:xfrm>
            <a:off x="3973870" y="2429831"/>
            <a:ext cx="113153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defPPr>
              <a:defRPr lang="en-US"/>
            </a:defPPr>
            <a:lvl1pPr marR="0" lvl="0" indent="0" algn="ctr" eaLnBrk="0" fontAlgn="base" hangingPunct="0">
              <a:lnSpc>
                <a:spcPct val="100000"/>
              </a:lnSpc>
              <a:spcBef>
                <a:spcPct val="50000"/>
              </a:spcBef>
              <a:spcAft>
                <a:spcPct val="0"/>
              </a:spcAft>
              <a:buClr>
                <a:srgbClr val="0146AD"/>
              </a:buClr>
              <a:buSzTx/>
              <a:buFont typeface="Wingdings 3" pitchFamily="18" charset="2"/>
              <a:buNone/>
              <a:tabLst/>
              <a:defRPr kumimoji="0" sz="1600" b="1" i="0" u="none" strike="noStrike" kern="0" cap="none" spc="0" normalizeH="0" baseline="0">
                <a:ln>
                  <a:noFill/>
                </a:ln>
                <a:solidFill>
                  <a:schemeClr val="bg1"/>
                </a:solidFill>
                <a:effectLst/>
                <a:uLnTx/>
                <a:uFillTx/>
                <a:latin typeface="+mj-lt"/>
                <a:cs typeface="Courier New" pitchFamily="49"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r>
              <a:rPr lang="en-US" dirty="0"/>
              <a:t>New </a:t>
            </a:r>
            <a:br>
              <a:rPr lang="en-US" dirty="0"/>
            </a:br>
            <a:r>
              <a:rPr lang="en-US" dirty="0"/>
              <a:t>Entity</a:t>
            </a:r>
          </a:p>
        </p:txBody>
      </p:sp>
      <p:sp>
        <p:nvSpPr>
          <p:cNvPr id="28" name="txt NewBundle"/>
          <p:cNvSpPr txBox="1">
            <a:spLocks noChangeArrowheads="1"/>
          </p:cNvSpPr>
          <p:nvPr/>
        </p:nvSpPr>
        <p:spPr bwMode="auto">
          <a:xfrm>
            <a:off x="2040164" y="2429831"/>
            <a:ext cx="105533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defPPr>
              <a:defRPr lang="en-US"/>
            </a:defPPr>
            <a:lvl1pPr marR="0" lvl="0" indent="0" algn="ctr" eaLnBrk="0" fontAlgn="base" hangingPunct="0">
              <a:lnSpc>
                <a:spcPct val="100000"/>
              </a:lnSpc>
              <a:spcBef>
                <a:spcPct val="50000"/>
              </a:spcBef>
              <a:spcAft>
                <a:spcPct val="0"/>
              </a:spcAft>
              <a:buClr>
                <a:srgbClr val="0146AD"/>
              </a:buClr>
              <a:buSzTx/>
              <a:buFont typeface="Wingdings 3" pitchFamily="18" charset="2"/>
              <a:buNone/>
              <a:tabLst/>
              <a:defRPr kumimoji="0" sz="1600" b="1" i="0" u="none" strike="noStrike" kern="0" cap="none" spc="0" normalizeH="0" baseline="0">
                <a:ln>
                  <a:noFill/>
                </a:ln>
                <a:solidFill>
                  <a:schemeClr val="bg1"/>
                </a:solidFill>
                <a:effectLst/>
                <a:uLnTx/>
                <a:uFillTx/>
                <a:latin typeface="+mj-lt"/>
                <a:cs typeface="Courier New" pitchFamily="49"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r>
              <a:rPr lang="en-US" dirty="0"/>
              <a:t>New</a:t>
            </a:r>
            <a:br>
              <a:rPr lang="en-US" dirty="0"/>
            </a:br>
            <a:r>
              <a:rPr lang="en-US" dirty="0"/>
              <a:t>Bundle</a:t>
            </a:r>
          </a:p>
        </p:txBody>
      </p:sp>
      <p:sp>
        <p:nvSpPr>
          <p:cNvPr id="2" name="Rectangle 1"/>
          <p:cNvSpPr>
            <a:spLocks noChangeArrowheads="1"/>
          </p:cNvSpPr>
          <p:nvPr/>
        </p:nvSpPr>
        <p:spPr bwMode="auto">
          <a:xfrm>
            <a:off x="1935480" y="4391562"/>
            <a:ext cx="868680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r>
              <a:rPr lang="en-US" sz="1600" b="1" dirty="0">
                <a:solidFill>
                  <a:srgbClr val="000000"/>
                </a:solidFill>
                <a:latin typeface="Courier New" pitchFamily="49" charset="0"/>
                <a:cs typeface="Courier New" pitchFamily="49" charset="0"/>
              </a:rPr>
              <a:t>  1</a:t>
            </a:r>
            <a:r>
              <a:rPr lang="en-US" sz="1600" b="1" dirty="0" bmk="">
                <a:solidFill>
                  <a:srgbClr val="000000"/>
                </a:solidFill>
                <a:latin typeface="Courier New" pitchFamily="49" charset="0"/>
                <a:cs typeface="Courier New" pitchFamily="49" charset="0"/>
              </a:rPr>
              <a:t>  </a:t>
            </a:r>
            <a:r>
              <a:rPr lang="en-US" sz="1600" b="1" dirty="0" err="1" bmk="">
                <a:solidFill>
                  <a:srgbClr val="000000"/>
                </a:solidFill>
                <a:latin typeface="Courier New" pitchFamily="49" charset="0"/>
                <a:cs typeface="Courier New" pitchFamily="49" charset="0"/>
              </a:rPr>
              <a:t>gw.transaction.Transaction.runWithNewBundle</a:t>
            </a:r>
            <a:r>
              <a:rPr lang="en-US" sz="1600" b="1" dirty="0" bmk="">
                <a:solidFill>
                  <a:srgbClr val="000000"/>
                </a:solidFill>
                <a:latin typeface="Courier New" pitchFamily="49" charset="0"/>
                <a:cs typeface="Courier New" pitchFamily="49" charset="0"/>
              </a:rPr>
              <a:t>(\newBundle -&gt; { </a:t>
            </a:r>
            <a:br>
              <a:rPr lang="en-US" sz="1600" b="1" dirty="0" bmk="">
                <a:solidFill>
                  <a:srgbClr val="000000"/>
                </a:solidFill>
                <a:latin typeface="Courier New" pitchFamily="49" charset="0"/>
                <a:cs typeface="Courier New" pitchFamily="49" charset="0"/>
              </a:rPr>
            </a:br>
            <a:r>
              <a:rPr lang="en-US" sz="1600" b="1" dirty="0" bmk="">
                <a:solidFill>
                  <a:srgbClr val="000000"/>
                </a:solidFill>
                <a:latin typeface="Courier New" pitchFamily="49" charset="0"/>
                <a:cs typeface="Courier New" pitchFamily="49" charset="0"/>
              </a:rPr>
              <a:t>  2     </a:t>
            </a:r>
            <a:r>
              <a:rPr lang="en-US" sz="1600" b="1" dirty="0" bmk="">
                <a:solidFill>
                  <a:srgbClr val="000080"/>
                </a:solidFill>
                <a:latin typeface="Courier New" pitchFamily="49" charset="0"/>
                <a:cs typeface="Courier New" pitchFamily="49" charset="0"/>
              </a:rPr>
              <a:t>var </a:t>
            </a:r>
            <a:r>
              <a:rPr lang="en-US" sz="1600" b="1" dirty="0" err="1" bmk="">
                <a:solidFill>
                  <a:srgbClr val="000000"/>
                </a:solidFill>
                <a:latin typeface="Courier New" pitchFamily="49" charset="0"/>
                <a:cs typeface="Courier New" pitchFamily="49" charset="0"/>
              </a:rPr>
              <a:t>newEntity</a:t>
            </a:r>
            <a:r>
              <a:rPr lang="en-US" sz="1600" b="1" dirty="0" bmk="">
                <a:solidFill>
                  <a:srgbClr val="000000"/>
                </a:solidFill>
                <a:latin typeface="Courier New" pitchFamily="49" charset="0"/>
                <a:cs typeface="Courier New" pitchFamily="49" charset="0"/>
              </a:rPr>
              <a:t> = </a:t>
            </a:r>
            <a:r>
              <a:rPr lang="en-US" sz="1600" b="1" dirty="0" bmk="">
                <a:solidFill>
                  <a:srgbClr val="000080"/>
                </a:solidFill>
                <a:latin typeface="Courier New" pitchFamily="49" charset="0"/>
                <a:cs typeface="Courier New" pitchFamily="49" charset="0"/>
              </a:rPr>
              <a:t>new </a:t>
            </a:r>
            <a:r>
              <a:rPr lang="en-US" sz="1600" b="1" dirty="0" bmk="">
                <a:solidFill>
                  <a:srgbClr val="000000"/>
                </a:solidFill>
                <a:latin typeface="Courier New" pitchFamily="49" charset="0"/>
                <a:cs typeface="Courier New" pitchFamily="49" charset="0"/>
              </a:rPr>
              <a:t>entity() </a:t>
            </a:r>
            <a:br>
              <a:rPr lang="en-US" sz="1600" b="1" dirty="0" bmk="">
                <a:solidFill>
                  <a:srgbClr val="000000"/>
                </a:solidFill>
                <a:latin typeface="Courier New" pitchFamily="49" charset="0"/>
                <a:cs typeface="Courier New" pitchFamily="49" charset="0"/>
              </a:rPr>
            </a:br>
            <a:r>
              <a:rPr lang="en-US" sz="1600" b="1" dirty="0" bmk="">
                <a:solidFill>
                  <a:srgbClr val="000000"/>
                </a:solidFill>
                <a:latin typeface="Courier New" pitchFamily="49" charset="0"/>
                <a:cs typeface="Courier New" pitchFamily="49" charset="0"/>
              </a:rPr>
              <a:t>  3     </a:t>
            </a:r>
            <a:r>
              <a:rPr lang="en-US" sz="1600" b="1" dirty="0" err="1" bmk="">
                <a:solidFill>
                  <a:srgbClr val="000000"/>
                </a:solidFill>
                <a:latin typeface="Courier New" pitchFamily="49" charset="0"/>
                <a:cs typeface="Courier New" pitchFamily="49" charset="0"/>
              </a:rPr>
              <a:t>newEntity</a:t>
            </a:r>
            <a:r>
              <a:rPr lang="en-US" sz="1600" b="1" dirty="0" bmk="">
                <a:solidFill>
                  <a:srgbClr val="000000"/>
                </a:solidFill>
                <a:latin typeface="Courier New" pitchFamily="49" charset="0"/>
                <a:cs typeface="Courier New" pitchFamily="49" charset="0"/>
              </a:rPr>
              <a:t> = </a:t>
            </a:r>
            <a:r>
              <a:rPr lang="en-US" sz="1600" b="1" dirty="0" err="1" bmk="">
                <a:solidFill>
                  <a:srgbClr val="000000"/>
                </a:solidFill>
                <a:latin typeface="Courier New" pitchFamily="49" charset="0"/>
                <a:cs typeface="Courier New" pitchFamily="49" charset="0"/>
              </a:rPr>
              <a:t>newBundle.add</a:t>
            </a:r>
            <a:r>
              <a:rPr lang="en-US" sz="1600" b="1" dirty="0" bmk="">
                <a:solidFill>
                  <a:srgbClr val="000000"/>
                </a:solidFill>
                <a:latin typeface="Courier New" pitchFamily="49" charset="0"/>
                <a:cs typeface="Courier New" pitchFamily="49" charset="0"/>
              </a:rPr>
              <a:t>(</a:t>
            </a:r>
            <a:r>
              <a:rPr lang="en-US" sz="1600" b="1" dirty="0" err="1" bmk="">
                <a:solidFill>
                  <a:srgbClr val="000000"/>
                </a:solidFill>
                <a:latin typeface="Courier New" pitchFamily="49" charset="0"/>
                <a:cs typeface="Courier New" pitchFamily="49" charset="0"/>
              </a:rPr>
              <a:t>newEntity</a:t>
            </a:r>
            <a:r>
              <a:rPr lang="en-US" sz="1600" b="1" dirty="0" bmk="">
                <a:solidFill>
                  <a:srgbClr val="000000"/>
                </a:solidFill>
                <a:latin typeface="Courier New" pitchFamily="49" charset="0"/>
                <a:cs typeface="Courier New" pitchFamily="49" charset="0"/>
              </a:rPr>
              <a:t>) </a:t>
            </a:r>
          </a:p>
          <a:p>
            <a:pPr fontAlgn="base">
              <a:spcBef>
                <a:spcPct val="0"/>
              </a:spcBef>
              <a:spcAft>
                <a:spcPct val="0"/>
              </a:spcAft>
            </a:pPr>
            <a:r>
              <a:rPr lang="en-US" sz="1600" b="1" dirty="0" bmk="">
                <a:solidFill>
                  <a:srgbClr val="000000"/>
                </a:solidFill>
                <a:latin typeface="Courier New" pitchFamily="49" charset="0"/>
                <a:cs typeface="Courier New" pitchFamily="49" charset="0"/>
              </a:rPr>
              <a:t>  4     newEntity.Field1 = </a:t>
            </a:r>
            <a:r>
              <a:rPr lang="en-US" sz="1600" b="1" dirty="0" bmk="">
                <a:solidFill>
                  <a:srgbClr val="008000"/>
                </a:solidFill>
                <a:latin typeface="Courier New" pitchFamily="49" charset="0"/>
                <a:cs typeface="Courier New" pitchFamily="49" charset="0"/>
              </a:rPr>
              <a:t>"value"</a:t>
            </a:r>
          </a:p>
          <a:p>
            <a:pPr fontAlgn="base">
              <a:spcBef>
                <a:spcPct val="0"/>
              </a:spcBef>
              <a:spcAft>
                <a:spcPct val="0"/>
              </a:spcAft>
            </a:pPr>
            <a:r>
              <a:rPr lang="en-US" sz="1600" b="1" dirty="0" bmk="">
                <a:solidFill>
                  <a:srgbClr val="008000"/>
                </a:solidFill>
                <a:latin typeface="Courier New" pitchFamily="49" charset="0"/>
                <a:cs typeface="Courier New" pitchFamily="49" charset="0"/>
              </a:rPr>
              <a:t>  </a:t>
            </a:r>
            <a:r>
              <a:rPr lang="en-US" sz="1600" b="1" dirty="0" bmk="">
                <a:solidFill>
                  <a:schemeClr val="bg1"/>
                </a:solidFill>
                <a:latin typeface="Courier New" pitchFamily="49" charset="0"/>
                <a:cs typeface="Courier New" pitchFamily="49" charset="0"/>
              </a:rPr>
              <a:t>5</a:t>
            </a:r>
            <a:r>
              <a:rPr lang="en-US" sz="1600" b="1" dirty="0" bmk="">
                <a:solidFill>
                  <a:srgbClr val="008000"/>
                </a:solidFill>
                <a:latin typeface="Courier New" pitchFamily="49" charset="0"/>
                <a:cs typeface="Courier New" pitchFamily="49" charset="0"/>
              </a:rPr>
              <a:t>     </a:t>
            </a:r>
            <a:r>
              <a:rPr lang="en-US" sz="1600" b="1" dirty="0" bmk="">
                <a:solidFill>
                  <a:srgbClr val="000000"/>
                </a:solidFill>
                <a:latin typeface="Courier New" pitchFamily="49" charset="0"/>
                <a:cs typeface="Courier New" pitchFamily="49" charset="0"/>
              </a:rPr>
              <a:t>}</a:t>
            </a:r>
            <a:r>
              <a:rPr lang="en-US" sz="1600" b="1" dirty="0">
                <a:solidFill>
                  <a:srgbClr val="000000"/>
                </a:solidFill>
                <a:latin typeface="Courier New" pitchFamily="49" charset="0"/>
                <a:cs typeface="Courier New" pitchFamily="49" charset="0"/>
              </a:rPr>
              <a:t>, </a:t>
            </a:r>
            <a:r>
              <a:rPr lang="en-US" sz="1600" b="1" dirty="0">
                <a:solidFill>
                  <a:srgbClr val="008000"/>
                </a:solidFill>
                <a:latin typeface="Courier New" pitchFamily="49" charset="0"/>
                <a:cs typeface="Courier New" pitchFamily="49" charset="0"/>
              </a:rPr>
              <a:t>"user"</a:t>
            </a:r>
            <a:r>
              <a:rPr lang="en-US" sz="1600" b="1" dirty="0">
                <a:solidFill>
                  <a:srgbClr val="000000"/>
                </a:solidFill>
                <a:latin typeface="Courier New" pitchFamily="49" charset="0"/>
                <a:cs typeface="Courier New" pitchFamily="49" charset="0"/>
              </a:rPr>
              <a:t>)</a:t>
            </a:r>
            <a:r>
              <a:rPr lang="en-US" sz="1600" b="1" dirty="0">
                <a:latin typeface="Courier New" pitchFamily="49" charset="0"/>
                <a:cs typeface="Courier New" pitchFamily="49" charset="0"/>
              </a:rPr>
              <a:t> </a:t>
            </a:r>
          </a:p>
        </p:txBody>
      </p:sp>
    </p:spTree>
    <p:extLst>
      <p:ext uri="{BB962C8B-B14F-4D97-AF65-F5344CB8AC3E}">
        <p14:creationId xmlns:p14="http://schemas.microsoft.com/office/powerpoint/2010/main" val="3639802018"/>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 Line Numbers Wide"/>
          <p:cNvSpPr/>
          <p:nvPr/>
        </p:nvSpPr>
        <p:spPr bwMode="auto">
          <a:xfrm>
            <a:off x="1828800" y="914398"/>
            <a:ext cx="586740" cy="3657602"/>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2" name="Title 1"/>
          <p:cNvSpPr>
            <a:spLocks noGrp="1"/>
          </p:cNvSpPr>
          <p:nvPr>
            <p:ph type="title"/>
          </p:nvPr>
        </p:nvSpPr>
        <p:spPr/>
        <p:txBody>
          <a:bodyPr/>
          <a:lstStyle/>
          <a:p>
            <a:r>
              <a:rPr lang="en-US" dirty="0"/>
              <a:t>New entity and foreign key (1)</a:t>
            </a:r>
          </a:p>
        </p:txBody>
      </p:sp>
      <p:sp>
        <p:nvSpPr>
          <p:cNvPr id="3" name="Content Placeholder 2"/>
          <p:cNvSpPr>
            <a:spLocks noGrp="1"/>
          </p:cNvSpPr>
          <p:nvPr>
            <p:ph idx="1"/>
          </p:nvPr>
        </p:nvSpPr>
        <p:spPr>
          <a:xfrm>
            <a:off x="2043113" y="4648200"/>
            <a:ext cx="8318500" cy="1752600"/>
          </a:xfrm>
        </p:spPr>
        <p:txBody>
          <a:bodyPr/>
          <a:lstStyle/>
          <a:p>
            <a:r>
              <a:rPr lang="en-US" dirty="0"/>
              <a:t>Line 11: Sets the foreign key for note to contact</a:t>
            </a:r>
          </a:p>
          <a:p>
            <a:r>
              <a:rPr lang="en-US" dirty="0"/>
              <a:t>Line 13: Note needs to be in a writable bundle</a:t>
            </a:r>
          </a:p>
          <a:p>
            <a:pPr lvl="1"/>
            <a:r>
              <a:rPr lang="en-US" dirty="0"/>
              <a:t>Not necessary to add note entity to newBundle since note is already in the newBundle, but it is a good coding practice to do so</a:t>
            </a:r>
          </a:p>
          <a:p>
            <a:pPr lvl="1"/>
            <a:endParaRPr lang="en-US" dirty="0"/>
          </a:p>
          <a:p>
            <a:pPr lvl="1"/>
            <a:endParaRPr lang="en-US" dirty="0"/>
          </a:p>
        </p:txBody>
      </p:sp>
      <p:sp>
        <p:nvSpPr>
          <p:cNvPr id="4" name="Rectangle 1"/>
          <p:cNvSpPr>
            <a:spLocks noChangeArrowheads="1"/>
          </p:cNvSpPr>
          <p:nvPr/>
        </p:nvSpPr>
        <p:spPr bwMode="auto">
          <a:xfrm>
            <a:off x="1935480" y="914400"/>
            <a:ext cx="858012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fontAlgn="base">
              <a:spcBef>
                <a:spcPct val="0"/>
              </a:spcBef>
              <a:spcAft>
                <a:spcPct val="0"/>
              </a:spcAft>
            </a:pPr>
            <a:r>
              <a:rPr lang="en-US" sz="1600" b="1" dirty="0">
                <a:solidFill>
                  <a:srgbClr val="000000"/>
                </a:solidFill>
                <a:latin typeface="Courier New" pitchFamily="49" charset="0"/>
                <a:cs typeface="Courier New" pitchFamily="49" charset="0"/>
              </a:rPr>
              <a:t>  1</a:t>
            </a:r>
            <a:r>
              <a:rPr lang="en-US" sz="1600" b="1" dirty="0" bmk="">
                <a:solidFill>
                  <a:srgbClr val="000000"/>
                </a:solidFill>
                <a:latin typeface="Courier New" pitchFamily="49" charset="0"/>
                <a:cs typeface="Courier New" pitchFamily="49" charset="0"/>
              </a:rPr>
              <a:t>  </a:t>
            </a:r>
            <a:r>
              <a:rPr lang="en-US" sz="1600" b="1" dirty="0" bmk="">
                <a:solidFill>
                  <a:srgbClr val="000080"/>
                </a:solidFill>
                <a:latin typeface="Courier New" pitchFamily="49" charset="0"/>
                <a:cs typeface="Courier New" pitchFamily="49" charset="0"/>
              </a:rPr>
              <a:t>uses </a:t>
            </a:r>
            <a:r>
              <a:rPr lang="en-US" sz="1600" b="1" dirty="0" err="1" bmk="">
                <a:solidFill>
                  <a:srgbClr val="000000"/>
                </a:solidFill>
                <a:latin typeface="Courier New" pitchFamily="49" charset="0"/>
                <a:cs typeface="Courier New" pitchFamily="49" charset="0"/>
              </a:rPr>
              <a:t>gw.transaction.Transaction</a:t>
            </a:r>
            <a:r>
              <a:rPr lang="en-US" sz="1600" b="1" dirty="0" bmk="">
                <a:solidFill>
                  <a:srgbClr val="000000"/>
                </a:solidFill>
                <a:latin typeface="Courier New" pitchFamily="49" charset="0"/>
                <a:cs typeface="Courier New" pitchFamily="49" charset="0"/>
              </a:rPr>
              <a:t> </a:t>
            </a:r>
            <a:br>
              <a:rPr lang="en-US" sz="1600" b="1" dirty="0" bmk="">
                <a:solidFill>
                  <a:srgbClr val="000000"/>
                </a:solidFill>
                <a:latin typeface="Courier New" pitchFamily="49" charset="0"/>
                <a:cs typeface="Courier New" pitchFamily="49" charset="0"/>
              </a:rPr>
            </a:br>
            <a:r>
              <a:rPr lang="en-US" sz="1600" b="1" dirty="0" bmk="">
                <a:solidFill>
                  <a:srgbClr val="000000"/>
                </a:solidFill>
                <a:latin typeface="Courier New" pitchFamily="49" charset="0"/>
                <a:cs typeface="Courier New" pitchFamily="49" charset="0"/>
              </a:rPr>
              <a:t>  2  </a:t>
            </a:r>
            <a:r>
              <a:rPr lang="en-US" sz="1600" b="1" dirty="0" bmk="">
                <a:solidFill>
                  <a:srgbClr val="000080"/>
                </a:solidFill>
                <a:latin typeface="Courier New" pitchFamily="49" charset="0"/>
                <a:cs typeface="Courier New" pitchFamily="49" charset="0"/>
              </a:rPr>
              <a:t>uses </a:t>
            </a:r>
            <a:r>
              <a:rPr lang="en-US" sz="1600" b="1" dirty="0" err="1" bmk="">
                <a:solidFill>
                  <a:srgbClr val="000000"/>
                </a:solidFill>
                <a:latin typeface="Courier New" pitchFamily="49" charset="0"/>
                <a:cs typeface="Courier New" pitchFamily="49" charset="0"/>
              </a:rPr>
              <a:t>gw.api.database.Query</a:t>
            </a:r>
            <a:r>
              <a:rPr lang="en-US" sz="1600" b="1" dirty="0" bmk="">
                <a:solidFill>
                  <a:srgbClr val="000000"/>
                </a:solidFill>
                <a:latin typeface="Courier New" pitchFamily="49" charset="0"/>
                <a:cs typeface="Courier New" pitchFamily="49" charset="0"/>
              </a:rPr>
              <a:t> </a:t>
            </a:r>
            <a:br>
              <a:rPr lang="en-US" sz="1600" b="1" dirty="0" bmk="">
                <a:solidFill>
                  <a:srgbClr val="000000"/>
                </a:solidFill>
                <a:latin typeface="Courier New" pitchFamily="49" charset="0"/>
                <a:cs typeface="Courier New" pitchFamily="49" charset="0"/>
              </a:rPr>
            </a:br>
            <a:r>
              <a:rPr lang="en-US" sz="1600" b="1" dirty="0" bmk="">
                <a:solidFill>
                  <a:srgbClr val="000000"/>
                </a:solidFill>
                <a:latin typeface="Courier New" pitchFamily="49" charset="0"/>
                <a:cs typeface="Courier New" pitchFamily="49" charset="0"/>
              </a:rPr>
              <a:t>  3 </a:t>
            </a:r>
          </a:p>
          <a:p>
            <a:pPr fontAlgn="base">
              <a:spcBef>
                <a:spcPct val="0"/>
              </a:spcBef>
              <a:spcAft>
                <a:spcPct val="0"/>
              </a:spcAft>
            </a:pPr>
            <a:r>
              <a:rPr lang="en-US" sz="1600" b="1" dirty="0" bmk="">
                <a:solidFill>
                  <a:srgbClr val="000000"/>
                </a:solidFill>
                <a:latin typeface="Courier New" pitchFamily="49" charset="0"/>
                <a:cs typeface="Courier New" pitchFamily="49" charset="0"/>
              </a:rPr>
              <a:t>  4  Transaction.runWithNewBundle(\newBundle -&gt; { </a:t>
            </a:r>
          </a:p>
          <a:p>
            <a:pPr fontAlgn="base">
              <a:spcBef>
                <a:spcPct val="0"/>
              </a:spcBef>
              <a:spcAft>
                <a:spcPct val="0"/>
              </a:spcAft>
            </a:pPr>
            <a:r>
              <a:rPr lang="en-US" sz="1600" b="1" dirty="0" bmk="">
                <a:solidFill>
                  <a:srgbClr val="000000"/>
                </a:solidFill>
                <a:latin typeface="Courier New" pitchFamily="49" charset="0"/>
                <a:cs typeface="Courier New" pitchFamily="49" charset="0"/>
              </a:rPr>
              <a:t>  5    </a:t>
            </a:r>
            <a:r>
              <a:rPr lang="en-US" sz="1600" b="1" dirty="0" bmk="">
                <a:solidFill>
                  <a:srgbClr val="000080"/>
                </a:solidFill>
                <a:latin typeface="Courier New" pitchFamily="49" charset="0"/>
                <a:cs typeface="Courier New" pitchFamily="49" charset="0"/>
              </a:rPr>
              <a:t>var </a:t>
            </a:r>
            <a:r>
              <a:rPr lang="en-US" sz="1600" b="1" dirty="0" bmk="">
                <a:solidFill>
                  <a:srgbClr val="000000"/>
                </a:solidFill>
                <a:latin typeface="Courier New" pitchFamily="49" charset="0"/>
                <a:cs typeface="Courier New" pitchFamily="49" charset="0"/>
              </a:rPr>
              <a:t>contact = </a:t>
            </a:r>
            <a:r>
              <a:rPr lang="en-US" sz="1600" b="1" dirty="0" err="1" bmk="">
                <a:solidFill>
                  <a:srgbClr val="000000"/>
                </a:solidFill>
                <a:latin typeface="Courier New" pitchFamily="49" charset="0"/>
                <a:cs typeface="Courier New" pitchFamily="49" charset="0"/>
              </a:rPr>
              <a:t>Query.make</a:t>
            </a:r>
            <a:r>
              <a:rPr lang="en-US" sz="1600" b="1" dirty="0" bmk="">
                <a:solidFill>
                  <a:srgbClr val="000000"/>
                </a:solidFill>
                <a:latin typeface="Courier New" pitchFamily="49" charset="0"/>
                <a:cs typeface="Courier New" pitchFamily="49" charset="0"/>
              </a:rPr>
              <a:t>(ABContact).select().first() </a:t>
            </a:r>
          </a:p>
          <a:p>
            <a:pPr fontAlgn="base">
              <a:spcBef>
                <a:spcPct val="0"/>
              </a:spcBef>
              <a:spcAft>
                <a:spcPct val="0"/>
              </a:spcAft>
            </a:pPr>
            <a:r>
              <a:rPr lang="en-US" sz="1600" b="1" dirty="0" bmk="">
                <a:solidFill>
                  <a:srgbClr val="000000"/>
                </a:solidFill>
                <a:latin typeface="Courier New" pitchFamily="49" charset="0"/>
                <a:cs typeface="Courier New" pitchFamily="49" charset="0"/>
              </a:rPr>
              <a:t>  6    </a:t>
            </a:r>
            <a:r>
              <a:rPr lang="en-US" sz="1600" b="1" dirty="0" bmk="">
                <a:solidFill>
                  <a:srgbClr val="000080"/>
                </a:solidFill>
                <a:latin typeface="Courier New" pitchFamily="49" charset="0"/>
                <a:cs typeface="Courier New" pitchFamily="49" charset="0"/>
              </a:rPr>
              <a:t>var </a:t>
            </a:r>
            <a:r>
              <a:rPr lang="en-US" sz="1600" b="1" dirty="0" bmk="">
                <a:solidFill>
                  <a:srgbClr val="000000"/>
                </a:solidFill>
                <a:latin typeface="Courier New" pitchFamily="49" charset="0"/>
                <a:cs typeface="Courier New" pitchFamily="49" charset="0"/>
              </a:rPr>
              <a:t>note = </a:t>
            </a:r>
            <a:r>
              <a:rPr lang="en-US" sz="1600" b="1" dirty="0" bmk="">
                <a:solidFill>
                  <a:srgbClr val="000080"/>
                </a:solidFill>
                <a:latin typeface="Courier New" pitchFamily="49" charset="0"/>
                <a:cs typeface="Courier New" pitchFamily="49" charset="0"/>
              </a:rPr>
              <a:t>new </a:t>
            </a:r>
            <a:r>
              <a:rPr lang="en-US" sz="1600" b="1" dirty="0" err="1" bmk="">
                <a:solidFill>
                  <a:srgbClr val="000000"/>
                </a:solidFill>
                <a:latin typeface="Courier New" pitchFamily="49" charset="0"/>
                <a:cs typeface="Courier New" pitchFamily="49" charset="0"/>
              </a:rPr>
              <a:t>ContactNote</a:t>
            </a:r>
            <a:r>
              <a:rPr lang="en-US" sz="1600" b="1" dirty="0" bmk="">
                <a:solidFill>
                  <a:srgbClr val="000000"/>
                </a:solidFill>
                <a:latin typeface="Courier New" pitchFamily="49" charset="0"/>
                <a:cs typeface="Courier New" pitchFamily="49" charset="0"/>
              </a:rPr>
              <a:t>(){ </a:t>
            </a:r>
          </a:p>
          <a:p>
            <a:pPr fontAlgn="base">
              <a:spcBef>
                <a:spcPct val="0"/>
              </a:spcBef>
              <a:spcAft>
                <a:spcPct val="0"/>
              </a:spcAft>
            </a:pPr>
            <a:r>
              <a:rPr lang="en-US" sz="1600" b="1" dirty="0" bmk="">
                <a:solidFill>
                  <a:srgbClr val="000000"/>
                </a:solidFill>
                <a:latin typeface="Courier New" pitchFamily="49" charset="0"/>
                <a:cs typeface="Courier New" pitchFamily="49" charset="0"/>
              </a:rPr>
              <a:t>  7        :Subject = </a:t>
            </a:r>
            <a:r>
              <a:rPr lang="en-US" sz="1600" b="1" dirty="0" bmk="">
                <a:solidFill>
                  <a:srgbClr val="008000"/>
                </a:solidFill>
                <a:latin typeface="Courier New" pitchFamily="49" charset="0"/>
                <a:cs typeface="Courier New" pitchFamily="49" charset="0"/>
              </a:rPr>
              <a:t>"Text subject"</a:t>
            </a:r>
            <a:r>
              <a:rPr lang="en-US" sz="1600" b="1" dirty="0" bmk="">
                <a:solidFill>
                  <a:srgbClr val="000000"/>
                </a:solidFill>
                <a:latin typeface="Courier New" pitchFamily="49" charset="0"/>
                <a:cs typeface="Courier New" pitchFamily="49" charset="0"/>
              </a:rPr>
              <a:t>, </a:t>
            </a:r>
          </a:p>
          <a:p>
            <a:pPr fontAlgn="base">
              <a:spcBef>
                <a:spcPct val="0"/>
              </a:spcBef>
              <a:spcAft>
                <a:spcPct val="0"/>
              </a:spcAft>
            </a:pPr>
            <a:r>
              <a:rPr lang="en-US" sz="1600" b="1" dirty="0" bmk="">
                <a:solidFill>
                  <a:srgbClr val="000000"/>
                </a:solidFill>
                <a:latin typeface="Courier New" pitchFamily="49" charset="0"/>
                <a:cs typeface="Courier New" pitchFamily="49" charset="0"/>
              </a:rPr>
              <a:t>  8        :Body = </a:t>
            </a:r>
            <a:r>
              <a:rPr lang="en-US" sz="1600" b="1" dirty="0" bmk="">
                <a:solidFill>
                  <a:srgbClr val="008000"/>
                </a:solidFill>
                <a:latin typeface="Courier New" pitchFamily="49" charset="0"/>
                <a:cs typeface="Courier New" pitchFamily="49" charset="0"/>
              </a:rPr>
              <a:t>"Text body"</a:t>
            </a:r>
            <a:r>
              <a:rPr lang="en-US" sz="1600" b="1" dirty="0" bmk="">
                <a:solidFill>
                  <a:srgbClr val="000000"/>
                </a:solidFill>
                <a:latin typeface="Courier New" pitchFamily="49" charset="0"/>
                <a:cs typeface="Courier New" pitchFamily="49" charset="0"/>
              </a:rPr>
              <a:t>, </a:t>
            </a:r>
          </a:p>
          <a:p>
            <a:pPr fontAlgn="base">
              <a:spcBef>
                <a:spcPct val="0"/>
              </a:spcBef>
              <a:spcAft>
                <a:spcPct val="0"/>
              </a:spcAft>
            </a:pPr>
            <a:r>
              <a:rPr lang="en-US" sz="1600" b="1" dirty="0" bmk="">
                <a:solidFill>
                  <a:srgbClr val="000000"/>
                </a:solidFill>
                <a:latin typeface="Courier New" pitchFamily="49" charset="0"/>
                <a:cs typeface="Courier New" pitchFamily="49" charset="0"/>
              </a:rPr>
              <a:t>  9        :</a:t>
            </a:r>
            <a:r>
              <a:rPr lang="en-US" sz="1600" b="1" dirty="0" err="1" bmk="">
                <a:solidFill>
                  <a:srgbClr val="000000"/>
                </a:solidFill>
                <a:latin typeface="Courier New" pitchFamily="49" charset="0"/>
                <a:cs typeface="Courier New" pitchFamily="49" charset="0"/>
              </a:rPr>
              <a:t>ContactNoteType</a:t>
            </a:r>
            <a:r>
              <a:rPr lang="en-US" sz="1600" b="1" dirty="0" bmk="">
                <a:solidFill>
                  <a:srgbClr val="000000"/>
                </a:solidFill>
                <a:latin typeface="Courier New" pitchFamily="49" charset="0"/>
                <a:cs typeface="Courier New" pitchFamily="49" charset="0"/>
              </a:rPr>
              <a:t> = </a:t>
            </a:r>
            <a:r>
              <a:rPr lang="en-US" sz="1600" b="1" dirty="0" err="1" bmk="">
                <a:solidFill>
                  <a:srgbClr val="000000"/>
                </a:solidFill>
                <a:latin typeface="Courier New" pitchFamily="49" charset="0"/>
                <a:cs typeface="Courier New" pitchFamily="49" charset="0"/>
              </a:rPr>
              <a:t>ContactNoteType.TC_GENERAL</a:t>
            </a:r>
            <a:r>
              <a:rPr lang="en-US" sz="1600" b="1" dirty="0" bmk="">
                <a:solidFill>
                  <a:srgbClr val="000000"/>
                </a:solidFill>
                <a:latin typeface="Courier New" pitchFamily="49" charset="0"/>
                <a:cs typeface="Courier New" pitchFamily="49" charset="0"/>
              </a:rPr>
              <a:t>, </a:t>
            </a:r>
          </a:p>
          <a:p>
            <a:pPr fontAlgn="base">
              <a:spcBef>
                <a:spcPct val="0"/>
              </a:spcBef>
              <a:spcAft>
                <a:spcPct val="0"/>
              </a:spcAft>
            </a:pPr>
            <a:r>
              <a:rPr lang="en-US" sz="1600" b="1" dirty="0" bmk="">
                <a:solidFill>
                  <a:srgbClr val="000000"/>
                </a:solidFill>
                <a:latin typeface="Courier New" pitchFamily="49" charset="0"/>
                <a:cs typeface="Courier New" pitchFamily="49" charset="0"/>
              </a:rPr>
              <a:t> 10        :</a:t>
            </a:r>
            <a:r>
              <a:rPr lang="en-US" sz="1600" b="1" dirty="0" err="1" bmk="">
                <a:solidFill>
                  <a:srgbClr val="000000"/>
                </a:solidFill>
                <a:latin typeface="Courier New" pitchFamily="49" charset="0"/>
                <a:cs typeface="Courier New" pitchFamily="49" charset="0"/>
              </a:rPr>
              <a:t>IsConfidential</a:t>
            </a:r>
            <a:r>
              <a:rPr lang="en-US" sz="1600" b="1" dirty="0" bmk="">
                <a:solidFill>
                  <a:srgbClr val="000000"/>
                </a:solidFill>
                <a:latin typeface="Courier New" pitchFamily="49" charset="0"/>
                <a:cs typeface="Courier New" pitchFamily="49" charset="0"/>
              </a:rPr>
              <a:t> = </a:t>
            </a:r>
            <a:r>
              <a:rPr lang="en-US" sz="1600" b="1" dirty="0" bmk="">
                <a:solidFill>
                  <a:srgbClr val="000080"/>
                </a:solidFill>
                <a:latin typeface="Courier New" pitchFamily="49" charset="0"/>
                <a:cs typeface="Courier New" pitchFamily="49" charset="0"/>
              </a:rPr>
              <a:t>true</a:t>
            </a:r>
            <a:r>
              <a:rPr lang="en-US" sz="1600" b="1" dirty="0" bmk="">
                <a:solidFill>
                  <a:srgbClr val="000000"/>
                </a:solidFill>
                <a:latin typeface="Courier New" pitchFamily="49" charset="0"/>
                <a:cs typeface="Courier New" pitchFamily="49" charset="0"/>
              </a:rPr>
              <a:t>, </a:t>
            </a:r>
          </a:p>
          <a:p>
            <a:pPr fontAlgn="base">
              <a:spcBef>
                <a:spcPct val="0"/>
              </a:spcBef>
              <a:spcAft>
                <a:spcPct val="0"/>
              </a:spcAft>
            </a:pPr>
            <a:r>
              <a:rPr lang="en-US" sz="1600" b="1" dirty="0" bmk="">
                <a:solidFill>
                  <a:srgbClr val="000000"/>
                </a:solidFill>
                <a:latin typeface="Courier New" pitchFamily="49" charset="0"/>
                <a:cs typeface="Courier New" pitchFamily="49" charset="0"/>
              </a:rPr>
              <a:t> 11        :ABContact = contact </a:t>
            </a:r>
          </a:p>
          <a:p>
            <a:pPr fontAlgn="base">
              <a:spcBef>
                <a:spcPct val="0"/>
              </a:spcBef>
              <a:spcAft>
                <a:spcPct val="0"/>
              </a:spcAft>
            </a:pPr>
            <a:r>
              <a:rPr lang="en-US" sz="1600" b="1" dirty="0" bmk="">
                <a:solidFill>
                  <a:srgbClr val="000000"/>
                </a:solidFill>
                <a:latin typeface="Courier New" pitchFamily="49" charset="0"/>
                <a:cs typeface="Courier New" pitchFamily="49" charset="0"/>
              </a:rPr>
              <a:t> 12        }</a:t>
            </a:r>
          </a:p>
          <a:p>
            <a:pPr fontAlgn="base">
              <a:spcBef>
                <a:spcPct val="0"/>
              </a:spcBef>
              <a:spcAft>
                <a:spcPct val="0"/>
              </a:spcAft>
            </a:pPr>
            <a:r>
              <a:rPr lang="en-US" sz="1600" b="1" dirty="0" bmk="">
                <a:solidFill>
                  <a:srgbClr val="000000"/>
                </a:solidFill>
                <a:latin typeface="Courier New" pitchFamily="49" charset="0"/>
                <a:cs typeface="Courier New" pitchFamily="49" charset="0"/>
              </a:rPr>
              <a:t> 13    note = </a:t>
            </a:r>
            <a:r>
              <a:rPr lang="en-US" sz="1600" b="1" dirty="0" err="1" bmk="">
                <a:solidFill>
                  <a:srgbClr val="000000"/>
                </a:solidFill>
                <a:latin typeface="Courier New" pitchFamily="49" charset="0"/>
                <a:cs typeface="Courier New" pitchFamily="49" charset="0"/>
              </a:rPr>
              <a:t>newBundle.add</a:t>
            </a:r>
            <a:r>
              <a:rPr lang="en-US" sz="1600" b="1" dirty="0" bmk="">
                <a:solidFill>
                  <a:srgbClr val="000000"/>
                </a:solidFill>
                <a:latin typeface="Courier New" pitchFamily="49" charset="0"/>
                <a:cs typeface="Courier New" pitchFamily="49" charset="0"/>
              </a:rPr>
              <a:t>(note) </a:t>
            </a:r>
          </a:p>
          <a:p>
            <a:pPr fontAlgn="base">
              <a:spcBef>
                <a:spcPct val="0"/>
              </a:spcBef>
              <a:spcAft>
                <a:spcPct val="0"/>
              </a:spcAft>
            </a:pPr>
            <a:r>
              <a:rPr lang="en-US" sz="1600" b="1" dirty="0" bmk="">
                <a:solidFill>
                  <a:srgbClr val="000000"/>
                </a:solidFill>
                <a:latin typeface="Courier New" pitchFamily="49" charset="0"/>
                <a:cs typeface="Courier New" pitchFamily="49" charset="0"/>
              </a:rPr>
              <a:t> 14  </a:t>
            </a:r>
            <a:r>
              <a:rPr lang="en-US" sz="1600" b="1" dirty="0">
                <a:solidFill>
                  <a:srgbClr val="000000"/>
                </a:solidFill>
                <a:latin typeface="Courier New" pitchFamily="49" charset="0"/>
                <a:cs typeface="Courier New" pitchFamily="49" charset="0"/>
              </a:rPr>
              <a:t>} ,</a:t>
            </a:r>
            <a:r>
              <a:rPr lang="en-US" sz="1600" b="1" dirty="0">
                <a:solidFill>
                  <a:srgbClr val="008000"/>
                </a:solidFill>
                <a:latin typeface="Courier New" pitchFamily="49" charset="0"/>
                <a:cs typeface="Courier New" pitchFamily="49" charset="0"/>
              </a:rPr>
              <a:t>"su" </a:t>
            </a:r>
            <a:r>
              <a:rPr lang="en-US" sz="1600" b="1" dirty="0">
                <a:solidFill>
                  <a:srgbClr val="000000"/>
                </a:solidFill>
                <a:latin typeface="Courier New" pitchFamily="49" charset="0"/>
                <a:cs typeface="Courier New" pitchFamily="49" charset="0"/>
              </a:rPr>
              <a:t>)</a:t>
            </a:r>
            <a:r>
              <a:rPr lang="en-US" sz="1600" b="1" dirty="0">
                <a:latin typeface="Courier New" pitchFamily="49" charset="0"/>
                <a:cs typeface="Courier New" pitchFamily="49" charset="0"/>
              </a:rPr>
              <a:t> </a:t>
            </a:r>
          </a:p>
        </p:txBody>
      </p:sp>
    </p:spTree>
    <p:extLst>
      <p:ext uri="{BB962C8B-B14F-4D97-AF65-F5344CB8AC3E}">
        <p14:creationId xmlns:p14="http://schemas.microsoft.com/office/powerpoint/2010/main" val="2502249497"/>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 Line Numbers Wide"/>
          <p:cNvSpPr/>
          <p:nvPr/>
        </p:nvSpPr>
        <p:spPr bwMode="auto">
          <a:xfrm>
            <a:off x="1828800" y="914400"/>
            <a:ext cx="586740" cy="36576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2" name="Title 1"/>
          <p:cNvSpPr>
            <a:spLocks noGrp="1"/>
          </p:cNvSpPr>
          <p:nvPr>
            <p:ph type="title"/>
          </p:nvPr>
        </p:nvSpPr>
        <p:spPr/>
        <p:txBody>
          <a:bodyPr/>
          <a:lstStyle/>
          <a:p>
            <a:r>
              <a:rPr lang="en-US" dirty="0"/>
              <a:t>New entity and array backing foreign key</a:t>
            </a:r>
          </a:p>
        </p:txBody>
      </p:sp>
      <p:sp>
        <p:nvSpPr>
          <p:cNvPr id="3" name="Content Placeholder 2"/>
          <p:cNvSpPr>
            <a:spLocks noGrp="1"/>
          </p:cNvSpPr>
          <p:nvPr>
            <p:ph idx="1"/>
          </p:nvPr>
        </p:nvSpPr>
        <p:spPr>
          <a:xfrm>
            <a:off x="2043113" y="4648200"/>
            <a:ext cx="8318500" cy="1752600"/>
          </a:xfrm>
        </p:spPr>
        <p:txBody>
          <a:bodyPr/>
          <a:lstStyle/>
          <a:p>
            <a:r>
              <a:rPr lang="en-US" dirty="0"/>
              <a:t>Line 12: Note needs to be in a writable bundle</a:t>
            </a:r>
          </a:p>
          <a:p>
            <a:pPr lvl="1"/>
            <a:r>
              <a:rPr lang="en-US" dirty="0"/>
              <a:t>Not necessary to add note entity to newBundle since note is already in the newBundle, but it is a good coding practice to do so</a:t>
            </a:r>
          </a:p>
          <a:p>
            <a:r>
              <a:rPr lang="en-US" dirty="0"/>
              <a:t>Line 13: Sets the foreign key for note to contact</a:t>
            </a:r>
          </a:p>
          <a:p>
            <a:pPr lvl="1"/>
            <a:r>
              <a:rPr lang="en-US" dirty="0"/>
              <a:t>Eliminates need to define foreign key</a:t>
            </a:r>
          </a:p>
          <a:p>
            <a:pPr lvl="1"/>
            <a:endParaRPr lang="en-US" dirty="0"/>
          </a:p>
        </p:txBody>
      </p:sp>
      <p:sp>
        <p:nvSpPr>
          <p:cNvPr id="6" name="rec Code"/>
          <p:cNvSpPr>
            <a:spLocks noChangeArrowheads="1"/>
          </p:cNvSpPr>
          <p:nvPr/>
        </p:nvSpPr>
        <p:spPr bwMode="auto">
          <a:xfrm>
            <a:off x="1935480" y="914400"/>
            <a:ext cx="8650224"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Autofit/>
          </a:bodyPr>
          <a:lstStyle/>
          <a:p>
            <a:pPr fontAlgn="base">
              <a:spcBef>
                <a:spcPct val="0"/>
              </a:spcBef>
              <a:spcAft>
                <a:spcPct val="0"/>
              </a:spcAft>
            </a:pPr>
            <a:r>
              <a:rPr lang="en-US" sz="1600" b="1" dirty="0">
                <a:solidFill>
                  <a:srgbClr val="000000"/>
                </a:solidFill>
                <a:latin typeface="Courier New" pitchFamily="49" charset="0"/>
                <a:cs typeface="Courier New" pitchFamily="49" charset="0"/>
              </a:rPr>
              <a:t>  1</a:t>
            </a:r>
            <a:r>
              <a:rPr lang="en-US" sz="1600" b="1" dirty="0" bmk="">
                <a:solidFill>
                  <a:srgbClr val="000000"/>
                </a:solidFill>
                <a:latin typeface="Courier New" pitchFamily="49" charset="0"/>
                <a:cs typeface="Courier New" pitchFamily="49" charset="0"/>
              </a:rPr>
              <a:t>  </a:t>
            </a:r>
            <a:r>
              <a:rPr lang="en-US" sz="1600" b="1" dirty="0" bmk="">
                <a:solidFill>
                  <a:srgbClr val="000080"/>
                </a:solidFill>
                <a:latin typeface="Courier New" pitchFamily="49" charset="0"/>
                <a:cs typeface="Courier New" pitchFamily="49" charset="0"/>
              </a:rPr>
              <a:t>uses </a:t>
            </a:r>
            <a:r>
              <a:rPr lang="en-US" sz="1600" b="1" dirty="0" err="1" bmk="">
                <a:solidFill>
                  <a:srgbClr val="000000"/>
                </a:solidFill>
                <a:latin typeface="Courier New" pitchFamily="49" charset="0"/>
                <a:cs typeface="Courier New" pitchFamily="49" charset="0"/>
              </a:rPr>
              <a:t>gw.transaction.Transaction</a:t>
            </a:r>
            <a:r>
              <a:rPr lang="en-US" sz="1600" b="1" dirty="0" bmk="">
                <a:solidFill>
                  <a:srgbClr val="000000"/>
                </a:solidFill>
                <a:latin typeface="Courier New" pitchFamily="49" charset="0"/>
                <a:cs typeface="Courier New" pitchFamily="49" charset="0"/>
              </a:rPr>
              <a:t> </a:t>
            </a:r>
            <a:br>
              <a:rPr lang="en-US" sz="1600" b="1" dirty="0" bmk="">
                <a:solidFill>
                  <a:srgbClr val="000000"/>
                </a:solidFill>
                <a:latin typeface="Courier New" pitchFamily="49" charset="0"/>
                <a:cs typeface="Courier New" pitchFamily="49" charset="0"/>
              </a:rPr>
            </a:br>
            <a:r>
              <a:rPr lang="en-US" sz="1600" b="1" dirty="0" bmk="">
                <a:solidFill>
                  <a:srgbClr val="000000"/>
                </a:solidFill>
                <a:latin typeface="Courier New" pitchFamily="49" charset="0"/>
                <a:cs typeface="Courier New" pitchFamily="49" charset="0"/>
              </a:rPr>
              <a:t>  2  </a:t>
            </a:r>
            <a:r>
              <a:rPr lang="en-US" sz="1600" b="1" dirty="0" bmk="">
                <a:solidFill>
                  <a:srgbClr val="000080"/>
                </a:solidFill>
                <a:latin typeface="Courier New" pitchFamily="49" charset="0"/>
                <a:cs typeface="Courier New" pitchFamily="49" charset="0"/>
              </a:rPr>
              <a:t>uses </a:t>
            </a:r>
            <a:r>
              <a:rPr lang="en-US" sz="1600" b="1" dirty="0" err="1" bmk="">
                <a:solidFill>
                  <a:srgbClr val="000000"/>
                </a:solidFill>
                <a:latin typeface="Courier New" pitchFamily="49" charset="0"/>
                <a:cs typeface="Courier New" pitchFamily="49" charset="0"/>
              </a:rPr>
              <a:t>gw.api.database.Query</a:t>
            </a:r>
            <a:r>
              <a:rPr lang="en-US" sz="1600" b="1" dirty="0" bmk="">
                <a:solidFill>
                  <a:srgbClr val="000000"/>
                </a:solidFill>
                <a:latin typeface="Courier New" pitchFamily="49" charset="0"/>
                <a:cs typeface="Courier New" pitchFamily="49" charset="0"/>
              </a:rPr>
              <a:t> </a:t>
            </a:r>
          </a:p>
          <a:p>
            <a:pPr fontAlgn="base">
              <a:spcBef>
                <a:spcPct val="0"/>
              </a:spcBef>
              <a:spcAft>
                <a:spcPct val="0"/>
              </a:spcAft>
            </a:pPr>
            <a:r>
              <a:rPr lang="en-US" sz="1600" b="1" dirty="0" bmk="">
                <a:solidFill>
                  <a:srgbClr val="000000"/>
                </a:solidFill>
                <a:latin typeface="Courier New" pitchFamily="49" charset="0"/>
                <a:cs typeface="Courier New" pitchFamily="49" charset="0"/>
              </a:rPr>
              <a:t>  3 </a:t>
            </a:r>
            <a:br>
              <a:rPr lang="en-US" sz="1600" b="1" dirty="0" bmk="">
                <a:solidFill>
                  <a:srgbClr val="000000"/>
                </a:solidFill>
                <a:latin typeface="Courier New" pitchFamily="49" charset="0"/>
                <a:cs typeface="Courier New" pitchFamily="49" charset="0"/>
              </a:rPr>
            </a:br>
            <a:r>
              <a:rPr lang="en-US" sz="1600" b="1" dirty="0" bmk="">
                <a:solidFill>
                  <a:srgbClr val="000000"/>
                </a:solidFill>
                <a:latin typeface="Courier New" pitchFamily="49" charset="0"/>
                <a:cs typeface="Courier New" pitchFamily="49" charset="0"/>
              </a:rPr>
              <a:t>  4  Transaction.runWithNewBundle(\bundle -&gt; { </a:t>
            </a:r>
            <a:br>
              <a:rPr lang="en-US" sz="1600" b="1" dirty="0" bmk="">
                <a:solidFill>
                  <a:srgbClr val="000000"/>
                </a:solidFill>
                <a:latin typeface="Courier New" pitchFamily="49" charset="0"/>
                <a:cs typeface="Courier New" pitchFamily="49" charset="0"/>
              </a:rPr>
            </a:br>
            <a:r>
              <a:rPr lang="en-US" sz="1600" b="1" dirty="0" bmk="">
                <a:solidFill>
                  <a:srgbClr val="000000"/>
                </a:solidFill>
                <a:latin typeface="Courier New" pitchFamily="49" charset="0"/>
                <a:cs typeface="Courier New" pitchFamily="49" charset="0"/>
              </a:rPr>
              <a:t>  5    </a:t>
            </a:r>
            <a:r>
              <a:rPr lang="en-US" sz="1600" b="1" dirty="0" bmk="">
                <a:solidFill>
                  <a:srgbClr val="000080"/>
                </a:solidFill>
                <a:latin typeface="Courier New" pitchFamily="49" charset="0"/>
                <a:cs typeface="Courier New" pitchFamily="49" charset="0"/>
              </a:rPr>
              <a:t>var </a:t>
            </a:r>
            <a:r>
              <a:rPr lang="en-US" sz="1600" b="1" dirty="0" bmk="">
                <a:solidFill>
                  <a:srgbClr val="000000"/>
                </a:solidFill>
                <a:latin typeface="Courier New" pitchFamily="49" charset="0"/>
                <a:cs typeface="Courier New" pitchFamily="49" charset="0"/>
              </a:rPr>
              <a:t>contact = </a:t>
            </a:r>
            <a:r>
              <a:rPr lang="en-US" sz="1600" b="1" dirty="0" err="1" bmk="">
                <a:solidFill>
                  <a:srgbClr val="000000"/>
                </a:solidFill>
                <a:latin typeface="Courier New" pitchFamily="49" charset="0"/>
                <a:cs typeface="Courier New" pitchFamily="49" charset="0"/>
              </a:rPr>
              <a:t>Query.make</a:t>
            </a:r>
            <a:r>
              <a:rPr lang="en-US" sz="1600" b="1" dirty="0" bmk="">
                <a:solidFill>
                  <a:srgbClr val="000000"/>
                </a:solidFill>
                <a:latin typeface="Courier New" pitchFamily="49" charset="0"/>
                <a:cs typeface="Courier New" pitchFamily="49" charset="0"/>
              </a:rPr>
              <a:t>(ABContact).select().first()</a:t>
            </a:r>
          </a:p>
          <a:p>
            <a:pPr fontAlgn="base">
              <a:spcBef>
                <a:spcPct val="0"/>
              </a:spcBef>
              <a:spcAft>
                <a:spcPct val="0"/>
              </a:spcAft>
            </a:pPr>
            <a:r>
              <a:rPr lang="en-US" sz="1600" b="1" dirty="0" bmk="">
                <a:solidFill>
                  <a:srgbClr val="000000"/>
                </a:solidFill>
                <a:latin typeface="Courier New" pitchFamily="49" charset="0"/>
                <a:cs typeface="Courier New" pitchFamily="49" charset="0"/>
              </a:rPr>
              <a:t>  6    </a:t>
            </a:r>
            <a:r>
              <a:rPr lang="en-US" sz="1600" b="1" dirty="0" bmk="">
                <a:solidFill>
                  <a:srgbClr val="000080"/>
                </a:solidFill>
                <a:latin typeface="Courier New" pitchFamily="49" charset="0"/>
                <a:cs typeface="Courier New" pitchFamily="49" charset="0"/>
              </a:rPr>
              <a:t>var </a:t>
            </a:r>
            <a:r>
              <a:rPr lang="en-US" sz="1600" b="1" dirty="0" bmk="">
                <a:solidFill>
                  <a:srgbClr val="000000"/>
                </a:solidFill>
                <a:latin typeface="Courier New" pitchFamily="49" charset="0"/>
                <a:cs typeface="Courier New" pitchFamily="49" charset="0"/>
              </a:rPr>
              <a:t>note = </a:t>
            </a:r>
            <a:r>
              <a:rPr lang="en-US" sz="1600" b="1" dirty="0" bmk="">
                <a:solidFill>
                  <a:srgbClr val="000080"/>
                </a:solidFill>
                <a:latin typeface="Courier New" pitchFamily="49" charset="0"/>
                <a:cs typeface="Courier New" pitchFamily="49" charset="0"/>
              </a:rPr>
              <a:t>new </a:t>
            </a:r>
            <a:r>
              <a:rPr lang="en-US" sz="1600" b="1" dirty="0" err="1" bmk="">
                <a:solidFill>
                  <a:srgbClr val="000000"/>
                </a:solidFill>
                <a:latin typeface="Courier New" pitchFamily="49" charset="0"/>
                <a:cs typeface="Courier New" pitchFamily="49" charset="0"/>
              </a:rPr>
              <a:t>ContactNote</a:t>
            </a:r>
            <a:r>
              <a:rPr lang="en-US" sz="1600" b="1" dirty="0" bmk="">
                <a:solidFill>
                  <a:srgbClr val="000000"/>
                </a:solidFill>
                <a:latin typeface="Courier New" pitchFamily="49" charset="0"/>
                <a:cs typeface="Courier New" pitchFamily="49" charset="0"/>
              </a:rPr>
              <a:t>() { </a:t>
            </a:r>
          </a:p>
          <a:p>
            <a:pPr fontAlgn="base">
              <a:spcBef>
                <a:spcPct val="0"/>
              </a:spcBef>
              <a:spcAft>
                <a:spcPct val="0"/>
              </a:spcAft>
            </a:pPr>
            <a:r>
              <a:rPr lang="en-US" sz="1600" b="1" dirty="0" bmk="">
                <a:solidFill>
                  <a:srgbClr val="000000"/>
                </a:solidFill>
                <a:latin typeface="Courier New" pitchFamily="49" charset="0"/>
                <a:cs typeface="Courier New" pitchFamily="49" charset="0"/>
              </a:rPr>
              <a:t>  7        :Subject = </a:t>
            </a:r>
            <a:r>
              <a:rPr lang="en-US" sz="1600" b="1" dirty="0" bmk="">
                <a:solidFill>
                  <a:srgbClr val="008000"/>
                </a:solidFill>
                <a:latin typeface="Courier New" pitchFamily="49" charset="0"/>
                <a:cs typeface="Courier New" pitchFamily="49" charset="0"/>
              </a:rPr>
              <a:t>"Text subject"</a:t>
            </a:r>
            <a:r>
              <a:rPr lang="en-US" sz="1600" b="1" dirty="0" bmk="">
                <a:solidFill>
                  <a:srgbClr val="000000"/>
                </a:solidFill>
                <a:latin typeface="Courier New" pitchFamily="49" charset="0"/>
                <a:cs typeface="Courier New" pitchFamily="49" charset="0"/>
              </a:rPr>
              <a:t>, </a:t>
            </a:r>
          </a:p>
          <a:p>
            <a:pPr fontAlgn="base">
              <a:spcBef>
                <a:spcPct val="0"/>
              </a:spcBef>
              <a:spcAft>
                <a:spcPct val="0"/>
              </a:spcAft>
            </a:pPr>
            <a:r>
              <a:rPr lang="en-US" sz="1600" b="1" dirty="0" bmk="">
                <a:solidFill>
                  <a:srgbClr val="000000"/>
                </a:solidFill>
                <a:latin typeface="Courier New" pitchFamily="49" charset="0"/>
                <a:cs typeface="Courier New" pitchFamily="49" charset="0"/>
              </a:rPr>
              <a:t>  8        :Body = </a:t>
            </a:r>
            <a:r>
              <a:rPr lang="en-US" sz="1600" b="1" dirty="0" bmk="">
                <a:solidFill>
                  <a:srgbClr val="008000"/>
                </a:solidFill>
                <a:latin typeface="Courier New" pitchFamily="49" charset="0"/>
                <a:cs typeface="Courier New" pitchFamily="49" charset="0"/>
              </a:rPr>
              <a:t>"Text body"</a:t>
            </a:r>
            <a:r>
              <a:rPr lang="en-US" sz="1600" b="1" dirty="0" bmk="">
                <a:solidFill>
                  <a:srgbClr val="000000"/>
                </a:solidFill>
                <a:latin typeface="Courier New" pitchFamily="49" charset="0"/>
                <a:cs typeface="Courier New" pitchFamily="49" charset="0"/>
              </a:rPr>
              <a:t>, </a:t>
            </a:r>
          </a:p>
          <a:p>
            <a:pPr fontAlgn="base">
              <a:spcBef>
                <a:spcPct val="0"/>
              </a:spcBef>
              <a:spcAft>
                <a:spcPct val="0"/>
              </a:spcAft>
            </a:pPr>
            <a:r>
              <a:rPr lang="en-US" sz="1600" b="1" dirty="0" bmk="">
                <a:solidFill>
                  <a:srgbClr val="000000"/>
                </a:solidFill>
                <a:latin typeface="Courier New" pitchFamily="49" charset="0"/>
                <a:cs typeface="Courier New" pitchFamily="49" charset="0"/>
              </a:rPr>
              <a:t>  9        :</a:t>
            </a:r>
            <a:r>
              <a:rPr lang="en-US" sz="1600" b="1" dirty="0" err="1" bmk="">
                <a:solidFill>
                  <a:srgbClr val="000000"/>
                </a:solidFill>
                <a:latin typeface="Courier New" pitchFamily="49" charset="0"/>
                <a:cs typeface="Courier New" pitchFamily="49" charset="0"/>
              </a:rPr>
              <a:t>ContactNoteType</a:t>
            </a:r>
            <a:r>
              <a:rPr lang="en-US" sz="1600" b="1" dirty="0" bmk="">
                <a:solidFill>
                  <a:srgbClr val="000000"/>
                </a:solidFill>
                <a:latin typeface="Courier New" pitchFamily="49" charset="0"/>
                <a:cs typeface="Courier New" pitchFamily="49" charset="0"/>
              </a:rPr>
              <a:t> = </a:t>
            </a:r>
            <a:r>
              <a:rPr lang="en-US" sz="1600" b="1" dirty="0" err="1" bmk="">
                <a:solidFill>
                  <a:srgbClr val="000000"/>
                </a:solidFill>
                <a:latin typeface="Courier New" pitchFamily="49" charset="0"/>
                <a:cs typeface="Courier New" pitchFamily="49" charset="0"/>
              </a:rPr>
              <a:t>ContactNoteType.TC_GENERAL</a:t>
            </a:r>
            <a:r>
              <a:rPr lang="en-US" sz="1600" b="1" dirty="0" bmk="">
                <a:solidFill>
                  <a:srgbClr val="000000"/>
                </a:solidFill>
                <a:latin typeface="Courier New" pitchFamily="49" charset="0"/>
                <a:cs typeface="Courier New" pitchFamily="49" charset="0"/>
              </a:rPr>
              <a:t>, </a:t>
            </a:r>
          </a:p>
          <a:p>
            <a:pPr fontAlgn="base">
              <a:spcBef>
                <a:spcPct val="0"/>
              </a:spcBef>
              <a:spcAft>
                <a:spcPct val="0"/>
              </a:spcAft>
            </a:pPr>
            <a:r>
              <a:rPr lang="en-US" sz="1600" b="1" dirty="0" bmk="">
                <a:solidFill>
                  <a:srgbClr val="000000"/>
                </a:solidFill>
                <a:latin typeface="Courier New" pitchFamily="49" charset="0"/>
                <a:cs typeface="Courier New" pitchFamily="49" charset="0"/>
              </a:rPr>
              <a:t> 10        :</a:t>
            </a:r>
            <a:r>
              <a:rPr lang="en-US" sz="1600" b="1" dirty="0" err="1" bmk="">
                <a:solidFill>
                  <a:srgbClr val="000000"/>
                </a:solidFill>
                <a:latin typeface="Courier New" pitchFamily="49" charset="0"/>
                <a:cs typeface="Courier New" pitchFamily="49" charset="0"/>
              </a:rPr>
              <a:t>IsConfidential</a:t>
            </a:r>
            <a:r>
              <a:rPr lang="en-US" sz="1600" b="1" dirty="0" bmk="">
                <a:solidFill>
                  <a:srgbClr val="000000"/>
                </a:solidFill>
                <a:latin typeface="Courier New" pitchFamily="49" charset="0"/>
                <a:cs typeface="Courier New" pitchFamily="49" charset="0"/>
              </a:rPr>
              <a:t> = </a:t>
            </a:r>
            <a:r>
              <a:rPr lang="en-US" sz="1600" b="1" dirty="0" bmk="">
                <a:solidFill>
                  <a:srgbClr val="000080"/>
                </a:solidFill>
                <a:latin typeface="Courier New" pitchFamily="49" charset="0"/>
                <a:cs typeface="Courier New" pitchFamily="49" charset="0"/>
              </a:rPr>
              <a:t>true</a:t>
            </a:r>
            <a:r>
              <a:rPr lang="en-US" sz="1600" b="1" dirty="0" bmk="">
                <a:solidFill>
                  <a:srgbClr val="000000"/>
                </a:solidFill>
                <a:latin typeface="Courier New" pitchFamily="49" charset="0"/>
                <a:cs typeface="Courier New" pitchFamily="49" charset="0"/>
              </a:rPr>
              <a:t> </a:t>
            </a:r>
          </a:p>
          <a:p>
            <a:pPr fontAlgn="base">
              <a:spcBef>
                <a:spcPct val="0"/>
              </a:spcBef>
              <a:spcAft>
                <a:spcPct val="0"/>
              </a:spcAft>
            </a:pPr>
            <a:r>
              <a:rPr lang="en-US" sz="1600" b="1" dirty="0" bmk="">
                <a:solidFill>
                  <a:srgbClr val="000000"/>
                </a:solidFill>
                <a:latin typeface="Courier New" pitchFamily="49" charset="0"/>
                <a:cs typeface="Courier New" pitchFamily="49" charset="0"/>
              </a:rPr>
              <a:t> 11        }</a:t>
            </a:r>
          </a:p>
          <a:p>
            <a:pPr fontAlgn="base">
              <a:spcBef>
                <a:spcPct val="0"/>
              </a:spcBef>
              <a:spcAft>
                <a:spcPct val="0"/>
              </a:spcAft>
            </a:pPr>
            <a:r>
              <a:rPr lang="en-US" sz="1600" b="1" dirty="0" bmk="">
                <a:solidFill>
                  <a:srgbClr val="000000"/>
                </a:solidFill>
                <a:latin typeface="Courier New" pitchFamily="49" charset="0"/>
                <a:cs typeface="Courier New" pitchFamily="49" charset="0"/>
              </a:rPr>
              <a:t> 12    note = </a:t>
            </a:r>
            <a:r>
              <a:rPr lang="en-US" sz="1600" b="1" dirty="0" err="1" bmk="">
                <a:solidFill>
                  <a:srgbClr val="000000"/>
                </a:solidFill>
                <a:latin typeface="Courier New" pitchFamily="49" charset="0"/>
                <a:cs typeface="Courier New" pitchFamily="49" charset="0"/>
              </a:rPr>
              <a:t>newBundle.add</a:t>
            </a:r>
            <a:r>
              <a:rPr lang="en-US" sz="1600" b="1" dirty="0" bmk="">
                <a:solidFill>
                  <a:srgbClr val="000000"/>
                </a:solidFill>
                <a:latin typeface="Courier New" pitchFamily="49" charset="0"/>
                <a:cs typeface="Courier New" pitchFamily="49" charset="0"/>
              </a:rPr>
              <a:t>(note) </a:t>
            </a:r>
          </a:p>
          <a:p>
            <a:pPr fontAlgn="base">
              <a:spcBef>
                <a:spcPct val="0"/>
              </a:spcBef>
              <a:spcAft>
                <a:spcPct val="0"/>
              </a:spcAft>
            </a:pPr>
            <a:r>
              <a:rPr lang="en-US" sz="1600" b="1" dirty="0" bmk="">
                <a:solidFill>
                  <a:srgbClr val="000000"/>
                </a:solidFill>
                <a:latin typeface="Courier New" pitchFamily="49" charset="0"/>
                <a:cs typeface="Courier New" pitchFamily="49" charset="0"/>
              </a:rPr>
              <a:t> 13    </a:t>
            </a:r>
            <a:r>
              <a:rPr lang="en-US" sz="1600" b="1" dirty="0" err="1" bmk="">
                <a:solidFill>
                  <a:srgbClr val="000000"/>
                </a:solidFill>
                <a:latin typeface="Courier New" pitchFamily="49" charset="0"/>
                <a:cs typeface="Courier New" pitchFamily="49" charset="0"/>
              </a:rPr>
              <a:t>contact.addToContactNotes</a:t>
            </a:r>
            <a:r>
              <a:rPr lang="en-US" sz="1600" b="1" dirty="0" bmk="">
                <a:solidFill>
                  <a:srgbClr val="000000"/>
                </a:solidFill>
                <a:latin typeface="Courier New" pitchFamily="49" charset="0"/>
                <a:cs typeface="Courier New" pitchFamily="49" charset="0"/>
              </a:rPr>
              <a:t>(note)</a:t>
            </a:r>
          </a:p>
          <a:p>
            <a:pPr fontAlgn="base">
              <a:spcBef>
                <a:spcPct val="0"/>
              </a:spcBef>
              <a:spcAft>
                <a:spcPct val="0"/>
              </a:spcAft>
            </a:pPr>
            <a:r>
              <a:rPr lang="en-US" sz="1600" b="1" dirty="0" bmk="">
                <a:solidFill>
                  <a:srgbClr val="000000"/>
                </a:solidFill>
                <a:latin typeface="Courier New" pitchFamily="49" charset="0"/>
                <a:cs typeface="Courier New" pitchFamily="49" charset="0"/>
              </a:rPr>
              <a:t> 14  </a:t>
            </a:r>
            <a:r>
              <a:rPr lang="en-US" sz="1600" b="1" dirty="0">
                <a:solidFill>
                  <a:srgbClr val="000000"/>
                </a:solidFill>
                <a:latin typeface="Courier New" pitchFamily="49" charset="0"/>
                <a:cs typeface="Courier New" pitchFamily="49" charset="0"/>
              </a:rPr>
              <a:t>} ,</a:t>
            </a:r>
            <a:r>
              <a:rPr lang="en-US" sz="1600" b="1" dirty="0">
                <a:solidFill>
                  <a:srgbClr val="008000"/>
                </a:solidFill>
                <a:latin typeface="Courier New" pitchFamily="49" charset="0"/>
                <a:cs typeface="Courier New" pitchFamily="49" charset="0"/>
              </a:rPr>
              <a:t>"su" </a:t>
            </a:r>
            <a:r>
              <a:rPr lang="en-US" sz="1600" b="1" dirty="0">
                <a:solidFill>
                  <a:srgbClr val="000000"/>
                </a:solidFill>
                <a:latin typeface="Courier New" pitchFamily="49" charset="0"/>
                <a:cs typeface="Courier New" pitchFamily="49" charset="0"/>
              </a:rPr>
              <a:t>)</a:t>
            </a:r>
          </a:p>
        </p:txBody>
      </p:sp>
    </p:spTree>
    <p:extLst>
      <p:ext uri="{BB962C8B-B14F-4D97-AF65-F5344CB8AC3E}">
        <p14:creationId xmlns:p14="http://schemas.microsoft.com/office/powerpoint/2010/main" val="4054818537"/>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Edit read-only and create new entity</a:t>
            </a:r>
          </a:p>
        </p:txBody>
      </p:sp>
      <p:sp>
        <p:nvSpPr>
          <p:cNvPr id="18" name="Content Placeholder 17"/>
          <p:cNvSpPr>
            <a:spLocks noGrp="1"/>
          </p:cNvSpPr>
          <p:nvPr>
            <p:ph idx="1"/>
          </p:nvPr>
        </p:nvSpPr>
        <p:spPr>
          <a:xfrm>
            <a:off x="2043113" y="4724400"/>
            <a:ext cx="8318500" cy="1676400"/>
          </a:xfrm>
        </p:spPr>
        <p:txBody>
          <a:bodyPr/>
          <a:lstStyle/>
          <a:p>
            <a:r>
              <a:rPr lang="en-US" dirty="0"/>
              <a:t>For entities already in writable bundle, create new entities and associate them with existing entities already in bundle</a:t>
            </a:r>
          </a:p>
          <a:p>
            <a:r>
              <a:rPr lang="en-US" dirty="0"/>
              <a:t>Eliminates need to define foreign key</a:t>
            </a:r>
          </a:p>
        </p:txBody>
      </p:sp>
      <p:grpSp>
        <p:nvGrpSpPr>
          <p:cNvPr id="22" name="icn New Bundle"/>
          <p:cNvGrpSpPr>
            <a:grpSpLocks noChangeAspect="1"/>
          </p:cNvGrpSpPr>
          <p:nvPr/>
        </p:nvGrpSpPr>
        <p:grpSpPr>
          <a:xfrm>
            <a:off x="7057738" y="1234848"/>
            <a:ext cx="1079815" cy="1188720"/>
            <a:chOff x="7509050" y="838200"/>
            <a:chExt cx="1344314" cy="1479898"/>
          </a:xfrm>
        </p:grpSpPr>
        <p:pic>
          <p:nvPicPr>
            <p:cNvPr id="2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9050" y="838200"/>
              <a:ext cx="1287626" cy="1479607"/>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 name="Picture 2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998" y="1693542"/>
              <a:ext cx="648366" cy="624556"/>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29" name="txtCode2"/>
          <p:cNvSpPr txBox="1">
            <a:spLocks noChangeArrowheads="1"/>
          </p:cNvSpPr>
          <p:nvPr/>
        </p:nvSpPr>
        <p:spPr bwMode="auto">
          <a:xfrm>
            <a:off x="4852572" y="1030817"/>
            <a:ext cx="360562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pitchFamily="34"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pPr eaLnBrk="0" fontAlgn="base" hangingPunct="0">
              <a:spcBef>
                <a:spcPct val="50000"/>
              </a:spcBef>
              <a:spcAft>
                <a:spcPct val="0"/>
              </a:spcAft>
              <a:buClr>
                <a:srgbClr val="0146AD"/>
              </a:buClr>
              <a:defRPr/>
            </a:pPr>
            <a:r>
              <a:rPr lang="en-US" sz="1600" kern="0" dirty="0" err="1">
                <a:solidFill>
                  <a:schemeClr val="bg1"/>
                </a:solidFill>
                <a:latin typeface="Courier New" pitchFamily="49" charset="0"/>
                <a:cs typeface="Courier New" pitchFamily="49" charset="0"/>
              </a:rPr>
              <a:t>newBundle.add</a:t>
            </a:r>
            <a:r>
              <a:rPr lang="en-US" sz="1600" kern="0" dirty="0">
                <a:solidFill>
                  <a:schemeClr val="bg1"/>
                </a:solidFill>
                <a:latin typeface="Courier New" pitchFamily="49" charset="0"/>
                <a:cs typeface="Courier New" pitchFamily="49" charset="0"/>
              </a:rPr>
              <a:t>(</a:t>
            </a:r>
            <a:r>
              <a:rPr lang="en-US" sz="1600" kern="0" dirty="0" err="1">
                <a:solidFill>
                  <a:schemeClr val="bg1"/>
                </a:solidFill>
                <a:latin typeface="Courier New" pitchFamily="49" charset="0"/>
                <a:cs typeface="Courier New" pitchFamily="49" charset="0"/>
              </a:rPr>
              <a:t>readOnlyBundle</a:t>
            </a:r>
            <a:r>
              <a:rPr lang="en-US" sz="1600" kern="0" dirty="0">
                <a:solidFill>
                  <a:schemeClr val="bg1"/>
                </a:solidFill>
                <a:latin typeface="Courier New" pitchFamily="49" charset="0"/>
                <a:cs typeface="Courier New" pitchFamily="49" charset="0"/>
              </a:rPr>
              <a:t>)</a:t>
            </a:r>
          </a:p>
        </p:txBody>
      </p:sp>
      <p:sp>
        <p:nvSpPr>
          <p:cNvPr id="30" name="txt Code1"/>
          <p:cNvSpPr txBox="1">
            <a:spLocks noChangeArrowheads="1"/>
          </p:cNvSpPr>
          <p:nvPr/>
        </p:nvSpPr>
        <p:spPr bwMode="auto">
          <a:xfrm>
            <a:off x="2070928" y="1014585"/>
            <a:ext cx="372027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pitchFamily="34"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pPr eaLnBrk="0" fontAlgn="base" hangingPunct="0">
              <a:spcBef>
                <a:spcPct val="50000"/>
              </a:spcBef>
              <a:spcAft>
                <a:spcPct val="0"/>
              </a:spcAft>
              <a:buClr>
                <a:srgbClr val="0146AD"/>
              </a:buClr>
              <a:defRPr/>
            </a:pPr>
            <a:r>
              <a:rPr lang="en-US" sz="1600" kern="0" dirty="0" err="1">
                <a:solidFill>
                  <a:schemeClr val="bg1"/>
                </a:solidFill>
                <a:latin typeface="Courier New" pitchFamily="49" charset="0"/>
                <a:cs typeface="Courier New" pitchFamily="49" charset="0"/>
              </a:rPr>
              <a:t>Query.Make</a:t>
            </a:r>
            <a:r>
              <a:rPr lang="en-US" sz="1600" kern="0" dirty="0">
                <a:solidFill>
                  <a:schemeClr val="bg1"/>
                </a:solidFill>
                <a:latin typeface="Courier New" pitchFamily="49" charset="0"/>
                <a:cs typeface="Courier New" pitchFamily="49" charset="0"/>
              </a:rPr>
              <a:t>(entity)…</a:t>
            </a:r>
          </a:p>
        </p:txBody>
      </p:sp>
      <p:sp>
        <p:nvSpPr>
          <p:cNvPr id="31" name="txtCurrentBundle"/>
          <p:cNvSpPr txBox="1">
            <a:spLocks noChangeArrowheads="1"/>
          </p:cNvSpPr>
          <p:nvPr/>
        </p:nvSpPr>
        <p:spPr bwMode="auto">
          <a:xfrm>
            <a:off x="2063024" y="2555558"/>
            <a:ext cx="95924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pitchFamily="34"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pPr algn="ctr" eaLnBrk="0" fontAlgn="base" hangingPunct="0">
              <a:spcBef>
                <a:spcPct val="50000"/>
              </a:spcBef>
              <a:spcAft>
                <a:spcPct val="0"/>
              </a:spcAft>
              <a:buClr>
                <a:srgbClr val="0146AD"/>
              </a:buClr>
              <a:defRPr/>
            </a:pPr>
            <a:r>
              <a:rPr lang="en-US" sz="1600" kern="0" dirty="0">
                <a:solidFill>
                  <a:schemeClr val="bg1"/>
                </a:solidFill>
                <a:latin typeface="+mj-lt"/>
                <a:cs typeface="Courier New" pitchFamily="49" charset="0"/>
              </a:rPr>
              <a:t>database</a:t>
            </a:r>
            <a:endParaRPr lang="en-US" sz="1600" kern="0" dirty="0">
              <a:solidFill>
                <a:schemeClr val="bg1"/>
              </a:solidFill>
              <a:latin typeface="+mj-lt"/>
            </a:endParaRPr>
          </a:p>
        </p:txBody>
      </p:sp>
      <p:sp>
        <p:nvSpPr>
          <p:cNvPr id="32" name="txt ReadOnlyBundle"/>
          <p:cNvSpPr txBox="1">
            <a:spLocks noChangeArrowheads="1"/>
          </p:cNvSpPr>
          <p:nvPr/>
        </p:nvSpPr>
        <p:spPr bwMode="auto">
          <a:xfrm>
            <a:off x="3964471" y="2555558"/>
            <a:ext cx="105533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pitchFamily="34"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pPr algn="ctr" eaLnBrk="0" fontAlgn="base" hangingPunct="0">
              <a:spcBef>
                <a:spcPct val="50000"/>
              </a:spcBef>
              <a:spcAft>
                <a:spcPct val="0"/>
              </a:spcAft>
              <a:buClr>
                <a:srgbClr val="0146AD"/>
              </a:buClr>
              <a:defRPr/>
            </a:pPr>
            <a:r>
              <a:rPr lang="en-US" sz="1600" kern="0" dirty="0">
                <a:solidFill>
                  <a:schemeClr val="bg1"/>
                </a:solidFill>
                <a:latin typeface="+mj-lt"/>
                <a:cs typeface="Courier New" pitchFamily="49" charset="0"/>
              </a:rPr>
              <a:t>Read-only</a:t>
            </a:r>
            <a:br>
              <a:rPr lang="en-US" sz="1600" kern="0" dirty="0">
                <a:solidFill>
                  <a:schemeClr val="bg1"/>
                </a:solidFill>
                <a:latin typeface="+mj-lt"/>
                <a:cs typeface="Courier New" pitchFamily="49" charset="0"/>
              </a:rPr>
            </a:br>
            <a:r>
              <a:rPr lang="en-US" sz="1600" kern="0" dirty="0">
                <a:solidFill>
                  <a:schemeClr val="bg1"/>
                </a:solidFill>
                <a:latin typeface="+mj-lt"/>
                <a:cs typeface="Courier New" pitchFamily="49" charset="0"/>
              </a:rPr>
              <a:t>Bundle</a:t>
            </a:r>
          </a:p>
        </p:txBody>
      </p:sp>
      <p:sp>
        <p:nvSpPr>
          <p:cNvPr id="33" name="txt NewBundle"/>
          <p:cNvSpPr txBox="1">
            <a:spLocks noChangeArrowheads="1"/>
          </p:cNvSpPr>
          <p:nvPr/>
        </p:nvSpPr>
        <p:spPr bwMode="auto">
          <a:xfrm>
            <a:off x="6939286" y="2555558"/>
            <a:ext cx="105533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defPPr>
              <a:defRPr lang="en-US"/>
            </a:defPPr>
            <a:lvl1pPr marR="0" lvl="0" indent="0" algn="ctr" eaLnBrk="0" fontAlgn="base" hangingPunct="0">
              <a:lnSpc>
                <a:spcPct val="100000"/>
              </a:lnSpc>
              <a:spcBef>
                <a:spcPct val="50000"/>
              </a:spcBef>
              <a:spcAft>
                <a:spcPct val="0"/>
              </a:spcAft>
              <a:buClr>
                <a:srgbClr val="0146AD"/>
              </a:buClr>
              <a:buSzTx/>
              <a:buFont typeface="Wingdings 3" pitchFamily="18" charset="2"/>
              <a:buNone/>
              <a:tabLst/>
              <a:defRPr kumimoji="0" sz="1600" b="1" i="0" u="none" strike="noStrike" kern="0" cap="none" spc="0" normalizeH="0" baseline="0">
                <a:ln>
                  <a:noFill/>
                </a:ln>
                <a:solidFill>
                  <a:schemeClr val="bg1"/>
                </a:solidFill>
                <a:effectLst/>
                <a:uLnTx/>
                <a:uFillTx/>
                <a:latin typeface="+mj-lt"/>
                <a:cs typeface="Courier New" pitchFamily="49"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r>
              <a:rPr lang="en-US" dirty="0"/>
              <a:t>New</a:t>
            </a:r>
            <a:br>
              <a:rPr lang="en-US" dirty="0"/>
            </a:br>
            <a:r>
              <a:rPr lang="en-US" dirty="0"/>
              <a:t>Bundle</a:t>
            </a:r>
          </a:p>
        </p:txBody>
      </p:sp>
      <p:sp>
        <p:nvSpPr>
          <p:cNvPr id="27" name="txt NewBundle"/>
          <p:cNvSpPr txBox="1">
            <a:spLocks noChangeArrowheads="1"/>
          </p:cNvSpPr>
          <p:nvPr/>
        </p:nvSpPr>
        <p:spPr bwMode="auto">
          <a:xfrm>
            <a:off x="9307870" y="3817559"/>
            <a:ext cx="105533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defPPr>
              <a:defRPr lang="en-US"/>
            </a:defPPr>
            <a:lvl1pPr marR="0" lvl="0" indent="0" algn="ctr" eaLnBrk="0" fontAlgn="base" hangingPunct="0">
              <a:lnSpc>
                <a:spcPct val="100000"/>
              </a:lnSpc>
              <a:spcBef>
                <a:spcPct val="50000"/>
              </a:spcBef>
              <a:spcAft>
                <a:spcPct val="0"/>
              </a:spcAft>
              <a:buClr>
                <a:srgbClr val="0146AD"/>
              </a:buClr>
              <a:buSzTx/>
              <a:buFont typeface="Wingdings 3" pitchFamily="18" charset="2"/>
              <a:buNone/>
              <a:tabLst/>
              <a:defRPr kumimoji="0" sz="1600" b="1" i="0" u="none" strike="noStrike" kern="0" cap="none" spc="0" normalizeH="0" baseline="0">
                <a:ln>
                  <a:noFill/>
                </a:ln>
                <a:solidFill>
                  <a:schemeClr val="bg1"/>
                </a:solidFill>
                <a:effectLst/>
                <a:uLnTx/>
                <a:uFillTx/>
                <a:latin typeface="+mj-lt"/>
                <a:cs typeface="Courier New" pitchFamily="49"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r>
              <a:rPr lang="en-US" dirty="0"/>
              <a:t>New </a:t>
            </a:r>
            <a:br>
              <a:rPr lang="en-US" dirty="0"/>
            </a:br>
            <a:r>
              <a:rPr lang="en-US" dirty="0"/>
              <a:t>Entity</a:t>
            </a:r>
          </a:p>
        </p:txBody>
      </p:sp>
      <p:sp>
        <p:nvSpPr>
          <p:cNvPr id="28" name="txtCode2"/>
          <p:cNvSpPr txBox="1">
            <a:spLocks noChangeArrowheads="1"/>
          </p:cNvSpPr>
          <p:nvPr/>
        </p:nvSpPr>
        <p:spPr bwMode="auto">
          <a:xfrm>
            <a:off x="4492136" y="3411380"/>
            <a:ext cx="41474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pitchFamily="34"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pPr eaLnBrk="0" fontAlgn="base" hangingPunct="0">
              <a:spcBef>
                <a:spcPct val="50000"/>
              </a:spcBef>
              <a:spcAft>
                <a:spcPct val="0"/>
              </a:spcAft>
              <a:buClr>
                <a:srgbClr val="0146AD"/>
              </a:buClr>
              <a:defRPr/>
            </a:pPr>
            <a:r>
              <a:rPr lang="en-US" sz="1600" kern="0" dirty="0" err="1">
                <a:solidFill>
                  <a:schemeClr val="bg1"/>
                </a:solidFill>
                <a:latin typeface="Courier New" pitchFamily="49" charset="0"/>
                <a:cs typeface="Courier New" pitchFamily="49" charset="0"/>
              </a:rPr>
              <a:t>entity.add</a:t>
            </a:r>
            <a:r>
              <a:rPr lang="en-US" sz="1600" kern="0" dirty="0">
                <a:solidFill>
                  <a:schemeClr val="bg1"/>
                </a:solidFill>
                <a:latin typeface="Courier New" pitchFamily="49" charset="0"/>
                <a:cs typeface="Courier New" pitchFamily="49" charset="0"/>
              </a:rPr>
              <a:t>To&lt;Name&gt;(</a:t>
            </a:r>
            <a:r>
              <a:rPr lang="en-US" sz="1600" kern="0" dirty="0" err="1">
                <a:solidFill>
                  <a:schemeClr val="bg1"/>
                </a:solidFill>
                <a:latin typeface="Courier New" pitchFamily="49" charset="0"/>
                <a:cs typeface="Courier New" pitchFamily="49" charset="0"/>
              </a:rPr>
              <a:t>newEntity</a:t>
            </a:r>
            <a:r>
              <a:rPr lang="en-US" sz="1600" kern="0" dirty="0">
                <a:solidFill>
                  <a:schemeClr val="bg1"/>
                </a:solidFill>
                <a:latin typeface="Courier New" pitchFamily="49" charset="0"/>
                <a:cs typeface="Courier New" pitchFamily="49" charset="0"/>
              </a:rPr>
              <a:t>)</a:t>
            </a:r>
          </a:p>
        </p:txBody>
      </p:sp>
      <p:sp>
        <p:nvSpPr>
          <p:cNvPr id="35" name="Right Arrow 34"/>
          <p:cNvSpPr/>
          <p:nvPr/>
        </p:nvSpPr>
        <p:spPr bwMode="auto">
          <a:xfrm>
            <a:off x="4918789" y="1646328"/>
            <a:ext cx="2214921" cy="365760"/>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pic>
        <p:nvPicPr>
          <p:cNvPr id="26" name="inc Bundle ReadOnl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42196" y="1253945"/>
            <a:ext cx="1208703" cy="128057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 name="Right Arrow 15"/>
          <p:cNvSpPr/>
          <p:nvPr/>
        </p:nvSpPr>
        <p:spPr bwMode="auto">
          <a:xfrm>
            <a:off x="2861388" y="1646328"/>
            <a:ext cx="1253412" cy="365760"/>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36" name="txt ReadOnlyBundle"/>
          <p:cNvSpPr txBox="1">
            <a:spLocks noChangeArrowheads="1"/>
          </p:cNvSpPr>
          <p:nvPr/>
        </p:nvSpPr>
        <p:spPr bwMode="auto">
          <a:xfrm>
            <a:off x="9307870" y="1803400"/>
            <a:ext cx="1055331"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pitchFamily="34"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pPr algn="ctr" eaLnBrk="0" fontAlgn="base" hangingPunct="0">
              <a:spcBef>
                <a:spcPct val="50000"/>
              </a:spcBef>
              <a:spcAft>
                <a:spcPct val="0"/>
              </a:spcAft>
              <a:buClr>
                <a:srgbClr val="0146AD"/>
              </a:buClr>
              <a:defRPr/>
            </a:pPr>
            <a:r>
              <a:rPr lang="en-US" sz="1600" kern="0" dirty="0">
                <a:solidFill>
                  <a:schemeClr val="bg1"/>
                </a:solidFill>
                <a:latin typeface="+mj-lt"/>
                <a:cs typeface="Courier New" pitchFamily="49" charset="0"/>
              </a:rPr>
              <a:t>Read-only</a:t>
            </a:r>
            <a:br>
              <a:rPr lang="en-US" sz="1600" kern="0" dirty="0">
                <a:solidFill>
                  <a:schemeClr val="bg1"/>
                </a:solidFill>
                <a:latin typeface="+mj-lt"/>
                <a:cs typeface="Courier New" pitchFamily="49" charset="0"/>
              </a:rPr>
            </a:br>
            <a:r>
              <a:rPr lang="en-US" sz="1600" kern="0" dirty="0">
                <a:solidFill>
                  <a:schemeClr val="bg1"/>
                </a:solidFill>
                <a:latin typeface="+mj-lt"/>
                <a:cs typeface="Courier New" pitchFamily="49" charset="0"/>
              </a:rPr>
              <a:t>becomes writable</a:t>
            </a:r>
          </a:p>
        </p:txBody>
      </p:sp>
      <p:pic>
        <p:nvPicPr>
          <p:cNvPr id="17"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1200" y="1309859"/>
            <a:ext cx="930966"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2" name="Elbow Connector 11"/>
          <p:cNvCxnSpPr>
            <a:stCxn id="26" idx="0"/>
            <a:endCxn id="34" idx="0"/>
          </p:cNvCxnSpPr>
          <p:nvPr/>
        </p:nvCxnSpPr>
        <p:spPr bwMode="auto">
          <a:xfrm rot="16200000" flipH="1">
            <a:off x="6438130" y="-537638"/>
            <a:ext cx="347872" cy="3931038"/>
          </a:xfrm>
          <a:prstGeom prst="bentConnector3">
            <a:avLst>
              <a:gd name="adj1" fmla="val -103265"/>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pic>
        <p:nvPicPr>
          <p:cNvPr id="34" name="icn Bundle Writabl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29885" y="1601818"/>
            <a:ext cx="1295400" cy="124156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0" name="Right Arrow 19"/>
          <p:cNvSpPr/>
          <p:nvPr/>
        </p:nvSpPr>
        <p:spPr bwMode="auto">
          <a:xfrm rot="16200000">
            <a:off x="7905703" y="2981073"/>
            <a:ext cx="1058705" cy="365760"/>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pic>
        <p:nvPicPr>
          <p:cNvPr id="2052" name="icn New Entity AddTi"/>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67903" y="3529184"/>
            <a:ext cx="1034481"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icn Sta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552089" y="4222730"/>
            <a:ext cx="520797" cy="501671"/>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24570176"/>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Edit read-only and create new entity</a:t>
            </a:r>
            <a:br>
              <a:rPr lang="en-US" dirty="0"/>
            </a:br>
            <a:r>
              <a:rPr lang="en-US" sz="2400" dirty="0"/>
              <a:t>Example</a:t>
            </a:r>
            <a:br>
              <a:rPr lang="en-US" dirty="0"/>
            </a:br>
            <a:endParaRPr lang="en-US" dirty="0"/>
          </a:p>
        </p:txBody>
      </p:sp>
      <p:sp>
        <p:nvSpPr>
          <p:cNvPr id="4" name="Content Placeholder 3" hidden="1"/>
          <p:cNvSpPr>
            <a:spLocks noGrp="1"/>
          </p:cNvSpPr>
          <p:nvPr>
            <p:ph idx="1"/>
          </p:nvPr>
        </p:nvSpPr>
        <p:spPr>
          <a:xfrm>
            <a:off x="2043113" y="3962400"/>
            <a:ext cx="8777287" cy="2438400"/>
          </a:xfrm>
        </p:spPr>
        <p:txBody>
          <a:bodyPr/>
          <a:lstStyle/>
          <a:p>
            <a:r>
              <a:rPr lang="en-US" b="1" dirty="0">
                <a:latin typeface="Courier New" pitchFamily="49" charset="0"/>
                <a:cs typeface="Courier New" pitchFamily="49" charset="0"/>
              </a:rPr>
              <a:t>var newEntity = new EntityType()</a:t>
            </a:r>
          </a:p>
          <a:p>
            <a:pPr lvl="1"/>
            <a:r>
              <a:rPr lang="en-US" dirty="0"/>
              <a:t>Not associated to any existing entity, but is inherently part of the new bundle </a:t>
            </a:r>
          </a:p>
          <a:p>
            <a:r>
              <a:rPr lang="en-US" b="1" dirty="0" err="1">
                <a:solidFill>
                  <a:srgbClr val="000000"/>
                </a:solidFill>
                <a:latin typeface="Courier New"/>
                <a:ea typeface="Times New Roman"/>
                <a:cs typeface="Times New Roman"/>
              </a:rPr>
              <a:t>entityInBundle.addTo</a:t>
            </a:r>
            <a:r>
              <a:rPr lang="en-US" b="1" dirty="0">
                <a:solidFill>
                  <a:srgbClr val="000000"/>
                </a:solidFill>
                <a:latin typeface="Courier New"/>
                <a:ea typeface="Times New Roman"/>
                <a:cs typeface="Times New Roman"/>
              </a:rPr>
              <a:t>&lt;Name&gt;(</a:t>
            </a:r>
            <a:r>
              <a:rPr lang="en-US" b="1" dirty="0" err="1">
                <a:solidFill>
                  <a:srgbClr val="000000"/>
                </a:solidFill>
                <a:latin typeface="Courier New"/>
                <a:ea typeface="Times New Roman"/>
                <a:cs typeface="Times New Roman"/>
              </a:rPr>
              <a:t>newEntity</a:t>
            </a:r>
            <a:r>
              <a:rPr lang="en-US" b="1" dirty="0">
                <a:solidFill>
                  <a:srgbClr val="000000"/>
                </a:solidFill>
                <a:latin typeface="Courier New"/>
                <a:ea typeface="Times New Roman"/>
                <a:cs typeface="Times New Roman"/>
              </a:rPr>
              <a:t>)</a:t>
            </a:r>
            <a:endParaRPr lang="en-US" dirty="0"/>
          </a:p>
          <a:p>
            <a:pPr lvl="1"/>
            <a:r>
              <a:rPr lang="en-US" dirty="0"/>
              <a:t>Set any required foreign keys manually to commit</a:t>
            </a:r>
          </a:p>
          <a:p>
            <a:pPr lvl="1"/>
            <a:r>
              <a:rPr lang="en-US" dirty="0"/>
              <a:t>Line 34: </a:t>
            </a:r>
            <a:r>
              <a:rPr lang="en-US" dirty="0" err="1"/>
              <a:t>addToContactNotes</a:t>
            </a:r>
            <a:r>
              <a:rPr lang="en-US" dirty="0"/>
              <a:t>(note)</a:t>
            </a:r>
          </a:p>
          <a:p>
            <a:pPr lvl="1"/>
            <a:endParaRPr lang="en-US" dirty="0"/>
          </a:p>
        </p:txBody>
      </p:sp>
      <p:sp>
        <p:nvSpPr>
          <p:cNvPr id="11" name="rec LinNumbers"/>
          <p:cNvSpPr/>
          <p:nvPr/>
        </p:nvSpPr>
        <p:spPr bwMode="auto">
          <a:xfrm>
            <a:off x="1828801" y="914400"/>
            <a:ext cx="581025" cy="34290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3" name="rec Code"/>
          <p:cNvSpPr/>
          <p:nvPr/>
        </p:nvSpPr>
        <p:spPr>
          <a:xfrm>
            <a:off x="1938668" y="914400"/>
            <a:ext cx="8610600" cy="3581400"/>
          </a:xfrm>
          <a:prstGeom prst="rect">
            <a:avLst/>
          </a:prstGeom>
        </p:spPr>
        <p:txBody>
          <a:bodyPr wrap="none">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  1 </a:t>
            </a:r>
            <a:r>
              <a:rPr lang="en-US" sz="1600" b="1" dirty="0">
                <a:solidFill>
                  <a:srgbClr val="000080"/>
                </a:solidFill>
                <a:latin typeface="Courier New" pitchFamily="49" charset="0"/>
                <a:ea typeface="Times New Roman"/>
                <a:cs typeface="Courier New" pitchFamily="49" charset="0"/>
              </a:rPr>
              <a:t>uses</a:t>
            </a:r>
            <a:r>
              <a:rPr lang="en-US" sz="1600" b="1" dirty="0">
                <a:solidFill>
                  <a:srgbClr val="000000"/>
                </a:solidFill>
                <a:latin typeface="Courier New" pitchFamily="49" charset="0"/>
                <a:ea typeface="Times New Roman"/>
                <a:cs typeface="Courier New" pitchFamily="49" charset="0"/>
              </a:rPr>
              <a:t> </a:t>
            </a:r>
            <a:r>
              <a:rPr lang="en-US" sz="1600" b="1" dirty="0" err="1">
                <a:solidFill>
                  <a:srgbClr val="000000"/>
                </a:solidFill>
                <a:latin typeface="Courier New" pitchFamily="49" charset="0"/>
                <a:ea typeface="Times New Roman"/>
                <a:cs typeface="Courier New" pitchFamily="49" charset="0"/>
              </a:rPr>
              <a:t>gw.api.database.Query</a:t>
            </a:r>
            <a:endParaRPr lang="en-US" sz="1600" b="1" dirty="0">
              <a:solidFill>
                <a:srgbClr val="000000"/>
              </a:solidFill>
              <a:latin typeface="Courier New" pitchFamily="49" charset="0"/>
              <a:ea typeface="Times New Roman"/>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  2 </a:t>
            </a:r>
            <a:r>
              <a:rPr lang="en-US" sz="1600" b="1" dirty="0">
                <a:solidFill>
                  <a:srgbClr val="000080"/>
                </a:solidFill>
                <a:latin typeface="Courier New" pitchFamily="49" charset="0"/>
                <a:ea typeface="Times New Roman"/>
                <a:cs typeface="Courier New" pitchFamily="49" charset="0"/>
              </a:rPr>
              <a:t>uses </a:t>
            </a:r>
            <a:r>
              <a:rPr lang="en-US" sz="1600" b="1" dirty="0" err="1">
                <a:solidFill>
                  <a:srgbClr val="000000"/>
                </a:solidFill>
                <a:latin typeface="Courier New" pitchFamily="49" charset="0"/>
                <a:ea typeface="Times New Roman"/>
                <a:cs typeface="Courier New" pitchFamily="49" charset="0"/>
              </a:rPr>
              <a:t>gw.api.database.Relop</a:t>
            </a:r>
            <a:endParaRPr lang="en-US" sz="1600" b="1" dirty="0">
              <a:solidFill>
                <a:srgbClr val="000000"/>
              </a:solidFill>
              <a:latin typeface="Courier New" pitchFamily="49" charset="0"/>
              <a:ea typeface="Times New Roman"/>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  3 </a:t>
            </a:r>
            <a:r>
              <a:rPr lang="en-US" sz="1600" b="1" dirty="0">
                <a:solidFill>
                  <a:srgbClr val="000080"/>
                </a:solidFill>
                <a:latin typeface="Courier New" pitchFamily="49" charset="0"/>
                <a:ea typeface="Times New Roman"/>
                <a:cs typeface="Courier New" pitchFamily="49" charset="0"/>
              </a:rPr>
              <a:t>uses</a:t>
            </a:r>
            <a:r>
              <a:rPr lang="en-US" sz="1600" b="1" dirty="0">
                <a:solidFill>
                  <a:srgbClr val="000000"/>
                </a:solidFill>
                <a:latin typeface="Courier New" pitchFamily="49" charset="0"/>
                <a:ea typeface="Times New Roman"/>
                <a:cs typeface="Courier New" pitchFamily="49" charset="0"/>
              </a:rPr>
              <a:t> </a:t>
            </a:r>
            <a:r>
              <a:rPr lang="en-US" sz="1600" b="1" dirty="0" err="1">
                <a:solidFill>
                  <a:srgbClr val="000000"/>
                </a:solidFill>
                <a:latin typeface="Courier New" pitchFamily="49" charset="0"/>
                <a:ea typeface="Times New Roman"/>
                <a:cs typeface="Courier New" pitchFamily="49" charset="0"/>
              </a:rPr>
              <a:t>gw.transaction.Transaction</a:t>
            </a:r>
            <a:endParaRPr lang="en-US" sz="1600" b="1" dirty="0">
              <a:solidFill>
                <a:srgbClr val="000000"/>
              </a:solidFill>
              <a:latin typeface="Courier New" pitchFamily="49" charset="0"/>
              <a:ea typeface="Times New Roman"/>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  4 Transaction.runWithNewBundle(\newBundle -&gt; { </a:t>
            </a:r>
            <a:endParaRPr lang="en-US" sz="1600" b="1" dirty="0">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  5    </a:t>
            </a:r>
            <a:r>
              <a:rPr lang="en-US" sz="1600" b="1" dirty="0">
                <a:solidFill>
                  <a:srgbClr val="000080"/>
                </a:solidFill>
                <a:latin typeface="Courier New" pitchFamily="49" charset="0"/>
                <a:ea typeface="Times New Roman"/>
                <a:cs typeface="Courier New" pitchFamily="49" charset="0"/>
              </a:rPr>
              <a:t>var </a:t>
            </a:r>
            <a:r>
              <a:rPr lang="en-US" sz="1600" b="1" dirty="0">
                <a:solidFill>
                  <a:srgbClr val="000000"/>
                </a:solidFill>
                <a:latin typeface="Courier New" pitchFamily="49" charset="0"/>
                <a:ea typeface="Times New Roman"/>
                <a:cs typeface="Courier New" pitchFamily="49" charset="0"/>
              </a:rPr>
              <a:t>query = </a:t>
            </a:r>
            <a:r>
              <a:rPr lang="en-US" sz="1600" b="1" dirty="0" err="1">
                <a:solidFill>
                  <a:srgbClr val="000000"/>
                </a:solidFill>
                <a:latin typeface="Courier New" pitchFamily="49" charset="0"/>
                <a:ea typeface="Times New Roman"/>
                <a:cs typeface="Courier New" pitchFamily="49" charset="0"/>
              </a:rPr>
              <a:t>Query.make</a:t>
            </a:r>
            <a:r>
              <a:rPr lang="en-US" sz="1600" b="1" dirty="0">
                <a:solidFill>
                  <a:srgbClr val="000000"/>
                </a:solidFill>
                <a:latin typeface="Courier New" pitchFamily="49" charset="0"/>
                <a:ea typeface="Times New Roman"/>
                <a:cs typeface="Courier New" pitchFamily="49" charset="0"/>
              </a:rPr>
              <a:t>(ABCompany) </a:t>
            </a:r>
            <a:endParaRPr lang="en-US" sz="1600" b="1" dirty="0">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 19    </a:t>
            </a:r>
            <a:r>
              <a:rPr lang="en-US" sz="1600" b="1" dirty="0" err="1">
                <a:solidFill>
                  <a:srgbClr val="000000"/>
                </a:solidFill>
                <a:latin typeface="Courier New" pitchFamily="49" charset="0"/>
                <a:ea typeface="Times New Roman"/>
                <a:cs typeface="Courier New" pitchFamily="49" charset="0"/>
              </a:rPr>
              <a:t>queryObj.compare</a:t>
            </a:r>
            <a:r>
              <a:rPr lang="en-US" sz="1600" b="1" dirty="0">
                <a:solidFill>
                  <a:srgbClr val="000000"/>
                </a:solidFill>
                <a:latin typeface="Courier New" pitchFamily="49" charset="0"/>
                <a:ea typeface="Times New Roman"/>
                <a:cs typeface="Courier New" pitchFamily="49" charset="0"/>
              </a:rPr>
              <a:t>(</a:t>
            </a:r>
            <a:r>
              <a:rPr lang="en-US" sz="1600" b="1" dirty="0" err="1">
                <a:solidFill>
                  <a:srgbClr val="000000"/>
                </a:solidFill>
                <a:latin typeface="Courier New" pitchFamily="49" charset="0"/>
                <a:ea typeface="Times New Roman"/>
                <a:cs typeface="Courier New" pitchFamily="49" charset="0"/>
              </a:rPr>
              <a:t>ABCompany#PublicID</a:t>
            </a:r>
            <a:r>
              <a:rPr lang="en-US" sz="1600" b="1" dirty="0">
                <a:solidFill>
                  <a:srgbClr val="000000"/>
                </a:solidFill>
                <a:latin typeface="Courier New" pitchFamily="49" charset="0"/>
                <a:ea typeface="Times New Roman"/>
                <a:cs typeface="Courier New" pitchFamily="49" charset="0"/>
              </a:rPr>
              <a:t>, </a:t>
            </a:r>
            <a:r>
              <a:rPr lang="en-US" sz="1600" b="1" dirty="0" err="1">
                <a:solidFill>
                  <a:srgbClr val="000000"/>
                </a:solidFill>
                <a:latin typeface="Courier New" pitchFamily="49" charset="0"/>
                <a:ea typeface="Times New Roman"/>
                <a:cs typeface="Courier New" pitchFamily="49" charset="0"/>
              </a:rPr>
              <a:t>Relop.</a:t>
            </a:r>
            <a:r>
              <a:rPr lang="en-US" sz="1600" b="1" i="1" dirty="0" err="1">
                <a:solidFill>
                  <a:srgbClr val="7030A0"/>
                </a:solidFill>
                <a:latin typeface="Courier New" pitchFamily="49" charset="0"/>
                <a:ea typeface="Times New Roman"/>
                <a:cs typeface="Courier New" pitchFamily="49" charset="0"/>
              </a:rPr>
              <a:t>Equals</a:t>
            </a:r>
            <a:r>
              <a:rPr lang="en-US" sz="1600" b="1" dirty="0">
                <a:solidFill>
                  <a:srgbClr val="000000"/>
                </a:solidFill>
                <a:latin typeface="Courier New" pitchFamily="49" charset="0"/>
                <a:ea typeface="Times New Roman"/>
                <a:cs typeface="Courier New" pitchFamily="49" charset="0"/>
              </a:rPr>
              <a:t>, </a:t>
            </a:r>
            <a:r>
              <a:rPr lang="en-US" sz="1600" b="1" dirty="0">
                <a:solidFill>
                  <a:srgbClr val="008000"/>
                </a:solidFill>
                <a:latin typeface="Courier New" pitchFamily="49" charset="0"/>
                <a:ea typeface="Times New Roman"/>
                <a:cs typeface="Courier New" pitchFamily="49" charset="0"/>
              </a:rPr>
              <a:t>"ab:61"</a:t>
            </a:r>
            <a:r>
              <a:rPr lang="en-US" sz="1600" b="1" dirty="0">
                <a:solidFill>
                  <a:srgbClr val="000000"/>
                </a:solidFill>
                <a:latin typeface="Courier New" pitchFamily="49" charset="0"/>
                <a:ea typeface="Times New Roman"/>
                <a:cs typeface="Courier New" pitchFamily="49" charset="0"/>
              </a:rPr>
              <a:t>) </a:t>
            </a:r>
            <a:endParaRPr lang="en-US" sz="1600" b="1" dirty="0">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 20    </a:t>
            </a:r>
            <a:r>
              <a:rPr lang="en-US" sz="1600" b="1" dirty="0">
                <a:solidFill>
                  <a:srgbClr val="000080"/>
                </a:solidFill>
                <a:latin typeface="Courier New" pitchFamily="49" charset="0"/>
                <a:ea typeface="Times New Roman"/>
                <a:cs typeface="Courier New" pitchFamily="49" charset="0"/>
              </a:rPr>
              <a:t>var </a:t>
            </a:r>
            <a:r>
              <a:rPr lang="en-US" sz="1600" b="1" dirty="0">
                <a:solidFill>
                  <a:srgbClr val="000000"/>
                </a:solidFill>
                <a:latin typeface="Courier New" pitchFamily="49" charset="0"/>
                <a:ea typeface="Times New Roman"/>
                <a:cs typeface="Courier New" pitchFamily="49" charset="0"/>
              </a:rPr>
              <a:t>targetCompany = </a:t>
            </a:r>
            <a:r>
              <a:rPr lang="en-US" sz="1600" b="1" dirty="0" err="1">
                <a:solidFill>
                  <a:srgbClr val="000000"/>
                </a:solidFill>
                <a:latin typeface="Courier New" pitchFamily="49" charset="0"/>
                <a:ea typeface="Times New Roman"/>
                <a:cs typeface="Courier New" pitchFamily="49" charset="0"/>
              </a:rPr>
              <a:t>queryObj.select</a:t>
            </a:r>
            <a:r>
              <a:rPr lang="en-US" sz="1600" b="1" dirty="0">
                <a:solidFill>
                  <a:srgbClr val="000000"/>
                </a:solidFill>
                <a:latin typeface="Courier New" pitchFamily="49" charset="0"/>
                <a:ea typeface="Times New Roman"/>
                <a:cs typeface="Courier New" pitchFamily="49" charset="0"/>
              </a:rPr>
              <a:t>().</a:t>
            </a:r>
            <a:r>
              <a:rPr lang="en-US" sz="1600" b="1" dirty="0" err="1">
                <a:solidFill>
                  <a:srgbClr val="000000"/>
                </a:solidFill>
                <a:latin typeface="Courier New" pitchFamily="49" charset="0"/>
                <a:ea typeface="Times New Roman"/>
                <a:cs typeface="Courier New" pitchFamily="49" charset="0"/>
              </a:rPr>
              <a:t>AtMostOneRow</a:t>
            </a:r>
            <a:r>
              <a:rPr lang="en-US" sz="1600" b="1" dirty="0">
                <a:solidFill>
                  <a:srgbClr val="000000"/>
                </a:solidFill>
                <a:latin typeface="Courier New" pitchFamily="49" charset="0"/>
                <a:ea typeface="Times New Roman"/>
                <a:cs typeface="Courier New" pitchFamily="49" charset="0"/>
              </a:rPr>
              <a:t> </a:t>
            </a:r>
            <a:endParaRPr lang="en-US" sz="1600" b="1" dirty="0">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…26    targetCompany = </a:t>
            </a:r>
            <a:r>
              <a:rPr lang="en-US" sz="1600" b="1" dirty="0" err="1">
                <a:solidFill>
                  <a:srgbClr val="000000"/>
                </a:solidFill>
                <a:latin typeface="Courier New" pitchFamily="49" charset="0"/>
                <a:ea typeface="Times New Roman"/>
                <a:cs typeface="Courier New" pitchFamily="49" charset="0"/>
              </a:rPr>
              <a:t>newBundle.add</a:t>
            </a:r>
            <a:r>
              <a:rPr lang="en-US" sz="1600" b="1" dirty="0">
                <a:solidFill>
                  <a:srgbClr val="000000"/>
                </a:solidFill>
                <a:latin typeface="Courier New" pitchFamily="49" charset="0"/>
                <a:ea typeface="Times New Roman"/>
                <a:cs typeface="Courier New" pitchFamily="49" charset="0"/>
              </a:rPr>
              <a:t>(targetCompany) </a:t>
            </a:r>
            <a:endParaRPr lang="en-US" sz="1600" b="1" dirty="0">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…31    </a:t>
            </a:r>
            <a:r>
              <a:rPr lang="en-US" sz="1600" b="1" dirty="0">
                <a:solidFill>
                  <a:srgbClr val="000080"/>
                </a:solidFill>
                <a:latin typeface="Courier New" pitchFamily="49" charset="0"/>
                <a:ea typeface="Times New Roman"/>
                <a:cs typeface="Courier New" pitchFamily="49" charset="0"/>
              </a:rPr>
              <a:t>var </a:t>
            </a:r>
            <a:r>
              <a:rPr lang="en-US" sz="1600" b="1" dirty="0">
                <a:solidFill>
                  <a:srgbClr val="000000"/>
                </a:solidFill>
                <a:latin typeface="Courier New" pitchFamily="49" charset="0"/>
                <a:ea typeface="Times New Roman"/>
                <a:cs typeface="Courier New" pitchFamily="49" charset="0"/>
              </a:rPr>
              <a:t>note = createABCompanyNoteForInspection(</a:t>
            </a:r>
            <a:br>
              <a:rPr lang="en-US" sz="1600" b="1" dirty="0">
                <a:solidFill>
                  <a:srgbClr val="000000"/>
                </a:solidFill>
                <a:latin typeface="Courier New" pitchFamily="49" charset="0"/>
                <a:ea typeface="Times New Roman"/>
                <a:cs typeface="Courier New" pitchFamily="49" charset="0"/>
              </a:rPr>
            </a:br>
            <a:r>
              <a:rPr lang="en-US" sz="1600" b="1" dirty="0">
                <a:solidFill>
                  <a:srgbClr val="000000"/>
                </a:solidFill>
                <a:latin typeface="Courier New" pitchFamily="49" charset="0"/>
                <a:ea typeface="Times New Roman"/>
                <a:cs typeface="Courier New" pitchFamily="49" charset="0"/>
              </a:rPr>
              <a:t>                 targetCompany, inspection Date) </a:t>
            </a:r>
            <a:endParaRPr lang="en-US" sz="1600" b="1" dirty="0">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…34    </a:t>
            </a:r>
            <a:r>
              <a:rPr lang="en-US" sz="1600" b="1" dirty="0" err="1">
                <a:solidFill>
                  <a:srgbClr val="000000"/>
                </a:solidFill>
                <a:latin typeface="Courier New" pitchFamily="49" charset="0"/>
                <a:ea typeface="Times New Roman"/>
                <a:cs typeface="Courier New" pitchFamily="49" charset="0"/>
              </a:rPr>
              <a:t>targetCompany.addToContactNotes</a:t>
            </a:r>
            <a:r>
              <a:rPr lang="en-US" sz="1600" b="1" dirty="0">
                <a:solidFill>
                  <a:srgbClr val="000000"/>
                </a:solidFill>
                <a:latin typeface="Courier New" pitchFamily="49" charset="0"/>
                <a:ea typeface="Times New Roman"/>
                <a:cs typeface="Courier New" pitchFamily="49" charset="0"/>
              </a:rPr>
              <a:t>(note) </a:t>
            </a:r>
            <a:endParaRPr lang="en-US" sz="1600" b="1" dirty="0">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…40    }, </a:t>
            </a:r>
            <a:r>
              <a:rPr lang="en-US" sz="1600" b="1" dirty="0">
                <a:solidFill>
                  <a:srgbClr val="008000"/>
                </a:solidFill>
                <a:latin typeface="Courier New" pitchFamily="49" charset="0"/>
                <a:ea typeface="Times New Roman"/>
                <a:cs typeface="Courier New" pitchFamily="49" charset="0"/>
              </a:rPr>
              <a:t>"su"</a:t>
            </a:r>
            <a:r>
              <a:rPr lang="en-US" sz="1600" b="1" dirty="0">
                <a:solidFill>
                  <a:srgbClr val="000000"/>
                </a:solidFill>
                <a:latin typeface="Courier New" pitchFamily="49" charset="0"/>
                <a:ea typeface="Times New Roman"/>
                <a:cs typeface="Courier New" pitchFamily="49" charset="0"/>
              </a:rPr>
              <a:t>)</a:t>
            </a:r>
            <a:endParaRPr lang="en-US" sz="1600" b="1" dirty="0">
              <a:latin typeface="Courier New" pitchFamily="49" charset="0"/>
              <a:ea typeface="Calibri"/>
              <a:cs typeface="Courier New" pitchFamily="49" charset="0"/>
            </a:endParaRPr>
          </a:p>
        </p:txBody>
      </p:sp>
      <p:sp>
        <p:nvSpPr>
          <p:cNvPr id="6" name="Content Placeholder 3"/>
          <p:cNvSpPr txBox="1">
            <a:spLocks/>
          </p:cNvSpPr>
          <p:nvPr/>
        </p:nvSpPr>
        <p:spPr bwMode="auto">
          <a:xfrm>
            <a:off x="2057401" y="4495800"/>
            <a:ext cx="8915399"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85750" indent="-285750" algn="l" rtl="0" eaLnBrk="1" fontAlgn="base" hangingPunct="1">
              <a:spcBef>
                <a:spcPct val="40000"/>
              </a:spcBef>
              <a:spcAft>
                <a:spcPct val="0"/>
              </a:spcAft>
              <a:buClr>
                <a:srgbClr val="04628C"/>
              </a:buClr>
              <a:buSzPct val="90000"/>
              <a:buFont typeface="Arial" pitchFamily="34"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Calibri" pitchFamily="34"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Calibri" pitchFamily="34"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Calibri" pitchFamily="34"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4628C"/>
              </a:buClr>
              <a:buSzPct val="120000"/>
              <a:buFont typeface="Calibri" pitchFamily="34" charset="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a:lstStyle>
          <a:p>
            <a:r>
              <a:rPr lang="en-US" kern="0" dirty="0"/>
              <a:t>Line 31: calls method to create new entity</a:t>
            </a:r>
          </a:p>
          <a:p>
            <a:pPr lvl="1"/>
            <a:r>
              <a:rPr lang="en-US" b="1" kern="0" dirty="0">
                <a:latin typeface="Courier New" pitchFamily="49" charset="0"/>
                <a:cs typeface="Courier New" pitchFamily="49" charset="0"/>
              </a:rPr>
              <a:t>var </a:t>
            </a:r>
            <a:r>
              <a:rPr lang="en-US" b="1" kern="0" dirty="0" err="1">
                <a:latin typeface="Courier New" pitchFamily="49" charset="0"/>
                <a:cs typeface="Courier New" pitchFamily="49" charset="0"/>
              </a:rPr>
              <a:t>newEntity</a:t>
            </a:r>
            <a:r>
              <a:rPr lang="en-US" b="1" kern="0" dirty="0">
                <a:latin typeface="Courier New" pitchFamily="49" charset="0"/>
                <a:cs typeface="Courier New" pitchFamily="49" charset="0"/>
              </a:rPr>
              <a:t> = new </a:t>
            </a:r>
            <a:r>
              <a:rPr lang="en-US" b="1" kern="0" dirty="0" err="1">
                <a:latin typeface="Courier New" pitchFamily="49" charset="0"/>
                <a:cs typeface="Courier New" pitchFamily="49" charset="0"/>
              </a:rPr>
              <a:t>EntityType</a:t>
            </a:r>
            <a:r>
              <a:rPr lang="en-US" b="1" kern="0" dirty="0">
                <a:latin typeface="Courier New" pitchFamily="49" charset="0"/>
                <a:cs typeface="Courier New" pitchFamily="49" charset="0"/>
              </a:rPr>
              <a:t>()</a:t>
            </a:r>
          </a:p>
          <a:p>
            <a:r>
              <a:rPr lang="en-US" kern="0" dirty="0"/>
              <a:t>Line 34: creates foreign key to parent entity</a:t>
            </a:r>
          </a:p>
          <a:p>
            <a:pPr lvl="1"/>
            <a:r>
              <a:rPr lang="en-US" b="1" kern="0" dirty="0" err="1">
                <a:solidFill>
                  <a:srgbClr val="000000"/>
                </a:solidFill>
                <a:latin typeface="Courier New"/>
                <a:ea typeface="Times New Roman"/>
                <a:cs typeface="Times New Roman"/>
              </a:rPr>
              <a:t>parentEntity.addTo</a:t>
            </a:r>
            <a:r>
              <a:rPr lang="en-US" b="1" kern="0" dirty="0">
                <a:solidFill>
                  <a:srgbClr val="000000"/>
                </a:solidFill>
                <a:latin typeface="Courier New"/>
                <a:ea typeface="Times New Roman"/>
                <a:cs typeface="Times New Roman"/>
              </a:rPr>
              <a:t>&lt;Array&gt;(</a:t>
            </a:r>
            <a:r>
              <a:rPr lang="en-US" b="1" kern="0" dirty="0" err="1">
                <a:solidFill>
                  <a:srgbClr val="000000"/>
                </a:solidFill>
                <a:latin typeface="Courier New"/>
                <a:ea typeface="Times New Roman"/>
                <a:cs typeface="Times New Roman"/>
              </a:rPr>
              <a:t>childEntity</a:t>
            </a:r>
            <a:r>
              <a:rPr lang="en-US" b="1" kern="0" dirty="0">
                <a:solidFill>
                  <a:srgbClr val="000000"/>
                </a:solidFill>
                <a:latin typeface="Courier New"/>
                <a:ea typeface="Times New Roman"/>
                <a:cs typeface="Times New Roman"/>
              </a:rPr>
              <a:t>)</a:t>
            </a:r>
            <a:endParaRPr lang="en-US" kern="0" dirty="0"/>
          </a:p>
          <a:p>
            <a:pPr lvl="1"/>
            <a:endParaRPr lang="en-US" kern="0" dirty="0"/>
          </a:p>
        </p:txBody>
      </p:sp>
    </p:spTree>
    <p:extLst>
      <p:ext uri="{BB962C8B-B14F-4D97-AF65-F5344CB8AC3E}">
        <p14:creationId xmlns:p14="http://schemas.microsoft.com/office/powerpoint/2010/main" val="2464617630"/>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Remove an array backing foreign key</a:t>
            </a:r>
          </a:p>
        </p:txBody>
      </p:sp>
      <p:sp>
        <p:nvSpPr>
          <p:cNvPr id="3" name="Content Placeholder 2"/>
          <p:cNvSpPr>
            <a:spLocks noGrp="1"/>
          </p:cNvSpPr>
          <p:nvPr>
            <p:ph idx="1"/>
          </p:nvPr>
        </p:nvSpPr>
        <p:spPr>
          <a:xfrm>
            <a:off x="2043113" y="4114800"/>
            <a:ext cx="8318500" cy="2286000"/>
          </a:xfrm>
        </p:spPr>
        <p:txBody>
          <a:bodyPr/>
          <a:lstStyle/>
          <a:p>
            <a:r>
              <a:rPr lang="en-US" dirty="0"/>
              <a:t>Line 7: parent entity added to new bundle making it writable</a:t>
            </a:r>
          </a:p>
          <a:p>
            <a:r>
              <a:rPr lang="en-US" dirty="0"/>
              <a:t>Line 8: parent calls method to delete child entity</a:t>
            </a:r>
          </a:p>
          <a:p>
            <a:pPr lvl="1"/>
            <a:r>
              <a:rPr lang="en-US" dirty="0"/>
              <a:t> </a:t>
            </a:r>
            <a:r>
              <a:rPr lang="en-US" b="1" dirty="0" err="1">
                <a:solidFill>
                  <a:srgbClr val="000000"/>
                </a:solidFill>
                <a:latin typeface="Courier New"/>
                <a:ea typeface="Times New Roman"/>
                <a:cs typeface="Times New Roman"/>
              </a:rPr>
              <a:t>parentEntity.addTo</a:t>
            </a:r>
            <a:r>
              <a:rPr lang="en-US" b="1" dirty="0">
                <a:solidFill>
                  <a:srgbClr val="000000"/>
                </a:solidFill>
                <a:latin typeface="Courier New"/>
                <a:ea typeface="Times New Roman"/>
                <a:cs typeface="Times New Roman"/>
              </a:rPr>
              <a:t>&lt;Array&gt;(</a:t>
            </a:r>
            <a:r>
              <a:rPr lang="en-US" b="1" dirty="0" err="1">
                <a:solidFill>
                  <a:srgbClr val="000000"/>
                </a:solidFill>
                <a:latin typeface="Courier New"/>
                <a:ea typeface="Times New Roman"/>
                <a:cs typeface="Times New Roman"/>
              </a:rPr>
              <a:t>childEntity</a:t>
            </a:r>
            <a:r>
              <a:rPr lang="en-US" b="1" dirty="0">
                <a:solidFill>
                  <a:srgbClr val="000000"/>
                </a:solidFill>
                <a:latin typeface="Courier New"/>
                <a:ea typeface="Times New Roman"/>
                <a:cs typeface="Times New Roman"/>
              </a:rPr>
              <a:t>)</a:t>
            </a:r>
            <a:endParaRPr lang="en-US" dirty="0"/>
          </a:p>
          <a:p>
            <a:pPr lvl="1"/>
            <a:endParaRPr lang="en-US" dirty="0"/>
          </a:p>
          <a:p>
            <a:endParaRPr lang="en-US" dirty="0"/>
          </a:p>
        </p:txBody>
      </p:sp>
      <p:sp>
        <p:nvSpPr>
          <p:cNvPr id="4" name="rec Line Numbers Wide"/>
          <p:cNvSpPr/>
          <p:nvPr/>
        </p:nvSpPr>
        <p:spPr bwMode="auto">
          <a:xfrm>
            <a:off x="1828800" y="914400"/>
            <a:ext cx="586740" cy="25908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5" name="rec Code"/>
          <p:cNvSpPr>
            <a:spLocks noChangeArrowheads="1"/>
          </p:cNvSpPr>
          <p:nvPr/>
        </p:nvSpPr>
        <p:spPr bwMode="auto">
          <a:xfrm>
            <a:off x="1935480" y="914400"/>
            <a:ext cx="8884920"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noAutofit/>
          </a:bodyPr>
          <a:lstStyle/>
          <a:p>
            <a:pPr fontAlgn="base">
              <a:spcBef>
                <a:spcPct val="0"/>
              </a:spcBef>
              <a:spcAft>
                <a:spcPct val="0"/>
              </a:spcAft>
            </a:pPr>
            <a:r>
              <a:rPr lang="en-US" sz="1600" b="1" dirty="0">
                <a:solidFill>
                  <a:srgbClr val="000000"/>
                </a:solidFill>
                <a:latin typeface="Courier New" pitchFamily="49" charset="0"/>
                <a:cs typeface="Courier New" pitchFamily="49" charset="0"/>
              </a:rPr>
              <a:t>  1</a:t>
            </a:r>
            <a:r>
              <a:rPr lang="en-US" sz="1600" b="1" dirty="0" bmk="">
                <a:solidFill>
                  <a:srgbClr val="000000"/>
                </a:solidFill>
                <a:latin typeface="Courier New" pitchFamily="49" charset="0"/>
                <a:cs typeface="Courier New" pitchFamily="49" charset="0"/>
              </a:rPr>
              <a:t>  </a:t>
            </a:r>
            <a:r>
              <a:rPr lang="en-US" sz="1600" b="1" dirty="0" bmk="">
                <a:solidFill>
                  <a:srgbClr val="000080"/>
                </a:solidFill>
                <a:latin typeface="Courier New" pitchFamily="49" charset="0"/>
                <a:cs typeface="Courier New" pitchFamily="49" charset="0"/>
              </a:rPr>
              <a:t>uses </a:t>
            </a:r>
            <a:r>
              <a:rPr lang="en-US" sz="1600" b="1" dirty="0" err="1" bmk="">
                <a:solidFill>
                  <a:srgbClr val="000000"/>
                </a:solidFill>
                <a:latin typeface="Courier New" pitchFamily="49" charset="0"/>
                <a:cs typeface="Courier New" pitchFamily="49" charset="0"/>
              </a:rPr>
              <a:t>gw.transaction.Transaction</a:t>
            </a:r>
            <a:r>
              <a:rPr lang="en-US" sz="1600" b="1" dirty="0" bmk="">
                <a:solidFill>
                  <a:srgbClr val="000000"/>
                </a:solidFill>
                <a:latin typeface="Courier New" pitchFamily="49" charset="0"/>
                <a:cs typeface="Courier New" pitchFamily="49" charset="0"/>
              </a:rPr>
              <a:t> </a:t>
            </a:r>
            <a:br>
              <a:rPr lang="en-US" sz="1600" b="1" dirty="0" bmk="">
                <a:solidFill>
                  <a:srgbClr val="000000"/>
                </a:solidFill>
                <a:latin typeface="Courier New" pitchFamily="49" charset="0"/>
                <a:cs typeface="Courier New" pitchFamily="49" charset="0"/>
              </a:rPr>
            </a:br>
            <a:r>
              <a:rPr lang="en-US" sz="1600" b="1" dirty="0" bmk="">
                <a:solidFill>
                  <a:srgbClr val="000000"/>
                </a:solidFill>
                <a:latin typeface="Courier New" pitchFamily="49" charset="0"/>
                <a:cs typeface="Courier New" pitchFamily="49" charset="0"/>
              </a:rPr>
              <a:t>  2  </a:t>
            </a:r>
            <a:r>
              <a:rPr lang="en-US" sz="1600" b="1" dirty="0" bmk="">
                <a:solidFill>
                  <a:srgbClr val="000080"/>
                </a:solidFill>
                <a:latin typeface="Courier New" pitchFamily="49" charset="0"/>
                <a:cs typeface="Courier New" pitchFamily="49" charset="0"/>
              </a:rPr>
              <a:t>uses </a:t>
            </a:r>
            <a:r>
              <a:rPr lang="en-US" sz="1600" b="1" dirty="0" err="1" bmk="">
                <a:solidFill>
                  <a:srgbClr val="000000"/>
                </a:solidFill>
                <a:latin typeface="Courier New" pitchFamily="49" charset="0"/>
                <a:cs typeface="Courier New" pitchFamily="49" charset="0"/>
              </a:rPr>
              <a:t>gw.api.database.Query</a:t>
            </a:r>
            <a:r>
              <a:rPr lang="en-US" sz="1600" b="1" dirty="0" bmk="">
                <a:solidFill>
                  <a:srgbClr val="000000"/>
                </a:solidFill>
                <a:latin typeface="Courier New" pitchFamily="49" charset="0"/>
                <a:cs typeface="Courier New" pitchFamily="49" charset="0"/>
              </a:rPr>
              <a:t> </a:t>
            </a:r>
          </a:p>
          <a:p>
            <a:pPr fontAlgn="base">
              <a:spcBef>
                <a:spcPct val="0"/>
              </a:spcBef>
              <a:spcAft>
                <a:spcPct val="0"/>
              </a:spcAft>
            </a:pPr>
            <a:r>
              <a:rPr lang="en-US" sz="1600" b="1" dirty="0" bmk="">
                <a:solidFill>
                  <a:srgbClr val="000000"/>
                </a:solidFill>
                <a:latin typeface="Courier New" pitchFamily="49" charset="0"/>
                <a:cs typeface="Courier New" pitchFamily="49" charset="0"/>
              </a:rPr>
              <a:t>  3 </a:t>
            </a:r>
            <a:br>
              <a:rPr lang="en-US" sz="1600" b="1" dirty="0" bmk="">
                <a:solidFill>
                  <a:srgbClr val="000000"/>
                </a:solidFill>
                <a:latin typeface="Courier New" pitchFamily="49" charset="0"/>
                <a:cs typeface="Courier New" pitchFamily="49" charset="0"/>
              </a:rPr>
            </a:br>
            <a:r>
              <a:rPr lang="en-US" sz="1600" b="1" dirty="0" bmk="">
                <a:solidFill>
                  <a:srgbClr val="000000"/>
                </a:solidFill>
                <a:latin typeface="Courier New" pitchFamily="49" charset="0"/>
                <a:cs typeface="Courier New" pitchFamily="49" charset="0"/>
              </a:rPr>
              <a:t>  4  Transaction.runWithNewBundle(\bundle -&gt; { </a:t>
            </a:r>
            <a:br>
              <a:rPr lang="en-US" sz="1600" b="1" dirty="0" bmk="">
                <a:solidFill>
                  <a:srgbClr val="000000"/>
                </a:solidFill>
                <a:latin typeface="Courier New" pitchFamily="49" charset="0"/>
                <a:cs typeface="Courier New" pitchFamily="49" charset="0"/>
              </a:rPr>
            </a:br>
            <a:r>
              <a:rPr lang="en-US" sz="1600" b="1" dirty="0" bmk="">
                <a:solidFill>
                  <a:srgbClr val="000000"/>
                </a:solidFill>
                <a:latin typeface="Courier New" pitchFamily="49" charset="0"/>
                <a:cs typeface="Courier New" pitchFamily="49" charset="0"/>
              </a:rPr>
              <a:t>  5    </a:t>
            </a:r>
            <a:r>
              <a:rPr lang="en-US" sz="1600" b="1" dirty="0" bmk="">
                <a:solidFill>
                  <a:srgbClr val="000080"/>
                </a:solidFill>
                <a:latin typeface="Courier New" pitchFamily="49" charset="0"/>
                <a:cs typeface="Courier New" pitchFamily="49" charset="0"/>
              </a:rPr>
              <a:t>var </a:t>
            </a:r>
            <a:r>
              <a:rPr lang="en-US" sz="1600" b="1" dirty="0" bmk="">
                <a:solidFill>
                  <a:srgbClr val="000000"/>
                </a:solidFill>
                <a:latin typeface="Courier New" pitchFamily="49" charset="0"/>
                <a:cs typeface="Courier New" pitchFamily="49" charset="0"/>
              </a:rPr>
              <a:t>contact = </a:t>
            </a:r>
            <a:r>
              <a:rPr lang="en-US" sz="1600" b="1" dirty="0" err="1" bmk="">
                <a:solidFill>
                  <a:srgbClr val="000000"/>
                </a:solidFill>
                <a:latin typeface="Courier New" pitchFamily="49" charset="0"/>
                <a:cs typeface="Courier New" pitchFamily="49" charset="0"/>
              </a:rPr>
              <a:t>Query.make</a:t>
            </a:r>
            <a:r>
              <a:rPr lang="en-US" sz="1600" b="1" dirty="0" bmk="">
                <a:solidFill>
                  <a:srgbClr val="000000"/>
                </a:solidFill>
                <a:latin typeface="Courier New" pitchFamily="49" charset="0"/>
                <a:cs typeface="Courier New" pitchFamily="49" charset="0"/>
              </a:rPr>
              <a:t>(ABContact).select().first()</a:t>
            </a:r>
          </a:p>
          <a:p>
            <a:pPr lvl="0" fontAlgn="base">
              <a:spcBef>
                <a:spcPct val="0"/>
              </a:spcBef>
              <a:spcAft>
                <a:spcPct val="0"/>
              </a:spcAft>
            </a:pPr>
            <a:r>
              <a:rPr lang="en-US" sz="1600" b="1" dirty="0" bmk="">
                <a:solidFill>
                  <a:srgbClr val="000000"/>
                </a:solidFill>
                <a:latin typeface="Courier New" pitchFamily="49" charset="0"/>
                <a:cs typeface="Courier New" pitchFamily="49" charset="0"/>
              </a:rPr>
              <a:t>  6    </a:t>
            </a:r>
            <a:r>
              <a:rPr lang="en-US" sz="1600" b="1" dirty="0" bmk="">
                <a:solidFill>
                  <a:srgbClr val="000080"/>
                </a:solidFill>
                <a:latin typeface="Courier New" pitchFamily="49" charset="0"/>
                <a:cs typeface="Courier New" pitchFamily="49" charset="0"/>
              </a:rPr>
              <a:t>var </a:t>
            </a:r>
            <a:r>
              <a:rPr lang="en-US" sz="1600" b="1" dirty="0" bmk="">
                <a:solidFill>
                  <a:srgbClr val="000000"/>
                </a:solidFill>
                <a:latin typeface="Courier New" pitchFamily="49" charset="0"/>
                <a:cs typeface="Courier New" pitchFamily="49" charset="0"/>
              </a:rPr>
              <a:t>note = </a:t>
            </a:r>
            <a:r>
              <a:rPr lang="en-US" sz="1600" b="1" dirty="0" err="1" bmk="">
                <a:solidFill>
                  <a:srgbClr val="000000"/>
                </a:solidFill>
                <a:latin typeface="Courier New" pitchFamily="49" charset="0"/>
                <a:cs typeface="Courier New" pitchFamily="49" charset="0"/>
              </a:rPr>
              <a:t>Query.make</a:t>
            </a:r>
            <a:r>
              <a:rPr lang="en-US" sz="1600" b="1" dirty="0" bmk="">
                <a:solidFill>
                  <a:srgbClr val="000000"/>
                </a:solidFill>
                <a:latin typeface="Courier New" pitchFamily="49" charset="0"/>
                <a:cs typeface="Courier New" pitchFamily="49" charset="0"/>
              </a:rPr>
              <a:t>(</a:t>
            </a:r>
            <a:r>
              <a:rPr lang="en-US" sz="1600" b="1" dirty="0" err="1" bmk="">
                <a:solidFill>
                  <a:srgbClr val="000000"/>
                </a:solidFill>
                <a:latin typeface="Courier New" pitchFamily="49" charset="0"/>
                <a:cs typeface="Courier New" pitchFamily="49" charset="0"/>
              </a:rPr>
              <a:t>ContactNote</a:t>
            </a:r>
            <a:r>
              <a:rPr lang="en-US" sz="1600" b="1" dirty="0" bmk="">
                <a:solidFill>
                  <a:srgbClr val="000000"/>
                </a:solidFill>
                <a:latin typeface="Courier New" pitchFamily="49" charset="0"/>
                <a:cs typeface="Courier New" pitchFamily="49" charset="0"/>
              </a:rPr>
              <a:t>).select().</a:t>
            </a:r>
            <a:r>
              <a:rPr lang="en-US" sz="1600" b="1" dirty="0" err="1" bmk="">
                <a:solidFill>
                  <a:srgbClr val="000000"/>
                </a:solidFill>
                <a:latin typeface="Courier New" pitchFamily="49" charset="0"/>
                <a:cs typeface="Courier New" pitchFamily="49" charset="0"/>
              </a:rPr>
              <a:t>firstWhere</a:t>
            </a:r>
            <a:r>
              <a:rPr lang="en-US" sz="1600" b="1" dirty="0" bmk="">
                <a:solidFill>
                  <a:srgbClr val="000000"/>
                </a:solidFill>
                <a:latin typeface="Courier New" pitchFamily="49" charset="0"/>
                <a:cs typeface="Courier New" pitchFamily="49" charset="0"/>
              </a:rPr>
              <a:t>(\note -&gt;</a:t>
            </a:r>
            <a:br>
              <a:rPr lang="en-US" sz="1600" b="1" dirty="0" bmk="">
                <a:solidFill>
                  <a:srgbClr val="000000"/>
                </a:solidFill>
                <a:latin typeface="Courier New" pitchFamily="49" charset="0"/>
                <a:cs typeface="Courier New" pitchFamily="49" charset="0"/>
              </a:rPr>
            </a:br>
            <a:r>
              <a:rPr lang="en-US" sz="1600" b="1" dirty="0" bmk="">
                <a:solidFill>
                  <a:srgbClr val="000000"/>
                </a:solidFill>
                <a:latin typeface="Courier New" pitchFamily="49" charset="0"/>
                <a:cs typeface="Courier New" pitchFamily="49" charset="0"/>
              </a:rPr>
              <a:t>                     </a:t>
            </a:r>
            <a:r>
              <a:rPr lang="en-US" sz="1600" b="1" dirty="0" err="1" bmk="">
                <a:solidFill>
                  <a:srgbClr val="000000"/>
                </a:solidFill>
                <a:latin typeface="Courier New" pitchFamily="49" charset="0"/>
                <a:cs typeface="Courier New" pitchFamily="49" charset="0"/>
              </a:rPr>
              <a:t>note.ABContact</a:t>
            </a:r>
            <a:r>
              <a:rPr lang="en-US" sz="1600" b="1" dirty="0" bmk="">
                <a:solidFill>
                  <a:srgbClr val="000000"/>
                </a:solidFill>
                <a:latin typeface="Courier New" pitchFamily="49" charset="0"/>
                <a:cs typeface="Courier New" pitchFamily="49" charset="0"/>
              </a:rPr>
              <a:t> == contact</a:t>
            </a:r>
            <a:r>
              <a:rPr lang="en-US" sz="1600" b="1" dirty="0" bmk="">
                <a:solidFill>
                  <a:srgbClr val="000080"/>
                </a:solidFill>
                <a:latin typeface="Courier New" pitchFamily="49" charset="0"/>
                <a:cs typeface="Courier New" pitchFamily="49" charset="0"/>
              </a:rPr>
              <a:t>)</a:t>
            </a:r>
            <a:endParaRPr lang="en-US" sz="1600" b="1" dirty="0" bmk="">
              <a:solidFill>
                <a:srgbClr val="000000"/>
              </a:solidFill>
              <a:latin typeface="Courier New" pitchFamily="49" charset="0"/>
              <a:cs typeface="Courier New" pitchFamily="49" charset="0"/>
            </a:endParaRPr>
          </a:p>
          <a:p>
            <a:pPr fontAlgn="base">
              <a:spcBef>
                <a:spcPct val="0"/>
              </a:spcBef>
              <a:spcAft>
                <a:spcPct val="0"/>
              </a:spcAft>
            </a:pPr>
            <a:r>
              <a:rPr lang="en-US" sz="1600" b="1" dirty="0" bmk="">
                <a:solidFill>
                  <a:srgbClr val="000000"/>
                </a:solidFill>
                <a:latin typeface="Courier New" pitchFamily="49" charset="0"/>
                <a:cs typeface="Courier New" pitchFamily="49" charset="0"/>
              </a:rPr>
              <a:t>  7    contact = </a:t>
            </a:r>
            <a:r>
              <a:rPr lang="en-US" sz="1600" b="1" dirty="0" err="1" bmk="">
                <a:solidFill>
                  <a:srgbClr val="000000"/>
                </a:solidFill>
                <a:latin typeface="Courier New" pitchFamily="49" charset="0"/>
                <a:cs typeface="Courier New" pitchFamily="49" charset="0"/>
              </a:rPr>
              <a:t>newBundle.add</a:t>
            </a:r>
            <a:r>
              <a:rPr lang="en-US" sz="1600" b="1" dirty="0" bmk="">
                <a:solidFill>
                  <a:srgbClr val="000000"/>
                </a:solidFill>
                <a:latin typeface="Courier New" pitchFamily="49" charset="0"/>
                <a:cs typeface="Courier New" pitchFamily="49" charset="0"/>
              </a:rPr>
              <a:t>(contact) </a:t>
            </a:r>
          </a:p>
          <a:p>
            <a:pPr fontAlgn="base">
              <a:spcBef>
                <a:spcPct val="0"/>
              </a:spcBef>
              <a:spcAft>
                <a:spcPct val="0"/>
              </a:spcAft>
            </a:pPr>
            <a:r>
              <a:rPr lang="en-US" sz="1600" b="1" dirty="0" bmk="">
                <a:solidFill>
                  <a:srgbClr val="000000"/>
                </a:solidFill>
                <a:latin typeface="Courier New" pitchFamily="49" charset="0"/>
                <a:cs typeface="Courier New" pitchFamily="49" charset="0"/>
              </a:rPr>
              <a:t>  8    </a:t>
            </a:r>
            <a:r>
              <a:rPr lang="en-US" sz="1600" b="1" dirty="0" err="1" bmk="">
                <a:solidFill>
                  <a:srgbClr val="000000"/>
                </a:solidFill>
                <a:latin typeface="Courier New" pitchFamily="49" charset="0"/>
                <a:cs typeface="Courier New" pitchFamily="49" charset="0"/>
              </a:rPr>
              <a:t>contact.removeFromContactNotes</a:t>
            </a:r>
            <a:r>
              <a:rPr lang="en-US" sz="1600" b="1" dirty="0" bmk="">
                <a:solidFill>
                  <a:srgbClr val="000000"/>
                </a:solidFill>
                <a:latin typeface="Courier New" pitchFamily="49" charset="0"/>
                <a:cs typeface="Courier New" pitchFamily="49" charset="0"/>
              </a:rPr>
              <a:t>(note)</a:t>
            </a:r>
          </a:p>
          <a:p>
            <a:pPr fontAlgn="base">
              <a:spcBef>
                <a:spcPct val="0"/>
              </a:spcBef>
              <a:spcAft>
                <a:spcPct val="0"/>
              </a:spcAft>
            </a:pPr>
            <a:r>
              <a:rPr lang="en-US" sz="1600" b="1" dirty="0" bmk="">
                <a:solidFill>
                  <a:srgbClr val="000000"/>
                </a:solidFill>
                <a:latin typeface="Courier New" pitchFamily="49" charset="0"/>
                <a:cs typeface="Courier New" pitchFamily="49" charset="0"/>
              </a:rPr>
              <a:t>  9  </a:t>
            </a:r>
            <a:r>
              <a:rPr lang="en-US" sz="1600" b="1" dirty="0">
                <a:solidFill>
                  <a:srgbClr val="000000"/>
                </a:solidFill>
                <a:latin typeface="Courier New" pitchFamily="49" charset="0"/>
                <a:cs typeface="Courier New" pitchFamily="49" charset="0"/>
              </a:rPr>
              <a:t>} ,</a:t>
            </a:r>
            <a:r>
              <a:rPr lang="en-US" sz="1600" b="1" dirty="0">
                <a:solidFill>
                  <a:srgbClr val="008000"/>
                </a:solidFill>
                <a:latin typeface="Courier New" pitchFamily="49" charset="0"/>
                <a:cs typeface="Courier New" pitchFamily="49" charset="0"/>
              </a:rPr>
              <a:t>"su" </a:t>
            </a:r>
            <a:r>
              <a:rPr lang="en-US" sz="1600" b="1" dirty="0">
                <a:solidFill>
                  <a:srgbClr val="000000"/>
                </a:solidFill>
                <a:latin typeface="Courier New" pitchFamily="49" charset="0"/>
                <a:cs typeface="Courier New" pitchFamily="49" charset="0"/>
              </a:rPr>
              <a:t>)</a:t>
            </a:r>
          </a:p>
        </p:txBody>
      </p:sp>
    </p:spTree>
    <p:extLst>
      <p:ext uri="{BB962C8B-B14F-4D97-AF65-F5344CB8AC3E}">
        <p14:creationId xmlns:p14="http://schemas.microsoft.com/office/powerpoint/2010/main" val="1252628091"/>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Database transactions and bundles</a:t>
            </a:r>
          </a:p>
          <a:p>
            <a:r>
              <a:rPr lang="en-US" dirty="0"/>
              <a:t>Current and new bundles</a:t>
            </a:r>
          </a:p>
          <a:p>
            <a:r>
              <a:rPr lang="en-US" dirty="0"/>
              <a:t>Read-only entities and bundles</a:t>
            </a:r>
          </a:p>
          <a:p>
            <a:r>
              <a:rPr lang="en-US" dirty="0"/>
              <a:t>New entities and bundles</a:t>
            </a:r>
          </a:p>
          <a:p>
            <a:r>
              <a:rPr lang="en-US" dirty="0">
                <a:solidFill>
                  <a:schemeClr val="bg1"/>
                </a:solidFill>
              </a:rPr>
              <a:t>Additional bundle functionality</a:t>
            </a:r>
          </a:p>
          <a:p>
            <a:endParaRPr lang="en-US" dirty="0"/>
          </a:p>
        </p:txBody>
      </p:sp>
    </p:spTree>
    <p:extLst>
      <p:ext uri="{BB962C8B-B14F-4D97-AF65-F5344CB8AC3E}">
        <p14:creationId xmlns:p14="http://schemas.microsoft.com/office/powerpoint/2010/main" val="4040456102"/>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Original values</a:t>
            </a:r>
            <a:endParaRPr lang="en-US" dirty="0"/>
          </a:p>
        </p:txBody>
      </p:sp>
      <p:sp>
        <p:nvSpPr>
          <p:cNvPr id="4" name="Content Placeholder 3"/>
          <p:cNvSpPr>
            <a:spLocks noGrp="1"/>
          </p:cNvSpPr>
          <p:nvPr>
            <p:ph idx="1"/>
          </p:nvPr>
        </p:nvSpPr>
        <p:spPr>
          <a:xfrm>
            <a:off x="1828800" y="914400"/>
            <a:ext cx="8839200" cy="5486400"/>
          </a:xfrm>
        </p:spPr>
        <p:txBody>
          <a:bodyPr/>
          <a:lstStyle/>
          <a:p>
            <a:r>
              <a:rPr lang="en-US" dirty="0"/>
              <a:t>Prior to the commit, Gosu retains a copy of each entity read from the database</a:t>
            </a:r>
          </a:p>
          <a:p>
            <a:r>
              <a:rPr lang="en-US" dirty="0"/>
              <a:t>Several properties and methods let you work with the original data in the entity </a:t>
            </a:r>
          </a:p>
          <a:p>
            <a:r>
              <a:rPr lang="en-US" b="1" dirty="0" err="1">
                <a:latin typeface="Courier New" pitchFamily="49" charset="0"/>
                <a:cs typeface="Courier New" pitchFamily="49" charset="0"/>
              </a:rPr>
              <a:t>entityName.Changed</a:t>
            </a:r>
            <a:r>
              <a:rPr lang="en-US" dirty="0"/>
              <a:t> </a:t>
            </a:r>
          </a:p>
          <a:p>
            <a:pPr lvl="1"/>
            <a:r>
              <a:rPr lang="en-US" dirty="0"/>
              <a:t>Returns true if any property on entity has changed</a:t>
            </a:r>
          </a:p>
          <a:p>
            <a:r>
              <a:rPr lang="en-US" b="1" dirty="0" err="1">
                <a:latin typeface="Courier New" pitchFamily="49" charset="0"/>
                <a:cs typeface="Courier New" pitchFamily="49" charset="0"/>
              </a:rPr>
              <a:t>entityName.isFieldChanged</a:t>
            </a:r>
            <a:r>
              <a:rPr lang="en-US" b="1" dirty="0">
                <a:latin typeface="Courier New" pitchFamily="49" charset="0"/>
                <a:cs typeface="Courier New" pitchFamily="49" charset="0"/>
              </a:rPr>
              <a:t>(</a:t>
            </a:r>
            <a:r>
              <a:rPr lang="en-US" b="1" dirty="0" err="1">
                <a:latin typeface="Courier New" pitchFamily="49" charset="0"/>
                <a:cs typeface="Courier New" pitchFamily="49" charset="0"/>
              </a:rPr>
              <a:t>Entity#FieldName</a:t>
            </a:r>
            <a:r>
              <a:rPr lang="en-US" b="1" dirty="0">
                <a:latin typeface="Courier New" pitchFamily="49" charset="0"/>
                <a:cs typeface="Courier New" pitchFamily="49" charset="0"/>
              </a:rPr>
              <a:t>)</a:t>
            </a:r>
          </a:p>
          <a:p>
            <a:pPr lvl="1"/>
            <a:r>
              <a:rPr lang="en-US" dirty="0"/>
              <a:t>Returns true if property has changed since it was read from database</a:t>
            </a:r>
          </a:p>
          <a:p>
            <a:r>
              <a:rPr lang="en-US" b="1" dirty="0" err="1">
                <a:latin typeface="Courier New" pitchFamily="49" charset="0"/>
                <a:cs typeface="Courier New" pitchFamily="49" charset="0"/>
              </a:rPr>
              <a:t>entityName.getOriginalValue</a:t>
            </a:r>
            <a:r>
              <a:rPr lang="en-US" b="1" dirty="0">
                <a:latin typeface="Courier New" pitchFamily="49" charset="0"/>
                <a:cs typeface="Courier New" pitchFamily="49" charset="0"/>
              </a:rPr>
              <a:t>(</a:t>
            </a:r>
            <a:r>
              <a:rPr lang="en-US" b="1" dirty="0" err="1">
                <a:latin typeface="Courier New" pitchFamily="49" charset="0"/>
                <a:cs typeface="Courier New" pitchFamily="49" charset="0"/>
              </a:rPr>
              <a:t>Entity#FieldName</a:t>
            </a:r>
            <a:r>
              <a:rPr lang="en-US" b="1" dirty="0">
                <a:latin typeface="Courier New" pitchFamily="49" charset="0"/>
                <a:cs typeface="Courier New" pitchFamily="49" charset="0"/>
              </a:rPr>
              <a:t>)</a:t>
            </a:r>
          </a:p>
          <a:p>
            <a:pPr lvl="1"/>
            <a:r>
              <a:rPr lang="en-US" dirty="0"/>
              <a:t>Returns value read from database</a:t>
            </a:r>
          </a:p>
          <a:p>
            <a:endParaRPr lang="en-US" dirty="0"/>
          </a:p>
        </p:txBody>
      </p:sp>
    </p:spTree>
    <p:extLst>
      <p:ext uri="{BB962C8B-B14F-4D97-AF65-F5344CB8AC3E}">
        <p14:creationId xmlns:p14="http://schemas.microsoft.com/office/powerpoint/2010/main" val="2704775991"/>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Using original values</a:t>
            </a:r>
          </a:p>
        </p:txBody>
      </p:sp>
      <p:sp>
        <p:nvSpPr>
          <p:cNvPr id="15" name="Content Placeholder 14"/>
          <p:cNvSpPr>
            <a:spLocks noGrp="1"/>
          </p:cNvSpPr>
          <p:nvPr>
            <p:ph idx="1"/>
          </p:nvPr>
        </p:nvSpPr>
        <p:spPr>
          <a:xfrm>
            <a:off x="2043114" y="4213198"/>
            <a:ext cx="4433887" cy="2187603"/>
          </a:xfrm>
        </p:spPr>
        <p:txBody>
          <a:bodyPr/>
          <a:lstStyle/>
          <a:p>
            <a:r>
              <a:rPr lang="en-US" dirty="0"/>
              <a:t>String for the field name or property info syntax</a:t>
            </a:r>
          </a:p>
          <a:p>
            <a:pPr lvl="1"/>
            <a:r>
              <a:rPr lang="en-US" b="1" dirty="0" err="1">
                <a:latin typeface="Courier New" pitchFamily="49" charset="0"/>
                <a:cs typeface="Courier New" pitchFamily="49" charset="0"/>
              </a:rPr>
              <a:t>Entity#FieldName</a:t>
            </a:r>
            <a:endParaRPr lang="en-US" b="1" dirty="0">
              <a:latin typeface="Courier New" pitchFamily="49" charset="0"/>
              <a:cs typeface="Courier New" pitchFamily="49" charset="0"/>
            </a:endParaRPr>
          </a:p>
          <a:p>
            <a:r>
              <a:rPr lang="en-US" dirty="0">
                <a:cs typeface="Courier New" pitchFamily="49" charset="0"/>
              </a:rPr>
              <a:t>Line 177: gets original value on inspection date field</a:t>
            </a:r>
          </a:p>
        </p:txBody>
      </p:sp>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4272" y="4213198"/>
            <a:ext cx="3662729" cy="2187603"/>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10" name="rec Line Numbers Wide"/>
          <p:cNvSpPr/>
          <p:nvPr/>
        </p:nvSpPr>
        <p:spPr bwMode="auto">
          <a:xfrm>
            <a:off x="1828800" y="914400"/>
            <a:ext cx="586740" cy="3200401"/>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4" name="rec Code"/>
          <p:cNvSpPr>
            <a:spLocks noChangeArrowheads="1"/>
          </p:cNvSpPr>
          <p:nvPr/>
        </p:nvSpPr>
        <p:spPr bwMode="auto">
          <a:xfrm>
            <a:off x="1825753" y="914400"/>
            <a:ext cx="8718699" cy="3200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noAutofit/>
          </a:bodyPr>
          <a:lstStyle/>
          <a:p>
            <a:pPr fontAlgn="base">
              <a:spcBef>
                <a:spcPct val="0"/>
              </a:spcBef>
              <a:spcAft>
                <a:spcPct val="0"/>
              </a:spcAft>
            </a:pPr>
            <a:r>
              <a:rPr lang="en-US" sz="1600" b="1" dirty="0">
                <a:solidFill>
                  <a:srgbClr val="000000"/>
                </a:solidFill>
                <a:latin typeface="Courier New" pitchFamily="49" charset="0"/>
                <a:ea typeface="Times New Roman" pitchFamily="18" charset="0"/>
                <a:cs typeface="Courier New" pitchFamily="49" charset="0"/>
              </a:rPr>
              <a:t> 1</a:t>
            </a:r>
            <a:r>
              <a:rPr lang="en-US" sz="1600" b="1" dirty="0" bmk="">
                <a:solidFill>
                  <a:srgbClr val="000000"/>
                </a:solidFill>
                <a:latin typeface="Courier New" pitchFamily="49" charset="0"/>
                <a:ea typeface="Times New Roman" pitchFamily="18" charset="0"/>
                <a:cs typeface="Courier New" pitchFamily="49" charset="0"/>
              </a:rPr>
              <a:t>70  </a:t>
            </a:r>
            <a:r>
              <a:rPr lang="en-US" sz="1600" b="1" dirty="0" bmk="">
                <a:solidFill>
                  <a:srgbClr val="000080"/>
                </a:solidFill>
                <a:latin typeface="Courier New" pitchFamily="49" charset="0"/>
                <a:ea typeface="Times New Roman" pitchFamily="18" charset="0"/>
                <a:cs typeface="Courier New" pitchFamily="49" charset="0"/>
              </a:rPr>
              <a:t>private static function </a:t>
            </a:r>
            <a:r>
              <a:rPr lang="en-US" sz="1600" b="1" dirty="0" bmk="">
                <a:solidFill>
                  <a:srgbClr val="000000"/>
                </a:solidFill>
                <a:latin typeface="Courier New" pitchFamily="49" charset="0"/>
                <a:ea typeface="Times New Roman" pitchFamily="18" charset="0"/>
                <a:cs typeface="Courier New" pitchFamily="49" charset="0"/>
              </a:rPr>
              <a:t>createABCompanyNoteForInspection(</a:t>
            </a:r>
            <a:br>
              <a:rPr lang="en-US" sz="1600" b="1" dirty="0" bmk="">
                <a:solidFill>
                  <a:srgbClr val="000000"/>
                </a:solidFill>
                <a:latin typeface="Courier New" pitchFamily="49" charset="0"/>
                <a:ea typeface="Times New Roman" pitchFamily="18" charset="0"/>
                <a:cs typeface="Courier New" pitchFamily="49" charset="0"/>
              </a:rPr>
            </a:br>
            <a:r>
              <a:rPr lang="en-US" sz="1600" b="1" dirty="0" bmk="">
                <a:solidFill>
                  <a:srgbClr val="000000"/>
                </a:solidFill>
                <a:latin typeface="Courier New" pitchFamily="49" charset="0"/>
                <a:ea typeface="Times New Roman" pitchFamily="18" charset="0"/>
                <a:cs typeface="Courier New" pitchFamily="49" charset="0"/>
              </a:rPr>
              <a:t>                         targetCompany: ABCompany, </a:t>
            </a:r>
            <a:br>
              <a:rPr lang="en-US" sz="1600" b="1" dirty="0" bmk="">
                <a:solidFill>
                  <a:srgbClr val="000000"/>
                </a:solidFill>
                <a:latin typeface="Courier New" pitchFamily="49" charset="0"/>
                <a:ea typeface="Times New Roman" pitchFamily="18" charset="0"/>
                <a:cs typeface="Courier New" pitchFamily="49" charset="0"/>
              </a:rPr>
            </a:br>
            <a:r>
              <a:rPr lang="en-US" sz="1600" b="1" dirty="0" bmk="">
                <a:solidFill>
                  <a:srgbClr val="000000"/>
                </a:solidFill>
                <a:latin typeface="Courier New" pitchFamily="49" charset="0"/>
                <a:ea typeface="Times New Roman" pitchFamily="18" charset="0"/>
                <a:cs typeface="Courier New" pitchFamily="49" charset="0"/>
              </a:rPr>
              <a:t>                         </a:t>
            </a:r>
            <a:r>
              <a:rPr lang="en-US" sz="1600" b="1" dirty="0" err="1" bmk="">
                <a:solidFill>
                  <a:srgbClr val="000000"/>
                </a:solidFill>
                <a:latin typeface="Courier New" pitchFamily="49" charset="0"/>
                <a:ea typeface="Times New Roman" pitchFamily="18" charset="0"/>
                <a:cs typeface="Courier New" pitchFamily="49" charset="0"/>
              </a:rPr>
              <a:t>inspectionDate</a:t>
            </a:r>
            <a:r>
              <a:rPr lang="en-US" sz="1600" b="1" dirty="0" bmk="">
                <a:solidFill>
                  <a:srgbClr val="000000"/>
                </a:solidFill>
                <a:latin typeface="Courier New" pitchFamily="49" charset="0"/>
                <a:ea typeface="Times New Roman" pitchFamily="18" charset="0"/>
                <a:cs typeface="Courier New" pitchFamily="49" charset="0"/>
              </a:rPr>
              <a:t>: </a:t>
            </a:r>
            <a:r>
              <a:rPr lang="en-US" sz="1600" b="1" dirty="0" err="1" bmk="">
                <a:solidFill>
                  <a:srgbClr val="000000"/>
                </a:solidFill>
                <a:latin typeface="Courier New" pitchFamily="49" charset="0"/>
                <a:ea typeface="Times New Roman" pitchFamily="18" charset="0"/>
                <a:cs typeface="Courier New" pitchFamily="49" charset="0"/>
              </a:rPr>
              <a:t>DateTime</a:t>
            </a:r>
            <a:r>
              <a:rPr lang="en-US" sz="1600" b="1" dirty="0" bmk="">
                <a:solidFill>
                  <a:srgbClr val="000000"/>
                </a:solidFill>
                <a:latin typeface="Courier New" pitchFamily="49" charset="0"/>
                <a:ea typeface="Times New Roman" pitchFamily="18" charset="0"/>
                <a:cs typeface="Courier New" pitchFamily="49" charset="0"/>
              </a:rPr>
              <a:t>): </a:t>
            </a:r>
            <a:r>
              <a:rPr lang="en-US" sz="1600" b="1" dirty="0" err="1" bmk="">
                <a:solidFill>
                  <a:srgbClr val="000000"/>
                </a:solidFill>
                <a:latin typeface="Courier New" pitchFamily="49" charset="0"/>
                <a:ea typeface="Times New Roman" pitchFamily="18" charset="0"/>
                <a:cs typeface="Courier New" pitchFamily="49" charset="0"/>
              </a:rPr>
              <a:t>ContactNote</a:t>
            </a:r>
            <a:r>
              <a:rPr lang="en-US" sz="1600" b="1" dirty="0" bmk="">
                <a:solidFill>
                  <a:srgbClr val="000000"/>
                </a:solidFill>
                <a:latin typeface="Courier New" pitchFamily="49" charset="0"/>
                <a:ea typeface="Times New Roman" pitchFamily="18" charset="0"/>
                <a:cs typeface="Courier New" pitchFamily="49" charset="0"/>
              </a:rPr>
              <a:t> { </a:t>
            </a:r>
          </a:p>
          <a:p>
            <a:pPr fontAlgn="base">
              <a:spcBef>
                <a:spcPct val="0"/>
              </a:spcBef>
              <a:spcAft>
                <a:spcPct val="0"/>
              </a:spcAft>
            </a:pPr>
            <a:r>
              <a:rPr lang="en-US" sz="1600" b="1" dirty="0" bmk="">
                <a:solidFill>
                  <a:srgbClr val="000000"/>
                </a:solidFill>
                <a:latin typeface="Courier New" pitchFamily="49" charset="0"/>
                <a:ea typeface="Times New Roman" pitchFamily="18" charset="0"/>
                <a:cs typeface="Courier New" pitchFamily="49" charset="0"/>
              </a:rPr>
              <a:t> 173   </a:t>
            </a:r>
            <a:r>
              <a:rPr lang="en-US" sz="1600" b="1" dirty="0" bmk="">
                <a:solidFill>
                  <a:srgbClr val="000080"/>
                </a:solidFill>
                <a:latin typeface="Courier New" pitchFamily="49" charset="0"/>
                <a:ea typeface="Times New Roman" pitchFamily="18" charset="0"/>
                <a:cs typeface="Courier New" pitchFamily="49" charset="0"/>
              </a:rPr>
              <a:t>var </a:t>
            </a:r>
            <a:r>
              <a:rPr lang="en-US" sz="1600" b="1" dirty="0" err="1" bmk="">
                <a:solidFill>
                  <a:srgbClr val="000000"/>
                </a:solidFill>
                <a:latin typeface="Courier New" pitchFamily="49" charset="0"/>
                <a:ea typeface="Times New Roman" pitchFamily="18" charset="0"/>
                <a:cs typeface="Courier New" pitchFamily="49" charset="0"/>
              </a:rPr>
              <a:t>newNote</a:t>
            </a:r>
            <a:r>
              <a:rPr lang="en-US" sz="1600" b="1" dirty="0" bmk="">
                <a:solidFill>
                  <a:srgbClr val="000000"/>
                </a:solidFill>
                <a:latin typeface="Courier New" pitchFamily="49" charset="0"/>
                <a:ea typeface="Times New Roman" pitchFamily="18" charset="0"/>
                <a:cs typeface="Courier New" pitchFamily="49" charset="0"/>
              </a:rPr>
              <a:t> = </a:t>
            </a:r>
            <a:r>
              <a:rPr lang="en-US" sz="1600" b="1" dirty="0" bmk="">
                <a:solidFill>
                  <a:srgbClr val="000080"/>
                </a:solidFill>
                <a:latin typeface="Courier New" pitchFamily="49" charset="0"/>
                <a:ea typeface="Times New Roman" pitchFamily="18" charset="0"/>
                <a:cs typeface="Courier New" pitchFamily="49" charset="0"/>
              </a:rPr>
              <a:t>new </a:t>
            </a:r>
            <a:r>
              <a:rPr lang="en-US" sz="1600" b="1" dirty="0" err="1" bmk="">
                <a:solidFill>
                  <a:srgbClr val="000000"/>
                </a:solidFill>
                <a:latin typeface="Courier New" pitchFamily="49" charset="0"/>
                <a:ea typeface="Times New Roman" pitchFamily="18" charset="0"/>
                <a:cs typeface="Courier New" pitchFamily="49" charset="0"/>
              </a:rPr>
              <a:t>ContactNote</a:t>
            </a:r>
            <a:r>
              <a:rPr lang="en-US" sz="1600" b="1" dirty="0" bmk="">
                <a:solidFill>
                  <a:srgbClr val="000000"/>
                </a:solidFill>
                <a:latin typeface="Courier New" pitchFamily="49" charset="0"/>
                <a:ea typeface="Times New Roman" pitchFamily="18" charset="0"/>
                <a:cs typeface="Courier New" pitchFamily="49" charset="0"/>
              </a:rPr>
              <a:t>() </a:t>
            </a:r>
          </a:p>
          <a:p>
            <a:pPr fontAlgn="base">
              <a:spcBef>
                <a:spcPct val="0"/>
              </a:spcBef>
              <a:spcAft>
                <a:spcPct val="0"/>
              </a:spcAft>
            </a:pPr>
            <a:r>
              <a:rPr lang="en-US" sz="1600" b="1" dirty="0" bmk="">
                <a:solidFill>
                  <a:srgbClr val="000000"/>
                </a:solidFill>
                <a:latin typeface="Courier New" pitchFamily="49" charset="0"/>
                <a:ea typeface="Times New Roman" pitchFamily="18" charset="0"/>
                <a:cs typeface="Courier New" pitchFamily="49" charset="0"/>
              </a:rPr>
              <a:t> 174   </a:t>
            </a:r>
            <a:r>
              <a:rPr lang="en-US" sz="1600" b="1" dirty="0" err="1" bmk="">
                <a:solidFill>
                  <a:srgbClr val="000000"/>
                </a:solidFill>
                <a:latin typeface="Courier New" pitchFamily="49" charset="0"/>
                <a:ea typeface="Times New Roman" pitchFamily="18" charset="0"/>
                <a:cs typeface="Courier New" pitchFamily="49" charset="0"/>
              </a:rPr>
              <a:t>newNote.Subject</a:t>
            </a:r>
            <a:r>
              <a:rPr lang="en-US" sz="1600" b="1" dirty="0" bmk="">
                <a:solidFill>
                  <a:srgbClr val="000000"/>
                </a:solidFill>
                <a:latin typeface="Courier New" pitchFamily="49" charset="0"/>
                <a:ea typeface="Times New Roman" pitchFamily="18" charset="0"/>
                <a:cs typeface="Courier New" pitchFamily="49" charset="0"/>
              </a:rPr>
              <a:t> = </a:t>
            </a:r>
            <a:r>
              <a:rPr lang="en-US" sz="1600" b="1" dirty="0" bmk="">
                <a:solidFill>
                  <a:srgbClr val="008000"/>
                </a:solidFill>
                <a:latin typeface="Courier New" pitchFamily="49" charset="0"/>
                <a:ea typeface="Times New Roman" pitchFamily="18" charset="0"/>
                <a:cs typeface="Courier New" pitchFamily="49" charset="0"/>
              </a:rPr>
              <a:t>"Change to inspection date"</a:t>
            </a:r>
            <a:r>
              <a:rPr lang="en-US" sz="1600" b="1" dirty="0" bmk="">
                <a:solidFill>
                  <a:srgbClr val="000000"/>
                </a:solidFill>
                <a:latin typeface="Courier New" pitchFamily="49" charset="0"/>
                <a:ea typeface="Times New Roman" pitchFamily="18" charset="0"/>
                <a:cs typeface="Courier New" pitchFamily="49" charset="0"/>
              </a:rPr>
              <a:t> </a:t>
            </a:r>
          </a:p>
          <a:p>
            <a:pPr lvl="0" fontAlgn="base">
              <a:spcBef>
                <a:spcPct val="0"/>
              </a:spcBef>
              <a:spcAft>
                <a:spcPct val="0"/>
              </a:spcAft>
            </a:pPr>
            <a:r>
              <a:rPr lang="en-US" sz="1600" b="1" dirty="0" bmk="">
                <a:solidFill>
                  <a:srgbClr val="000000"/>
                </a:solidFill>
                <a:latin typeface="Courier New" pitchFamily="49" charset="0"/>
                <a:ea typeface="Times New Roman" pitchFamily="18" charset="0"/>
                <a:cs typeface="Courier New" pitchFamily="49" charset="0"/>
              </a:rPr>
              <a:t> 175   </a:t>
            </a:r>
            <a:r>
              <a:rPr lang="en-US" sz="1600" b="1" dirty="0" err="1" bmk="">
                <a:solidFill>
                  <a:srgbClr val="000000"/>
                </a:solidFill>
                <a:latin typeface="Courier New" pitchFamily="49" charset="0"/>
                <a:ea typeface="Times New Roman" pitchFamily="18" charset="0"/>
                <a:cs typeface="Courier New" pitchFamily="49" charset="0"/>
              </a:rPr>
              <a:t>newNote.ContactNoteType</a:t>
            </a:r>
            <a:r>
              <a:rPr lang="en-US" sz="1600" b="1" dirty="0" bmk="">
                <a:solidFill>
                  <a:srgbClr val="000000"/>
                </a:solidFill>
                <a:latin typeface="Courier New" pitchFamily="49" charset="0"/>
                <a:ea typeface="Times New Roman" pitchFamily="18" charset="0"/>
                <a:cs typeface="Courier New" pitchFamily="49" charset="0"/>
              </a:rPr>
              <a:t> = </a:t>
            </a:r>
            <a:r>
              <a:rPr lang="en-US" sz="1600" b="1" dirty="0" err="1" bmk="">
                <a:solidFill>
                  <a:srgbClr val="000000"/>
                </a:solidFill>
                <a:latin typeface="Courier New" pitchFamily="49" charset="0"/>
                <a:ea typeface="Times New Roman" pitchFamily="18" charset="0"/>
                <a:cs typeface="Courier New" pitchFamily="49" charset="0"/>
              </a:rPr>
              <a:t>ContactNoteType.TC_DATA_UPDATE</a:t>
            </a:r>
            <a:br>
              <a:rPr lang="en-US" sz="1600" b="1" dirty="0" bmk="">
                <a:solidFill>
                  <a:srgbClr val="000000"/>
                </a:solidFill>
                <a:latin typeface="Courier New" pitchFamily="49" charset="0"/>
                <a:ea typeface="Times New Roman" pitchFamily="18" charset="0"/>
                <a:cs typeface="Courier New" pitchFamily="49" charset="0"/>
              </a:rPr>
            </a:br>
            <a:r>
              <a:rPr lang="en-US" sz="1600" b="1" dirty="0" bmk="">
                <a:solidFill>
                  <a:srgbClr val="000000"/>
                </a:solidFill>
                <a:latin typeface="Courier New" pitchFamily="49" charset="0"/>
                <a:ea typeface="Times New Roman" pitchFamily="18" charset="0"/>
                <a:cs typeface="Courier New" pitchFamily="49" charset="0"/>
              </a:rPr>
              <a:t> 176   </a:t>
            </a:r>
            <a:r>
              <a:rPr lang="en-US" sz="1600" b="1" dirty="0" bmk="">
                <a:solidFill>
                  <a:srgbClr val="000080"/>
                </a:solidFill>
                <a:latin typeface="Courier New" pitchFamily="49" charset="0"/>
                <a:ea typeface="Times New Roman" pitchFamily="18" charset="0"/>
                <a:cs typeface="Courier New" pitchFamily="49" charset="0"/>
              </a:rPr>
              <a:t>var </a:t>
            </a:r>
            <a:r>
              <a:rPr lang="en-US" sz="1600" b="1" dirty="0" err="1" bmk="">
                <a:solidFill>
                  <a:srgbClr val="000000"/>
                </a:solidFill>
                <a:latin typeface="Courier New" pitchFamily="49" charset="0"/>
                <a:ea typeface="Times New Roman" pitchFamily="18" charset="0"/>
                <a:cs typeface="Courier New" pitchFamily="49" charset="0"/>
              </a:rPr>
              <a:t>originalInspectionDate</a:t>
            </a:r>
            <a:r>
              <a:rPr lang="en-US" sz="1600" b="1" dirty="0" bmk="">
                <a:solidFill>
                  <a:srgbClr val="000000"/>
                </a:solidFill>
                <a:latin typeface="Courier New" pitchFamily="49" charset="0"/>
                <a:ea typeface="Times New Roman" pitchFamily="18" charset="0"/>
                <a:cs typeface="Courier New" pitchFamily="49" charset="0"/>
              </a:rPr>
              <a:t> =</a:t>
            </a:r>
            <a:br>
              <a:rPr lang="en-US" sz="1600" b="1" dirty="0" bmk="">
                <a:solidFill>
                  <a:srgbClr val="000000"/>
                </a:solidFill>
                <a:latin typeface="Courier New" pitchFamily="49" charset="0"/>
                <a:ea typeface="Times New Roman" pitchFamily="18" charset="0"/>
                <a:cs typeface="Courier New" pitchFamily="49" charset="0"/>
              </a:rPr>
            </a:br>
            <a:r>
              <a:rPr lang="en-US" sz="1600" b="1" dirty="0" bmk="">
                <a:solidFill>
                  <a:srgbClr val="000000"/>
                </a:solidFill>
                <a:latin typeface="Courier New" pitchFamily="49" charset="0"/>
                <a:ea typeface="Times New Roman" pitchFamily="18" charset="0"/>
                <a:cs typeface="Courier New" pitchFamily="49" charset="0"/>
              </a:rPr>
              <a:t>             </a:t>
            </a:r>
            <a:r>
              <a:rPr lang="en-US" sz="1600" b="1" dirty="0" err="1" bmk="">
                <a:solidFill>
                  <a:srgbClr val="000000"/>
                </a:solidFill>
                <a:latin typeface="Courier New" pitchFamily="49" charset="0"/>
                <a:ea typeface="Times New Roman" pitchFamily="18" charset="0"/>
                <a:cs typeface="Courier New" pitchFamily="49" charset="0"/>
              </a:rPr>
              <a:t>targetCompany.getOriginalValue</a:t>
            </a:r>
            <a:r>
              <a:rPr lang="en-US" sz="1600" b="1" dirty="0" bmk="">
                <a:solidFill>
                  <a:srgbClr val="000000"/>
                </a:solidFill>
                <a:latin typeface="Courier New" pitchFamily="49" charset="0"/>
                <a:ea typeface="Times New Roman" pitchFamily="18" charset="0"/>
                <a:cs typeface="Courier New" pitchFamily="49" charset="0"/>
              </a:rPr>
              <a:t>(</a:t>
            </a:r>
            <a:r>
              <a:rPr lang="en-US" sz="1600" b="1" dirty="0" err="1" bmk="">
                <a:solidFill>
                  <a:srgbClr val="000000"/>
                </a:solidFill>
                <a:latin typeface="Courier New" pitchFamily="49" charset="0"/>
                <a:ea typeface="Times New Roman" pitchFamily="18" charset="0"/>
                <a:cs typeface="Courier New" pitchFamily="49" charset="0"/>
              </a:rPr>
              <a:t>ABCompany#InpsectionDate</a:t>
            </a:r>
            <a:r>
              <a:rPr lang="en-US" sz="1600" b="1" dirty="0" bmk="">
                <a:solidFill>
                  <a:srgbClr val="000000"/>
                </a:solidFill>
                <a:latin typeface="Courier New" pitchFamily="49" charset="0"/>
                <a:ea typeface="Times New Roman" pitchFamily="18" charset="0"/>
                <a:cs typeface="Courier New" pitchFamily="49" charset="0"/>
              </a:rPr>
              <a:t>)</a:t>
            </a:r>
          </a:p>
          <a:p>
            <a:pPr lvl="0" fontAlgn="base">
              <a:spcBef>
                <a:spcPct val="0"/>
              </a:spcBef>
              <a:spcAft>
                <a:spcPct val="0"/>
              </a:spcAft>
            </a:pPr>
            <a:r>
              <a:rPr lang="en-US" sz="1600" b="1" dirty="0" bmk="">
                <a:solidFill>
                  <a:srgbClr val="000000"/>
                </a:solidFill>
                <a:latin typeface="Courier New" pitchFamily="49" charset="0"/>
                <a:ea typeface="Times New Roman" pitchFamily="18" charset="0"/>
                <a:cs typeface="Courier New" pitchFamily="49" charset="0"/>
              </a:rPr>
              <a:t> 177   </a:t>
            </a:r>
            <a:r>
              <a:rPr lang="en-US" sz="1600" b="1" dirty="0" err="1" bmk="">
                <a:solidFill>
                  <a:srgbClr val="000000"/>
                </a:solidFill>
                <a:latin typeface="Courier New" pitchFamily="49" charset="0"/>
                <a:ea typeface="Times New Roman" pitchFamily="18" charset="0"/>
                <a:cs typeface="Courier New" pitchFamily="49" charset="0"/>
              </a:rPr>
              <a:t>newNote.Body</a:t>
            </a:r>
            <a:r>
              <a:rPr lang="en-US" sz="1600" b="1" dirty="0" bmk="">
                <a:solidFill>
                  <a:srgbClr val="000000"/>
                </a:solidFill>
                <a:latin typeface="Courier New" pitchFamily="49" charset="0"/>
                <a:ea typeface="Times New Roman" pitchFamily="18" charset="0"/>
                <a:cs typeface="Courier New" pitchFamily="49" charset="0"/>
              </a:rPr>
              <a:t> = </a:t>
            </a:r>
            <a:r>
              <a:rPr lang="en-US" sz="1600" b="1" dirty="0" err="1" bmk="">
                <a:solidFill>
                  <a:srgbClr val="000000"/>
                </a:solidFill>
                <a:latin typeface="Courier New" pitchFamily="49" charset="0"/>
                <a:ea typeface="Times New Roman" pitchFamily="18" charset="0"/>
                <a:cs typeface="Courier New" pitchFamily="49" charset="0"/>
              </a:rPr>
              <a:t>String.format</a:t>
            </a:r>
            <a:r>
              <a:rPr lang="en-US" sz="1600" b="1" dirty="0" bmk="">
                <a:solidFill>
                  <a:srgbClr val="000000"/>
                </a:solidFill>
                <a:latin typeface="Courier New" pitchFamily="49" charset="0"/>
                <a:ea typeface="Times New Roman" pitchFamily="18" charset="0"/>
                <a:cs typeface="Courier New" pitchFamily="49" charset="0"/>
              </a:rPr>
              <a:t>(</a:t>
            </a:r>
            <a:br>
              <a:rPr lang="en-US" sz="1600" b="1" dirty="0" bmk="">
                <a:solidFill>
                  <a:srgbClr val="000000"/>
                </a:solidFill>
                <a:latin typeface="Courier New" pitchFamily="49" charset="0"/>
                <a:ea typeface="Times New Roman" pitchFamily="18" charset="0"/>
                <a:cs typeface="Courier New" pitchFamily="49" charset="0"/>
              </a:rPr>
            </a:br>
            <a:r>
              <a:rPr lang="en-US" sz="1600" b="1" dirty="0" bmk="">
                <a:solidFill>
                  <a:srgbClr val="000000"/>
                </a:solidFill>
                <a:latin typeface="Courier New" pitchFamily="49" charset="0"/>
                <a:ea typeface="Times New Roman" pitchFamily="18" charset="0"/>
                <a:cs typeface="Courier New" pitchFamily="49" charset="0"/>
              </a:rPr>
              <a:t>	     </a:t>
            </a:r>
            <a:r>
              <a:rPr lang="en-US" sz="1600" b="1" dirty="0" bmk="">
                <a:solidFill>
                  <a:srgbClr val="008000"/>
                </a:solidFill>
                <a:latin typeface="Courier New" pitchFamily="49" charset="0"/>
                <a:ea typeface="Times New Roman" pitchFamily="18" charset="0"/>
                <a:cs typeface="Courier New" pitchFamily="49" charset="0"/>
              </a:rPr>
              <a:t>"Inspection date updated from %s to %s"</a:t>
            </a:r>
            <a:r>
              <a:rPr lang="en-US" sz="1600" b="1" dirty="0" bmk="">
                <a:solidFill>
                  <a:srgbClr val="000000"/>
                </a:solidFill>
                <a:latin typeface="Courier New" pitchFamily="49" charset="0"/>
                <a:ea typeface="Times New Roman" pitchFamily="18" charset="0"/>
                <a:cs typeface="Courier New" pitchFamily="49" charset="0"/>
              </a:rPr>
              <a:t>, </a:t>
            </a:r>
            <a:br>
              <a:rPr lang="en-US" sz="1600" b="1" dirty="0" bmk="">
                <a:solidFill>
                  <a:srgbClr val="000000"/>
                </a:solidFill>
                <a:latin typeface="Courier New" pitchFamily="49" charset="0"/>
                <a:ea typeface="Times New Roman" pitchFamily="18" charset="0"/>
                <a:cs typeface="Courier New" pitchFamily="49" charset="0"/>
              </a:rPr>
            </a:br>
            <a:r>
              <a:rPr lang="en-US" sz="1600" b="1" dirty="0" bmk="">
                <a:solidFill>
                  <a:srgbClr val="000000"/>
                </a:solidFill>
                <a:latin typeface="Courier New" pitchFamily="49" charset="0"/>
                <a:ea typeface="Times New Roman" pitchFamily="18" charset="0"/>
                <a:cs typeface="Courier New" pitchFamily="49" charset="0"/>
              </a:rPr>
              <a:t>             {</a:t>
            </a:r>
            <a:r>
              <a:rPr lang="en-US" sz="1600" b="1" dirty="0" err="1" bmk="">
                <a:solidFill>
                  <a:srgbClr val="000000"/>
                </a:solidFill>
                <a:latin typeface="Courier New" pitchFamily="49" charset="0"/>
                <a:ea typeface="Times New Roman" pitchFamily="18" charset="0"/>
                <a:cs typeface="Courier New" pitchFamily="49" charset="0"/>
              </a:rPr>
              <a:t>originalInspectionDate</a:t>
            </a:r>
            <a:r>
              <a:rPr lang="en-US" sz="1600" b="1" dirty="0" bmk="">
                <a:solidFill>
                  <a:srgbClr val="000000"/>
                </a:solidFill>
                <a:latin typeface="Courier New" pitchFamily="49" charset="0"/>
                <a:ea typeface="Times New Roman" pitchFamily="18" charset="0"/>
                <a:cs typeface="Courier New" pitchFamily="49" charset="0"/>
              </a:rPr>
              <a:t>, </a:t>
            </a:r>
            <a:r>
              <a:rPr lang="en-US" sz="1600" b="1" dirty="0" err="1" bmk="">
                <a:solidFill>
                  <a:srgbClr val="000000"/>
                </a:solidFill>
                <a:latin typeface="Courier New" pitchFamily="49" charset="0"/>
                <a:ea typeface="Times New Roman" pitchFamily="18" charset="0"/>
                <a:cs typeface="Courier New" pitchFamily="49" charset="0"/>
              </a:rPr>
              <a:t>targetCompany.InspectionDate</a:t>
            </a:r>
            <a:r>
              <a:rPr lang="en-US" sz="1600" b="1" dirty="0" bmk="">
                <a:solidFill>
                  <a:srgbClr val="000000"/>
                </a:solidFill>
                <a:latin typeface="Courier New" pitchFamily="49" charset="0"/>
                <a:ea typeface="Times New Roman" pitchFamily="18" charset="0"/>
                <a:cs typeface="Courier New" pitchFamily="49" charset="0"/>
              </a:rPr>
              <a:t>})</a:t>
            </a:r>
            <a:br>
              <a:rPr lang="en-US" sz="1600" b="1" dirty="0" bmk="">
                <a:solidFill>
                  <a:srgbClr val="000000"/>
                </a:solidFill>
                <a:latin typeface="Courier New" pitchFamily="49" charset="0"/>
                <a:ea typeface="Times New Roman" pitchFamily="18" charset="0"/>
                <a:cs typeface="Courier New" pitchFamily="49" charset="0"/>
              </a:rPr>
            </a:br>
            <a:r>
              <a:rPr lang="en-US" sz="1600" b="1" dirty="0" bmk="">
                <a:solidFill>
                  <a:srgbClr val="000000"/>
                </a:solidFill>
                <a:latin typeface="Courier New" pitchFamily="49" charset="0"/>
                <a:ea typeface="Times New Roman" pitchFamily="18" charset="0"/>
                <a:cs typeface="Courier New" pitchFamily="49" charset="0"/>
              </a:rPr>
              <a:t> 178   </a:t>
            </a:r>
            <a:r>
              <a:rPr lang="en-US" sz="1600" b="1" dirty="0" bmk="">
                <a:solidFill>
                  <a:srgbClr val="000080"/>
                </a:solidFill>
                <a:latin typeface="Courier New" pitchFamily="49" charset="0"/>
                <a:ea typeface="Times New Roman" pitchFamily="18" charset="0"/>
                <a:cs typeface="Courier New" pitchFamily="49" charset="0"/>
              </a:rPr>
              <a:t>return </a:t>
            </a:r>
            <a:r>
              <a:rPr lang="en-US" sz="1600" b="1" dirty="0" err="1" bmk="">
                <a:solidFill>
                  <a:srgbClr val="000000"/>
                </a:solidFill>
                <a:latin typeface="Courier New" pitchFamily="49" charset="0"/>
                <a:ea typeface="Times New Roman" pitchFamily="18" charset="0"/>
                <a:cs typeface="Courier New" pitchFamily="49" charset="0"/>
              </a:rPr>
              <a:t>newNote</a:t>
            </a:r>
            <a:br>
              <a:rPr lang="en-US" sz="1600" b="1" dirty="0" bmk="">
                <a:solidFill>
                  <a:srgbClr val="000000"/>
                </a:solidFill>
                <a:latin typeface="Courier New" pitchFamily="49" charset="0"/>
                <a:ea typeface="Times New Roman" pitchFamily="18" charset="0"/>
                <a:cs typeface="Courier New" pitchFamily="49" charset="0"/>
              </a:rPr>
            </a:br>
            <a:r>
              <a:rPr lang="en-US" sz="1600" b="1" dirty="0" bmk="">
                <a:solidFill>
                  <a:srgbClr val="000000"/>
                </a:solidFill>
                <a:latin typeface="Courier New" pitchFamily="49" charset="0"/>
                <a:ea typeface="Times New Roman" pitchFamily="18" charset="0"/>
                <a:cs typeface="Courier New" pitchFamily="49" charset="0"/>
              </a:rPr>
              <a:t> 179  </a:t>
            </a:r>
            <a:r>
              <a:rPr lang="en-US" sz="1600" b="1" dirty="0">
                <a:solidFill>
                  <a:srgbClr val="000000"/>
                </a:solidFill>
                <a:latin typeface="Courier New" pitchFamily="49" charset="0"/>
                <a:ea typeface="Times New Roman" pitchFamily="18" charset="0"/>
                <a:cs typeface="Courier New" pitchFamily="49" charset="0"/>
              </a:rPr>
              <a:t>}</a:t>
            </a:r>
            <a:r>
              <a:rPr lang="en-US" sz="1600" b="1" dirty="0">
                <a:latin typeface="Courier New" pitchFamily="49" charset="0"/>
                <a:cs typeface="Courier New" pitchFamily="49" charset="0"/>
              </a:rPr>
              <a:t> </a:t>
            </a:r>
          </a:p>
        </p:txBody>
      </p:sp>
      <p:sp>
        <p:nvSpPr>
          <p:cNvPr id="16" name="Right Arrow 15"/>
          <p:cNvSpPr/>
          <p:nvPr/>
        </p:nvSpPr>
        <p:spPr bwMode="auto">
          <a:xfrm rot="5400000">
            <a:off x="9385228" y="3761668"/>
            <a:ext cx="645304" cy="365760"/>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1121074677"/>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2" name="icn DB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62214" y="3295650"/>
            <a:ext cx="1140479" cy="123984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61" name="arw Multiple_1"/>
          <p:cNvSpPr/>
          <p:nvPr/>
        </p:nvSpPr>
        <p:spPr bwMode="auto">
          <a:xfrm>
            <a:off x="8119213" y="3920490"/>
            <a:ext cx="1253412" cy="274320"/>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260" name="arw Multiple_2"/>
          <p:cNvSpPr/>
          <p:nvPr/>
        </p:nvSpPr>
        <p:spPr bwMode="auto">
          <a:xfrm>
            <a:off x="8119213" y="3402330"/>
            <a:ext cx="1253412" cy="274320"/>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pic>
        <p:nvPicPr>
          <p:cNvPr id="1031" name="icn DB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54032" y="1615911"/>
            <a:ext cx="1140479" cy="123984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59" name="arw Single"/>
          <p:cNvSpPr/>
          <p:nvPr/>
        </p:nvSpPr>
        <p:spPr bwMode="auto">
          <a:xfrm>
            <a:off x="8119213" y="2000250"/>
            <a:ext cx="1253412" cy="274320"/>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dirty="0"/>
              <a:t>Working with multiple bundles</a:t>
            </a:r>
          </a:p>
        </p:txBody>
      </p:sp>
      <p:sp>
        <p:nvSpPr>
          <p:cNvPr id="1025" name="Content Placeholder 1024"/>
          <p:cNvSpPr>
            <a:spLocks noGrp="1"/>
          </p:cNvSpPr>
          <p:nvPr>
            <p:ph idx="10"/>
          </p:nvPr>
        </p:nvSpPr>
        <p:spPr/>
        <p:txBody>
          <a:bodyPr/>
          <a:lstStyle/>
          <a:p>
            <a:r>
              <a:rPr lang="en-US" dirty="0"/>
              <a:t>Multiple bundles are required when you need to: </a:t>
            </a:r>
          </a:p>
          <a:p>
            <a:pPr lvl="1"/>
            <a:endParaRPr lang="en-US" dirty="0"/>
          </a:p>
          <a:p>
            <a:endParaRPr lang="en-US" dirty="0"/>
          </a:p>
        </p:txBody>
      </p:sp>
      <p:pic>
        <p:nvPicPr>
          <p:cNvPr id="3083" name="icn Bundle Single 3+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78711" y="1615911"/>
            <a:ext cx="1020276" cy="114971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84" name="icn Bundle Single 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510012" y="1634961"/>
            <a:ext cx="1020276" cy="114971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57" name="ln Single_1"/>
          <p:cNvSpPr>
            <a:spLocks noChangeShapeType="1"/>
          </p:cNvSpPr>
          <p:nvPr/>
        </p:nvSpPr>
        <p:spPr bwMode="auto">
          <a:xfrm>
            <a:off x="5369837" y="2134814"/>
            <a:ext cx="708875"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pic>
        <p:nvPicPr>
          <p:cNvPr id="3085" name="icn Bundle Multiple 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078711" y="3312749"/>
            <a:ext cx="1020276" cy="114971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87" name="icn Bundle Multiple 2_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433413" y="2994646"/>
            <a:ext cx="1020276" cy="114971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86" name="icn Bundle Multiple 2_2"/>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089537" y="3524250"/>
            <a:ext cx="1020276" cy="114971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3" name="icn DB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63384" y="5247287"/>
            <a:ext cx="1140479" cy="123984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58" name="ln Single_1"/>
          <p:cNvSpPr>
            <a:spLocks noChangeShapeType="1"/>
          </p:cNvSpPr>
          <p:nvPr/>
        </p:nvSpPr>
        <p:spPr bwMode="auto">
          <a:xfrm flipV="1">
            <a:off x="6876340" y="2274570"/>
            <a:ext cx="785674" cy="6832"/>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265" name="ln Single_1"/>
          <p:cNvSpPr>
            <a:spLocks noChangeShapeType="1"/>
          </p:cNvSpPr>
          <p:nvPr/>
        </p:nvSpPr>
        <p:spPr bwMode="auto">
          <a:xfrm>
            <a:off x="5369837" y="3790742"/>
            <a:ext cx="721295"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pic>
        <p:nvPicPr>
          <p:cNvPr id="3" name="icn Gosu Class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00601" y="1600200"/>
            <a:ext cx="1095269" cy="125107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1" name="icn Gosu Class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22203" y="3278318"/>
            <a:ext cx="1095269" cy="125107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67" name="arw Dependent_1"/>
          <p:cNvSpPr/>
          <p:nvPr/>
        </p:nvSpPr>
        <p:spPr bwMode="auto">
          <a:xfrm>
            <a:off x="7094401" y="5362510"/>
            <a:ext cx="2278224" cy="274320"/>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268" name="arw Dependet_2"/>
          <p:cNvSpPr/>
          <p:nvPr/>
        </p:nvSpPr>
        <p:spPr bwMode="auto">
          <a:xfrm>
            <a:off x="8119213" y="5860650"/>
            <a:ext cx="1253412" cy="274320"/>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pic>
        <p:nvPicPr>
          <p:cNvPr id="255" name="icn Bundle Dependent_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133219" y="5041536"/>
            <a:ext cx="1020276" cy="114971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6" name="icn Bundle Dependent_2"/>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584911" y="5384024"/>
            <a:ext cx="1020276" cy="114971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66" name="ln Single_1"/>
          <p:cNvSpPr>
            <a:spLocks noChangeShapeType="1"/>
          </p:cNvSpPr>
          <p:nvPr/>
        </p:nvSpPr>
        <p:spPr bwMode="auto">
          <a:xfrm>
            <a:off x="5477743" y="5782426"/>
            <a:ext cx="721295"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pic>
        <p:nvPicPr>
          <p:cNvPr id="254" name="icn Gosu Class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70581" y="5259268"/>
            <a:ext cx="1095269" cy="125107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70" name="Elbow Connector 269"/>
          <p:cNvCxnSpPr>
            <a:endCxn id="3087" idx="1"/>
          </p:cNvCxnSpPr>
          <p:nvPr/>
        </p:nvCxnSpPr>
        <p:spPr bwMode="auto">
          <a:xfrm flipV="1">
            <a:off x="6800141" y="3569503"/>
            <a:ext cx="633273" cy="453812"/>
          </a:xfrm>
          <a:prstGeom prst="bentConnector3">
            <a:avLst>
              <a:gd name="adj1" fmla="val 58298"/>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271" name="Elbow Connector 270"/>
          <p:cNvCxnSpPr/>
          <p:nvPr/>
        </p:nvCxnSpPr>
        <p:spPr bwMode="auto">
          <a:xfrm>
            <a:off x="6747613" y="4022694"/>
            <a:ext cx="1371600" cy="245226"/>
          </a:xfrm>
          <a:prstGeom prst="bentConnector3">
            <a:avLst>
              <a:gd name="adj1" fmla="val 30843"/>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
        <p:nvSpPr>
          <p:cNvPr id="281" name="TextBox 280"/>
          <p:cNvSpPr txBox="1"/>
          <p:nvPr/>
        </p:nvSpPr>
        <p:spPr>
          <a:xfrm>
            <a:off x="6366613" y="6155996"/>
            <a:ext cx="1525466" cy="340054"/>
          </a:xfrm>
          <a:prstGeom prst="rect">
            <a:avLst/>
          </a:prstGeom>
          <a:solidFill>
            <a:schemeClr val="tx1">
              <a:alpha val="50196"/>
            </a:schemeClr>
          </a:solidFill>
        </p:spPr>
        <p:txBody>
          <a:bodyPr wrap="none" rtlCol="0">
            <a:noAutofit/>
          </a:bodyPr>
          <a:lstStyle/>
          <a:p>
            <a:r>
              <a:rPr lang="en-US" b="1" dirty="0">
                <a:solidFill>
                  <a:schemeClr val="bg1"/>
                </a:solidFill>
                <a:latin typeface="Arial" pitchFamily="32" charset="0"/>
                <a:cs typeface="Arial" pitchFamily="32" charset="0"/>
              </a:rPr>
              <a:t>if success…</a:t>
            </a:r>
          </a:p>
        </p:txBody>
      </p:sp>
      <p:sp>
        <p:nvSpPr>
          <p:cNvPr id="1026" name="Content Placeholder 1025"/>
          <p:cNvSpPr>
            <a:spLocks noGrp="1"/>
          </p:cNvSpPr>
          <p:nvPr>
            <p:ph sz="half" idx="1"/>
          </p:nvPr>
        </p:nvSpPr>
        <p:spPr>
          <a:xfrm>
            <a:off x="2057400" y="1692111"/>
            <a:ext cx="2514600" cy="4691062"/>
          </a:xfrm>
        </p:spPr>
        <p:txBody>
          <a:bodyPr/>
          <a:lstStyle/>
          <a:p>
            <a:pPr lvl="1"/>
            <a:r>
              <a:rPr lang="en-US" dirty="0"/>
              <a:t>Commit some</a:t>
            </a:r>
            <a:br>
              <a:rPr lang="en-US" dirty="0"/>
            </a:br>
            <a:r>
              <a:rPr lang="en-US" dirty="0"/>
              <a:t>entities in a bundle, but not all of them</a:t>
            </a:r>
          </a:p>
          <a:p>
            <a:pPr lvl="1"/>
            <a:endParaRPr lang="en-US" dirty="0"/>
          </a:p>
          <a:p>
            <a:pPr lvl="1"/>
            <a:r>
              <a:rPr lang="en-US" dirty="0"/>
              <a:t>Execute multiple commits that</a:t>
            </a:r>
            <a:br>
              <a:rPr lang="en-US" dirty="0"/>
            </a:br>
            <a:r>
              <a:rPr lang="en-US" dirty="0"/>
              <a:t>should each</a:t>
            </a:r>
            <a:br>
              <a:rPr lang="en-US" dirty="0"/>
            </a:br>
            <a:r>
              <a:rPr lang="en-US" dirty="0"/>
              <a:t>succeed or fail</a:t>
            </a:r>
            <a:br>
              <a:rPr lang="en-US" dirty="0"/>
            </a:br>
            <a:r>
              <a:rPr lang="en-US" dirty="0"/>
              <a:t>on their own</a:t>
            </a:r>
            <a:br>
              <a:rPr lang="en-US" dirty="0"/>
            </a:br>
            <a:endParaRPr lang="en-US" dirty="0"/>
          </a:p>
          <a:p>
            <a:pPr lvl="1"/>
            <a:r>
              <a:rPr lang="en-US" dirty="0"/>
              <a:t>Execute a chain</a:t>
            </a:r>
            <a:br>
              <a:rPr lang="en-US" dirty="0"/>
            </a:br>
            <a:r>
              <a:rPr lang="en-US" dirty="0"/>
              <a:t>of dependent</a:t>
            </a:r>
            <a:br>
              <a:rPr lang="en-US" dirty="0"/>
            </a:br>
            <a:r>
              <a:rPr lang="en-US" dirty="0"/>
              <a:t>commits</a:t>
            </a:r>
          </a:p>
        </p:txBody>
      </p:sp>
    </p:spTree>
    <p:extLst>
      <p:ext uri="{BB962C8B-B14F-4D97-AF65-F5344CB8AC3E}">
        <p14:creationId xmlns:p14="http://schemas.microsoft.com/office/powerpoint/2010/main" val="2602513491"/>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lvl="1"/>
            <a:r>
              <a:rPr lang="en-US" dirty="0"/>
              <a:t>Describe bundle context</a:t>
            </a:r>
          </a:p>
          <a:p>
            <a:pPr lvl="1"/>
            <a:r>
              <a:rPr lang="en-US" dirty="0"/>
              <a:t>Differentiate between read-only and writable bundles</a:t>
            </a:r>
          </a:p>
          <a:p>
            <a:pPr lvl="1"/>
            <a:r>
              <a:rPr lang="en-US" dirty="0"/>
              <a:t>Recall the API methods for creating and committing bundles</a:t>
            </a:r>
          </a:p>
          <a:p>
            <a:pPr lvl="1"/>
            <a:r>
              <a:rPr lang="en-US" dirty="0"/>
              <a:t>Add a read-only entity to a writable bundle and edit the entity</a:t>
            </a:r>
          </a:p>
          <a:p>
            <a:pPr lvl="1"/>
            <a:r>
              <a:rPr lang="en-US" dirty="0"/>
              <a:t>Create and edit a new entity in a writable bundle</a:t>
            </a:r>
          </a:p>
          <a:p>
            <a:pPr lvl="1"/>
            <a:r>
              <a:rPr lang="en-US" dirty="0"/>
              <a:t>Edit entity foreign key values in a writable bundle</a:t>
            </a:r>
          </a:p>
          <a:p>
            <a:pPr lvl="1"/>
            <a:r>
              <a:rPr lang="en-US" dirty="0"/>
              <a:t>Reference original values for edited entity fields</a:t>
            </a:r>
          </a:p>
          <a:p>
            <a:endParaRPr lang="en-US" dirty="0"/>
          </a:p>
        </p:txBody>
      </p:sp>
    </p:spTree>
    <p:extLst>
      <p:ext uri="{BB962C8B-B14F-4D97-AF65-F5344CB8AC3E}">
        <p14:creationId xmlns:p14="http://schemas.microsoft.com/office/powerpoint/2010/main" val="1696604355"/>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pPr marL="0" indent="0">
              <a:buNone/>
            </a:pPr>
            <a:endParaRPr lang="en-US" sz="2400" dirty="0">
              <a:solidFill>
                <a:schemeClr val="bg1"/>
              </a:solidFill>
            </a:endParaRPr>
          </a:p>
        </p:txBody>
      </p:sp>
      <p:sp>
        <p:nvSpPr>
          <p:cNvPr id="3" name="Title 1"/>
          <p:cNvSpPr txBox="1">
            <a:spLocks/>
          </p:cNvSpPr>
          <p:nvPr/>
        </p:nvSpPr>
        <p:spPr bwMode="auto">
          <a:xfrm>
            <a:off x="1095732" y="2279391"/>
            <a:ext cx="8974667" cy="812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4000" kern="0" dirty="0"/>
              <a:t>DEMO</a:t>
            </a:r>
          </a:p>
        </p:txBody>
      </p:sp>
    </p:spTree>
    <p:extLst>
      <p:ext uri="{BB962C8B-B14F-4D97-AF65-F5344CB8AC3E}">
        <p14:creationId xmlns:p14="http://schemas.microsoft.com/office/powerpoint/2010/main" val="23560045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sz="2400" dirty="0">
                <a:solidFill>
                  <a:schemeClr val="bg1"/>
                </a:solidFill>
                <a:cs typeface="Arial"/>
              </a:rPr>
              <a:t>In this demo, we will see how to update an existing contact</a:t>
            </a:r>
          </a:p>
          <a:p>
            <a:r>
              <a:rPr lang="en-US" sz="2400" dirty="0">
                <a:solidFill>
                  <a:schemeClr val="bg1"/>
                </a:solidFill>
                <a:cs typeface="Arial"/>
              </a:rPr>
              <a:t>First, we will query the contact object and try to update the Gender field. It will error out as the bundle is read-only</a:t>
            </a:r>
          </a:p>
          <a:p>
            <a:r>
              <a:rPr lang="en-US" sz="2400" dirty="0">
                <a:solidFill>
                  <a:schemeClr val="bg1"/>
                </a:solidFill>
                <a:cs typeface="Arial"/>
              </a:rPr>
              <a:t>Then, we will add the contact object to the bundle. Once after that the update will be successful.</a:t>
            </a:r>
            <a:endParaRPr lang="en-US" sz="5850" dirty="0">
              <a:solidFill>
                <a:schemeClr val="bg1"/>
              </a:solidFill>
            </a:endParaRPr>
          </a:p>
        </p:txBody>
      </p:sp>
    </p:spTree>
    <p:extLst>
      <p:ext uri="{BB962C8B-B14F-4D97-AF65-F5344CB8AC3E}">
        <p14:creationId xmlns:p14="http://schemas.microsoft.com/office/powerpoint/2010/main" val="15757507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pPr marL="0" indent="0">
              <a:buNone/>
            </a:pPr>
            <a:endParaRPr lang="en-US" sz="2400" dirty="0">
              <a:solidFill>
                <a:schemeClr val="bg1"/>
              </a:solidFill>
            </a:endParaRPr>
          </a:p>
        </p:txBody>
      </p:sp>
      <p:sp>
        <p:nvSpPr>
          <p:cNvPr id="3" name="Title 1"/>
          <p:cNvSpPr txBox="1">
            <a:spLocks/>
          </p:cNvSpPr>
          <p:nvPr/>
        </p:nvSpPr>
        <p:spPr bwMode="auto">
          <a:xfrm>
            <a:off x="1095732" y="2279391"/>
            <a:ext cx="8974667" cy="812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4000" kern="0" dirty="0"/>
              <a:t>LAB</a:t>
            </a:r>
          </a:p>
        </p:txBody>
      </p:sp>
    </p:spTree>
    <p:extLst>
      <p:ext uri="{BB962C8B-B14F-4D97-AF65-F5344CB8AC3E}">
        <p14:creationId xmlns:p14="http://schemas.microsoft.com/office/powerpoint/2010/main" val="26730640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pPr marL="0" indent="0">
              <a:buNone/>
            </a:pPr>
            <a:r>
              <a:rPr lang="en-US" sz="2400" dirty="0">
                <a:solidFill>
                  <a:schemeClr val="bg1"/>
                </a:solidFill>
              </a:rPr>
              <a:t>Complete the exercises listed in  “Bundles and Database Transactions” chapter in the “InsuranceSuite 10 Integration: Kickstart “ work book</a:t>
            </a:r>
          </a:p>
        </p:txBody>
      </p:sp>
    </p:spTree>
    <p:extLst>
      <p:ext uri="{BB962C8B-B14F-4D97-AF65-F5344CB8AC3E}">
        <p14:creationId xmlns:p14="http://schemas.microsoft.com/office/powerpoint/2010/main" val="14604715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Name two circumstances where:</a:t>
            </a:r>
          </a:p>
          <a:p>
            <a:pPr marL="857250" lvl="1" indent="-457200">
              <a:buFont typeface="+mj-lt"/>
              <a:buAutoNum type="alphaLcParenR"/>
            </a:pPr>
            <a:r>
              <a:rPr lang="en-US" dirty="0"/>
              <a:t>Changes to data are automatically committed</a:t>
            </a:r>
          </a:p>
          <a:p>
            <a:pPr marL="857250" lvl="1" indent="-457200">
              <a:buFont typeface="+mj-lt"/>
              <a:buAutoNum type="alphaLcParenR"/>
            </a:pPr>
            <a:r>
              <a:rPr lang="en-US" dirty="0"/>
              <a:t>Changed to data must be committed in code manually</a:t>
            </a:r>
          </a:p>
          <a:p>
            <a:r>
              <a:rPr lang="en-US" dirty="0"/>
              <a:t>What is a bundle?</a:t>
            </a:r>
          </a:p>
          <a:p>
            <a:r>
              <a:rPr lang="en-US" dirty="0"/>
              <a:t>What kind of entities are initially put into read-only bundles? Under what circumstance would you need to copy one of those entities to a writable bundle? How is this done?</a:t>
            </a:r>
          </a:p>
          <a:p>
            <a:r>
              <a:rPr lang="en-US" dirty="0"/>
              <a:t>Name the three ways you can add an entity from the database to a given bundle.</a:t>
            </a:r>
          </a:p>
          <a:p>
            <a:r>
              <a:rPr lang="en-US" dirty="0"/>
              <a:t>When you create a new entity in a bundle, what other entity is it automatically associated to?</a:t>
            </a:r>
          </a:p>
          <a:p>
            <a:endParaRPr lang="en-US" dirty="0"/>
          </a:p>
        </p:txBody>
      </p:sp>
    </p:spTree>
    <p:extLst>
      <p:ext uri="{BB962C8B-B14F-4D97-AF65-F5344CB8AC3E}">
        <p14:creationId xmlns:p14="http://schemas.microsoft.com/office/powerpoint/2010/main" val="1418831828"/>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9474" b="19474"/>
          <a:stretch>
            <a:fillRect/>
          </a:stretch>
        </p:blipFill>
        <p:spPr/>
      </p:pic>
      <p:sp>
        <p:nvSpPr>
          <p:cNvPr id="3" name="Text Placeholder 2"/>
          <p:cNvSpPr>
            <a:spLocks noGrp="1"/>
          </p:cNvSpPr>
          <p:nvPr>
            <p:ph type="body" sz="quarter" idx="11"/>
          </p:nvPr>
        </p:nvSpPr>
        <p:spPr/>
        <p:txBody>
          <a:bodyPr/>
          <a:lstStyle/>
          <a:p>
            <a:endParaRPr lang="en-US" dirty="0"/>
          </a:p>
        </p:txBody>
      </p:sp>
      <p:sp>
        <p:nvSpPr>
          <p:cNvPr id="4" name="Text Placeholder 3"/>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2819420817"/>
      </p:ext>
    </p:extLst>
  </p:cSld>
  <p:clrMapOvr>
    <a:masterClrMapping/>
  </p:clrMapOvr>
</p:sld>
</file>

<file path=ppt/theme/theme1.xml><?xml version="1.0" encoding="utf-8"?>
<a:theme xmlns:a="http://schemas.openxmlformats.org/drawingml/2006/main" name="Emerald_Template">
  <a:themeElements>
    <a:clrScheme name="TA80_CurrDev_ThemeColorsSetA">
      <a:dk1>
        <a:srgbClr val="000000"/>
      </a:dk1>
      <a:lt1>
        <a:srgbClr val="FFFFFF"/>
      </a:lt1>
      <a:dk2>
        <a:srgbClr val="000000"/>
      </a:dk2>
      <a:lt2>
        <a:srgbClr val="FFFFFF"/>
      </a:lt2>
      <a:accent1>
        <a:srgbClr val="D33941"/>
      </a:accent1>
      <a:accent2>
        <a:srgbClr val="E5BA03"/>
      </a:accent2>
      <a:accent3>
        <a:srgbClr val="645893"/>
      </a:accent3>
      <a:accent4>
        <a:srgbClr val="D8691E"/>
      </a:accent4>
      <a:accent5>
        <a:srgbClr val="3F8E39"/>
      </a:accent5>
      <a:accent6>
        <a:srgbClr val="04628C"/>
      </a:accent6>
      <a:hlink>
        <a:srgbClr val="0000CC"/>
      </a:hlink>
      <a:folHlink>
        <a:srgbClr val="333399"/>
      </a:folHlink>
    </a:clrScheme>
    <a:fontScheme name="TA80_CurrDev_Theme_fontScheme">
      <a:majorFont>
        <a:latin typeface="Arial"/>
        <a:ea typeface=""/>
        <a:cs typeface=""/>
      </a:majorFont>
      <a:minorFont>
        <a:latin typeface="Arial"/>
        <a:ea typeface=""/>
        <a:cs typeface=""/>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noAutofit/>
      </a:bodyPr>
      <a:lstStyle>
        <a:defPPr>
          <a:defRPr dirty="0" smtClean="0">
            <a:solidFill>
              <a:srgbClr val="C00000"/>
            </a:solidFill>
            <a:latin typeface="Arial" pitchFamily="32" charset="0"/>
            <a:cs typeface="Arial" pitchFamily="32"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TA80_CurrDev_ThemeColorsSetA">
    <a:dk1>
      <a:srgbClr val="000000"/>
    </a:dk1>
    <a:lt1>
      <a:srgbClr val="FFFFFF"/>
    </a:lt1>
    <a:dk2>
      <a:srgbClr val="000000"/>
    </a:dk2>
    <a:lt2>
      <a:srgbClr val="FFFFFF"/>
    </a:lt2>
    <a:accent1>
      <a:srgbClr val="D33941"/>
    </a:accent1>
    <a:accent2>
      <a:srgbClr val="E5BA03"/>
    </a:accent2>
    <a:accent3>
      <a:srgbClr val="645893"/>
    </a:accent3>
    <a:accent4>
      <a:srgbClr val="D8691E"/>
    </a:accent4>
    <a:accent5>
      <a:srgbClr val="3F8E39"/>
    </a:accent5>
    <a:accent6>
      <a:srgbClr val="04628C"/>
    </a:accent6>
    <a:hlink>
      <a:srgbClr val="0000CC"/>
    </a:hlink>
    <a:folHlink>
      <a:srgbClr val="333399"/>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CB57B5F54F4DA48B31C4943C8567926" ma:contentTypeVersion="3" ma:contentTypeDescription="Create a new document." ma:contentTypeScope="" ma:versionID="5eaa3ee1509582f4e02561b7145d904d">
  <xsd:schema xmlns:xsd="http://www.w3.org/2001/XMLSchema" xmlns:xs="http://www.w3.org/2001/XMLSchema" xmlns:p="http://schemas.microsoft.com/office/2006/metadata/properties" xmlns:ns2="e38a8859-07ab-46c5-a44f-5c9b86e92d7c" targetNamespace="http://schemas.microsoft.com/office/2006/metadata/properties" ma:root="true" ma:fieldsID="4d2d3dc816ad86660348993a9b5cdcc4" ns2:_="">
    <xsd:import namespace="e38a8859-07ab-46c5-a44f-5c9b86e92d7c"/>
    <xsd:element name="properties">
      <xsd:complexType>
        <xsd:sequence>
          <xsd:element name="documentManagement">
            <xsd:complexType>
              <xsd:all>
                <xsd:element ref="ns2:MediaServiceMetadata" minOccurs="0"/>
                <xsd:element ref="ns2:MediaServiceFastMetadata"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8a8859-07ab-46c5-a44f-5c9b86e92d7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D75D66F-AF89-4D34-91C6-7D82954E09CB}">
  <ds:schemaRefs>
    <ds:schemaRef ds:uri="http://schemas.microsoft.com/sharepoint/v3/contenttype/forms"/>
  </ds:schemaRefs>
</ds:datastoreItem>
</file>

<file path=customXml/itemProps2.xml><?xml version="1.0" encoding="utf-8"?>
<ds:datastoreItem xmlns:ds="http://schemas.openxmlformats.org/officeDocument/2006/customXml" ds:itemID="{3FF265FF-48DC-4BE4-B9FE-5DB5E0AF1172}">
  <ds:schemaRefs>
    <ds:schemaRef ds:uri="http://schemas.microsoft.com/office/2006/metadata/properties"/>
    <ds:schemaRef ds:uri="http://schemas.microsoft.com/office/2006/documentManagement/types"/>
    <ds:schemaRef ds:uri="http://schemas.openxmlformats.org/package/2006/metadata/core-properties"/>
    <ds:schemaRef ds:uri="http://www.w3.org/XML/1998/namespace"/>
    <ds:schemaRef ds:uri="http://purl.org/dc/elements/1.1/"/>
    <ds:schemaRef ds:uri="http://purl.org/dc/dcmitype/"/>
    <ds:schemaRef ds:uri="http://schemas.microsoft.com/office/infopath/2007/PartnerControls"/>
    <ds:schemaRef ds:uri="ec2ac320-4691-4145-9221-fe31435db753"/>
    <ds:schemaRef ds:uri="http://purl.org/dc/terms/"/>
  </ds:schemaRefs>
</ds:datastoreItem>
</file>

<file path=customXml/itemProps3.xml><?xml version="1.0" encoding="utf-8"?>
<ds:datastoreItem xmlns:ds="http://schemas.openxmlformats.org/officeDocument/2006/customXml" ds:itemID="{EF82331D-0A26-41A1-90E6-FAEA92D28652}"/>
</file>

<file path=docProps/app.xml><?xml version="1.0" encoding="utf-8"?>
<Properties xmlns="http://schemas.openxmlformats.org/officeDocument/2006/extended-properties" xmlns:vt="http://schemas.openxmlformats.org/officeDocument/2006/docPropsVTypes">
  <Template/>
  <TotalTime>7723</TotalTime>
  <Words>7593</Words>
  <Application>Microsoft Office PowerPoint</Application>
  <PresentationFormat>Widescreen</PresentationFormat>
  <Paragraphs>580</Paragraphs>
  <Slides>47</Slides>
  <Notes>44</Notes>
  <HiddenSlides>1</HiddenSlides>
  <MMClips>0</MMClips>
  <ScaleCrop>false</ScaleCrop>
  <HeadingPairs>
    <vt:vector size="4" baseType="variant">
      <vt:variant>
        <vt:lpstr>Theme</vt:lpstr>
      </vt:variant>
      <vt:variant>
        <vt:i4>1</vt:i4>
      </vt:variant>
      <vt:variant>
        <vt:lpstr>Slide Titles</vt:lpstr>
      </vt:variant>
      <vt:variant>
        <vt:i4>47</vt:i4>
      </vt:variant>
    </vt:vector>
  </HeadingPairs>
  <TitlesOfParts>
    <vt:vector size="48" baseType="lpstr">
      <vt:lpstr>Emerald_Template</vt:lpstr>
      <vt:lpstr>InsuranceSuite 10 Integration</vt:lpstr>
      <vt:lpstr>PowerPoint Presentation</vt:lpstr>
      <vt:lpstr>PowerPoint Presentation</vt:lpstr>
      <vt:lpstr>Database transactions</vt:lpstr>
      <vt:lpstr>PowerPoint Presentation</vt:lpstr>
      <vt:lpstr>Bundles</vt:lpstr>
      <vt:lpstr>Committing a bundle</vt:lpstr>
      <vt:lpstr>Bundle types</vt:lpstr>
      <vt:lpstr>Bundle context</vt:lpstr>
      <vt:lpstr>Automatic bundle processing</vt:lpstr>
      <vt:lpstr>Manual bundle processing</vt:lpstr>
      <vt:lpstr>Gosu capabilities with bundles</vt:lpstr>
      <vt:lpstr>Use case: Company inspection dates</vt:lpstr>
      <vt:lpstr>PowerPoint Presentation</vt:lpstr>
      <vt:lpstr>Current bundle</vt:lpstr>
      <vt:lpstr>Committing the current bundle</vt:lpstr>
      <vt:lpstr>Create new bundle: runWithNewBundle()</vt:lpstr>
      <vt:lpstr>Create new bundle: newBundle()</vt:lpstr>
      <vt:lpstr>Copying bundle</vt:lpstr>
      <vt:lpstr>Copying entities to bundle restrictions</vt:lpstr>
      <vt:lpstr>PowerPoint Presentation</vt:lpstr>
      <vt:lpstr>Add existing entities to new bundle</vt:lpstr>
      <vt:lpstr>Querying</vt:lpstr>
      <vt:lpstr>Example: Querying</vt:lpstr>
      <vt:lpstr>LoadBean()</vt:lpstr>
      <vt:lpstr>Example: loadBean</vt:lpstr>
      <vt:lpstr>Foreign Key</vt:lpstr>
      <vt:lpstr>Example: Foreign Key</vt:lpstr>
      <vt:lpstr>Examples in action</vt:lpstr>
      <vt:lpstr>PowerPoint Presentation</vt:lpstr>
      <vt:lpstr>runWithNewBundle() and new entity</vt:lpstr>
      <vt:lpstr>New entity and foreign key (1)</vt:lpstr>
      <vt:lpstr>New entity and array backing foreign key</vt:lpstr>
      <vt:lpstr>Edit read-only and create new entity</vt:lpstr>
      <vt:lpstr>Edit read-only and create new entity Example </vt:lpstr>
      <vt:lpstr>Remove an array backing foreign key</vt:lpstr>
      <vt:lpstr>PowerPoint Presentation</vt:lpstr>
      <vt:lpstr>Original values</vt:lpstr>
      <vt:lpstr>Example: Using original values</vt:lpstr>
      <vt:lpstr>Working with multiple bundles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Gosu Bundles</dc:title>
  <dc:subject>Guidewire 8.0 Application Integration Gosu Bundles</dc:subject>
  <dc:creator>Seth Luersen</dc:creator>
  <cp:keywords>Emerald; Integration; 8.0.1</cp:keywords>
  <cp:lastModifiedBy>Neyyadiyilsahadevan, Anoop (Cognizant)</cp:lastModifiedBy>
  <cp:revision>406</cp:revision>
  <dcterms:created xsi:type="dcterms:W3CDTF">2013-08-19T16:16:51Z</dcterms:created>
  <dcterms:modified xsi:type="dcterms:W3CDTF">2020-12-14T06:50:52Z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0x0101008CB57B5F54F4DA48B31C4943C8567926</vt:lpwstr>
  </property>
</Properties>
</file>